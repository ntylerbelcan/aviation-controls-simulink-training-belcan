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5"/>
  </p:sldMasterIdLst>
  <p:notesMasterIdLst>
    <p:notesMasterId r:id="rId106"/>
  </p:notesMasterIdLst>
  <p:handoutMasterIdLst>
    <p:handoutMasterId r:id="rId107"/>
  </p:handoutMasterIdLst>
  <p:sldIdLst>
    <p:sldId id="256" r:id="rId6"/>
    <p:sldId id="3714" r:id="rId7"/>
    <p:sldId id="3764" r:id="rId8"/>
    <p:sldId id="3715" r:id="rId9"/>
    <p:sldId id="3717" r:id="rId10"/>
    <p:sldId id="3811" r:id="rId11"/>
    <p:sldId id="3810" r:id="rId12"/>
    <p:sldId id="3633" r:id="rId13"/>
    <p:sldId id="3718" r:id="rId14"/>
    <p:sldId id="3719" r:id="rId15"/>
    <p:sldId id="3720" r:id="rId16"/>
    <p:sldId id="3634" r:id="rId17"/>
    <p:sldId id="3819" r:id="rId18"/>
    <p:sldId id="3721" r:id="rId19"/>
    <p:sldId id="3722" r:id="rId20"/>
    <p:sldId id="3813" r:id="rId21"/>
    <p:sldId id="3812" r:id="rId22"/>
    <p:sldId id="3723" r:id="rId23"/>
    <p:sldId id="3724" r:id="rId24"/>
    <p:sldId id="3635" r:id="rId25"/>
    <p:sldId id="3816" r:id="rId26"/>
    <p:sldId id="3725" r:id="rId27"/>
    <p:sldId id="3726" r:id="rId28"/>
    <p:sldId id="3727" r:id="rId29"/>
    <p:sldId id="3728" r:id="rId30"/>
    <p:sldId id="3729" r:id="rId31"/>
    <p:sldId id="3730" r:id="rId32"/>
    <p:sldId id="3731" r:id="rId33"/>
    <p:sldId id="3732" r:id="rId34"/>
    <p:sldId id="3733" r:id="rId35"/>
    <p:sldId id="3734" r:id="rId36"/>
    <p:sldId id="3735" r:id="rId37"/>
    <p:sldId id="3736" r:id="rId38"/>
    <p:sldId id="3737" r:id="rId39"/>
    <p:sldId id="3738" r:id="rId40"/>
    <p:sldId id="3739" r:id="rId41"/>
    <p:sldId id="3740" r:id="rId42"/>
    <p:sldId id="3741" r:id="rId43"/>
    <p:sldId id="3742" r:id="rId44"/>
    <p:sldId id="3743" r:id="rId45"/>
    <p:sldId id="3744" r:id="rId46"/>
    <p:sldId id="3745" r:id="rId47"/>
    <p:sldId id="3746" r:id="rId48"/>
    <p:sldId id="3636" r:id="rId49"/>
    <p:sldId id="3818" r:id="rId50"/>
    <p:sldId id="3747" r:id="rId51"/>
    <p:sldId id="3748" r:id="rId52"/>
    <p:sldId id="3637" r:id="rId53"/>
    <p:sldId id="3817" r:id="rId54"/>
    <p:sldId id="3749" r:id="rId55"/>
    <p:sldId id="3750" r:id="rId56"/>
    <p:sldId id="3751" r:id="rId57"/>
    <p:sldId id="3752" r:id="rId58"/>
    <p:sldId id="3753" r:id="rId59"/>
    <p:sldId id="3695" r:id="rId60"/>
    <p:sldId id="3820" r:id="rId61"/>
    <p:sldId id="3754" r:id="rId62"/>
    <p:sldId id="3755" r:id="rId63"/>
    <p:sldId id="3757" r:id="rId64"/>
    <p:sldId id="3756" r:id="rId65"/>
    <p:sldId id="3758" r:id="rId66"/>
    <p:sldId id="3759" r:id="rId67"/>
    <p:sldId id="3760" r:id="rId68"/>
    <p:sldId id="3638" r:id="rId69"/>
    <p:sldId id="3821" r:id="rId70"/>
    <p:sldId id="3761" r:id="rId71"/>
    <p:sldId id="3762" r:id="rId72"/>
    <p:sldId id="3765" r:id="rId73"/>
    <p:sldId id="3766" r:id="rId74"/>
    <p:sldId id="3769" r:id="rId75"/>
    <p:sldId id="3770" r:id="rId76"/>
    <p:sldId id="3773" r:id="rId77"/>
    <p:sldId id="3774" r:id="rId78"/>
    <p:sldId id="3776" r:id="rId79"/>
    <p:sldId id="3777" r:id="rId80"/>
    <p:sldId id="3778" r:id="rId81"/>
    <p:sldId id="3779" r:id="rId82"/>
    <p:sldId id="3639" r:id="rId83"/>
    <p:sldId id="3822" r:id="rId84"/>
    <p:sldId id="3808" r:id="rId85"/>
    <p:sldId id="3788" r:id="rId86"/>
    <p:sldId id="3791" r:id="rId87"/>
    <p:sldId id="3792" r:id="rId88"/>
    <p:sldId id="3793" r:id="rId89"/>
    <p:sldId id="3794" r:id="rId90"/>
    <p:sldId id="3795" r:id="rId91"/>
    <p:sldId id="3796" r:id="rId92"/>
    <p:sldId id="3797" r:id="rId93"/>
    <p:sldId id="3799" r:id="rId94"/>
    <p:sldId id="3800" r:id="rId95"/>
    <p:sldId id="3801" r:id="rId96"/>
    <p:sldId id="3802" r:id="rId97"/>
    <p:sldId id="3803" r:id="rId98"/>
    <p:sldId id="3804" r:id="rId99"/>
    <p:sldId id="3807" r:id="rId100"/>
    <p:sldId id="3782" r:id="rId101"/>
    <p:sldId id="3784" r:id="rId102"/>
    <p:sldId id="3815" r:id="rId103"/>
    <p:sldId id="3783" r:id="rId104"/>
    <p:sldId id="3786" r:id="rId105"/>
  </p:sldIdLst>
  <p:sldSz cx="12192000" cy="6858000"/>
  <p:notesSz cx="6950075" cy="9236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01A4A7-E4B7-46E5-93DE-A146A072A09E}">
          <p14:sldIdLst>
            <p14:sldId id="256"/>
          </p14:sldIdLst>
        </p14:section>
        <p14:section name="What is MATLAB and Simulink?" id="{08094596-2F79-407D-957C-27286169ABE8}">
          <p14:sldIdLst>
            <p14:sldId id="3714"/>
            <p14:sldId id="3764"/>
          </p14:sldIdLst>
        </p14:section>
        <p14:section name="What does success look like?" id="{2184ACB6-BC5A-45A7-AA08-0CFF90079FF3}">
          <p14:sldIdLst>
            <p14:sldId id="3715"/>
          </p14:sldIdLst>
        </p14:section>
        <p14:section name="Final Model(s)" id="{DD7E7087-D4C1-49C4-90BA-FD121933CBC3}">
          <p14:sldIdLst>
            <p14:sldId id="3717"/>
            <p14:sldId id="3811"/>
            <p14:sldId id="3810"/>
          </p14:sldIdLst>
        </p14:section>
        <p14:section name="How to Open MATLAB &amp; SIMULINK" id="{C8DF2CCC-DF37-4452-A9BD-12549E5D36D1}">
          <p14:sldIdLst>
            <p14:sldId id="3633"/>
            <p14:sldId id="3718"/>
            <p14:sldId id="3719"/>
            <p14:sldId id="3720"/>
          </p14:sldIdLst>
        </p14:section>
        <p14:section name="How to Create a new Simulink Model" id="{82C3D226-D794-4489-92A1-E620DEDFB2A5}">
          <p14:sldIdLst>
            <p14:sldId id="3634"/>
            <p14:sldId id="3819"/>
            <p14:sldId id="3721"/>
            <p14:sldId id="3722"/>
            <p14:sldId id="3813"/>
            <p14:sldId id="3812"/>
            <p14:sldId id="3723"/>
            <p14:sldId id="3724"/>
          </p14:sldIdLst>
        </p14:section>
        <p14:section name="How to Use blocks" id="{000E4B64-D857-4ECD-81C8-90C1508B930D}">
          <p14:sldIdLst>
            <p14:sldId id="3635"/>
            <p14:sldId id="3816"/>
            <p14:sldId id="3725"/>
            <p14:sldId id="3726"/>
            <p14:sldId id="3727"/>
            <p14:sldId id="3728"/>
            <p14:sldId id="3729"/>
            <p14:sldId id="3730"/>
            <p14:sldId id="3731"/>
            <p14:sldId id="3732"/>
            <p14:sldId id="3733"/>
            <p14:sldId id="3734"/>
            <p14:sldId id="3735"/>
            <p14:sldId id="3736"/>
            <p14:sldId id="3737"/>
            <p14:sldId id="3738"/>
            <p14:sldId id="3739"/>
            <p14:sldId id="3740"/>
            <p14:sldId id="3741"/>
            <p14:sldId id="3742"/>
            <p14:sldId id="3743"/>
            <p14:sldId id="3744"/>
            <p14:sldId id="3745"/>
            <p14:sldId id="3746"/>
          </p14:sldIdLst>
        </p14:section>
        <p14:section name="How to Run a simulation" id="{3F1A5FEB-EFB7-4B88-A875-0798919095F3}">
          <p14:sldIdLst>
            <p14:sldId id="3636"/>
            <p14:sldId id="3818"/>
            <p14:sldId id="3747"/>
            <p14:sldId id="3748"/>
          </p14:sldIdLst>
        </p14:section>
        <p14:section name="How to Use Data inspector" id="{62385923-6401-41CB-84E6-D309E1EB289F}">
          <p14:sldIdLst>
            <p14:sldId id="3637"/>
            <p14:sldId id="3817"/>
            <p14:sldId id="3749"/>
            <p14:sldId id="3750"/>
            <p14:sldId id="3751"/>
            <p14:sldId id="3752"/>
            <p14:sldId id="3753"/>
            <p14:sldId id="3695"/>
            <p14:sldId id="3820"/>
            <p14:sldId id="3754"/>
            <p14:sldId id="3755"/>
            <p14:sldId id="3757"/>
            <p14:sldId id="3756"/>
            <p14:sldId id="3758"/>
            <p14:sldId id="3759"/>
            <p14:sldId id="3760"/>
          </p14:sldIdLst>
        </p14:section>
        <p14:section name="How to Use Model Explorer" id="{84EACC95-D6FF-4E20-90C5-FE2F477BB695}">
          <p14:sldIdLst>
            <p14:sldId id="3638"/>
            <p14:sldId id="3821"/>
            <p14:sldId id="3761"/>
            <p14:sldId id="3762"/>
            <p14:sldId id="3765"/>
            <p14:sldId id="3766"/>
            <p14:sldId id="3769"/>
            <p14:sldId id="3770"/>
            <p14:sldId id="3773"/>
            <p14:sldId id="3774"/>
            <p14:sldId id="3776"/>
            <p14:sldId id="3777"/>
            <p14:sldId id="3778"/>
            <p14:sldId id="3779"/>
          </p14:sldIdLst>
        </p14:section>
        <p14:section name="How to Use Requirements editor" id="{04F53C19-E036-40F5-A4EF-E2AEF7972486}">
          <p14:sldIdLst>
            <p14:sldId id="3639"/>
            <p14:sldId id="3822"/>
            <p14:sldId id="3808"/>
            <p14:sldId id="3788"/>
            <p14:sldId id="3791"/>
            <p14:sldId id="3792"/>
            <p14:sldId id="3793"/>
            <p14:sldId id="3794"/>
            <p14:sldId id="3795"/>
            <p14:sldId id="3796"/>
            <p14:sldId id="3797"/>
            <p14:sldId id="3799"/>
            <p14:sldId id="3800"/>
            <p14:sldId id="3801"/>
            <p14:sldId id="3802"/>
            <p14:sldId id="3803"/>
            <p14:sldId id="3804"/>
            <p14:sldId id="3807"/>
            <p14:sldId id="3782"/>
            <p14:sldId id="3784"/>
            <p14:sldId id="3815"/>
            <p14:sldId id="3783"/>
            <p14:sldId id="37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4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548" autoAdjust="0"/>
  </p:normalViewPr>
  <p:slideViewPr>
    <p:cSldViewPr snapToGrid="0">
      <p:cViewPr varScale="1">
        <p:scale>
          <a:sx n="98" d="100"/>
          <a:sy n="98" d="100"/>
        </p:scale>
        <p:origin x="984" y="96"/>
      </p:cViewPr>
      <p:guideLst>
        <p:guide orient="horz" pos="348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22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6" Type="http://schemas.openxmlformats.org/officeDocument/2006/relationships/slide" Target="slides/slide11.xml"/><Relationship Id="rId107" Type="http://schemas.openxmlformats.org/officeDocument/2006/relationships/handoutMaster" Target="handoutMasters/handoutMaster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5" Type="http://schemas.openxmlformats.org/officeDocument/2006/relationships/slideMaster" Target="slideMasters/slideMaster1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presProps" Target="presProps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viewProps" Target="viewProps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theme" Target="theme/theme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98D98F-175E-78A3-B8F6-CC7AB77352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1D7EE-CF92-23B0-51BA-B4DDAA57D6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A40AAD2-F4DE-46BB-9F99-83A578C04AFF}" type="datetimeFigureOut">
              <a:rPr lang="en-US"/>
              <a:pPr>
                <a:defRPr/>
              </a:pPr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8C0E3-C851-CE37-FD1B-A70FC4954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3D36C-A4BC-55F4-6B23-377481141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3CA2B0F-1A0A-4562-9947-C246A40584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087F94-3C40-5DB6-5E60-B61FB53A37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7044B-4DF8-C000-1661-91CAF8D24A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6D71FA5-8285-4D80-ACF0-ECBE044B5E2B}" type="datetimeFigureOut">
              <a:rPr lang="en-US"/>
              <a:pPr>
                <a:defRPr/>
              </a:pPr>
              <a:t>10/19/2026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6DFA5B-B99B-0C95-58EF-202B53A6DC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771CE75-06FE-FE26-DCC2-2C570D11B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278A4-2710-CFD8-CEF4-4DA98B66B4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5B7C4-2ABE-6434-8EA6-9A0B3F434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A04150-874A-42E2-8795-B6E7E15918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2F4B7EE4-2ED7-D686-41CF-29D23845D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AA4ED621-05FA-44A0-34EE-D9D763AA7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C449068-0203-BD64-465A-32FB5765F33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CD74A-8049-1673-A412-BC69A5A452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66" name="Slide Number Placeholder 5">
            <a:extLst>
              <a:ext uri="{FF2B5EF4-FFF2-40B4-BE49-F238E27FC236}">
                <a16:creationId xmlns:a16="http://schemas.microsoft.com/office/drawing/2014/main" id="{26FCB2B9-C5D1-C952-5E9B-F3FCF35F80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B3D759-A5EF-4211-AF68-8970C468B8A9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6.xml"/><Relationship Id="rId7" Type="http://schemas.openxmlformats.org/officeDocument/2006/relationships/image" Target="../media/image2.emf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7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1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1 - 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79C1A729-D5B7-CA1C-AF00-7DFA55FDD3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051" name="Object 2" hidden="1">
                        <a:extLst>
                          <a:ext uri="{FF2B5EF4-FFF2-40B4-BE49-F238E27FC236}">
                            <a16:creationId xmlns:a16="http://schemas.microsoft.com/office/drawing/2014/main" id="{5136F095-8153-4125-4D5B-2AFDD07C32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BBA21-8225-20C1-5BDF-C71464D2B24F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D9CA5D-BC3B-E8C1-603F-390C5EFC2740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95288" y="6584950"/>
            <a:ext cx="8240712" cy="215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 dirty="0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 dirty="0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pic>
        <p:nvPicPr>
          <p:cNvPr id="7" name="Picture 5" descr="Purpose &amp; principles PPT 2.png">
            <a:extLst>
              <a:ext uri="{FF2B5EF4-FFF2-40B4-BE49-F238E27FC236}">
                <a16:creationId xmlns:a16="http://schemas.microsoft.com/office/drawing/2014/main" id="{7B4C6C15-5B35-83EE-4D10-265906990F7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Purpose &amp; principles PPT.png">
            <a:extLst>
              <a:ext uri="{FF2B5EF4-FFF2-40B4-BE49-F238E27FC236}">
                <a16:creationId xmlns:a16="http://schemas.microsoft.com/office/drawing/2014/main" id="{492F9D93-D16B-9D12-9F50-8CC0D72452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3537E1-CF04-9648-0FD9-4F21DA1FFB2A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27ABA1CE-7F1E-4C0A-AB66-66670BD6FC9C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226001" y="398463"/>
            <a:ext cx="9635800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816" y="1134000"/>
            <a:ext cx="11341101" cy="522076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hcSlideMaster.1_Layout 1 - Title, Subtitle and ContentHeader" descr=" ">
            <a:extLst>
              <a:ext uri="{FF2B5EF4-FFF2-40B4-BE49-F238E27FC236}">
                <a16:creationId xmlns:a16="http://schemas.microsoft.com/office/drawing/2014/main" id="{C72B11F0-4474-8A6E-7B76-99B15B2E189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fcSlideMaster.1_Layout 1 - Title, Subtitle and ContentFooter" descr=" ">
            <a:extLst>
              <a:ext uri="{FF2B5EF4-FFF2-40B4-BE49-F238E27FC236}">
                <a16:creationId xmlns:a16="http://schemas.microsoft.com/office/drawing/2014/main" id="{AAEECE00-2F49-7A8D-181F-BB579B75B4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33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075" name="Object 2" hidden="1">
                        <a:extLst>
                          <a:ext uri="{FF2B5EF4-FFF2-40B4-BE49-F238E27FC236}">
                            <a16:creationId xmlns:a16="http://schemas.microsoft.com/office/drawing/2014/main" id="{FCB7C648-B77C-442A-E153-A1351F8DB2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89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333C370-613B-3E3D-3647-7A8D70B2A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6" y="1531941"/>
            <a:ext cx="11341101" cy="482282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1 Comparison B1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1 Comparison B1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38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4008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333C370-613B-3E3D-3647-7A8D70B2A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6" y="1838484"/>
            <a:ext cx="11341101" cy="45162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cSlideMaster.1_1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1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1 Comparison B2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1 Comparison B2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95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11338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11338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1 Comparison B3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1 Comparison B3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102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992254"/>
            <a:ext cx="5623560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5623560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3192313"/>
            <a:ext cx="5623560" cy="32182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3192313"/>
            <a:ext cx="5623560" cy="32182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1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1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72DFA65D-B2CE-3E05-BE20-8537C69FFD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818" y="2420888"/>
            <a:ext cx="5623560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82DB8494-3814-E0E3-27A9-B12017EEF9F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13356" y="2420888"/>
            <a:ext cx="5623560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3" name="hcSlideMaster.2 Comparison AHeader" descr=" ">
            <a:extLst>
              <a:ext uri="{FF2B5EF4-FFF2-40B4-BE49-F238E27FC236}">
                <a16:creationId xmlns:a16="http://schemas.microsoft.com/office/drawing/2014/main" id="{F1F89A26-CD57-2053-40B7-B51CDAB9FC3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4" name="fcSlideMaster.2 Comparison AFooter" descr=" ">
            <a:extLst>
              <a:ext uri="{FF2B5EF4-FFF2-40B4-BE49-F238E27FC236}">
                <a16:creationId xmlns:a16="http://schemas.microsoft.com/office/drawing/2014/main" id="{06CEAAAD-DA45-4350-D5CA-363F379592A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93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992254"/>
            <a:ext cx="5623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5623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5623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2758381"/>
            <a:ext cx="5623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2 Comparison B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2 Comparison B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98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563046"/>
            <a:ext cx="5623560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563046"/>
            <a:ext cx="5623560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042465"/>
            <a:ext cx="5623560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2042465"/>
            <a:ext cx="5623560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2 Comparison B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2 Comparison B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2 Comparison CHeader" descr=" ">
            <a:extLst>
              <a:ext uri="{FF2B5EF4-FFF2-40B4-BE49-F238E27FC236}">
                <a16:creationId xmlns:a16="http://schemas.microsoft.com/office/drawing/2014/main" id="{508F0E3E-452A-401E-E954-91090E28AE5A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2 Comparison CFooter" descr=" ">
            <a:extLst>
              <a:ext uri="{FF2B5EF4-FFF2-40B4-BE49-F238E27FC236}">
                <a16:creationId xmlns:a16="http://schemas.microsoft.com/office/drawing/2014/main" id="{DDC17D0F-3F44-4B9C-2CD1-64DE756AF4C5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750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51FD2A61-A021-DDFD-0B3D-2758D5276C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817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3138034"/>
            <a:ext cx="3776472" cy="327252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3CAE348C-CA9B-6DA5-85C0-6EA00EA90E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5818" y="1992254"/>
            <a:ext cx="3776472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A6ABB32-3570-2D77-6ACA-8DA3FA3849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992254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049E229-D6A4-F87E-AB12-4C2B517E737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3137004"/>
            <a:ext cx="3776472" cy="32735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64FEF03-992E-3B70-A2B4-51080444E6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992254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A037C432-8FB9-320B-3A82-ECDB6E29C13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3137004"/>
            <a:ext cx="3776472" cy="32735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hcSlideMaster.3 Comparison BHeader" descr=" ">
            <a:extLst>
              <a:ext uri="{FF2B5EF4-FFF2-40B4-BE49-F238E27FC236}">
                <a16:creationId xmlns:a16="http://schemas.microsoft.com/office/drawing/2014/main" id="{9BC8C6B8-4E01-9ECA-E6B8-4C91558F0286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1" name="fcSlideMaster.3 Comparison BFooter" descr=" ">
            <a:extLst>
              <a:ext uri="{FF2B5EF4-FFF2-40B4-BE49-F238E27FC236}">
                <a16:creationId xmlns:a16="http://schemas.microsoft.com/office/drawing/2014/main" id="{B211ACB9-3DF6-7317-BC04-482FCC5ED1C2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7B9245E7-4718-498D-130B-89CF21FC23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28569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4F32C694-8B96-B9CD-8392-C42EBEE5E2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2555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2" name="hcSlideMaster.3 Comparison AHeader" descr=" ">
            <a:extLst>
              <a:ext uri="{FF2B5EF4-FFF2-40B4-BE49-F238E27FC236}">
                <a16:creationId xmlns:a16="http://schemas.microsoft.com/office/drawing/2014/main" id="{F7626623-CDA9-2F4D-A611-475B9A1A7A16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3" name="fcSlideMaster.3 Comparison AFooter" descr=" ">
            <a:extLst>
              <a:ext uri="{FF2B5EF4-FFF2-40B4-BE49-F238E27FC236}">
                <a16:creationId xmlns:a16="http://schemas.microsoft.com/office/drawing/2014/main" id="{F2F70BF1-CED2-7175-F3A4-BAD6CF4704CB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150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43F772C-E4D1-DD5B-2BFB-769C4F9F2F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F9773B9-3F0D-5222-F270-22C325B35B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3 Comparison B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3 Comparison B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12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43F772C-E4D1-DD5B-2BFB-769C4F9F2F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F9773B9-3F0D-5222-F270-22C325B35B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3 Comparison B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3 Comparison B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8" name="hcSlideMaster.3 Comparison CHeader" descr=" ">
            <a:extLst>
              <a:ext uri="{FF2B5EF4-FFF2-40B4-BE49-F238E27FC236}">
                <a16:creationId xmlns:a16="http://schemas.microsoft.com/office/drawing/2014/main" id="{023C4D99-3769-1404-CB20-C1B6E0FF34DF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9" name="fcSlideMaster.3 Comparison CFooter" descr=" ">
            <a:extLst>
              <a:ext uri="{FF2B5EF4-FFF2-40B4-BE49-F238E27FC236}">
                <a16:creationId xmlns:a16="http://schemas.microsoft.com/office/drawing/2014/main" id="{71634C75-08A0-7D05-C922-CF82463F608D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485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 Quiz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76433-AA70-59B8-4D99-440E2D803904}"/>
              </a:ext>
            </a:extLst>
          </p:cNvPr>
          <p:cNvSpPr/>
          <p:nvPr userDrawn="1"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b="1" dirty="0">
                <a:solidFill>
                  <a:schemeClr val="bg1"/>
                </a:solidFill>
              </a:rPr>
              <a:t>▶ </a:t>
            </a:r>
            <a:r>
              <a:rPr lang="es-AR" sz="2400" b="1" dirty="0" err="1">
                <a:solidFill>
                  <a:schemeClr val="bg1"/>
                </a:solidFill>
              </a:rPr>
              <a:t>Launch</a:t>
            </a:r>
            <a:r>
              <a:rPr lang="es-AR" sz="2400" b="1" dirty="0">
                <a:solidFill>
                  <a:schemeClr val="bg1"/>
                </a:solidFill>
              </a:rPr>
              <a:t> Quiz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F5667-CE5B-120C-380F-678C096FAD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325" y="3709988"/>
            <a:ext cx="5563446" cy="6771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s-AR" altLang="en-US" sz="44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Knowledge Check</a:t>
            </a:r>
            <a:endParaRPr lang="en-US" altLang="en-US" sz="44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4" descr="Purpose &amp; principles PPT 2.png">
            <a:extLst>
              <a:ext uri="{FF2B5EF4-FFF2-40B4-BE49-F238E27FC236}">
                <a16:creationId xmlns:a16="http://schemas.microsoft.com/office/drawing/2014/main" id="{46D4E8BB-AD1C-A1E8-223D-24B86B99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48700" y="3276600"/>
            <a:ext cx="3087688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hcSlideMaster.Thank You SlideHeader" descr=" ">
            <a:extLst>
              <a:ext uri="{FF2B5EF4-FFF2-40B4-BE49-F238E27FC236}">
                <a16:creationId xmlns:a16="http://schemas.microsoft.com/office/drawing/2014/main" id="{0BA0FA88-0FE3-196E-FEF7-C1256271ABF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fcSlideMaster.Thank You SlideFooter" descr=" ">
            <a:extLst>
              <a:ext uri="{FF2B5EF4-FFF2-40B4-BE49-F238E27FC236}">
                <a16:creationId xmlns:a16="http://schemas.microsoft.com/office/drawing/2014/main" id="{E40DC28D-0777-5350-09F1-18E83F9E760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hcSlideMaster.Take Quiz SlideHeader" descr=" ">
            <a:extLst>
              <a:ext uri="{FF2B5EF4-FFF2-40B4-BE49-F238E27FC236}">
                <a16:creationId xmlns:a16="http://schemas.microsoft.com/office/drawing/2014/main" id="{2F20B705-9D19-FFB5-2EC6-5DA534BDA5B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Take Quiz SlideFooter" descr=" ">
            <a:extLst>
              <a:ext uri="{FF2B5EF4-FFF2-40B4-BE49-F238E27FC236}">
                <a16:creationId xmlns:a16="http://schemas.microsoft.com/office/drawing/2014/main" id="{742A4D41-DBE7-74FE-259C-CCF3B3650CEB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857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76433-AA70-59B8-4D99-440E2D803904}"/>
              </a:ext>
            </a:extLst>
          </p:cNvPr>
          <p:cNvSpPr/>
          <p:nvPr userDrawn="1"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b="1" dirty="0">
                <a:solidFill>
                  <a:schemeClr val="bg1"/>
                </a:solidFill>
              </a:rPr>
              <a:t>Belcan.com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F5667-CE5B-120C-380F-678C096FAD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325" y="3709988"/>
            <a:ext cx="3787775" cy="6778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s-AR" altLang="en-US" sz="4400" b="1">
                <a:solidFill>
                  <a:schemeClr val="accent1"/>
                </a:solidFill>
                <a:latin typeface="Arial Black" panose="020B0A04020102020204" pitchFamily="34" charset="0"/>
              </a:rPr>
              <a:t>THANK YOU</a:t>
            </a:r>
            <a:endParaRPr lang="en-US" altLang="en-US" sz="4400" b="1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4" descr="Purpose &amp; principles PPT 2.png">
            <a:extLst>
              <a:ext uri="{FF2B5EF4-FFF2-40B4-BE49-F238E27FC236}">
                <a16:creationId xmlns:a16="http://schemas.microsoft.com/office/drawing/2014/main" id="{46D4E8BB-AD1C-A1E8-223D-24B86B99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48700" y="3276600"/>
            <a:ext cx="3087688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hcSlideMaster.Thank You SlideHeader" descr=" ">
            <a:extLst>
              <a:ext uri="{FF2B5EF4-FFF2-40B4-BE49-F238E27FC236}">
                <a16:creationId xmlns:a16="http://schemas.microsoft.com/office/drawing/2014/main" id="{0BA0FA88-0FE3-196E-FEF7-C1256271ABF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fcSlideMaster.Thank You SlideFooter" descr=" ">
            <a:extLst>
              <a:ext uri="{FF2B5EF4-FFF2-40B4-BE49-F238E27FC236}">
                <a16:creationId xmlns:a16="http://schemas.microsoft.com/office/drawing/2014/main" id="{E40DC28D-0777-5350-09F1-18E83F9E760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100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920A949A-9641-2D5F-E932-01EC50A583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60" imgH="360" progId="TCLayout.ActiveDocument.1">
                  <p:embed/>
                </p:oleObj>
              </mc:Choice>
              <mc:Fallback>
                <p:oleObj name="think-cell Slide" r:id="rId6" imgW="360" imgH="360" progId="TCLayout.ActiveDocument.1">
                  <p:embed/>
                  <p:pic>
                    <p:nvPicPr>
                      <p:cNvPr id="5123" name="Object 2" hidden="1">
                        <a:extLst>
                          <a:ext uri="{FF2B5EF4-FFF2-40B4-BE49-F238E27FC236}">
                            <a16:creationId xmlns:a16="http://schemas.microsoft.com/office/drawing/2014/main" id="{FD3C687B-20BB-B94B-C3D8-30BAC96F25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FC0342D-A2E8-D410-05B0-8135E3CC221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1342688" y="6513513"/>
            <a:ext cx="542925" cy="3508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cs typeface="Arial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07EAE52-ED7C-039E-F134-7453006A00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01275" y="6513513"/>
            <a:ext cx="1141413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508000" y="1219200"/>
            <a:ext cx="11379200" cy="452438"/>
          </a:xfr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DE81475-0E4A-A3CD-15F2-7CBFCBD8C58F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3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A9157AA-27E1-5C1C-6CB4-6CD176EB7815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4"/>
            </p:custDataLst>
          </p:nvPr>
        </p:nvSpPr>
        <p:spPr>
          <a:xfrm>
            <a:off x="11342688" y="6626225"/>
            <a:ext cx="542925" cy="131763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89E7ACC-C495-45C7-BB8A-D2912D09B9D9}" type="slidenum">
              <a:rPr lang="es-AR" altLang="en-US"/>
              <a:pPr>
                <a:defRPr/>
              </a:pPr>
              <a:t>‹#›</a:t>
            </a:fld>
            <a:endParaRPr lang="es-AR" altLang="en-US"/>
          </a:p>
        </p:txBody>
      </p:sp>
      <p:sp>
        <p:nvSpPr>
          <p:cNvPr id="7" name="hcSlideMaster.1_Title and ContentHeader" descr=" ">
            <a:extLst>
              <a:ext uri="{FF2B5EF4-FFF2-40B4-BE49-F238E27FC236}">
                <a16:creationId xmlns:a16="http://schemas.microsoft.com/office/drawing/2014/main" id="{1915600B-5545-1EF0-E6A9-56A36431466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fcSlideMaster.1_Title and ContentFooter" descr=" ">
            <a:extLst>
              <a:ext uri="{FF2B5EF4-FFF2-40B4-BE49-F238E27FC236}">
                <a16:creationId xmlns:a16="http://schemas.microsoft.com/office/drawing/2014/main" id="{24377476-82F4-ADCE-8376-8A58D6FAAB6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951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30" y="457201"/>
            <a:ext cx="11199941" cy="67506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96029" y="1183066"/>
            <a:ext cx="11204664" cy="495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cap="all" baseline="0">
                <a:solidFill>
                  <a:schemeClr val="bg1">
                    <a:lumMod val="50000"/>
                  </a:schemeClr>
                </a:solidFill>
                <a:latin typeface="Barlow ExtraBold" pitchFamily="2" charset="77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496030" y="1728931"/>
            <a:ext cx="11199941" cy="4443270"/>
          </a:xfrm>
        </p:spPr>
        <p:txBody>
          <a:bodyPr lIns="0" tIns="0" rIns="0" bIns="0"/>
          <a:lstStyle>
            <a:lvl1pPr>
              <a:defRPr sz="2400"/>
            </a:lvl1pPr>
            <a:lvl2pPr marL="685663" marR="0" indent="-228554" algn="l" defTabSz="91421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80000"/>
              <a:buFont typeface=".AppleSystemUIFont"/>
              <a:buChar char="-"/>
              <a:tabLst/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4B855-6D8E-4F4E-2B27-FB8DF8EEBEF3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F4A2603D-B5BA-45A7-8ADE-B68B0FC5AE6C}" type="datetime3">
              <a:rPr lang="en-US"/>
              <a:pPr>
                <a:defRPr/>
              </a:pPr>
              <a:t>19 October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7E28E-5579-CAD5-6F6F-876A35EBCA6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Proprietary &amp; Confidential | Customize footer text under Home &gt; Insert &gt; Header and Footer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F557EBB-7561-A327-2E0E-318AFE9ABA7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28388" y="6356350"/>
            <a:ext cx="468312" cy="36512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B8DF716-EA0E-4412-80E4-FDA1B3962B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" name="hcSlideMaster.1 ColumnHeader" descr=" ">
            <a:extLst>
              <a:ext uri="{FF2B5EF4-FFF2-40B4-BE49-F238E27FC236}">
                <a16:creationId xmlns:a16="http://schemas.microsoft.com/office/drawing/2014/main" id="{B228FA16-0987-3567-2B38-C145F35271EE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" name="fcSlideMaster.1 ColumnFooter" descr=" ">
            <a:extLst>
              <a:ext uri="{FF2B5EF4-FFF2-40B4-BE49-F238E27FC236}">
                <a16:creationId xmlns:a16="http://schemas.microsoft.com/office/drawing/2014/main" id="{43DE6FB4-96AE-3A8B-CFDD-F17C516E4F64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275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ayout 1 - 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D53A8410-8A7D-2046-830B-9C9A397FDA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8195" name="Object 2" hidden="1">
                        <a:extLst>
                          <a:ext uri="{FF2B5EF4-FFF2-40B4-BE49-F238E27FC236}">
                            <a16:creationId xmlns:a16="http://schemas.microsoft.com/office/drawing/2014/main" id="{4EFECE96-FB42-7C76-1BC4-F04D47A5EE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6F5FFF-9DCB-F57A-144E-9C5CFA22034E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179704-AC9F-B5B4-7A2B-54F1CBDE24C5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95288" y="6584950"/>
            <a:ext cx="8240712" cy="215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pic>
        <p:nvPicPr>
          <p:cNvPr id="9" name="Picture 5" descr="Purpose &amp; principles PPT 2.png">
            <a:extLst>
              <a:ext uri="{FF2B5EF4-FFF2-40B4-BE49-F238E27FC236}">
                <a16:creationId xmlns:a16="http://schemas.microsoft.com/office/drawing/2014/main" id="{51BB7C9D-805C-A9E3-7F29-75437C0BB7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 descr="Purpose &amp; principles PPT.png">
            <a:extLst>
              <a:ext uri="{FF2B5EF4-FFF2-40B4-BE49-F238E27FC236}">
                <a16:creationId xmlns:a16="http://schemas.microsoft.com/office/drawing/2014/main" id="{4A549EA2-D760-58AA-3107-A35416BAC1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5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816" y="1989138"/>
            <a:ext cx="11341101" cy="436562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95818" y="1538289"/>
            <a:ext cx="11339925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95817" y="6440102"/>
            <a:ext cx="11341099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9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13855" y="398463"/>
            <a:ext cx="67225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 defTabSz="914400" rtl="0" eaLnBrk="1" latinLnBrk="0" hangingPunct="1">
              <a:buNone/>
              <a:defRPr lang="en-US" sz="1800" kern="1200" dirty="0">
                <a:solidFill>
                  <a:srgbClr val="011C32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EF6118B1-6479-5C3A-1BDD-18614384E3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20488" y="6492875"/>
            <a:ext cx="6715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6F9664B-027D-4AEE-9671-4928BEA615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hcSlideMaster.3_Layout 1 - Title, Subtitle and ContentHeader" descr=" ">
            <a:extLst>
              <a:ext uri="{FF2B5EF4-FFF2-40B4-BE49-F238E27FC236}">
                <a16:creationId xmlns:a16="http://schemas.microsoft.com/office/drawing/2014/main" id="{94E5FAC6-9A0A-44F8-B9B3-D4501D93AD7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3_Layout 1 - Title, Subtitle and ContentFooter" descr=" ">
            <a:extLst>
              <a:ext uri="{FF2B5EF4-FFF2-40B4-BE49-F238E27FC236}">
                <a16:creationId xmlns:a16="http://schemas.microsoft.com/office/drawing/2014/main" id="{A97D2C51-3152-88B0-1B22-941262CECD8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385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bg1">
            <a:alpha val="9019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erospace engineering reviewing specifications on laptop">
            <a:extLst>
              <a:ext uri="{FF2B5EF4-FFF2-40B4-BE49-F238E27FC236}">
                <a16:creationId xmlns:a16="http://schemas.microsoft.com/office/drawing/2014/main" id="{6CF2200A-7965-A251-2FC7-3DB369B6FB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1013A9-9FBD-7644-61FF-9DDB201427EA}"/>
              </a:ext>
            </a:extLst>
          </p:cNvPr>
          <p:cNvSpPr/>
          <p:nvPr userDrawn="1"/>
        </p:nvSpPr>
        <p:spPr>
          <a:xfrm>
            <a:off x="0" y="4714875"/>
            <a:ext cx="12192000" cy="1285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7C041D6-A600-9DE5-86C4-03E906F683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60" imgH="360" progId="TCLayout.ActiveDocument.1">
                  <p:embed/>
                </p:oleObj>
              </mc:Choice>
              <mc:Fallback>
                <p:oleObj name="think-cell Slide" r:id="rId5" imgW="360" imgH="360" progId="TCLayout.ActiveDocument.1">
                  <p:embed/>
                  <p:pic>
                    <p:nvPicPr>
                      <p:cNvPr id="10244" name="Object 3" hidden="1">
                        <a:extLst>
                          <a:ext uri="{FF2B5EF4-FFF2-40B4-BE49-F238E27FC236}">
                            <a16:creationId xmlns:a16="http://schemas.microsoft.com/office/drawing/2014/main" id="{19D95245-B891-C7CD-1861-1B8BA77DB5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B2067C8-39F1-F65C-8D0E-5A7657CB6BC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746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8A159E-64D9-393E-C348-B4CE33A50B31}"/>
              </a:ext>
            </a:extLst>
          </p:cNvPr>
          <p:cNvSpPr/>
          <p:nvPr userDrawn="1"/>
        </p:nvSpPr>
        <p:spPr>
          <a:xfrm>
            <a:off x="0" y="4711700"/>
            <a:ext cx="12192000" cy="84138"/>
          </a:xfrm>
          <a:prstGeom prst="rect">
            <a:avLst/>
          </a:prstGeom>
          <a:solidFill>
            <a:srgbClr val="186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35CF18-49A8-8E1A-2AEC-9E1217ACA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981200"/>
            <a:ext cx="237966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9398C1-6466-6836-4718-870188C345F9}"/>
              </a:ext>
            </a:extLst>
          </p:cNvPr>
          <p:cNvCxnSpPr/>
          <p:nvPr userDrawn="1"/>
        </p:nvCxnSpPr>
        <p:spPr>
          <a:xfrm>
            <a:off x="1695450" y="5445125"/>
            <a:ext cx="66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itle 8"/>
          <p:cNvSpPr>
            <a:spLocks noGrp="1"/>
          </p:cNvSpPr>
          <p:nvPr>
            <p:ph type="title"/>
          </p:nvPr>
        </p:nvSpPr>
        <p:spPr>
          <a:xfrm>
            <a:off x="2356222" y="5014045"/>
            <a:ext cx="9394363" cy="8713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0" rIns="91440" bIns="0" anchor="ctr">
            <a:noAutofit/>
          </a:bodyPr>
          <a:lstStyle>
            <a:lvl1pPr marL="0" algn="l" defTabSz="914377" rtl="0" eaLnBrk="1" latinLnBrk="0" hangingPunct="1">
              <a:lnSpc>
                <a:spcPct val="100000"/>
              </a:lnSpc>
              <a:defRPr lang="en-US" sz="1600" b="1" kern="1200" cap="all" baseline="0" dirty="0">
                <a:solidFill>
                  <a:schemeClr val="bg1"/>
                </a:solidFill>
                <a:latin typeface="+mj-lt"/>
                <a:ea typeface="+mn-ea"/>
                <a:cs typeface="Dreaming Outloud Script Pro" panose="020B0604020202020204" pitchFamily="66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hcSlideMaster.Divider 1Header" descr=" ">
            <a:extLst>
              <a:ext uri="{FF2B5EF4-FFF2-40B4-BE49-F238E27FC236}">
                <a16:creationId xmlns:a16="http://schemas.microsoft.com/office/drawing/2014/main" id="{2C1E635C-C015-3BA3-32CF-77754B0010BF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Divider 1Footer" descr=" ">
            <a:extLst>
              <a:ext uri="{FF2B5EF4-FFF2-40B4-BE49-F238E27FC236}">
                <a16:creationId xmlns:a16="http://schemas.microsoft.com/office/drawing/2014/main" id="{D07816B1-6DE0-6C9C-157C-B661009C5397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108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" hidden="1">
            <a:extLst>
              <a:ext uri="{FF2B5EF4-FFF2-40B4-BE49-F238E27FC236}">
                <a16:creationId xmlns:a16="http://schemas.microsoft.com/office/drawing/2014/main" id="{7208E0D4-98E9-DD31-1ADD-B670E23C41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60" imgH="360" progId="TCLayout.ActiveDocument.1">
                  <p:embed/>
                </p:oleObj>
              </mc:Choice>
              <mc:Fallback>
                <p:oleObj name="think-cell Slide" r:id="rId20" imgW="360" imgH="360" progId="TCLayout.ActiveDocument.1">
                  <p:embed/>
                  <p:pic>
                    <p:nvPicPr>
                      <p:cNvPr id="0" name="Object 9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4792" r:id="rId1"/>
    <p:sldLayoutId id="2147484793" r:id="rId2"/>
    <p:sldLayoutId id="2147484806" r:id="rId3"/>
    <p:sldLayoutId id="2147484807" r:id="rId4"/>
    <p:sldLayoutId id="2147484808" r:id="rId5"/>
    <p:sldLayoutId id="2147484801" r:id="rId6"/>
    <p:sldLayoutId id="2147484802" r:id="rId7"/>
    <p:sldLayoutId id="2147484809" r:id="rId8"/>
    <p:sldLayoutId id="2147484803" r:id="rId9"/>
    <p:sldLayoutId id="2147484804" r:id="rId10"/>
    <p:sldLayoutId id="2147484810" r:id="rId11"/>
    <p:sldLayoutId id="2147484811" r:id="rId12"/>
    <p:sldLayoutId id="2147484794" r:id="rId13"/>
    <p:sldLayoutId id="2147484795" r:id="rId14"/>
    <p:sldLayoutId id="2147484796" r:id="rId15"/>
    <p:sldLayoutId id="2147484798" r:id="rId16"/>
    <p:sldLayoutId id="2147484800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en-US"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tylerbelcan/aviation-controls-simulink-training-Belcan.git" TargetMode="External"/><Relationship Id="rId2" Type="http://schemas.openxmlformats.org/officeDocument/2006/relationships/hyperlink" Target="https://github.com/ntylerbelcan/aviation-controls-simulink-training-Belcan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works.com/help/simulink/ug/open-models.html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simulink/ug/summary-of-mouse-and-keyboard-actions.html" TargetMode="External"/><Relationship Id="rId2" Type="http://schemas.openxmlformats.org/officeDocument/2006/relationships/hyperlink" Target="https://www.mathworks.com/help/simulink/slref/librarybrowser.html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mathworks.com/help/simulink/ug/working-with-test-points.html" TargetMode="External"/><Relationship Id="rId5" Type="http://schemas.openxmlformats.org/officeDocument/2006/relationships/hyperlink" Target="https://www.mathworks.com/help/simulink/ug/exporting-signal-data-using-signal-logging.html#bsw9nbq" TargetMode="External"/><Relationship Id="rId4" Type="http://schemas.openxmlformats.org/officeDocument/2006/relationships/hyperlink" Target="https://www.mathworks.com/help/simulink/ug/connect-blocks.html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works.com/help/simulink/ug/controlling-execution-of-a-simulation.html" TargetMode="Externa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simulink/ug/create-plots-with-the-simulation-data-inspector.html" TargetMode="External"/><Relationship Id="rId2" Type="http://schemas.openxmlformats.org/officeDocument/2006/relationships/hyperlink" Target="https://www.mathworks.com/help/simulink/slref/simulationdatainspector.html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mathworks.com/help/simulink/ug/visual-inspection-of-signal-data.html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simulink/slref/propertyinspector.html" TargetMode="External"/><Relationship Id="rId2" Type="http://schemas.openxmlformats.org/officeDocument/2006/relationships/hyperlink" Target="https://www.mathworks.com/help/simulink/ug/configure-model-layout.html" TargetMode="Externa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works.com/help/simulink/slref/modelexplorer.html" TargetMode="Externa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1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7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slrequirements/ref/requirementsmanager-app.html" TargetMode="External"/><Relationship Id="rId2" Type="http://schemas.openxmlformats.org/officeDocument/2006/relationships/hyperlink" Target="https://www.mathworks.com/help/slrequirements/ref/requirementseditor-app.html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mathworks.com/help/simulink/ug/mbd-using-requirements.html" TargetMode="Externa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8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8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cloud.microsoft/Pages/ResponsePage.aspx?id=ukn_ZLBi3ka3S8xNNwzjQfYqP4xcaORCpJj8zDxV2HpUMDhVUlNZSEVCTjc0RlhXOEFJMEU4TUtHNi4u" TargetMode="External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store.office.com/addinsinstallpage.aspx?rs=en-US&amp;assetid=WA200003233&amp;isWac=True&amp;ui=en-US&amp;ad=US" TargetMode="External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3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hyperlink" Target="https://app.powerbi.com/links/zcu27aJGMI?ctid=64ff49ba-62b0-46de-b74b-cc4d370ce341&amp;pbi_source=linkShare" TargetMode="External"/><Relationship Id="rId3" Type="http://schemas.openxmlformats.org/officeDocument/2006/relationships/hyperlink" Target="https://forms.cloud.microsoft/Pages/DesignPageV2.aspx?origin=NeoPortalPage&amp;subpage=design&amp;collectionid=1poezbja8ui7pddb2eif43&amp;id=ukn_ZLBi3ka3S8xNNwzjQfYqP4xcaORCpJj8zDxV2HpUMDhVUlNZSEVCTjc0RlhXOEFJMEU4TUtHNi4u&amp;analysis=true" TargetMode="External"/><Relationship Id="rId7" Type="http://schemas.openxmlformats.org/officeDocument/2006/relationships/hyperlink" Target="https://app.powerbi.com/groups/me/modeling/9b03b459-3eeb-4c13-8cb9-9748bd494699/modelView?ctid=64ff49ba-62b0-46de-b74b-cc4d370ce341&amp;experience=power-bi" TargetMode="External"/><Relationship Id="rId2" Type="http://schemas.openxmlformats.org/officeDocument/2006/relationships/hyperlink" Target="https://forms.cloud.microsoft/Pages/AnalysisPage.aspx?AnalyzerToken=F7BYU3UBwOCWdaqgHwvXhoPkFZJvQxS6&amp;id=ukn_ZLBi3ka3S8xNNwzjQfYqP4xcaORCpJj8zDxV2HpUMDhVUlNZSEVCTjc0RlhXOEFJMEU4TUtHNi4u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app.powerbi.com/groups/me/list?ctid=64ff49ba-62b0-46de-b74b-cc4d370ce341&amp;experience=power-bi" TargetMode="External"/><Relationship Id="rId5" Type="http://schemas.openxmlformats.org/officeDocument/2006/relationships/hyperlink" Target="https://belcan-my.sharepoint.com/:f:/p/ntyler/IgDPVjp6qhGeQJlTFpICIVoyAfVmSUvbCNIBKXvafhqxuFM?e=VWnujP" TargetMode="External"/><Relationship Id="rId4" Type="http://schemas.openxmlformats.org/officeDocument/2006/relationships/hyperlink" Target="https://belcan-my.sharepoint.com/:x:/p/ntyler/IQAg-n7jhW28RLkogSs-LlnmAQVm5xgNX9Nok0s08ehBME0?e=MsB9Wo" TargetMode="Externa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594AB9-2C9A-954E-9F92-62EFB7D0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4130" y="4947338"/>
            <a:ext cx="9394825" cy="871538"/>
          </a:xfrm>
        </p:spPr>
        <p:txBody>
          <a:bodyPr/>
          <a:lstStyle/>
          <a:p>
            <a:pPr>
              <a:defRPr/>
            </a:pPr>
            <a:r>
              <a:rPr dirty="0"/>
              <a:t>Chapter 1 </a:t>
            </a:r>
            <a:r>
              <a:rPr lang="en-US" altLang="en-US" dirty="0"/>
              <a:t>The Basics</a:t>
            </a:r>
            <a:endParaRPr dirty="0"/>
          </a:p>
        </p:txBody>
      </p:sp>
      <p:sp>
        <p:nvSpPr>
          <p:cNvPr id="14339" name="TextBox 3">
            <a:extLst>
              <a:ext uri="{FF2B5EF4-FFF2-40B4-BE49-F238E27FC236}">
                <a16:creationId xmlns:a16="http://schemas.microsoft.com/office/drawing/2014/main" id="{5987A8B9-2167-D53B-8086-29D2671D8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7342" y="4923687"/>
            <a:ext cx="268451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How to Use MATLAB/SIMULINK</a:t>
            </a:r>
          </a:p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Created: 09 September 2026</a:t>
            </a:r>
          </a:p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Updated: 16 September 2026</a:t>
            </a:r>
          </a:p>
          <a:p>
            <a:pPr algn="ctr"/>
            <a:endParaRPr lang="en-US" alt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By Nathaniel Tyler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D16E5-FC70-4956-3DB3-2BE8C9924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5" y="2019503"/>
            <a:ext cx="4637020" cy="8715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78E31C-38C2-F6ED-D037-C3E408D0FD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Simulink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EA7C0-0E57-D7BE-A136-2E1865F80C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MATLAB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021B32-8A88-1517-3AA4-EBB431004A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MATLAB and Simulink?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F7FE4CC-3FAC-FA81-E419-C9CF5944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649223"/>
          </a:xfrm>
        </p:spPr>
        <p:txBody>
          <a:bodyPr/>
          <a:lstStyle/>
          <a:p>
            <a:r>
              <a:rPr lang="en-US" dirty="0"/>
              <a:t>What is MATLAB and Simulink?</a:t>
            </a:r>
            <a:br>
              <a:rPr lang="en-US" sz="3600" b="0" i="1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400" b="0" i="1" dirty="0">
                <a:solidFill>
                  <a:srgbClr val="17324A"/>
                </a:solidFill>
                <a:latin typeface="Aptos"/>
                <a:ea typeface="Aptos"/>
                <a:cs typeface="Aptos"/>
              </a:rPr>
              <a:t>MATLAB and Simulink provide a unified environment for model-based development, simulation, and verification of complex engineering systems.</a:t>
            </a:r>
            <a:endParaRPr lang="en-US" sz="1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392E0B-4393-7176-D5FA-886403E421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Numerical computing, analysis, and algorithm development.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23897C-2DAD-DF99-DD6F-0B5E873A69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Graphical modeling and simulation of dynamic systems.</a:t>
            </a:r>
          </a:p>
        </p:txBody>
      </p:sp>
      <p:pic>
        <p:nvPicPr>
          <p:cNvPr id="11" name="Content Placeholder 9">
            <a:extLst>
              <a:ext uri="{FF2B5EF4-FFF2-40B4-BE49-F238E27FC236}">
                <a16:creationId xmlns:a16="http://schemas.microsoft.com/office/drawing/2014/main" id="{DC21BC19-A3FF-ADEF-AC92-2B1A01941D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957" y="3192463"/>
            <a:ext cx="5157174" cy="3217862"/>
          </a:xfrm>
          <a:prstGeom prst="rect">
            <a:avLst/>
          </a:prstGeom>
        </p:spPr>
      </p:pic>
      <p:pic>
        <p:nvPicPr>
          <p:cNvPr id="13" name="Content Placeholder 11">
            <a:extLst>
              <a:ext uri="{FF2B5EF4-FFF2-40B4-BE49-F238E27FC236}">
                <a16:creationId xmlns:a16="http://schemas.microsoft.com/office/drawing/2014/main" id="{6CB1E81D-46BC-7BB7-55D7-6307B0DA6175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tretch>
            <a:fillRect/>
          </a:stretch>
        </p:blipFill>
        <p:spPr>
          <a:xfrm>
            <a:off x="6113463" y="3192463"/>
            <a:ext cx="5622925" cy="3217862"/>
          </a:xfrm>
          <a:prstGeom prst="rect">
            <a:avLst/>
          </a:prstGeom>
        </p:spPr>
      </p:pic>
      <p:pic>
        <p:nvPicPr>
          <p:cNvPr id="15" name="Picture 14" descr="MATLAB Logo, symbol, meaning, history, PNG, brand">
            <a:extLst>
              <a:ext uri="{FF2B5EF4-FFF2-40B4-BE49-F238E27FC236}">
                <a16:creationId xmlns:a16="http://schemas.microsoft.com/office/drawing/2014/main" id="{9747FE6E-CA9C-F29C-CB51-C3F96B2C1C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097" r="65520" b="27886"/>
          <a:stretch>
            <a:fillRect/>
          </a:stretch>
        </p:blipFill>
        <p:spPr>
          <a:xfrm>
            <a:off x="1695657" y="1848159"/>
            <a:ext cx="779850" cy="572729"/>
          </a:xfrm>
          <a:prstGeom prst="rect">
            <a:avLst/>
          </a:prstGeom>
        </p:spPr>
      </p:pic>
      <p:pic>
        <p:nvPicPr>
          <p:cNvPr id="17" name="Picture 16" descr="Logotipo De Simulink De Matlab MATLAB® And Simulink® | Microchip">
            <a:extLst>
              <a:ext uri="{FF2B5EF4-FFF2-40B4-BE49-F238E27FC236}">
                <a16:creationId xmlns:a16="http://schemas.microsoft.com/office/drawing/2014/main" id="{78B1D84A-992E-6675-1A93-9DE876134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126" y="1871893"/>
            <a:ext cx="525259" cy="52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69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75A9C-B21F-B38B-3502-4636ED670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7B20CA-58FF-AEB0-87F6-A37AEEE12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Simulink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E1638-BF47-BE36-C601-85E440C65F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MATLAB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51350-A8BF-681B-53F2-80727248E9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are some useful commands for MATLAB and Simulink?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518CF53-993E-CFE4-39CA-1E28C731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649223"/>
          </a:xfrm>
        </p:spPr>
        <p:txBody>
          <a:bodyPr/>
          <a:lstStyle/>
          <a:p>
            <a:r>
              <a:rPr lang="en-US" dirty="0"/>
              <a:t>What are some useful commands for MATLAB and Simulink?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FA8D9D-0A3E-C11D-0DC6-608DD32245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What are some useful commands?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EAB3D3-D37C-6958-5669-E969D46C5C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What are some useful shortcuts?</a:t>
            </a:r>
          </a:p>
        </p:txBody>
      </p:sp>
      <p:pic>
        <p:nvPicPr>
          <p:cNvPr id="15" name="Picture 14" descr="MATLAB Logo, symbol, meaning, history, PNG, brand">
            <a:extLst>
              <a:ext uri="{FF2B5EF4-FFF2-40B4-BE49-F238E27FC236}">
                <a16:creationId xmlns:a16="http://schemas.microsoft.com/office/drawing/2014/main" id="{39EFD516-368B-342D-3536-58C10602E3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97" r="65520" b="27886"/>
          <a:stretch>
            <a:fillRect/>
          </a:stretch>
        </p:blipFill>
        <p:spPr>
          <a:xfrm>
            <a:off x="1695657" y="1848159"/>
            <a:ext cx="779850" cy="572729"/>
          </a:xfrm>
          <a:prstGeom prst="rect">
            <a:avLst/>
          </a:prstGeom>
        </p:spPr>
      </p:pic>
      <p:pic>
        <p:nvPicPr>
          <p:cNvPr id="17" name="Picture 16" descr="Logotipo De Simulink De Matlab MATLAB® And Simulink® | Microchip">
            <a:extLst>
              <a:ext uri="{FF2B5EF4-FFF2-40B4-BE49-F238E27FC236}">
                <a16:creationId xmlns:a16="http://schemas.microsoft.com/office/drawing/2014/main" id="{D196EAA9-D59B-F616-4735-805961161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126" y="1871893"/>
            <a:ext cx="525259" cy="525259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25AD302-DF14-EADF-F91A-A5FECCDC2690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Save			CTRL + S</a:t>
            </a:r>
          </a:p>
          <a:p>
            <a:r>
              <a:rPr lang="en-US" dirty="0"/>
              <a:t>Cancel Action 		CTRL + C	</a:t>
            </a:r>
          </a:p>
          <a:p>
            <a:r>
              <a:rPr lang="en-US" dirty="0"/>
              <a:t>Compile		CTRL + D</a:t>
            </a:r>
          </a:p>
          <a:p>
            <a:r>
              <a:rPr lang="en-US" dirty="0"/>
              <a:t>Build			CTRL + B</a:t>
            </a:r>
          </a:p>
          <a:p>
            <a:r>
              <a:rPr lang="en-US" dirty="0"/>
              <a:t>Run Sim		CTRL + T</a:t>
            </a:r>
          </a:p>
          <a:p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C3BBA-95F9-FAE3-9F55-055808976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 workspace	clear</a:t>
            </a:r>
          </a:p>
          <a:p>
            <a:r>
              <a:rPr lang="en-US" dirty="0"/>
              <a:t>Clean window		</a:t>
            </a:r>
            <a:r>
              <a:rPr lang="en-US" dirty="0" err="1"/>
              <a:t>clc</a:t>
            </a:r>
            <a:endParaRPr lang="en-US" dirty="0"/>
          </a:p>
          <a:p>
            <a:r>
              <a:rPr lang="en-US" dirty="0"/>
              <a:t>Cancel Action		CTRL + C</a:t>
            </a:r>
          </a:p>
        </p:txBody>
      </p:sp>
    </p:spTree>
    <p:extLst>
      <p:ext uri="{BB962C8B-B14F-4D97-AF65-F5344CB8AC3E}">
        <p14:creationId xmlns:p14="http://schemas.microsoft.com/office/powerpoint/2010/main" val="2384426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886766-355D-FAB3-7FBD-0DD4D63364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does success look like?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608F93-F47F-FA51-3F4B-69DE4430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B8FD5-671E-7696-712F-662D72BB1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Open MATLAB &amp; SIMULINK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Create a new Simulink Model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Run a simulation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Data inspector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Model Explorer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Requirements editor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Slide 5 Shows a final product of the Example we will be walking thru.</a:t>
            </a:r>
          </a:p>
        </p:txBody>
      </p:sp>
    </p:spTree>
    <p:extLst>
      <p:ext uri="{BB962C8B-B14F-4D97-AF65-F5344CB8AC3E}">
        <p14:creationId xmlns:p14="http://schemas.microsoft.com/office/powerpoint/2010/main" val="3427441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9C3D62-E170-20C9-A762-81F86C9126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Model(s)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B440D6-4257-B20F-9554-6BCBB4FA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simpleDemo.slx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400" b="0" i="1" dirty="0">
                <a:solidFill>
                  <a:srgbClr val="FF0000"/>
                </a:solidFill>
                <a:latin typeface="Aptos"/>
              </a:rPr>
              <a:t>Note: Scopes are not used in Rolls Royce models. I ONLY used a scope because it was the first sink I thought of for this Chapter 1 walkthrough.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0C400D79-1803-58F5-C997-28612DF70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93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95185-60E3-60E5-534D-B4A8C998B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5EB541-9D77-7D61-2920-21EA69EED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Download the Git Repo</a:t>
            </a:r>
          </a:p>
        </p:txBody>
      </p:sp>
    </p:spTree>
    <p:extLst>
      <p:ext uri="{BB962C8B-B14F-4D97-AF65-F5344CB8AC3E}">
        <p14:creationId xmlns:p14="http://schemas.microsoft.com/office/powerpoint/2010/main" val="3762716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314FF-2564-999F-BED9-492F98DB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0340D-8F5A-6BA5-E23E-F12C8CFC05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Download the Git Repo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332D48-5BEE-725D-1184-2B0774D12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Hub Training Repo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43337-5D2F-AE14-065E-F984C3C15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Hub Webpage</a:t>
            </a:r>
          </a:p>
          <a:p>
            <a:pPr lvl="1"/>
            <a:r>
              <a:rPr lang="en-US" dirty="0" err="1">
                <a:hlinkClick r:id="rId2"/>
              </a:rPr>
              <a:t>ntylerbelcan</a:t>
            </a:r>
            <a:r>
              <a:rPr lang="en-US" dirty="0">
                <a:hlinkClick r:id="rId2"/>
              </a:rPr>
              <a:t>/aviation-controls-</a:t>
            </a:r>
            <a:r>
              <a:rPr lang="en-US" dirty="0" err="1">
                <a:hlinkClick r:id="rId2"/>
              </a:rPr>
              <a:t>simulink</a:t>
            </a:r>
            <a:r>
              <a:rPr lang="en-US" dirty="0">
                <a:hlinkClick r:id="rId2"/>
              </a:rPr>
              <a:t>-training-Belcan</a:t>
            </a:r>
            <a:endParaRPr lang="en-US" dirty="0"/>
          </a:p>
          <a:p>
            <a:endParaRPr lang="en-US" dirty="0"/>
          </a:p>
          <a:p>
            <a:r>
              <a:rPr lang="en-US" dirty="0"/>
              <a:t>Ensure you are in a folder called “GitHub” before your run either of the following commands:</a:t>
            </a:r>
          </a:p>
          <a:p>
            <a:pPr marL="400050" lvl="1" indent="0">
              <a:buNone/>
            </a:pPr>
            <a:endParaRPr lang="en-US" dirty="0"/>
          </a:p>
          <a:p>
            <a:pPr lvl="1"/>
            <a:r>
              <a:rPr lang="en-US" dirty="0"/>
              <a:t>In </a:t>
            </a:r>
            <a:r>
              <a:rPr lang="en-US" b="1" dirty="0"/>
              <a:t>Git Bash </a:t>
            </a:r>
            <a:r>
              <a:rPr lang="en-US" dirty="0"/>
              <a:t>/ Terminal you can run</a:t>
            </a:r>
          </a:p>
          <a:p>
            <a:pPr lvl="2"/>
            <a:r>
              <a:rPr lang="en-US" dirty="0"/>
              <a:t>git clone </a:t>
            </a:r>
            <a:r>
              <a:rPr lang="en-US" dirty="0">
                <a:hlinkClick r:id="rId3"/>
              </a:rPr>
              <a:t>https://github.com/ntylerbelcan/aviation-controls-simulink-training-Belcan.git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OR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In </a:t>
            </a:r>
            <a:r>
              <a:rPr lang="en-US" b="1" dirty="0"/>
              <a:t>MATLAB</a:t>
            </a:r>
          </a:p>
          <a:p>
            <a:pPr lvl="2"/>
            <a:r>
              <a:rPr lang="en-US" dirty="0"/>
              <a:t>You can clone directly from the MATLAB command </a:t>
            </a:r>
            <a:r>
              <a:rPr lang="en-US" dirty="0" err="1"/>
              <a:t>window:MATLAB</a:t>
            </a:r>
            <a:endParaRPr lang="en-US" dirty="0"/>
          </a:p>
          <a:p>
            <a:pPr lvl="2"/>
            <a:r>
              <a:rPr lang="en-US" dirty="0"/>
              <a:t>system('git clone https://github.com/ntylerbelcan/aviation-controls-simulink-training-Belcan.git')</a:t>
            </a:r>
          </a:p>
        </p:txBody>
      </p:sp>
    </p:spTree>
    <p:extLst>
      <p:ext uri="{BB962C8B-B14F-4D97-AF65-F5344CB8AC3E}">
        <p14:creationId xmlns:p14="http://schemas.microsoft.com/office/powerpoint/2010/main" val="4054241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25BDFB-94C2-A959-29C1-318ED12D8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</p:spTree>
    <p:extLst>
      <p:ext uri="{BB962C8B-B14F-4D97-AF65-F5344CB8AC3E}">
        <p14:creationId xmlns:p14="http://schemas.microsoft.com/office/powerpoint/2010/main" val="200985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402783-68BA-C9C0-1AC5-61F64EFA9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6A2E9F-D28F-AE5F-E71B-CCD9CD844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MATLAB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68E633BC-D912-875C-0557-4C3E80DAE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414" y="3186007"/>
            <a:ext cx="3200847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39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9490F-4813-44BC-B6D3-A250E715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002A99-A321-FE5D-D57A-865F7F7A5A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04A3B1-04A3-5A6B-8091-AFEFD494A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the MATLAB Window Layout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983052-63F9-5116-2FF5-7171F5374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342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D559982-691B-FA14-9CB8-071C504544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0" dirty="0"/>
              <a:t>Step 2. Navigate to Chapter 1 folder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D61AAE-F74F-9488-E10F-A925F709EF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0" dirty="0"/>
              <a:t>Step 1. Navigate to training folder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1F6A0C-64C0-D84B-4383-4BE4E3A4CC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A6CEE0-422F-9D95-D87E-FD915189C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</a:t>
            </a:r>
          </a:p>
        </p:txBody>
      </p: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EBC2390E-A214-51AE-1C7F-7F1B3B157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40" b="53247"/>
          <a:stretch>
            <a:fillRect/>
          </a:stretch>
        </p:blipFill>
        <p:spPr>
          <a:xfrm>
            <a:off x="395288" y="2896423"/>
            <a:ext cx="5624512" cy="3376553"/>
          </a:xfrm>
          <a:prstGeom prst="rect">
            <a:avLst/>
          </a:prstGeom>
        </p:spPr>
      </p:pic>
      <p:pic>
        <p:nvPicPr>
          <p:cNvPr id="16" name="Content Placeholder 13">
            <a:extLst>
              <a:ext uri="{FF2B5EF4-FFF2-40B4-BE49-F238E27FC236}">
                <a16:creationId xmlns:a16="http://schemas.microsoft.com/office/drawing/2014/main" id="{F6057ABE-AB24-A50B-CCFC-69C0534643D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93" b="59936"/>
          <a:stretch>
            <a:fillRect/>
          </a:stretch>
        </p:blipFill>
        <p:spPr>
          <a:xfrm>
            <a:off x="6113463" y="2896423"/>
            <a:ext cx="5622925" cy="321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299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9DFB6-62FA-C697-2982-FEA96484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D27DD5-B0EE-7BCF-19AD-3A8BF7266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</p:spTree>
    <p:extLst>
      <p:ext uri="{BB962C8B-B14F-4D97-AF65-F5344CB8AC3E}">
        <p14:creationId xmlns:p14="http://schemas.microsoft.com/office/powerpoint/2010/main" val="1586973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FA1FC-DAF7-840E-6EB9-4E7697C56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DD7506-3946-3FBB-12E3-3B6C889248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D7E5CE-A32A-6959-AA52-071ABD074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Documentation (Optional Reading)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9E1DF-9868-C654-025F-CB8BE3470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Model: 		</a:t>
            </a:r>
            <a:r>
              <a:rPr lang="en-US" dirty="0">
                <a:hlinkClick r:id="rId2"/>
              </a:rPr>
              <a:t>Open Models - MATLAB &amp; Simulink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128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EB3153-E9D3-6B78-8C05-BA55FE0D0E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7EDF59-33EB-340F-6A8D-BA6AD96A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C9318-A0AB-00FD-A7EA-8A4E31D28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Create a new Simulink Model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Creating File (</a:t>
            </a:r>
            <a:r>
              <a:rPr lang="en-US" sz="1800" i="1" dirty="0" err="1"/>
              <a:t>slx</a:t>
            </a:r>
            <a:r>
              <a:rPr lang="en-US" sz="1800" i="1" dirty="0"/>
              <a:t>) 		Create / Rename / Open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879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5396D6-CC26-F8ED-A396-D7179DEE3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82484C-C605-D0D9-B234-DE13CCD08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&amp; create Simulink Model (Method 1)</a:t>
            </a:r>
          </a:p>
        </p:txBody>
      </p:sp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F6E94FF7-29C4-A357-8FE1-11BABBC03F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923" b="72915"/>
          <a:stretch>
            <a:fillRect/>
          </a:stretch>
        </p:blipFill>
        <p:spPr>
          <a:xfrm>
            <a:off x="1393468" y="2764805"/>
            <a:ext cx="9344739" cy="266347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93F052E-9E8F-04B2-E2AC-454C708373E6}"/>
              </a:ext>
            </a:extLst>
          </p:cNvPr>
          <p:cNvSpPr/>
          <p:nvPr/>
        </p:nvSpPr>
        <p:spPr>
          <a:xfrm>
            <a:off x="8135332" y="3167405"/>
            <a:ext cx="650449" cy="754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EB72D0F-0C2C-BF77-43D1-6F08E58177F6}"/>
              </a:ext>
            </a:extLst>
          </p:cNvPr>
          <p:cNvSpPr/>
          <p:nvPr/>
        </p:nvSpPr>
        <p:spPr>
          <a:xfrm>
            <a:off x="8135331" y="2460395"/>
            <a:ext cx="650449" cy="707010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D52A45-FE9A-E5C3-AF88-A16136F79EAB}"/>
              </a:ext>
            </a:extLst>
          </p:cNvPr>
          <p:cNvSpPr txBox="1"/>
          <p:nvPr/>
        </p:nvSpPr>
        <p:spPr>
          <a:xfrm>
            <a:off x="8389855" y="2076522"/>
            <a:ext cx="268663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2) Click Simulink</a:t>
            </a:r>
          </a:p>
        </p:txBody>
      </p:sp>
    </p:spTree>
    <p:extLst>
      <p:ext uri="{BB962C8B-B14F-4D97-AF65-F5344CB8AC3E}">
        <p14:creationId xmlns:p14="http://schemas.microsoft.com/office/powerpoint/2010/main" val="1475644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7C240-AA2F-7A31-BD90-DC6E7646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8">
            <a:extLst>
              <a:ext uri="{FF2B5EF4-FFF2-40B4-BE49-F238E27FC236}">
                <a16:creationId xmlns:a16="http://schemas.microsoft.com/office/drawing/2014/main" id="{7314A834-7986-9D79-009A-5FA4DCF92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8268" b="53875"/>
          <a:stretch>
            <a:fillRect/>
          </a:stretch>
        </p:blipFill>
        <p:spPr>
          <a:xfrm>
            <a:off x="3517525" y="2220298"/>
            <a:ext cx="5096626" cy="37524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BEDAB4-FB4D-0697-3FA7-B3A679C4A0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0B9548-7F56-ADBF-A014-73572667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&amp; create Simulink Model (Method 1)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77143C-1C22-020E-A0A5-CB8D153E1A85}"/>
              </a:ext>
            </a:extLst>
          </p:cNvPr>
          <p:cNvSpPr/>
          <p:nvPr/>
        </p:nvSpPr>
        <p:spPr>
          <a:xfrm>
            <a:off x="6438506" y="4600280"/>
            <a:ext cx="1611985" cy="509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6BA4DC5-DE63-7C86-1773-EEF56783323B}"/>
              </a:ext>
            </a:extLst>
          </p:cNvPr>
          <p:cNvSpPr/>
          <p:nvPr/>
        </p:nvSpPr>
        <p:spPr>
          <a:xfrm>
            <a:off x="6919273" y="3893270"/>
            <a:ext cx="650449" cy="707010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E74E05-7ED7-815A-C46F-E94E020C6983}"/>
              </a:ext>
            </a:extLst>
          </p:cNvPr>
          <p:cNvSpPr txBox="1"/>
          <p:nvPr/>
        </p:nvSpPr>
        <p:spPr>
          <a:xfrm>
            <a:off x="7511216" y="3625295"/>
            <a:ext cx="268663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Click Create Model</a:t>
            </a:r>
          </a:p>
        </p:txBody>
      </p:sp>
    </p:spTree>
    <p:extLst>
      <p:ext uri="{BB962C8B-B14F-4D97-AF65-F5344CB8AC3E}">
        <p14:creationId xmlns:p14="http://schemas.microsoft.com/office/powerpoint/2010/main" val="2716624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35E2-810E-99A8-E9A0-4AF7C04E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34184B-420C-19D5-190E-E74257A5B2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EECE9D-6219-EA09-8F15-A2E11398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&amp; create Simulink Model (Method 2)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367BE58-0C6F-19E5-1B1E-0A4EEE99D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940" b="34476"/>
          <a:stretch>
            <a:fillRect/>
          </a:stretch>
        </p:blipFill>
        <p:spPr>
          <a:xfrm>
            <a:off x="2022490" y="1838325"/>
            <a:ext cx="8086696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69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F90732C-8F19-7D5A-04A0-713EEEF62C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Rename and Press Enter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784B39-4DE4-69EC-DC0A-99F7AE5267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Right click new file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B8A5A09-C90E-1B70-99CA-B2652252D3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FF07215-7511-E884-21CA-FBB31BEA9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 Simulink File</a:t>
            </a:r>
          </a:p>
        </p:txBody>
      </p:sp>
      <p:pic>
        <p:nvPicPr>
          <p:cNvPr id="24" name="Content Placeholder 14">
            <a:extLst>
              <a:ext uri="{FF2B5EF4-FFF2-40B4-BE49-F238E27FC236}">
                <a16:creationId xmlns:a16="http://schemas.microsoft.com/office/drawing/2014/main" id="{19A907B0-69B1-B00B-6313-79186CD3194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592" b="56296"/>
          <a:stretch>
            <a:fillRect/>
          </a:stretch>
        </p:blipFill>
        <p:spPr>
          <a:xfrm>
            <a:off x="6113463" y="2759075"/>
            <a:ext cx="5622925" cy="3439064"/>
          </a:xfrm>
          <a:prstGeom prst="rect">
            <a:avLst/>
          </a:prstGeom>
        </p:spPr>
      </p:pic>
      <p:pic>
        <p:nvPicPr>
          <p:cNvPr id="28" name="Content Placeholder 9">
            <a:extLst>
              <a:ext uri="{FF2B5EF4-FFF2-40B4-BE49-F238E27FC236}">
                <a16:creationId xmlns:a16="http://schemas.microsoft.com/office/drawing/2014/main" id="{19BDE33F-21DA-8478-32B8-118534528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650" b="54953"/>
          <a:stretch>
            <a:fillRect/>
          </a:stretch>
        </p:blipFill>
        <p:spPr>
          <a:xfrm>
            <a:off x="466780" y="2759075"/>
            <a:ext cx="5481527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28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CC6610-DB27-620B-5279-432E077CBE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6C924A2-8621-7A2A-7218-2D882261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Simulink Model</a:t>
            </a:r>
          </a:p>
        </p:txBody>
      </p:sp>
      <p:pic>
        <p:nvPicPr>
          <p:cNvPr id="12" name="Content Placeholder 9">
            <a:extLst>
              <a:ext uri="{FF2B5EF4-FFF2-40B4-BE49-F238E27FC236}">
                <a16:creationId xmlns:a16="http://schemas.microsoft.com/office/drawing/2014/main" id="{DE7EA072-5C3F-B609-32D5-E2433F8C9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504" b="38118"/>
          <a:stretch>
            <a:fillRect/>
          </a:stretch>
        </p:blipFill>
        <p:spPr>
          <a:xfrm>
            <a:off x="1754922" y="1838325"/>
            <a:ext cx="8621832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8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C9AB-A703-9E2F-F787-CC1A0394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69A52B-51AC-CFB6-0C11-D2DE4A77B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</p:spTree>
    <p:extLst>
      <p:ext uri="{BB962C8B-B14F-4D97-AF65-F5344CB8AC3E}">
        <p14:creationId xmlns:p14="http://schemas.microsoft.com/office/powerpoint/2010/main" val="1088086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D8815F-13E7-7111-DFD9-C3FBB78BAA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FE7EB2-85DC-31A6-44DF-9670A87AB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Documentation (Optional Reading)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FFBD7-C1A6-3097-5EA4-DE75564FD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Library Browser: 	</a:t>
            </a:r>
            <a:r>
              <a:rPr lang="en-US" dirty="0">
                <a:hlinkClick r:id="rId2"/>
              </a:rPr>
              <a:t>Library Browser - Find and add blocks to model – MATLAB</a:t>
            </a:r>
            <a:endParaRPr lang="en-US" dirty="0"/>
          </a:p>
          <a:p>
            <a:r>
              <a:rPr lang="en-US" dirty="0"/>
              <a:t>Keyboard Shortcuts: 	</a:t>
            </a:r>
            <a:r>
              <a:rPr lang="en-US" dirty="0">
                <a:hlinkClick r:id="rId3"/>
              </a:rPr>
              <a:t>Keyboard Shortcuts and Mouse Actions for Simulink Modeling - MATLAB &amp; Simulink</a:t>
            </a:r>
            <a:endParaRPr lang="en-US" dirty="0"/>
          </a:p>
          <a:p>
            <a:r>
              <a:rPr lang="en-US" dirty="0"/>
              <a:t>Connect Lines: 	</a:t>
            </a:r>
            <a:r>
              <a:rPr lang="en-US" dirty="0">
                <a:hlinkClick r:id="rId4"/>
              </a:rPr>
              <a:t>Connect Blocks - MATLAB &amp; Simulink</a:t>
            </a:r>
            <a:endParaRPr lang="en-US" dirty="0"/>
          </a:p>
          <a:p>
            <a:r>
              <a:rPr lang="en-US" dirty="0"/>
              <a:t>Signal Logging: 	</a:t>
            </a:r>
            <a:r>
              <a:rPr lang="en-US" dirty="0">
                <a:hlinkClick r:id="rId5"/>
              </a:rPr>
              <a:t>Save Signal Data Using Signal Logging - MATLAB &amp; Simulink</a:t>
            </a:r>
            <a:endParaRPr lang="en-US" dirty="0"/>
          </a:p>
          <a:p>
            <a:r>
              <a:rPr lang="en-US" dirty="0"/>
              <a:t>Test Point: 		</a:t>
            </a:r>
            <a:r>
              <a:rPr lang="en-US" dirty="0">
                <a:hlinkClick r:id="rId6"/>
              </a:rPr>
              <a:t>Configure Signals as Test Points - MATLAB &amp; Simulink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074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8678B9-02E4-3024-860C-85FA9DFC7C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1A3B32-66DF-E323-60A9-773FDB86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C70C1-2543-6C35-7A94-35DAD4525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Accessing Library Browser	Open / Find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Blocks 			Add / Edit / Label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Model 			Fit Contents to Window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Lines 			Create / Edit / Format / Label / Data log</a:t>
            </a:r>
          </a:p>
        </p:txBody>
      </p:sp>
    </p:spTree>
    <p:extLst>
      <p:ext uri="{BB962C8B-B14F-4D97-AF65-F5344CB8AC3E}">
        <p14:creationId xmlns:p14="http://schemas.microsoft.com/office/powerpoint/2010/main" val="3313797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31B6F5F-575D-949C-A66C-5BB1E5EEC1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loaded library browser window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17D507-7614-3899-90A9-632807472D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Library Browser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168C9EE-58A3-F7A9-D12D-30DBF2E723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8ABBCE7-E126-689C-9AF6-8124D1EF5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Library Browser (Part 1)</a:t>
            </a:r>
          </a:p>
        </p:txBody>
      </p:sp>
      <p:pic>
        <p:nvPicPr>
          <p:cNvPr id="23" name="Content Placeholder 11">
            <a:extLst>
              <a:ext uri="{FF2B5EF4-FFF2-40B4-BE49-F238E27FC236}">
                <a16:creationId xmlns:a16="http://schemas.microsoft.com/office/drawing/2014/main" id="{9C0CDFBC-BCB5-BAAA-52CC-4B97A7A9F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12" t="21270" r="48545" b="42963"/>
          <a:stretch>
            <a:fillRect/>
          </a:stretch>
        </p:blipFill>
        <p:spPr>
          <a:xfrm>
            <a:off x="596516" y="2759075"/>
            <a:ext cx="5222055" cy="3517246"/>
          </a:xfrm>
          <a:prstGeom prst="rect">
            <a:avLst/>
          </a:prstGeom>
        </p:spPr>
      </p:pic>
      <p:pic>
        <p:nvPicPr>
          <p:cNvPr id="25" name="Content Placeholder 9">
            <a:extLst>
              <a:ext uri="{FF2B5EF4-FFF2-40B4-BE49-F238E27FC236}">
                <a16:creationId xmlns:a16="http://schemas.microsoft.com/office/drawing/2014/main" id="{0E0F5B02-AEED-5A52-ED05-758A27E2250E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21504" t="20872" r="27351"/>
          <a:stretch>
            <a:fillRect/>
          </a:stretch>
        </p:blipFill>
        <p:spPr>
          <a:xfrm>
            <a:off x="6729564" y="2759075"/>
            <a:ext cx="4390723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74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263DB-06DD-88DA-57C3-6F2EA6D41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872A8F4-5DFA-0D94-7D59-2FC3E83EE3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4. Review Common Blocks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A89AF18-E7AB-5274-67A1-5F4A1959CF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3. Click Icon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049CAD-D3C0-A500-7344-6C9F23A995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2632320-A4E2-1B43-387F-DB796045E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Library Browser (Part 2)</a:t>
            </a:r>
            <a:endParaRPr lang="en-US" sz="1800" b="0" i="1" dirty="0"/>
          </a:p>
        </p:txBody>
      </p: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DCB515E8-BD35-9965-F1F9-0A8F623ED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2130" t="21125" r="42413" b="46364"/>
          <a:stretch>
            <a:fillRect/>
          </a:stretch>
        </p:blipFill>
        <p:spPr>
          <a:xfrm>
            <a:off x="395288" y="2759075"/>
            <a:ext cx="5624512" cy="2771990"/>
          </a:xfrm>
          <a:prstGeom prst="rect">
            <a:avLst/>
          </a:prstGeom>
        </p:spPr>
      </p:pic>
      <p:pic>
        <p:nvPicPr>
          <p:cNvPr id="9" name="Content Placeholder 14">
            <a:extLst>
              <a:ext uri="{FF2B5EF4-FFF2-40B4-BE49-F238E27FC236}">
                <a16:creationId xmlns:a16="http://schemas.microsoft.com/office/drawing/2014/main" id="{2AA708EE-9471-F303-5177-661DA51B3C26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3737" t="32614" r="10967" b="7647"/>
          <a:stretch>
            <a:fillRect/>
          </a:stretch>
        </p:blipFill>
        <p:spPr>
          <a:xfrm>
            <a:off x="6349583" y="2759075"/>
            <a:ext cx="5150684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90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7999F-1EB3-A96F-0293-A61908B7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E84A3-AAAD-EF20-D8C7-D5BEFA1296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5. Review Common Blocks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7BAFB52-8A92-8640-F163-F20CC242DC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C121021-E7B6-9A07-8FDA-2C72139F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Library Browser (Part 3)</a:t>
            </a:r>
            <a:endParaRPr lang="en-US" sz="1800" b="0" i="1" dirty="0"/>
          </a:p>
        </p:txBody>
      </p:sp>
      <p:pic>
        <p:nvPicPr>
          <p:cNvPr id="6" name="Content Placeholder 9">
            <a:extLst>
              <a:ext uri="{FF2B5EF4-FFF2-40B4-BE49-F238E27FC236}">
                <a16:creationId xmlns:a16="http://schemas.microsoft.com/office/drawing/2014/main" id="{F6BDC311-6751-29C8-E62E-C9AECC55FD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2622" t="33987" r="10062" b="6076"/>
          <a:stretch>
            <a:fillRect/>
          </a:stretch>
        </p:blipFill>
        <p:spPr>
          <a:xfrm>
            <a:off x="526240" y="2759075"/>
            <a:ext cx="5362608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230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BABC-0E85-ADCE-CA56-ADB59443E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183E520-C3FC-3EF4-CF3C-6847EA96BB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the Simulink model after Drag and Drop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804ED92-DD1B-6A3C-E6FD-365B2BAEDD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Drag Blocks from Library to Simulink model window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7BFA3F6-11EC-CC30-7953-D2188578AA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2ED09F0-02F7-EDA0-636E-3B789718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Blocks to Simulink Model (Method 1)</a:t>
            </a:r>
            <a:endParaRPr lang="en-US" sz="1800" b="0" i="1" dirty="0"/>
          </a:p>
        </p:txBody>
      </p:sp>
      <p:pic>
        <p:nvPicPr>
          <p:cNvPr id="6" name="Content Placeholder 20">
            <a:extLst>
              <a:ext uri="{FF2B5EF4-FFF2-40B4-BE49-F238E27FC236}">
                <a16:creationId xmlns:a16="http://schemas.microsoft.com/office/drawing/2014/main" id="{23ECAA17-91EF-319D-C929-AB1621FC0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1211" t="10771" r="7128" b="20227"/>
          <a:stretch>
            <a:fillRect/>
          </a:stretch>
        </p:blipFill>
        <p:spPr>
          <a:xfrm>
            <a:off x="664615" y="2759075"/>
            <a:ext cx="5085858" cy="3651250"/>
          </a:xfrm>
          <a:prstGeom prst="rect">
            <a:avLst/>
          </a:prstGeom>
        </p:spPr>
      </p:pic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0091E88F-F055-68D9-76C6-AA475F65A9D8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1289" t="35662" r="24433" b="6431"/>
          <a:stretch>
            <a:fillRect/>
          </a:stretch>
        </p:blipFill>
        <p:spPr>
          <a:xfrm>
            <a:off x="6914363" y="2759075"/>
            <a:ext cx="4021124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933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53C4A7-45AC-703F-9672-575D3AAE2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Type “step” and press enter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AB57E3E-D271-6D5E-FB8E-6C4B478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on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7FE4CB4-4EEA-2F76-3DD7-121F40D405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EAC9A14-C8AB-D5A5-A255-5483B087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Blocks to Simulink Model (Method 2)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9623424-8908-581D-D533-BEE5BFFA45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Observe Newly added block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14B2854F-963B-E1D2-B31D-6D78B4AAC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12" t="38815" r="26160" b="3887"/>
          <a:stretch>
            <a:fillRect/>
          </a:stretch>
        </p:blipFill>
        <p:spPr>
          <a:xfrm>
            <a:off x="450269" y="2759075"/>
            <a:ext cx="3666700" cy="3651250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9A1E397E-6A23-CD69-DCB1-9B1756D6EA98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43" t="36202" r="26701" b="6501"/>
          <a:stretch>
            <a:fillRect/>
          </a:stretch>
        </p:blipFill>
        <p:spPr>
          <a:xfrm>
            <a:off x="4228569" y="2758381"/>
            <a:ext cx="3776472" cy="3652175"/>
          </a:xfrm>
          <a:prstGeom prst="rect">
            <a:avLst/>
          </a:prstGeom>
        </p:spPr>
      </p:pic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00AC16AC-BD2E-224D-DCA7-617FEC9B774D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88" t="35939" r="26856" b="36154"/>
          <a:stretch>
            <a:fillRect/>
          </a:stretch>
        </p:blipFill>
        <p:spPr>
          <a:xfrm>
            <a:off x="8062913" y="2758381"/>
            <a:ext cx="3776662" cy="177831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2CFD86C-04C9-73FA-B647-1B8F88834383}"/>
              </a:ext>
            </a:extLst>
          </p:cNvPr>
          <p:cNvSpPr/>
          <p:nvPr/>
        </p:nvSpPr>
        <p:spPr>
          <a:xfrm>
            <a:off x="8531256" y="4110086"/>
            <a:ext cx="499621" cy="3582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Up 24">
            <a:extLst>
              <a:ext uri="{FF2B5EF4-FFF2-40B4-BE49-F238E27FC236}">
                <a16:creationId xmlns:a16="http://schemas.microsoft.com/office/drawing/2014/main" id="{452C10BE-E1E2-E059-6952-87DE0FEDA33B}"/>
              </a:ext>
            </a:extLst>
          </p:cNvPr>
          <p:cNvSpPr/>
          <p:nvPr/>
        </p:nvSpPr>
        <p:spPr>
          <a:xfrm>
            <a:off x="8531256" y="4468305"/>
            <a:ext cx="499621" cy="533414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06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C71F0-DC01-1FA7-14F3-B374ACBA4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82E0B13-6AC5-60B4-C5AA-1FCBECF00A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the content has been fit to the screen.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38390B0-76D9-66EF-8FF2-C1955058D9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Simulink Model and press spacebar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05FBB4-2E66-27EC-84E7-7EAA61787F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4F113060-8142-E5C8-845B-5DF664BF9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 Contents to Window</a:t>
            </a:r>
            <a:endParaRPr lang="en-US" sz="1600" b="0" i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B50195-2E25-5B6B-5139-958DB758F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20" t="36202" r="26160" b="4532"/>
          <a:stretch>
            <a:fillRect/>
          </a:stretch>
        </p:blipFill>
        <p:spPr>
          <a:xfrm>
            <a:off x="1355297" y="2759075"/>
            <a:ext cx="3704493" cy="365125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E584719-3547-BA36-195E-467A8B1987C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6" t="35938" r="26425" b="4796"/>
          <a:stretch>
            <a:fillRect/>
          </a:stretch>
        </p:blipFill>
        <p:spPr>
          <a:xfrm>
            <a:off x="7187928" y="2759075"/>
            <a:ext cx="3473994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1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B94F1-5B6A-8250-773A-16B0D68CE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7A0A3-AA10-AB7D-20DA-DAE7E4F55C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Rename Block and then press enter or click off the block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9F60671-6188-FF21-84B8-323A695FB3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the block &amp; then click the blue text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201CBCA-A7FB-AE9F-6844-1EF3841C02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70C29AF-8344-2E08-0C38-DD9F79C4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 Blocks</a:t>
            </a:r>
            <a:endParaRPr lang="en-US" sz="1800" b="0" i="1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0085EA7-651F-6227-63C3-F925D3974D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Observe Newly added block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E83AAF4D-1D2D-E3F6-9170-8C716DF6B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66" t="36202" r="26314" b="4532"/>
          <a:stretch>
            <a:fillRect/>
          </a:stretch>
        </p:blipFill>
        <p:spPr>
          <a:xfrm>
            <a:off x="431372" y="2759075"/>
            <a:ext cx="3704493" cy="3651250"/>
          </a:xfrm>
          <a:prstGeom prst="rect">
            <a:avLst/>
          </a:prstGeom>
        </p:spPr>
      </p:pic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58610AF5-296A-9B5E-3C69-D4C4E647C3B8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67" t="35651" r="26513" b="5083"/>
          <a:stretch>
            <a:fillRect/>
          </a:stretch>
        </p:blipFill>
        <p:spPr>
          <a:xfrm>
            <a:off x="4265185" y="2759075"/>
            <a:ext cx="3704493" cy="3651250"/>
          </a:xfrm>
          <a:prstGeom prst="rect">
            <a:avLst/>
          </a:prstGeom>
        </p:spPr>
      </p:pic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D27D0166-BE2A-0EBF-4A7B-098B8A3ABCA7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14" t="36202" r="26366" b="4532"/>
          <a:stretch>
            <a:fillRect/>
          </a:stretch>
        </p:blipFill>
        <p:spPr>
          <a:xfrm>
            <a:off x="8098997" y="2759075"/>
            <a:ext cx="3704493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971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0288-992C-7B36-5B59-43395D540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951EBA-7925-1722-2408-34203CAC34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Press Save Or CTRL+S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1A94179-DD9B-46E9-550C-E44562E136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Notice the File is unsaved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C374A5-7DF0-E0D4-8FCC-C4D8671A4A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80C7C3F-DD62-EE74-2576-0C150BD2C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Simulink Model File</a:t>
            </a:r>
            <a:endParaRPr lang="en-US" sz="1800" b="0" i="1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624A7A4-FE16-EB8E-4B1A-F326A2035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Observe Model has been renamed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71D435C-B471-7FF2-980E-9380F9AEB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98" r="67680" b="50000"/>
          <a:stretch>
            <a:fillRect/>
          </a:stretch>
        </p:blipFill>
        <p:spPr>
          <a:xfrm>
            <a:off x="395288" y="2759075"/>
            <a:ext cx="3776662" cy="2292619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5E220B36-F99D-65BF-1BC1-D72592E85F9F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16" r="69382" b="56725"/>
          <a:stretch>
            <a:fillRect/>
          </a:stretch>
        </p:blipFill>
        <p:spPr>
          <a:xfrm>
            <a:off x="4229100" y="2759075"/>
            <a:ext cx="3776663" cy="1933225"/>
          </a:xfrm>
          <a:prstGeom prst="rect">
            <a:avLst/>
          </a:prstGeom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0DB9AD10-0729-DF04-333F-EAA686FD450A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3642" r="67377" b="67945"/>
          <a:stretch>
            <a:fillRect/>
          </a:stretch>
        </p:blipFill>
        <p:spPr>
          <a:xfrm>
            <a:off x="8062913" y="2759075"/>
            <a:ext cx="3776662" cy="11457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F34EAF4-0283-8B00-E44C-791A10CA7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7" t="21078" r="69382" b="75587"/>
          <a:stretch>
            <a:fillRect/>
          </a:stretch>
        </p:blipFill>
        <p:spPr>
          <a:xfrm>
            <a:off x="395288" y="5340224"/>
            <a:ext cx="3564511" cy="8897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D656EEC-10FF-F665-540E-19C7E2D0D6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7" t="21078" r="69382" b="75587"/>
          <a:stretch>
            <a:fillRect/>
          </a:stretch>
        </p:blipFill>
        <p:spPr>
          <a:xfrm>
            <a:off x="4229100" y="5340224"/>
            <a:ext cx="3564511" cy="8897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EC94F7E-2321-EF23-42E4-9D81091B44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1" t="21554" r="68118" b="75807"/>
          <a:stretch>
            <a:fillRect/>
          </a:stretch>
        </p:blipFill>
        <p:spPr>
          <a:xfrm>
            <a:off x="8062913" y="5338467"/>
            <a:ext cx="3763650" cy="639447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BABF72-04A0-ACA4-72C2-72D2A5E143DB}"/>
              </a:ext>
            </a:extLst>
          </p:cNvPr>
          <p:cNvCxnSpPr>
            <a:cxnSpLocks/>
          </p:cNvCxnSpPr>
          <p:nvPr/>
        </p:nvCxnSpPr>
        <p:spPr>
          <a:xfrm>
            <a:off x="1951351" y="4949073"/>
            <a:ext cx="1055802" cy="716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EDDAAEE-F9D9-53F0-82E8-54ECCEC10F1B}"/>
              </a:ext>
            </a:extLst>
          </p:cNvPr>
          <p:cNvCxnSpPr>
            <a:cxnSpLocks/>
          </p:cNvCxnSpPr>
          <p:nvPr/>
        </p:nvCxnSpPr>
        <p:spPr>
          <a:xfrm>
            <a:off x="1951351" y="4949073"/>
            <a:ext cx="4817094" cy="716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038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5C410-814D-5DD1-618C-23EB95D0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8F87390-97E0-E899-055E-9A6341CF52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Blocks have been connected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F183C2D-F2E7-E2BD-40B5-C0CED825D5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Connect Line </a:t>
            </a:r>
          </a:p>
          <a:p>
            <a:r>
              <a:rPr lang="en-US" dirty="0"/>
              <a:t>From source block to destination block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4FC811C-8D10-C020-12E5-B20FA70A96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DB09051-1ED9-084D-4B52-F6DED4102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Lines / Drag Line (Part 1)</a:t>
            </a:r>
            <a:endParaRPr lang="en-US" b="0" i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28F7450-539C-6E4B-AEC7-2B6942B83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67" t="36130" r="26314" b="4603"/>
          <a:stretch>
            <a:fillRect/>
          </a:stretch>
        </p:blipFill>
        <p:spPr>
          <a:xfrm>
            <a:off x="1452810" y="2759075"/>
            <a:ext cx="3509467" cy="365125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5D17D27-53A3-3394-CDAA-7A5D85F233C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93" t="36130" r="26237" b="4603"/>
          <a:stretch>
            <a:fillRect/>
          </a:stretch>
        </p:blipFill>
        <p:spPr>
          <a:xfrm>
            <a:off x="7155808" y="2759075"/>
            <a:ext cx="3538235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12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00031-1B4E-FB20-2CC7-7A12B9546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23F4388-061A-8D40-6F09-7DC8DE3824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Blocks have been connected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A88729B-B679-6F90-38C9-2AB9A7438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Connect Line </a:t>
            </a:r>
          </a:p>
          <a:p>
            <a:r>
              <a:rPr lang="en-US" dirty="0"/>
              <a:t>From destination block to source block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507BF30-4BC1-3623-F653-AAA479AB6B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289EF9-B290-A81A-E03A-0DC0406B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Lines / Drag Line (Part 2)</a:t>
            </a:r>
            <a:endParaRPr lang="en-US" b="0" i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E34D2EF-4D57-652A-8C23-C68F40DE1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93" t="36130" r="26238" b="4603"/>
          <a:stretch>
            <a:fillRect/>
          </a:stretch>
        </p:blipFill>
        <p:spPr>
          <a:xfrm>
            <a:off x="1438483" y="2759075"/>
            <a:ext cx="3538121" cy="365125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325A987-8051-5586-B109-103D3AB0481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70" t="36130" r="26160" b="4603"/>
          <a:stretch>
            <a:fillRect/>
          </a:stretch>
        </p:blipFill>
        <p:spPr>
          <a:xfrm>
            <a:off x="7155807" y="2759075"/>
            <a:ext cx="3538236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217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89024-9160-6159-3E4E-997EE669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009BB24-0B37-2076-B42E-FCFB67DCB1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Blocks have been connected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9A49AE3-AA07-5C40-2C4D-27B7C9E7EF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Connect Line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186E23E-A317-1693-ABC1-375735B9FB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2937986-1676-ADF5-507C-CE35E4E8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Lines / Auto Routing</a:t>
            </a:r>
            <a:endParaRPr lang="en-US" b="0" i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2BB063-7256-D441-04DD-DFAACA38D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22" t="36204" r="8531" b="5603"/>
          <a:stretch>
            <a:fillRect/>
          </a:stretch>
        </p:blipFill>
        <p:spPr>
          <a:xfrm>
            <a:off x="395288" y="2761503"/>
            <a:ext cx="5624512" cy="36463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B1A95C6-046B-74CD-23C6-1D34B89BC9A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61" t="36011" r="26469" b="4723"/>
          <a:stretch>
            <a:fillRect/>
          </a:stretch>
        </p:blipFill>
        <p:spPr>
          <a:xfrm>
            <a:off x="7155778" y="2759075"/>
            <a:ext cx="3538295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694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5C9B5-ED2B-A868-531B-37802D4C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E25BDB-1144-37B2-DE29-5634CCE166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Create New </a:t>
            </a:r>
            <a:r>
              <a:rPr lang="en-US" dirty="0" err="1"/>
              <a:t>Inport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9F16CF-A15F-01BB-98DD-BCD9838341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Step 1. Connect Line </a:t>
            </a:r>
          </a:p>
          <a:p>
            <a:r>
              <a:rPr lang="en-US" dirty="0"/>
              <a:t>From destination block to source block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F017B9-8919-0FC8-530A-2BCE43462B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9CC3727-EC80-B572-1BCC-BD9D1368C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Lines / Drag Line / Create </a:t>
            </a:r>
            <a:r>
              <a:rPr lang="en-US" dirty="0" err="1"/>
              <a:t>Inport</a:t>
            </a:r>
            <a:endParaRPr lang="en-US" b="0" i="1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576F680-F5CE-0315-B415-C1CB821A36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Observe Blocks have been connected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EFACE0F-15A2-DE13-814A-CB2A599AECCF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2"/>
          <a:srcRect l="42758" t="36130" r="26546" b="4603"/>
          <a:stretch>
            <a:fillRect/>
          </a:stretch>
        </p:blipFill>
        <p:spPr>
          <a:xfrm>
            <a:off x="8192098" y="2759075"/>
            <a:ext cx="3518292" cy="3651250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01B722D4-51AB-7338-AAFA-F9E6D859CA85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90" t="36130" r="26315" b="4603"/>
          <a:stretch>
            <a:fillRect/>
          </a:stretch>
        </p:blipFill>
        <p:spPr>
          <a:xfrm>
            <a:off x="4358343" y="2759075"/>
            <a:ext cx="3518177" cy="3651250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CC51C61C-F3B2-34AC-CDB4-8B4053FAE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35" t="36131" r="26469" b="4363"/>
          <a:stretch>
            <a:fillRect/>
          </a:stretch>
        </p:blipFill>
        <p:spPr>
          <a:xfrm>
            <a:off x="531538" y="2759075"/>
            <a:ext cx="3504161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451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984BD-C113-6740-5339-B41B4B77E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131EAB6-5B08-7627-2542-766FC03397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1. Create New </a:t>
            </a:r>
            <a:r>
              <a:rPr lang="en-US" dirty="0" err="1"/>
              <a:t>Inport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B5ACC7C-B6B5-4069-B752-F87BA2F35C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47435C9-0486-159E-C068-3A7402A3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Lines / Drag Line / Create </a:t>
            </a:r>
            <a:r>
              <a:rPr lang="en-US" dirty="0" err="1"/>
              <a:t>Inport</a:t>
            </a:r>
            <a:endParaRPr lang="en-US" b="0" i="1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C4E5AC-4345-F76B-57A8-09F0A95865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2. Observe Blocks have been connected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C568CA6-974F-D313-14A7-7847C1DF1C9A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16" t="36202" r="26315" b="4532"/>
          <a:stretch>
            <a:fillRect/>
          </a:stretch>
        </p:blipFill>
        <p:spPr>
          <a:xfrm>
            <a:off x="4348341" y="2759075"/>
            <a:ext cx="3538180" cy="3651250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26106DE6-EC2C-1292-0478-F6F21E27465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13" t="36130" r="26392" b="4603"/>
          <a:stretch>
            <a:fillRect/>
          </a:stretch>
        </p:blipFill>
        <p:spPr>
          <a:xfrm>
            <a:off x="8192155" y="2759075"/>
            <a:ext cx="3518177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8760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5A484-D3BB-DB37-74B0-64253A74C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4339A10-CDA5-9821-AF89-799692CEB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Double Click Line and Rename the Signal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2E22BBF-9CB1-5EC7-D312-8EF9CBCFC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Before Renaming Signals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96126E-00B5-EE0C-6AB5-097C735BC1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BE25709-A2D5-DF8B-15F5-A951488C5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 Signals</a:t>
            </a:r>
            <a:endParaRPr lang="en-US" sz="1800" b="0" i="1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2D16130-15FE-DAD4-2B98-0C1894ECD6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all other Signals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2E1D363-39CC-1C2D-6BB3-66A56295EF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67" t="36130" r="26392" b="4603"/>
          <a:stretch>
            <a:fillRect/>
          </a:stretch>
        </p:blipFill>
        <p:spPr>
          <a:xfrm>
            <a:off x="533355" y="2759075"/>
            <a:ext cx="3500527" cy="3651250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2813DDC7-EDD7-2718-57F7-7EC542D99571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43" t="36130" r="26315" b="4603"/>
          <a:stretch>
            <a:fillRect/>
          </a:stretch>
        </p:blipFill>
        <p:spPr>
          <a:xfrm>
            <a:off x="4367111" y="2759075"/>
            <a:ext cx="3500641" cy="3651250"/>
          </a:xfrm>
          <a:prstGeom prst="rect">
            <a:avLst/>
          </a:prstGeom>
        </p:spPr>
      </p:pic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EFEEC6BB-CEBC-ED33-1638-F0CBAA7F2867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43" t="36202" r="26315" b="4532"/>
          <a:stretch>
            <a:fillRect/>
          </a:stretch>
        </p:blipFill>
        <p:spPr>
          <a:xfrm>
            <a:off x="8200894" y="2759075"/>
            <a:ext cx="3500700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459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F73685-B026-648D-4515-C3157D71A7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signal name was moved next to source block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325E4-FA2B-8DA0-C776-0A0554FBDF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Drag and drop the signal name next to the source block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E2F985-BEA8-7CA7-AFC7-46EB9B4EB4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9DB835-1E0C-110B-653C-E016FAEC0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 Signals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5BD705-0A6A-B626-1361-7833EB7EE4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Move other signal names towards their source blocks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1782483-E488-5635-9C13-A6DDE7E2B8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89" t="76346" r="26141" b="4532"/>
          <a:stretch>
            <a:fillRect/>
          </a:stretch>
        </p:blipFill>
        <p:spPr>
          <a:xfrm>
            <a:off x="395288" y="5152897"/>
            <a:ext cx="3776662" cy="1257428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36FCB97-7D37-74A8-2744-C32D0F65407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67" t="76083" r="26063" b="4794"/>
          <a:stretch>
            <a:fillRect/>
          </a:stretch>
        </p:blipFill>
        <p:spPr>
          <a:xfrm>
            <a:off x="4229100" y="5152831"/>
            <a:ext cx="3776663" cy="1257494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E45A5745-C798-7913-A372-DE8C12968940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44" t="35940" r="26701" b="4794"/>
          <a:stretch>
            <a:fillRect/>
          </a:stretch>
        </p:blipFill>
        <p:spPr>
          <a:xfrm>
            <a:off x="8223073" y="2759075"/>
            <a:ext cx="3456342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688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1145FD7-ED3F-B7B2-D4B5-85D1B79B21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2102" y="1992254"/>
            <a:ext cx="4664813" cy="731520"/>
          </a:xfrm>
        </p:spPr>
        <p:txBody>
          <a:bodyPr/>
          <a:lstStyle/>
          <a:p>
            <a:r>
              <a:rPr lang="en-US" dirty="0"/>
              <a:t>Step 2. Observe cleaned up window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C29A74-3058-F333-4F9E-C6EC33390B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992254"/>
            <a:ext cx="6570590" cy="731520"/>
          </a:xfrm>
        </p:spPr>
        <p:txBody>
          <a:bodyPr/>
          <a:lstStyle/>
          <a:p>
            <a:r>
              <a:rPr lang="en-US" dirty="0"/>
              <a:t>Step 1. Clean up the window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739428-D983-FA1E-DC6E-6278D8BEEB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6FE35CD-E676-2CEE-05D7-C908E4092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up Window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1BC69F5E-7653-1AC7-39F0-970C50BD1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3" t="1" r="3107" b="22907"/>
          <a:stretch>
            <a:fillRect/>
          </a:stretch>
        </p:blipFill>
        <p:spPr>
          <a:xfrm>
            <a:off x="395288" y="2759075"/>
            <a:ext cx="6571120" cy="3656333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E4EAEFC3-38E4-671B-6CF4-9B8CA3A0BC1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646" b="27858"/>
          <a:stretch>
            <a:fillRect/>
          </a:stretch>
        </p:blipFill>
        <p:spPr>
          <a:xfrm>
            <a:off x="7072103" y="2759075"/>
            <a:ext cx="3705644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5414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4445B2-5D44-8737-FA93-DD4D11043D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the content has been fit to the screen.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C8151-98CE-FB58-C406-FE86C673D2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Simulink Model and press space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D5C92-F5E6-C67E-F298-7845F70670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352E27C-BE0D-72EA-D678-489F261A5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 Contents to Window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BE752F6-675E-B4D0-6E51-B3A94DFA31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49" r="62123" b="31983"/>
          <a:stretch>
            <a:fillRect/>
          </a:stretch>
        </p:blipFill>
        <p:spPr>
          <a:xfrm>
            <a:off x="845612" y="2759075"/>
            <a:ext cx="4723863" cy="365125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6FF370F-A61C-2D20-3A77-DA943B25E2C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463" y="2759075"/>
            <a:ext cx="5622925" cy="302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021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A9DC90-F4F4-BD7D-CEBD-9B4B5439AA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yellow bar has been removed.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71EEC-DBEA-9F3C-DB4B-D174796418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the down arrow and remove bar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C00130-9554-A409-7AA2-FDAF7D0BBF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1C8C68-2A56-AFA5-D904-E19A452D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Yellow Bar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126AAFE-DF7E-6037-1436-526714BA6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59" t="16950" b="61760"/>
          <a:stretch>
            <a:fillRect/>
          </a:stretch>
        </p:blipFill>
        <p:spPr>
          <a:xfrm>
            <a:off x="1557208" y="2852309"/>
            <a:ext cx="3300672" cy="2093611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0C0C113-644E-87B3-6601-69C2235BA35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463" y="2852309"/>
            <a:ext cx="5622925" cy="302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130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78DCEE-31FC-0878-7A64-9BDBCC35B1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Select other 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EC55E-D6A9-F83F-45D4-72277EEAC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Hold SHIFT &amp; drag cursor to select lines. </a:t>
            </a:r>
            <a:endParaRPr lang="en-US" i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601918-891B-20B0-E067-6174555F73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3BBB1A3-7232-E33A-59AA-28ED4C50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Select Lines</a:t>
            </a:r>
            <a:br>
              <a:rPr lang="en-US" dirty="0"/>
            </a:br>
            <a:r>
              <a:rPr lang="en-US" sz="1400" b="0" i="1" dirty="0">
                <a:solidFill>
                  <a:srgbClr val="FF0000"/>
                </a:solidFill>
                <a:latin typeface="Aptos"/>
              </a:rPr>
              <a:t>Note: Do Not Select any blocks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E835C57-FB6D-7C2F-F6DA-F2C0E2CD0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0" t="20402" r="13015" b="4364"/>
          <a:stretch>
            <a:fillRect/>
          </a:stretch>
        </p:blipFill>
        <p:spPr>
          <a:xfrm>
            <a:off x="395288" y="2852309"/>
            <a:ext cx="5624512" cy="3464781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0E53AE7-EABE-B63E-71E6-2395E4F857F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0" t="19539" r="11082" b="3501"/>
          <a:stretch>
            <a:fillRect/>
          </a:stretch>
        </p:blipFill>
        <p:spPr>
          <a:xfrm>
            <a:off x="6113463" y="2855810"/>
            <a:ext cx="5622925" cy="345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9097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7D0D213-A3B7-267C-1593-E5AE6A3A52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“Signal” Tab</a:t>
            </a:r>
            <a:endParaRPr lang="en-US" i="1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1774855-20BF-6002-45E2-D26DEDCC1D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718DB36-30D3-686D-7702-1E1A4DFB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Logging (Part 1)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7180FBB-784A-D356-170A-18DC57082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768" b="85783"/>
          <a:stretch>
            <a:fillRect/>
          </a:stretch>
        </p:blipFill>
        <p:spPr>
          <a:xfrm>
            <a:off x="555203" y="2852309"/>
            <a:ext cx="11019682" cy="139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09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8BCC7-BBB6-00AC-AB99-63813CAB0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45BFE2-5093-48B9-8979-2CF6425F83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Log Signals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45FC2-70FB-4520-6DA1-9B75B03E44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Test Point</a:t>
            </a:r>
            <a:endParaRPr lang="en-US" i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532397-7B47-F846-4E0C-18739714BD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3FD5E2C-7DFC-1BCA-11BD-E904A895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Logging (Part 2)</a:t>
            </a:r>
          </a:p>
        </p:txBody>
      </p:sp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FE675B39-AC92-13DE-465F-E46DAEB94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4" r="19665" b="4075"/>
          <a:stretch>
            <a:fillRect/>
          </a:stretch>
        </p:blipFill>
        <p:spPr>
          <a:xfrm>
            <a:off x="728696" y="2043113"/>
            <a:ext cx="4957696" cy="4367212"/>
          </a:xfrm>
          <a:prstGeom prst="rect">
            <a:avLst/>
          </a:prstGeom>
        </p:spPr>
      </p:pic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5D6BCCCD-E46B-EBBA-E46F-BCAD2CC3379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7" r="20078" b="4361"/>
          <a:stretch>
            <a:fillRect/>
          </a:stretch>
        </p:blipFill>
        <p:spPr>
          <a:xfrm>
            <a:off x="6455910" y="2043113"/>
            <a:ext cx="4938030" cy="436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9005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37386-0D8C-4646-E970-73A935B7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43CAA9-0F9B-F905-B9DA-D24FF4124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</p:spTree>
    <p:extLst>
      <p:ext uri="{BB962C8B-B14F-4D97-AF65-F5344CB8AC3E}">
        <p14:creationId xmlns:p14="http://schemas.microsoft.com/office/powerpoint/2010/main" val="19427917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94AE9-F6E1-57C3-824C-B754D644E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18D6D2-670E-2C1E-042C-55920AE9B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34FC96-FAD8-798B-74AA-891CB2977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Documentation (Optional Reading)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C289B-495A-EB92-29C9-F4CC31D14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File:		</a:t>
            </a:r>
            <a:r>
              <a:rPr lang="en-US" dirty="0">
                <a:hlinkClick r:id="rId2"/>
              </a:rPr>
              <a:t>Run Simulations in the Simulink Editor - MATLAB &amp; Simulink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9520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3389C-A617-C504-AE55-1468D7D73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22A067-03DF-2C1B-8C59-87F9DE5F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03E58-98B9-3985-D9CB-87E98C961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Run a simulation 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Run		Shortcut (CTRL+T)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Stop Time		Default Value is 10 sec</a:t>
            </a:r>
          </a:p>
        </p:txBody>
      </p:sp>
    </p:spTree>
    <p:extLst>
      <p:ext uri="{BB962C8B-B14F-4D97-AF65-F5344CB8AC3E}">
        <p14:creationId xmlns:p14="http://schemas.microsoft.com/office/powerpoint/2010/main" val="19860463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F79FBF-04B9-780E-A94E-E0754A023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Run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3E285AC-BB46-4A15-1E33-44F2FE1518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114D054-45D3-2C6B-D004-1ED1395D6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Simulation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5245F31-9D8A-6008-2201-5E72AF0859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375" b="67733"/>
          <a:stretch>
            <a:fillRect/>
          </a:stretch>
        </p:blipFill>
        <p:spPr>
          <a:xfrm>
            <a:off x="1434022" y="2852309"/>
            <a:ext cx="9262044" cy="317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7149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61615-0473-6AF2-6A66-0254DA519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7A326D-AF3E-2ABD-F88A-B055C80E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</p:spTree>
    <p:extLst>
      <p:ext uri="{BB962C8B-B14F-4D97-AF65-F5344CB8AC3E}">
        <p14:creationId xmlns:p14="http://schemas.microsoft.com/office/powerpoint/2010/main" val="30608125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2FEDD-B4E7-1DD2-41D9-21C0F0A7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3DF1D-F5D7-413E-7BE7-F2B177DFC2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907450-0A73-727B-1D0D-356AACC36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Documentation (Optional Reading)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2671F-35EF-450A-7803-0DE132F81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Inspector: 	</a:t>
            </a:r>
          </a:p>
          <a:p>
            <a:pPr lvl="1"/>
            <a:r>
              <a:rPr lang="en-US" dirty="0">
                <a:hlinkClick r:id="rId2"/>
              </a:rPr>
              <a:t>Simulation Data Inspector - Inspect and compare data and simulation results to validate and iterate model designs – MATLAB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Create Plots Using Simulation Data Inspector - MATLAB &amp; Simulink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Inspect Simulation Data - MATLAB &amp; Simulink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2548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ACF9B-7E7E-7CCE-4617-016B4525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0EB84-73BF-1E5D-89F5-1BE34CBB1E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66F613-CCB4-ABE2-D716-C7974F21A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A06BDD-F972-1020-18E1-375EC0A79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Data inspector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Graph 		Graph Data / Edit Grid / Use Cursors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Stop Time		Default Value is 10 sec</a:t>
            </a:r>
          </a:p>
        </p:txBody>
      </p:sp>
    </p:spTree>
    <p:extLst>
      <p:ext uri="{BB962C8B-B14F-4D97-AF65-F5344CB8AC3E}">
        <p14:creationId xmlns:p14="http://schemas.microsoft.com/office/powerpoint/2010/main" val="4824149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7EE104F-2DA7-99DB-CF27-E2A5376F20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“Data Inspector”</a:t>
            </a:r>
            <a:endParaRPr lang="en-US" i="1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9192630-2AE5-C722-F707-666B0B393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Observe Logged Signals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59F69C1-5FE3-618F-72F4-38A4F922C9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3B75B73-4226-76CF-31CA-4B707AA7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89204"/>
          </a:xfrm>
        </p:spPr>
        <p:txBody>
          <a:bodyPr/>
          <a:lstStyle/>
          <a:p>
            <a:r>
              <a:rPr lang="en-US" dirty="0"/>
              <a:t>Open Data Inspector</a:t>
            </a:r>
            <a:br>
              <a:rPr lang="en-US" dirty="0"/>
            </a:br>
            <a:r>
              <a:rPr lang="en-US" sz="1400" b="0" i="1" dirty="0">
                <a:solidFill>
                  <a:srgbClr val="FF0000"/>
                </a:solidFill>
              </a:rPr>
              <a:t>Note: Simulation must be run prior to opening Data inspector to observe raw values.</a:t>
            </a:r>
            <a:endParaRPr lang="en-US" sz="1400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BE1FBE1-00A5-3E65-469B-86D800141C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3. Observe the Data Inspector</a:t>
            </a: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1C4E0DA0-2125-1361-734B-AF56BB55C3F9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9" t="10464" r="54505" b="35929"/>
          <a:stretch>
            <a:fillRect/>
          </a:stretch>
        </p:blipFill>
        <p:spPr>
          <a:xfrm>
            <a:off x="8261700" y="2759075"/>
            <a:ext cx="3379087" cy="3651250"/>
          </a:xfrm>
          <a:prstGeom prst="rect">
            <a:avLst/>
          </a:prstGeom>
        </p:spPr>
      </p:pic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3FAAFDBB-DB32-5501-2A9B-6EA8019B75D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67" r="34585" b="73692"/>
          <a:stretch>
            <a:fillRect/>
          </a:stretch>
        </p:blipFill>
        <p:spPr>
          <a:xfrm>
            <a:off x="4229100" y="2759075"/>
            <a:ext cx="3776663" cy="2513370"/>
          </a:xfrm>
          <a:prstGeom prst="rect">
            <a:avLst/>
          </a:prstGeom>
        </p:spPr>
      </p:pic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1682C7BE-BFCB-10CB-E203-E0B12EFF4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0" t="19913" r="34142" b="3262"/>
          <a:stretch>
            <a:fillRect/>
          </a:stretch>
        </p:blipFill>
        <p:spPr>
          <a:xfrm>
            <a:off x="395288" y="2759075"/>
            <a:ext cx="3776662" cy="3496040"/>
          </a:xfrm>
          <a:prstGeom prst="rect">
            <a:avLst/>
          </a:prstGeom>
        </p:spPr>
      </p:pic>
      <p:sp>
        <p:nvSpPr>
          <p:cNvPr id="28" name="Arrow: Up 27">
            <a:extLst>
              <a:ext uri="{FF2B5EF4-FFF2-40B4-BE49-F238E27FC236}">
                <a16:creationId xmlns:a16="http://schemas.microsoft.com/office/drawing/2014/main" id="{64A0BB2C-1ADD-D2E0-F8F3-B9265A944580}"/>
              </a:ext>
            </a:extLst>
          </p:cNvPr>
          <p:cNvSpPr/>
          <p:nvPr/>
        </p:nvSpPr>
        <p:spPr>
          <a:xfrm rot="10800000">
            <a:off x="2114655" y="5086024"/>
            <a:ext cx="165853" cy="314828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Up 29">
            <a:extLst>
              <a:ext uri="{FF2B5EF4-FFF2-40B4-BE49-F238E27FC236}">
                <a16:creationId xmlns:a16="http://schemas.microsoft.com/office/drawing/2014/main" id="{75FC103F-2B20-5911-44B7-8EF74D9F3BE5}"/>
              </a:ext>
            </a:extLst>
          </p:cNvPr>
          <p:cNvSpPr/>
          <p:nvPr/>
        </p:nvSpPr>
        <p:spPr>
          <a:xfrm rot="10800000">
            <a:off x="1171680" y="4033511"/>
            <a:ext cx="165853" cy="314828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Up 31">
            <a:extLst>
              <a:ext uri="{FF2B5EF4-FFF2-40B4-BE49-F238E27FC236}">
                <a16:creationId xmlns:a16="http://schemas.microsoft.com/office/drawing/2014/main" id="{BE5D6EF7-A576-9C2D-22FC-E82CFA6A4DEA}"/>
              </a:ext>
            </a:extLst>
          </p:cNvPr>
          <p:cNvSpPr/>
          <p:nvPr/>
        </p:nvSpPr>
        <p:spPr>
          <a:xfrm rot="10800000">
            <a:off x="1376467" y="2609850"/>
            <a:ext cx="165853" cy="314828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Up 33">
            <a:extLst>
              <a:ext uri="{FF2B5EF4-FFF2-40B4-BE49-F238E27FC236}">
                <a16:creationId xmlns:a16="http://schemas.microsoft.com/office/drawing/2014/main" id="{7F9C2BCE-E3A3-BE06-4C97-822DE3F728DE}"/>
              </a:ext>
            </a:extLst>
          </p:cNvPr>
          <p:cNvSpPr/>
          <p:nvPr/>
        </p:nvSpPr>
        <p:spPr>
          <a:xfrm rot="10800000">
            <a:off x="3362429" y="3429000"/>
            <a:ext cx="165853" cy="314828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7" name="Content Placeholder 25">
            <a:extLst>
              <a:ext uri="{FF2B5EF4-FFF2-40B4-BE49-F238E27FC236}">
                <a16:creationId xmlns:a16="http://schemas.microsoft.com/office/drawing/2014/main" id="{971FA5EB-4F1F-42A8-D018-9A323FB9BB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47" t="24844" r="65276" b="72451"/>
          <a:stretch>
            <a:fillRect/>
          </a:stretch>
        </p:blipFill>
        <p:spPr>
          <a:xfrm>
            <a:off x="3684676" y="1956953"/>
            <a:ext cx="343424" cy="42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6317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E9421D79-56A8-8AE1-C42C-A5DF8EC54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133" r="14330" b="6952"/>
          <a:stretch>
            <a:fillRect/>
          </a:stretch>
        </p:blipFill>
        <p:spPr>
          <a:xfrm>
            <a:off x="2864481" y="1349421"/>
            <a:ext cx="8872435" cy="5060904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CA5CC42-9589-0D6C-386D-EDEDA0BAA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992254"/>
            <a:ext cx="2366236" cy="4088035"/>
          </a:xfrm>
        </p:spPr>
        <p:txBody>
          <a:bodyPr>
            <a:normAutofit/>
          </a:bodyPr>
          <a:lstStyle/>
          <a:p>
            <a:r>
              <a:rPr lang="en-US" dirty="0"/>
              <a:t>Step 1. Check box to add signal to data inspector chart </a:t>
            </a:r>
          </a:p>
          <a:p>
            <a:endParaRPr lang="en-US" i="1" dirty="0"/>
          </a:p>
          <a:p>
            <a:r>
              <a:rPr lang="en-US" sz="1200" i="1" dirty="0">
                <a:solidFill>
                  <a:schemeClr val="tx1"/>
                </a:solidFill>
              </a:rPr>
              <a:t>Note: The only reason we have 10 seconds of data is because the stop time is currently set for 10 seconds.</a:t>
            </a:r>
          </a:p>
          <a:p>
            <a:endParaRPr lang="en-US" sz="1200" i="1" dirty="0">
              <a:solidFill>
                <a:schemeClr val="tx1"/>
              </a:solidFill>
            </a:endParaRPr>
          </a:p>
          <a:p>
            <a:r>
              <a:rPr lang="en-US" sz="1200" i="1" dirty="0">
                <a:solidFill>
                  <a:schemeClr val="tx1"/>
                </a:solidFill>
              </a:rPr>
              <a:t>Increase the stop time to obtain more data.</a:t>
            </a:r>
            <a:endParaRPr lang="en-US" sz="1400" i="1" dirty="0">
              <a:solidFill>
                <a:schemeClr val="tx1"/>
              </a:solidFill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1971D1-CFA1-D67E-3B67-78D9701C4B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B10F40B-B978-ED84-AB39-07D29564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1 Signal to Chart + Stop Time Overview</a:t>
            </a:r>
          </a:p>
        </p:txBody>
      </p:sp>
    </p:spTree>
    <p:extLst>
      <p:ext uri="{BB962C8B-B14F-4D97-AF65-F5344CB8AC3E}">
        <p14:creationId xmlns:p14="http://schemas.microsoft.com/office/powerpoint/2010/main" val="24478639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08E35E9-3847-D824-FC46-4675A290B7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Grid Icon &amp; update Row value to 4</a:t>
            </a:r>
            <a:endParaRPr lang="en-US" i="1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757DAC-9DF4-E10D-D87B-0EDDC48B43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582E8E0-E787-A901-EBFD-6DD375D1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Grid Layout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287E60C7-A43A-E9FE-E5D0-D740FDF90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8" t="8608" r="24269" b="33833"/>
          <a:stretch>
            <a:fillRect/>
          </a:stretch>
        </p:blipFill>
        <p:spPr>
          <a:xfrm>
            <a:off x="450472" y="2043113"/>
            <a:ext cx="5514144" cy="4367212"/>
          </a:xfrm>
          <a:prstGeom prst="rect">
            <a:avLst/>
          </a:prstGeom>
        </p:spPr>
      </p:pic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685F1D4A-CC56-CC3F-1A85-CA77EDC2880A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4" t="9255" r="18737" b="8247"/>
          <a:stretch>
            <a:fillRect/>
          </a:stretch>
        </p:blipFill>
        <p:spPr>
          <a:xfrm>
            <a:off x="6096000" y="914400"/>
            <a:ext cx="5654115" cy="549592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30CD35B-E580-D8AE-0092-9A854BA668F7}"/>
              </a:ext>
            </a:extLst>
          </p:cNvPr>
          <p:cNvSpPr/>
          <p:nvPr/>
        </p:nvSpPr>
        <p:spPr>
          <a:xfrm>
            <a:off x="3610466" y="4288120"/>
            <a:ext cx="650448" cy="3970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606E9E-C73B-7DCD-925B-451504E66CF4}"/>
              </a:ext>
            </a:extLst>
          </p:cNvPr>
          <p:cNvSpPr/>
          <p:nvPr/>
        </p:nvSpPr>
        <p:spPr>
          <a:xfrm>
            <a:off x="8923056" y="2819109"/>
            <a:ext cx="692283" cy="4242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750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BAD649D-5E2F-FD62-8D72-FA01A29573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Cursors to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5BE762F-78CE-B201-8A27-8B2D8F2DD7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Add Signals to Chart</a:t>
            </a:r>
            <a:endParaRPr lang="en-US" i="1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7BEB303-DDBB-BF3F-2DD1-67F4E28D1D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0709B06-2524-004A-A52D-E15A87A0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Signal(s) to Chart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059FC8D-7C7C-B678-E0F8-DAA040418B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36609" y="1563046"/>
            <a:ext cx="2843287" cy="365760"/>
          </a:xfrm>
        </p:spPr>
        <p:txBody>
          <a:bodyPr>
            <a:normAutofit fontScale="92500"/>
          </a:bodyPr>
          <a:lstStyle/>
          <a:p>
            <a:r>
              <a:rPr lang="en-US" dirty="0"/>
              <a:t>Step 3. Close Data inspector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7EE9FA9D-ACD6-1B98-9561-17FC698AC0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35" t="10477" r="47894" b="8391"/>
          <a:stretch>
            <a:fillRect/>
          </a:stretch>
        </p:blipFill>
        <p:spPr>
          <a:xfrm>
            <a:off x="607625" y="2043113"/>
            <a:ext cx="3351987" cy="4367212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6F7852DC-0858-2AD8-73BC-37B1AA7D413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9" t="10547" r="15104" b="8321"/>
          <a:stretch>
            <a:fillRect/>
          </a:stretch>
        </p:blipFill>
        <p:spPr>
          <a:xfrm>
            <a:off x="4229100" y="2043113"/>
            <a:ext cx="4899844" cy="4367212"/>
          </a:xfrm>
          <a:prstGeom prst="rect">
            <a:avLst/>
          </a:prstGeom>
        </p:spPr>
      </p:pic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64366120-FC18-DD2E-EC02-95B219EB5834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79" t="6018" r="5980" b="84119"/>
          <a:stretch>
            <a:fillRect/>
          </a:stretch>
        </p:blipFill>
        <p:spPr>
          <a:xfrm>
            <a:off x="9236610" y="2042464"/>
            <a:ext cx="2843287" cy="969905"/>
          </a:xfrm>
          <a:prstGeom prst="rect">
            <a:avLst/>
          </a:prstGeom>
          <a:ln>
            <a:noFill/>
          </a:ln>
        </p:spPr>
      </p:pic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953B5473-9950-9F1C-9AD0-2C7404A1BC32}"/>
              </a:ext>
            </a:extLst>
          </p:cNvPr>
          <p:cNvSpPr txBox="1">
            <a:spLocks/>
          </p:cNvSpPr>
          <p:nvPr/>
        </p:nvSpPr>
        <p:spPr>
          <a:xfrm>
            <a:off x="9236609" y="3366214"/>
            <a:ext cx="2843287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4. Save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97AEE18-7BE7-3D8E-5260-9F9DAEC2C9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304" b="70391"/>
          <a:stretch>
            <a:fillRect/>
          </a:stretch>
        </p:blipFill>
        <p:spPr>
          <a:xfrm>
            <a:off x="9257475" y="3731973"/>
            <a:ext cx="2604326" cy="2640676"/>
          </a:xfrm>
          <a:prstGeom prst="rect">
            <a:avLst/>
          </a:prstGeom>
          <a:ln>
            <a:noFill/>
          </a:ln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AEE1396-34E1-49B0-4F0E-A24782589976}"/>
              </a:ext>
            </a:extLst>
          </p:cNvPr>
          <p:cNvCxnSpPr>
            <a:cxnSpLocks/>
          </p:cNvCxnSpPr>
          <p:nvPr/>
        </p:nvCxnSpPr>
        <p:spPr>
          <a:xfrm>
            <a:off x="9189474" y="914401"/>
            <a:ext cx="0" cy="56560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CFAD188-84D2-DEC8-C1DA-07D79F5F2880}"/>
              </a:ext>
            </a:extLst>
          </p:cNvPr>
          <p:cNvCxnSpPr>
            <a:cxnSpLocks/>
          </p:cNvCxnSpPr>
          <p:nvPr/>
        </p:nvCxnSpPr>
        <p:spPr>
          <a:xfrm>
            <a:off x="4100571" y="903933"/>
            <a:ext cx="0" cy="56560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5200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CA0A6-8D67-5C93-57A4-86163CA7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AB0A80-7C1F-704F-E43A-5187837B3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</p:spTree>
    <p:extLst>
      <p:ext uri="{BB962C8B-B14F-4D97-AF65-F5344CB8AC3E}">
        <p14:creationId xmlns:p14="http://schemas.microsoft.com/office/powerpoint/2010/main" val="1666775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144D7-584C-B368-3ECB-29C14EEF9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F5689D-8DC2-5B07-795D-8414A92440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2A0AA7-0C46-50DF-3BA9-BABEF258E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Documentation (Optional Reading)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3A32B-B54C-1704-48C4-9E4C15693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Formatting: 		</a:t>
            </a:r>
            <a:r>
              <a:rPr lang="en-US" dirty="0">
                <a:hlinkClick r:id="rId2"/>
              </a:rPr>
              <a:t>Configure Model Layout - MATLAB &amp; Simulink</a:t>
            </a:r>
            <a:endParaRPr lang="en-US" dirty="0"/>
          </a:p>
          <a:p>
            <a:r>
              <a:rPr lang="en-US" dirty="0"/>
              <a:t>Property Inspector: 	</a:t>
            </a:r>
            <a:r>
              <a:rPr lang="en-US" dirty="0">
                <a:hlinkClick r:id="rId3"/>
              </a:rPr>
              <a:t>Property Inspector - Edit parameters and properties for any Simulink model element - MATLAB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1704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13D96-71C8-50E9-2282-AAB67D3ED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6D792-7C3F-BD3F-873A-DA1F508E2B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B33F52-6CEB-82FE-A393-5BC253FA9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720D3-C0E7-D971-97FF-100015D2B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Blocks 			Format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Signal Attributes 		View / Edit / Property Inspector</a:t>
            </a:r>
          </a:p>
        </p:txBody>
      </p:sp>
    </p:spTree>
    <p:extLst>
      <p:ext uri="{BB962C8B-B14F-4D97-AF65-F5344CB8AC3E}">
        <p14:creationId xmlns:p14="http://schemas.microsoft.com/office/powerpoint/2010/main" val="30318340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E5F58EB-AB12-9F10-0CD7-41A8C7023A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Align Right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F949557-61D8-DF69-3287-F2F872416C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Select blocks &amp; then click “Format” tab</a:t>
            </a:r>
            <a:endParaRPr lang="en-US" i="1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43B67F1-CFF5-45D0-9160-5E34AA7DA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85B7DFF-9252-4408-BA01-62BCA9A6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Formatting Blocks – Align Left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both lines and blocks may be selected for this section </a:t>
            </a:r>
            <a:br>
              <a:rPr lang="en-US" sz="1200" b="0" i="1" dirty="0">
                <a:solidFill>
                  <a:srgbClr val="FF0000"/>
                </a:solidFill>
              </a:rPr>
            </a:br>
            <a:r>
              <a:rPr lang="en-US" sz="1200" b="0" i="1" dirty="0">
                <a:solidFill>
                  <a:srgbClr val="FF0000"/>
                </a:solidFill>
              </a:rPr>
              <a:t>Note: align commands will only affect the placement of the blocks</a:t>
            </a:r>
            <a:endParaRPr lang="en-US" sz="140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167C471-CD75-287D-0AC0-4F96967B9A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Observe the blocks have been aligned</a:t>
            </a: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081C0998-356F-3DF4-08E1-67B50615DD0B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2" r="41889" b="4045"/>
          <a:stretch>
            <a:fillRect/>
          </a:stretch>
        </p:blipFill>
        <p:spPr>
          <a:xfrm>
            <a:off x="8068518" y="2655378"/>
            <a:ext cx="4072022" cy="3877056"/>
          </a:xfrm>
          <a:prstGeom prst="rect">
            <a:avLst/>
          </a:prstGeom>
        </p:spPr>
      </p:pic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B1E1A176-6BA8-AA9F-86E1-7000DB265D3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8" t="839" r="40728" b="4364"/>
          <a:stretch>
            <a:fillRect/>
          </a:stretch>
        </p:blipFill>
        <p:spPr>
          <a:xfrm>
            <a:off x="4564445" y="2655378"/>
            <a:ext cx="3336948" cy="3922776"/>
          </a:xfrm>
          <a:prstGeom prst="rect">
            <a:avLst/>
          </a:prstGeom>
        </p:spPr>
      </p:pic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8396C6B5-FE57-AAA0-983B-5567F8C8B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2" r="50242" b="4069"/>
          <a:stretch>
            <a:fillRect/>
          </a:stretch>
        </p:blipFill>
        <p:spPr>
          <a:xfrm>
            <a:off x="679525" y="2655378"/>
            <a:ext cx="3406594" cy="387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632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AB9AF-CC67-52CB-7E38-F80373ABE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638C17E-BE06-F0F7-F917-434733910C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Down Arrow and then Click Restore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777210E-CF19-3957-6812-FF4A42AD1E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Click Property Inspector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189C1E1-96EC-04C8-8C70-69C1C957DB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9E6E70D0-E693-76E2-0392-EC926047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Show Property Inspector (Method 1)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This is my preferred method</a:t>
            </a:r>
            <a:br>
              <a:rPr lang="en-US" sz="1200" b="0" i="1" dirty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DEB9B9-BE26-7FF6-347C-A415EC5CE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30" b="69098"/>
          <a:stretch>
            <a:fillRect/>
          </a:stretch>
        </p:blipFill>
        <p:spPr>
          <a:xfrm>
            <a:off x="630637" y="2759075"/>
            <a:ext cx="5153813" cy="3038833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43850D8-51CA-1F34-6A99-1178AD7DF3E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71" b="57588"/>
          <a:stretch>
            <a:fillRect/>
          </a:stretch>
        </p:blipFill>
        <p:spPr>
          <a:xfrm>
            <a:off x="7312920" y="2759075"/>
            <a:ext cx="3224010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7951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F00FB1B-4E63-02CC-FC29-E59865ACE6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Property Inspector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62FEE59-A398-103E-7E00-61CE71AEE8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“MODELING” Tab and expand options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3E49E70-C9FD-BD56-AFBA-B3EBE13D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84CDC20-538F-C970-46CF-5F310B2C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Show Property Inspector (Method 2)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This method will force property Inspector to activate</a:t>
            </a:r>
            <a:endParaRPr lang="en-US" dirty="0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DD528E1A-0AA4-441E-B8DC-13E867724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00" y="2759075"/>
            <a:ext cx="4916887" cy="2267867"/>
          </a:xfrm>
          <a:prstGeom prst="rect">
            <a:avLst/>
          </a:prstGeom>
        </p:spPr>
      </p:pic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636B2735-0B73-43A1-22A1-49C75DA97B1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1" r="64820" b="61920"/>
          <a:stretch>
            <a:fillRect/>
          </a:stretch>
        </p:blipFill>
        <p:spPr>
          <a:xfrm>
            <a:off x="6455968" y="2759075"/>
            <a:ext cx="4937915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6775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225B62C-43D3-BE32-A57C-A0316060A8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88888" y="1563046"/>
            <a:ext cx="3739714" cy="365760"/>
          </a:xfrm>
        </p:spPr>
        <p:txBody>
          <a:bodyPr>
            <a:normAutofit/>
          </a:bodyPr>
          <a:lstStyle/>
          <a:p>
            <a:r>
              <a:rPr lang="en-US" dirty="0"/>
              <a:t>Step 2. Observe updated Attributes</a:t>
            </a:r>
          </a:p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5E1930E-FFE5-C94C-301B-4CC8B6F025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7777220" cy="365760"/>
          </a:xfrm>
        </p:spPr>
        <p:txBody>
          <a:bodyPr/>
          <a:lstStyle/>
          <a:p>
            <a:r>
              <a:rPr lang="en-US" dirty="0"/>
              <a:t>Step 1. Click Block + Expand &amp; Edit Signal Attributes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FAAE48-27B7-B2CC-67D0-A3EB60AFED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2983A16-4B67-810F-60D6-F83A5492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 Attributes (P1)</a:t>
            </a:r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BC7398C2-2C1A-0FDE-4968-9FABEC817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40" t="13930" r="1" b="3788"/>
          <a:stretch>
            <a:fillRect/>
          </a:stretch>
        </p:blipFill>
        <p:spPr>
          <a:xfrm>
            <a:off x="394865" y="2042464"/>
            <a:ext cx="7778173" cy="4406948"/>
          </a:xfrm>
          <a:prstGeom prst="rect">
            <a:avLst/>
          </a:prstGeom>
        </p:spPr>
      </p:pic>
      <p:pic>
        <p:nvPicPr>
          <p:cNvPr id="30" name="Content Placeholder 25">
            <a:extLst>
              <a:ext uri="{FF2B5EF4-FFF2-40B4-BE49-F238E27FC236}">
                <a16:creationId xmlns:a16="http://schemas.microsoft.com/office/drawing/2014/main" id="{2DD8CD07-1A75-9C83-51ED-745ED0A8B4A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48" t="14389" b="53182"/>
          <a:stretch>
            <a:fillRect/>
          </a:stretch>
        </p:blipFill>
        <p:spPr>
          <a:xfrm>
            <a:off x="8598879" y="2042464"/>
            <a:ext cx="3119731" cy="318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808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C9B73-8186-77CA-2C4F-3E6C1048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2070818-07A7-946A-6F88-1A4FE92E6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88888" y="1563046"/>
            <a:ext cx="3739714" cy="365760"/>
          </a:xfrm>
        </p:spPr>
        <p:txBody>
          <a:bodyPr>
            <a:normAutofit/>
          </a:bodyPr>
          <a:lstStyle/>
          <a:p>
            <a:r>
              <a:rPr lang="en-US" dirty="0"/>
              <a:t>Step 2. Observe updated Attributes</a:t>
            </a:r>
          </a:p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6C54C42-B7A2-9814-A803-0251269B70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7777220" cy="365760"/>
          </a:xfrm>
        </p:spPr>
        <p:txBody>
          <a:bodyPr/>
          <a:lstStyle/>
          <a:p>
            <a:r>
              <a:rPr lang="en-US" dirty="0"/>
              <a:t>Step 1. Click Block + Expand &amp; Edit Signal Attributes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8B17D0E-AB1B-D2C6-2051-3D70A4A256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77ACF53-4432-9C3A-CC4B-1B60B204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 Attributes (P1)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F8A62B2-5094-CF10-6D9C-CC2D3F4B1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83" t="13958" r="162" b="3760"/>
          <a:stretch>
            <a:fillRect/>
          </a:stretch>
        </p:blipFill>
        <p:spPr>
          <a:xfrm>
            <a:off x="536691" y="2042465"/>
            <a:ext cx="7629106" cy="4407408"/>
          </a:xfrm>
          <a:prstGeom prst="rect">
            <a:avLst/>
          </a:prstGeom>
        </p:spPr>
      </p:pic>
      <p:sp>
        <p:nvSpPr>
          <p:cNvPr id="11" name="Arrow: Up 10">
            <a:extLst>
              <a:ext uri="{FF2B5EF4-FFF2-40B4-BE49-F238E27FC236}">
                <a16:creationId xmlns:a16="http://schemas.microsoft.com/office/drawing/2014/main" id="{9D24418D-DE40-B2A6-5B14-6F22B59EB127}"/>
              </a:ext>
            </a:extLst>
          </p:cNvPr>
          <p:cNvSpPr/>
          <p:nvPr/>
        </p:nvSpPr>
        <p:spPr>
          <a:xfrm rot="5400000">
            <a:off x="249256" y="3896310"/>
            <a:ext cx="365761" cy="395289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755CBB7F-160B-7C48-1523-93FBFEC72AD6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95" t="14417" b="54423"/>
          <a:stretch>
            <a:fillRect/>
          </a:stretch>
        </p:blipFill>
        <p:spPr>
          <a:xfrm>
            <a:off x="8717250" y="2042464"/>
            <a:ext cx="3001360" cy="306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2740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258E1EFD-0830-6482-723B-E22687849F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document has been saved.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7BE9EC8-6906-DFCF-3B91-F4F690793B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Save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1860D15-2307-2325-D36F-0EB7B79887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C4F58E8-8969-BEF8-8A55-F05296827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618605"/>
          </a:xfrm>
        </p:spPr>
        <p:txBody>
          <a:bodyPr/>
          <a:lstStyle/>
          <a:p>
            <a:r>
              <a:rPr lang="en-US" dirty="0"/>
              <a:t>Save Changes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The star * was removed after the save took place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DF5A7799-20EA-66CC-EE94-07F38FF3B6B2}"/>
              </a:ext>
            </a:extLst>
          </p:cNvPr>
          <p:cNvSpPr txBox="1">
            <a:spLocks/>
          </p:cNvSpPr>
          <p:nvPr/>
        </p:nvSpPr>
        <p:spPr>
          <a:xfrm>
            <a:off x="1693758" y="392566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46" name="Content Placeholder 32">
            <a:extLst>
              <a:ext uri="{FF2B5EF4-FFF2-40B4-BE49-F238E27FC236}">
                <a16:creationId xmlns:a16="http://schemas.microsoft.com/office/drawing/2014/main" id="{F9C9106B-3752-3A01-83B6-4D3319C50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629" b="69240"/>
          <a:stretch>
            <a:fillRect/>
          </a:stretch>
        </p:blipFill>
        <p:spPr>
          <a:xfrm>
            <a:off x="1618497" y="3072265"/>
            <a:ext cx="3178093" cy="3024869"/>
          </a:xfrm>
          <a:prstGeom prst="rect">
            <a:avLst/>
          </a:prstGeom>
        </p:spPr>
      </p:pic>
      <p:pic>
        <p:nvPicPr>
          <p:cNvPr id="51" name="Content Placeholder 47">
            <a:extLst>
              <a:ext uri="{FF2B5EF4-FFF2-40B4-BE49-F238E27FC236}">
                <a16:creationId xmlns:a16="http://schemas.microsoft.com/office/drawing/2014/main" id="{61792BC4-858F-1D94-711A-94CE5A955E3F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050" b="94745"/>
          <a:stretch>
            <a:fillRect/>
          </a:stretch>
        </p:blipFill>
        <p:spPr>
          <a:xfrm>
            <a:off x="8106206" y="3072265"/>
            <a:ext cx="1637438" cy="51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547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2B210-3699-7A48-73F7-F337EAEFB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6C3D40-CE56-0FF6-13D1-C7987DA8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</p:spTree>
    <p:extLst>
      <p:ext uri="{BB962C8B-B14F-4D97-AF65-F5344CB8AC3E}">
        <p14:creationId xmlns:p14="http://schemas.microsoft.com/office/powerpoint/2010/main" val="18844099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B945C-A0FC-B04A-C5CB-282A3DFCA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11C6BF-E689-DCCB-2B64-DA2921088B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1D804C-17AD-FC21-1DCA-F319A96BD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Documentation (Optional Reading)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6EFB1-47C3-569D-5D08-CEA3336F4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Explorer: 	</a:t>
            </a:r>
            <a:r>
              <a:rPr lang="en-US" dirty="0">
                <a:hlinkClick r:id="rId2"/>
              </a:rPr>
              <a:t>Model Explorer - View, modify, and add elements of Simulink models, </a:t>
            </a:r>
            <a:r>
              <a:rPr lang="en-US" dirty="0" err="1">
                <a:hlinkClick r:id="rId2"/>
              </a:rPr>
              <a:t>Stateflow</a:t>
            </a:r>
            <a:r>
              <a:rPr lang="en-US" dirty="0">
                <a:hlinkClick r:id="rId2"/>
              </a:rPr>
              <a:t> charts, and workspace variables - MATLAB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6321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83411-7D46-E6DA-3EE2-CC6ADE9B2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DE9EE-2708-DCC2-921D-49F84701C2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15A4A6-FF83-CD51-D3D0-0CC913D5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4A697-C136-48DF-BFCF-12AE5B9F8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Model Explorer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Data Dictionary (</a:t>
            </a:r>
            <a:r>
              <a:rPr lang="en-US" sz="1800" i="1" dirty="0" err="1"/>
              <a:t>sldd</a:t>
            </a:r>
            <a:r>
              <a:rPr lang="en-US" sz="1800" i="1" dirty="0"/>
              <a:t>)	Create / Edit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Signal Attributes 		View / Edit / Property Inspector</a:t>
            </a:r>
          </a:p>
        </p:txBody>
      </p:sp>
    </p:spTree>
    <p:extLst>
      <p:ext uri="{BB962C8B-B14F-4D97-AF65-F5344CB8AC3E}">
        <p14:creationId xmlns:p14="http://schemas.microsoft.com/office/powerpoint/2010/main" val="38651395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E0D61F4-83A6-87DD-F4CC-1B0FFD6EFF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Model Explorer Window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A5AAB5-9C59-CB32-8394-48F4C2C0B6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Click “MODELING” Tab and Click “Model Explorer”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AA4820-D472-79CC-7585-DE0AEE4496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0EFA85-C487-33F7-D82E-267779C8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Model Explorer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1E9CF2AC-E5E7-5C67-B475-73826DB92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814" b="62199"/>
          <a:stretch>
            <a:fillRect/>
          </a:stretch>
        </p:blipFill>
        <p:spPr>
          <a:xfrm>
            <a:off x="1303931" y="2759075"/>
            <a:ext cx="3807226" cy="3651250"/>
          </a:xfrm>
          <a:prstGeom prst="rect">
            <a:avLst/>
          </a:prstGeom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A1C7ED89-3B42-2426-31E1-FD16BA6E6BC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90" b="59170"/>
          <a:stretch>
            <a:fillRect/>
          </a:stretch>
        </p:blipFill>
        <p:spPr>
          <a:xfrm>
            <a:off x="5519828" y="2759075"/>
            <a:ext cx="6584206" cy="307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3234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AFB61AA-618D-8E62-AE46-ED8BE54C6C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Drill Down to “External Data” and then Click “New”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A85813-BB2A-1807-DD64-113483C0F0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65A10B2-9764-1090-723D-8A0D2FAB6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96252"/>
          </a:xfrm>
        </p:spPr>
        <p:txBody>
          <a:bodyPr/>
          <a:lstStyle/>
          <a:p>
            <a:r>
              <a:rPr lang="en-US" dirty="0"/>
              <a:t>Create Data Dictionary File (.</a:t>
            </a:r>
            <a:r>
              <a:rPr lang="en-US" dirty="0" err="1"/>
              <a:t>sldd</a:t>
            </a:r>
            <a:r>
              <a:rPr lang="en-US" dirty="0"/>
              <a:t>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In later chapters I deep dive the data dictionary. For now, I will only cover high level topics.</a:t>
            </a:r>
          </a:p>
        </p:txBody>
      </p:sp>
      <p:pic>
        <p:nvPicPr>
          <p:cNvPr id="18" name="Content Placeholder 7">
            <a:extLst>
              <a:ext uri="{FF2B5EF4-FFF2-40B4-BE49-F238E27FC236}">
                <a16:creationId xmlns:a16="http://schemas.microsoft.com/office/drawing/2014/main" id="{7BF1609D-02F2-F6D8-87CA-7E208FA8F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1466" b="58868"/>
          <a:stretch>
            <a:fillRect/>
          </a:stretch>
        </p:blipFill>
        <p:spPr>
          <a:xfrm>
            <a:off x="395288" y="2759075"/>
            <a:ext cx="11339512" cy="319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6103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DEA34-1529-D8B2-7A32-C836E6DB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FD06E56-E64F-2EE3-CAA7-B92724D08C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2) Apply Changes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67F8A8-D5E3-F1C2-5714-11558CBC5C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Save file as “</a:t>
            </a:r>
            <a:r>
              <a:rPr lang="en-US" dirty="0" err="1"/>
              <a:t>sampleDD</a:t>
            </a:r>
            <a:r>
              <a:rPr lang="en-US" dirty="0"/>
              <a:t>”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E75D9FF-D8FF-358E-6955-2BE3FF83F7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A85F825-140B-B1A1-A7C1-5A3C1933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Data Dictionary File (.</a:t>
            </a:r>
            <a:r>
              <a:rPr lang="en-US" dirty="0" err="1"/>
              <a:t>sldd</a:t>
            </a:r>
            <a:r>
              <a:rPr lang="en-US" dirty="0"/>
              <a:t>)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pic>
        <p:nvPicPr>
          <p:cNvPr id="32" name="Content Placeholder 21">
            <a:extLst>
              <a:ext uri="{FF2B5EF4-FFF2-40B4-BE49-F238E27FC236}">
                <a16:creationId xmlns:a16="http://schemas.microsoft.com/office/drawing/2014/main" id="{B9164461-C473-8151-B995-BFEC05FD70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772" t="81394" b="1969"/>
          <a:stretch>
            <a:fillRect/>
          </a:stretch>
        </p:blipFill>
        <p:spPr>
          <a:xfrm>
            <a:off x="9697937" y="5373497"/>
            <a:ext cx="2038451" cy="11969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" name="Content Placeholder 21">
            <a:extLst>
              <a:ext uri="{FF2B5EF4-FFF2-40B4-BE49-F238E27FC236}">
                <a16:creationId xmlns:a16="http://schemas.microsoft.com/office/drawing/2014/main" id="{9D67CDB5-8601-3348-99FE-42ACF51E7AF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46352" t="6713" r="15592" b="52300"/>
          <a:stretch>
            <a:fillRect/>
          </a:stretch>
        </p:blipFill>
        <p:spPr>
          <a:xfrm>
            <a:off x="6113463" y="2108976"/>
            <a:ext cx="5622925" cy="32550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5" name="Content Placeholder 3">
            <a:extLst>
              <a:ext uri="{FF2B5EF4-FFF2-40B4-BE49-F238E27FC236}">
                <a16:creationId xmlns:a16="http://schemas.microsoft.com/office/drawing/2014/main" id="{0D02B84A-D910-237B-2371-5B38FD6712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50211" b="36084"/>
          <a:stretch>
            <a:fillRect/>
          </a:stretch>
        </p:blipFill>
        <p:spPr>
          <a:xfrm>
            <a:off x="395288" y="2108976"/>
            <a:ext cx="5624512" cy="38809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447001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Content Placeholder 21">
            <a:extLst>
              <a:ext uri="{FF2B5EF4-FFF2-40B4-BE49-F238E27FC236}">
                <a16:creationId xmlns:a16="http://schemas.microsoft.com/office/drawing/2014/main" id="{DCB353DD-4B98-6AA2-0008-D06C02759C06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88008" b="64104"/>
          <a:stretch>
            <a:fillRect/>
          </a:stretch>
        </p:blipFill>
        <p:spPr>
          <a:xfrm>
            <a:off x="4228569" y="2050798"/>
            <a:ext cx="2697473" cy="434000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3651F84-34C0-60AF-3BBE-7875FC0219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/>
          <a:lstStyle/>
          <a:p>
            <a:r>
              <a:rPr lang="en-US" dirty="0"/>
              <a:t>Step 2. Drill down to Design Data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451B5-59ED-C507-94FE-B602E2056C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</a:t>
            </a:r>
            <a:r>
              <a:rPr lang="en-US" dirty="0" err="1"/>
              <a:t>sampleDD</a:t>
            </a:r>
            <a:r>
              <a:rPr lang="en-US" dirty="0"/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3307F5C-C328-4FDE-C5EC-9D2BDB1773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597909E-CD13-75DB-9574-1F6CA501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Design Data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28CC08A-73A2-A990-0A93-319F930759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Design Data</a:t>
            </a:r>
          </a:p>
        </p:txBody>
      </p:sp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EEFA6EE9-2E8B-6141-6F5C-E349145F3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85256" b="55746"/>
          <a:stretch>
            <a:fillRect/>
          </a:stretch>
        </p:blipFill>
        <p:spPr>
          <a:xfrm>
            <a:off x="934882" y="2050799"/>
            <a:ext cx="2697473" cy="435183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C743D8B-1749-C2F8-C402-92EE8A6509E8}"/>
              </a:ext>
            </a:extLst>
          </p:cNvPr>
          <p:cNvSpPr txBox="1"/>
          <p:nvPr/>
        </p:nvSpPr>
        <p:spPr>
          <a:xfrm>
            <a:off x="6953471" y="5264776"/>
            <a:ext cx="105157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Expand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EC08CD-78A7-ACDF-0B0C-1F18D53D6993}"/>
              </a:ext>
            </a:extLst>
          </p:cNvPr>
          <p:cNvSpPr txBox="1"/>
          <p:nvPr/>
        </p:nvSpPr>
        <p:spPr>
          <a:xfrm>
            <a:off x="6953471" y="5694342"/>
            <a:ext cx="76944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2) Click</a:t>
            </a:r>
          </a:p>
        </p:txBody>
      </p:sp>
      <p:pic>
        <p:nvPicPr>
          <p:cNvPr id="40" name="Content Placeholder 18">
            <a:extLst>
              <a:ext uri="{FF2B5EF4-FFF2-40B4-BE49-F238E27FC236}">
                <a16:creationId xmlns:a16="http://schemas.microsoft.com/office/drawing/2014/main" id="{A2B1C7A3-94DE-A129-A61D-2B1D9B90428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r="84604" b="59925"/>
          <a:stretch>
            <a:fillRect/>
          </a:stretch>
        </p:blipFill>
        <p:spPr>
          <a:xfrm>
            <a:off x="8399777" y="2050798"/>
            <a:ext cx="3102029" cy="43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271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A7077EE-55DB-A77C-1D79-7D840E86EE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“Simulink Signal”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This will add a new signal to your data inspector.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D28EAC-92AA-5D75-4ADD-3E59EDFD0A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DD8F10B-A291-1F5A-FC2D-03FDBC7D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Simulink Signal</a:t>
            </a:r>
          </a:p>
        </p:txBody>
      </p:sp>
      <p:pic>
        <p:nvPicPr>
          <p:cNvPr id="47" name="Content Placeholder 19">
            <a:extLst>
              <a:ext uri="{FF2B5EF4-FFF2-40B4-BE49-F238E27FC236}">
                <a16:creationId xmlns:a16="http://schemas.microsoft.com/office/drawing/2014/main" id="{A560FBBB-211E-A8D7-793D-08FA19786B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0406" b="62962"/>
          <a:stretch>
            <a:fillRect/>
          </a:stretch>
        </p:blipFill>
        <p:spPr>
          <a:xfrm>
            <a:off x="1528335" y="2763583"/>
            <a:ext cx="9073418" cy="364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278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C8181-ED90-83AE-FB90-0013CDD5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Content Placeholder 8">
            <a:extLst>
              <a:ext uri="{FF2B5EF4-FFF2-40B4-BE49-F238E27FC236}">
                <a16:creationId xmlns:a16="http://schemas.microsoft.com/office/drawing/2014/main" id="{F0839451-B068-A6A9-E329-5070A7BCF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9209" t="5859" b="65414"/>
          <a:stretch>
            <a:fillRect/>
          </a:stretch>
        </p:blipFill>
        <p:spPr>
          <a:xfrm>
            <a:off x="455084" y="1828762"/>
            <a:ext cx="8239665" cy="25049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Content Placeholder 25">
            <a:extLst>
              <a:ext uri="{FF2B5EF4-FFF2-40B4-BE49-F238E27FC236}">
                <a16:creationId xmlns:a16="http://schemas.microsoft.com/office/drawing/2014/main" id="{3E5208E1-8889-3FA5-C28F-2F775D9C19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00" t="43943" r="8917" b="26372"/>
          <a:stretch>
            <a:fillRect/>
          </a:stretch>
        </p:blipFill>
        <p:spPr>
          <a:xfrm>
            <a:off x="7300344" y="3769190"/>
            <a:ext cx="4769979" cy="1972551"/>
          </a:xfrm>
          <a:prstGeom prst="rect">
            <a:avLst/>
          </a:prstGeom>
          <a:ln>
            <a:noFill/>
          </a:ln>
        </p:spPr>
      </p:pic>
      <p:pic>
        <p:nvPicPr>
          <p:cNvPr id="4" name="Content Placeholder 25">
            <a:extLst>
              <a:ext uri="{FF2B5EF4-FFF2-40B4-BE49-F238E27FC236}">
                <a16:creationId xmlns:a16="http://schemas.microsoft.com/office/drawing/2014/main" id="{ADF8AD22-268E-3886-CECB-C0212FA931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470" t="36405" r="8955" b="54676"/>
          <a:stretch>
            <a:fillRect/>
          </a:stretch>
        </p:blipFill>
        <p:spPr>
          <a:xfrm>
            <a:off x="7463586" y="5831126"/>
            <a:ext cx="4398215" cy="592634"/>
          </a:xfrm>
          <a:prstGeom prst="rect">
            <a:avLst/>
          </a:prstGeom>
          <a:ln>
            <a:noFill/>
          </a:ln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AC67502-9541-3117-CBAF-0DC2D29164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7A3EB4-82B8-7989-93F3-D7D70C193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 (Before Changes)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D79086B-2262-73B3-E1CF-9845FA549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5" t="7131" r="50825" b="81323"/>
          <a:stretch>
            <a:fillRect/>
          </a:stretch>
        </p:blipFill>
        <p:spPr>
          <a:xfrm>
            <a:off x="395816" y="4955968"/>
            <a:ext cx="6185836" cy="1371591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ED0FF2-1A79-4857-15B2-A62085F22303}"/>
              </a:ext>
            </a:extLst>
          </p:cNvPr>
          <p:cNvCxnSpPr>
            <a:cxnSpLocks/>
          </p:cNvCxnSpPr>
          <p:nvPr/>
        </p:nvCxnSpPr>
        <p:spPr>
          <a:xfrm flipV="1">
            <a:off x="863600" y="6216442"/>
            <a:ext cx="0" cy="23378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2A1E0B6-557C-D256-9728-24950A215AF7}"/>
              </a:ext>
            </a:extLst>
          </p:cNvPr>
          <p:cNvCxnSpPr>
            <a:cxnSpLocks/>
          </p:cNvCxnSpPr>
          <p:nvPr/>
        </p:nvCxnSpPr>
        <p:spPr>
          <a:xfrm>
            <a:off x="863600" y="6450222"/>
            <a:ext cx="82541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018CD4-4606-1A8A-A8CB-F5DBB029C321}"/>
              </a:ext>
            </a:extLst>
          </p:cNvPr>
          <p:cNvCxnSpPr>
            <a:cxnSpLocks/>
          </p:cNvCxnSpPr>
          <p:nvPr/>
        </p:nvCxnSpPr>
        <p:spPr>
          <a:xfrm>
            <a:off x="9117729" y="6216442"/>
            <a:ext cx="0" cy="2337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44D3746-6336-2C08-95B7-96AB2FC9BC93}"/>
              </a:ext>
            </a:extLst>
          </p:cNvPr>
          <p:cNvCxnSpPr>
            <a:cxnSpLocks/>
          </p:cNvCxnSpPr>
          <p:nvPr/>
        </p:nvCxnSpPr>
        <p:spPr>
          <a:xfrm>
            <a:off x="8859277" y="6216442"/>
            <a:ext cx="5169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4" name="Left Brace 43">
            <a:extLst>
              <a:ext uri="{FF2B5EF4-FFF2-40B4-BE49-F238E27FC236}">
                <a16:creationId xmlns:a16="http://schemas.microsoft.com/office/drawing/2014/main" id="{4353C694-71FB-4BEF-E457-29939125460D}"/>
              </a:ext>
            </a:extLst>
          </p:cNvPr>
          <p:cNvSpPr/>
          <p:nvPr/>
        </p:nvSpPr>
        <p:spPr>
          <a:xfrm>
            <a:off x="6975274" y="3733889"/>
            <a:ext cx="650139" cy="197659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6AEF483-C649-ABCC-E1F7-73B316E2B472}"/>
              </a:ext>
            </a:extLst>
          </p:cNvPr>
          <p:cNvCxnSpPr>
            <a:cxnSpLocks/>
            <a:stCxn id="44" idx="1"/>
          </p:cNvCxnSpPr>
          <p:nvPr/>
        </p:nvCxnSpPr>
        <p:spPr>
          <a:xfrm flipH="1" flipV="1">
            <a:off x="4648200" y="4015731"/>
            <a:ext cx="2327074" cy="706457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531E51E-6065-0E8A-D7BD-3AD2A6564A55}"/>
              </a:ext>
            </a:extLst>
          </p:cNvPr>
          <p:cNvSpPr txBox="1"/>
          <p:nvPr/>
        </p:nvSpPr>
        <p:spPr>
          <a:xfrm>
            <a:off x="455084" y="1490431"/>
            <a:ext cx="42514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Step 1. Update Sig Attributes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D6C851-3648-FC12-FCB6-8DF4004B2E41}"/>
              </a:ext>
            </a:extLst>
          </p:cNvPr>
          <p:cNvSpPr txBox="1"/>
          <p:nvPr/>
        </p:nvSpPr>
        <p:spPr>
          <a:xfrm>
            <a:off x="396711" y="4614993"/>
            <a:ext cx="542905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Step 2. Update Signal Name and then apply changes</a:t>
            </a:r>
          </a:p>
        </p:txBody>
      </p:sp>
    </p:spTree>
    <p:extLst>
      <p:ext uri="{BB962C8B-B14F-4D97-AF65-F5344CB8AC3E}">
        <p14:creationId xmlns:p14="http://schemas.microsoft.com/office/powerpoint/2010/main" val="15940067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925F7-B7DD-1254-BF8C-321363B1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134E101-54F0-E7B2-6168-56BC3CF3B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54" t="6808" r="50593" b="81134"/>
          <a:stretch>
            <a:fillRect/>
          </a:stretch>
        </p:blipFill>
        <p:spPr>
          <a:xfrm>
            <a:off x="395816" y="4918453"/>
            <a:ext cx="6185835" cy="1409105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4E2D940-A1A3-8EA1-FFBA-593A39438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0" t="6817" b="64637"/>
          <a:stretch>
            <a:fillRect/>
          </a:stretch>
        </p:blipFill>
        <p:spPr>
          <a:xfrm>
            <a:off x="457200" y="1869114"/>
            <a:ext cx="8238744" cy="2494803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6ED23F3-DE36-91FD-B68C-D7E43BEF73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C385912-5E68-571D-A05C-BDA8B7F59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 (After Changes)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2222EB-CE47-7ED3-FA18-AB4EB0A10F41}"/>
              </a:ext>
            </a:extLst>
          </p:cNvPr>
          <p:cNvSpPr txBox="1"/>
          <p:nvPr/>
        </p:nvSpPr>
        <p:spPr>
          <a:xfrm>
            <a:off x="455084" y="1490431"/>
            <a:ext cx="42514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Step 1. Update Sig Attributes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9DD3DD-8619-4902-4474-0C0FD6B9C328}"/>
              </a:ext>
            </a:extLst>
          </p:cNvPr>
          <p:cNvSpPr txBox="1"/>
          <p:nvPr/>
        </p:nvSpPr>
        <p:spPr>
          <a:xfrm>
            <a:off x="396711" y="4614993"/>
            <a:ext cx="425148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Step 2. Update Signal Name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1BC70A7-08C0-9753-470A-8FDCF74EB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38" t="42124" r="40308" b="43155"/>
          <a:stretch>
            <a:fillRect/>
          </a:stretch>
        </p:blipFill>
        <p:spPr>
          <a:xfrm>
            <a:off x="6691112" y="4918453"/>
            <a:ext cx="3480410" cy="1430322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BCA73B5-4271-0D72-4B07-2AE0EED5D577}"/>
              </a:ext>
            </a:extLst>
          </p:cNvPr>
          <p:cNvSpPr txBox="1"/>
          <p:nvPr/>
        </p:nvSpPr>
        <p:spPr>
          <a:xfrm>
            <a:off x="6691112" y="4614993"/>
            <a:ext cx="295804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Step 3. Click Apply</a:t>
            </a:r>
          </a:p>
        </p:txBody>
      </p:sp>
      <p:sp>
        <p:nvSpPr>
          <p:cNvPr id="25" name="Arrow: Up 24">
            <a:extLst>
              <a:ext uri="{FF2B5EF4-FFF2-40B4-BE49-F238E27FC236}">
                <a16:creationId xmlns:a16="http://schemas.microsoft.com/office/drawing/2014/main" id="{FD09F965-722F-D49B-9F20-445436416C8D}"/>
              </a:ext>
            </a:extLst>
          </p:cNvPr>
          <p:cNvSpPr/>
          <p:nvPr/>
        </p:nvSpPr>
        <p:spPr>
          <a:xfrm>
            <a:off x="8658236" y="6219153"/>
            <a:ext cx="293566" cy="480767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164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9AB96A-1EB6-E7A9-B289-92E11BA9A8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>
            <a:normAutofit/>
          </a:bodyPr>
          <a:lstStyle/>
          <a:p>
            <a:r>
              <a:rPr lang="en-US" dirty="0"/>
              <a:t>Step 2. Right Click &amp; Save Changes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9F55E2-A749-39D7-6BBC-88324B1F2F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Click </a:t>
            </a:r>
            <a:r>
              <a:rPr lang="en-US" dirty="0" err="1"/>
              <a:t>sampleDD</a:t>
            </a:r>
            <a:r>
              <a:rPr lang="en-US" dirty="0"/>
              <a:t>*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949DF5-A370-7AE4-EC24-ED8D3E5390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DF06266-B6CA-E30E-001F-F9FDC850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37888"/>
          </a:xfrm>
        </p:spPr>
        <p:txBody>
          <a:bodyPr/>
          <a:lstStyle/>
          <a:p>
            <a:r>
              <a:rPr lang="en-US" dirty="0"/>
              <a:t>Save Changes made to Data Dictionary (.</a:t>
            </a:r>
            <a:r>
              <a:rPr lang="en-US" dirty="0" err="1"/>
              <a:t>sldd</a:t>
            </a:r>
            <a:r>
              <a:rPr lang="en-US" dirty="0"/>
              <a:t>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Changes made to the data dictionary must be saved from the Model Explorer otherwise the changes will not be saved / applied.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3F57FF2-97AF-77A2-1B55-D74BEE48D1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pPr algn="r"/>
            <a:r>
              <a:rPr lang="en-US" dirty="0"/>
              <a:t>Step 3. Observe Saved File</a:t>
            </a:r>
          </a:p>
        </p:txBody>
      </p:sp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0282AAC2-0865-35D5-985B-4F427A247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6400" b="62971"/>
          <a:stretch>
            <a:fillRect/>
          </a:stretch>
        </p:blipFill>
        <p:spPr>
          <a:xfrm>
            <a:off x="395818" y="2043113"/>
            <a:ext cx="2986638" cy="437083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364091-C50E-E2E2-2001-00CA0BB378F1}"/>
              </a:ext>
            </a:extLst>
          </p:cNvPr>
          <p:cNvCxnSpPr/>
          <p:nvPr/>
        </p:nvCxnSpPr>
        <p:spPr>
          <a:xfrm flipH="1">
            <a:off x="2362983" y="5420627"/>
            <a:ext cx="100469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99E8407-BBF8-2717-67EC-792305C074A1}"/>
              </a:ext>
            </a:extLst>
          </p:cNvPr>
          <p:cNvSpPr txBox="1"/>
          <p:nvPr/>
        </p:nvSpPr>
        <p:spPr>
          <a:xfrm>
            <a:off x="3303165" y="5235961"/>
            <a:ext cx="1004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Click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9" name="Content Placeholder 16">
            <a:extLst>
              <a:ext uri="{FF2B5EF4-FFF2-40B4-BE49-F238E27FC236}">
                <a16:creationId xmlns:a16="http://schemas.microsoft.com/office/drawing/2014/main" id="{35B15440-BB17-111D-5D11-BFB7F3B4254E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79709" b="46058"/>
          <a:stretch>
            <a:fillRect/>
          </a:stretch>
        </p:blipFill>
        <p:spPr>
          <a:xfrm>
            <a:off x="4228569" y="2043113"/>
            <a:ext cx="3056344" cy="4367212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0E1B59-5DF5-AFEF-1697-A2F74BEC191B}"/>
              </a:ext>
            </a:extLst>
          </p:cNvPr>
          <p:cNvCxnSpPr>
            <a:cxnSpLocks/>
          </p:cNvCxnSpPr>
          <p:nvPr/>
        </p:nvCxnSpPr>
        <p:spPr>
          <a:xfrm flipH="1">
            <a:off x="5564806" y="4360606"/>
            <a:ext cx="176489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C45498-EA4B-9C87-0F76-FB6247014CBF}"/>
              </a:ext>
            </a:extLst>
          </p:cNvPr>
          <p:cNvCxnSpPr>
            <a:cxnSpLocks/>
          </p:cNvCxnSpPr>
          <p:nvPr/>
        </p:nvCxnSpPr>
        <p:spPr>
          <a:xfrm flipH="1">
            <a:off x="6447251" y="4925961"/>
            <a:ext cx="8824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456E1DD-81B4-3F2C-6EBD-79DE5C786FC0}"/>
              </a:ext>
            </a:extLst>
          </p:cNvPr>
          <p:cNvSpPr txBox="1"/>
          <p:nvPr/>
        </p:nvSpPr>
        <p:spPr>
          <a:xfrm>
            <a:off x="7329697" y="4175940"/>
            <a:ext cx="1602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Right Click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EC681-BC7F-0C8F-9FEE-7508C6FEF80D}"/>
              </a:ext>
            </a:extLst>
          </p:cNvPr>
          <p:cNvSpPr txBox="1"/>
          <p:nvPr/>
        </p:nvSpPr>
        <p:spPr>
          <a:xfrm>
            <a:off x="7329697" y="4741295"/>
            <a:ext cx="1602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2. Click Save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7" name="Content Placeholder 23">
            <a:extLst>
              <a:ext uri="{FF2B5EF4-FFF2-40B4-BE49-F238E27FC236}">
                <a16:creationId xmlns:a16="http://schemas.microsoft.com/office/drawing/2014/main" id="{ACBD2AA5-8D32-0EA9-EE95-C5F59B922FA6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r="85219" b="62158"/>
          <a:stretch>
            <a:fillRect/>
          </a:stretch>
        </p:blipFill>
        <p:spPr>
          <a:xfrm>
            <a:off x="9134785" y="2043113"/>
            <a:ext cx="2704242" cy="3721297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DBBAC8-5239-E102-8F2C-612F21375684}"/>
              </a:ext>
            </a:extLst>
          </p:cNvPr>
          <p:cNvCxnSpPr>
            <a:cxnSpLocks/>
          </p:cNvCxnSpPr>
          <p:nvPr/>
        </p:nvCxnSpPr>
        <p:spPr>
          <a:xfrm flipH="1">
            <a:off x="10729199" y="4871883"/>
            <a:ext cx="8824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6563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BF64A02-AB59-6057-E30D-2F12B99A93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E9A48F23-C06F-9E69-2F46-A001FB590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Inspector – Block Signal Attributes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8077E344-3498-18DC-7454-1B09770B1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9302" y="1531937"/>
            <a:ext cx="8972698" cy="4822825"/>
          </a:xfrm>
          <a:prstGeom prst="rect">
            <a:avLst/>
          </a:prstGeom>
        </p:spPr>
      </p:pic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C7065F1-3D4C-2B35-C7FF-EFBCE5400324}"/>
              </a:ext>
            </a:extLst>
          </p:cNvPr>
          <p:cNvSpPr txBox="1">
            <a:spLocks/>
          </p:cNvSpPr>
          <p:nvPr/>
        </p:nvSpPr>
        <p:spPr>
          <a:xfrm>
            <a:off x="0" y="1563045"/>
            <a:ext cx="3219302" cy="479171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1. Arrange Windows:</a:t>
            </a:r>
          </a:p>
          <a:p>
            <a:pPr lvl="1"/>
            <a:r>
              <a:rPr lang="en-US" dirty="0"/>
              <a:t>Model Explorer</a:t>
            </a:r>
          </a:p>
          <a:p>
            <a:pPr lvl="1"/>
            <a:r>
              <a:rPr lang="en-US" dirty="0"/>
              <a:t>Simulink Model</a:t>
            </a:r>
          </a:p>
          <a:p>
            <a:endParaRPr lang="en-US" dirty="0"/>
          </a:p>
          <a:p>
            <a:r>
              <a:rPr lang="en-US" dirty="0"/>
              <a:t>Step 2. Click </a:t>
            </a:r>
            <a:r>
              <a:rPr lang="en-US" dirty="0" err="1"/>
              <a:t>prodBlkC</a:t>
            </a:r>
            <a:endParaRPr lang="en-US" dirty="0"/>
          </a:p>
          <a:p>
            <a:endParaRPr lang="en-US" dirty="0"/>
          </a:p>
          <a:p>
            <a:r>
              <a:rPr lang="en-US" dirty="0"/>
              <a:t>Step 3. Show Property Inspector</a:t>
            </a:r>
          </a:p>
          <a:p>
            <a:endParaRPr lang="en-US" dirty="0"/>
          </a:p>
          <a:p>
            <a:r>
              <a:rPr lang="en-US" dirty="0"/>
              <a:t>Step 4. Focus on Signal Attributes</a:t>
            </a:r>
          </a:p>
        </p:txBody>
      </p:sp>
    </p:spTree>
    <p:extLst>
      <p:ext uri="{BB962C8B-B14F-4D97-AF65-F5344CB8AC3E}">
        <p14:creationId xmlns:p14="http://schemas.microsoft.com/office/powerpoint/2010/main" val="350387618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C61873-F682-0F8F-5928-FB21C84DAA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2166365"/>
            <a:ext cx="3776472" cy="365760"/>
          </a:xfrm>
        </p:spPr>
        <p:txBody>
          <a:bodyPr/>
          <a:lstStyle/>
          <a:p>
            <a:r>
              <a:rPr lang="en-US" dirty="0"/>
              <a:t>Step 2. Observe </a:t>
            </a:r>
            <a:r>
              <a:rPr lang="en-US" dirty="0" err="1"/>
              <a:t>pathC.Min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EDA825-AE93-9B54-BA06-3A9B1CB3EF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2166364"/>
            <a:ext cx="3776472" cy="365760"/>
          </a:xfrm>
        </p:spPr>
        <p:txBody>
          <a:bodyPr>
            <a:normAutofit/>
          </a:bodyPr>
          <a:lstStyle/>
          <a:p>
            <a:r>
              <a:rPr lang="en-US" dirty="0"/>
              <a:t>Step 1. Type </a:t>
            </a:r>
            <a:r>
              <a:rPr lang="en-US" dirty="0" err="1"/>
              <a:t>pathC</a:t>
            </a:r>
            <a:r>
              <a:rPr lang="en-US" dirty="0"/>
              <a:t>. and Select Min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69B8EB-67FD-E7C0-F37A-4C88797C9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66CE79-34F9-3EE3-B0F5-77079390D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5264"/>
          </a:xfrm>
        </p:spPr>
        <p:txBody>
          <a:bodyPr/>
          <a:lstStyle/>
          <a:p>
            <a:r>
              <a:rPr lang="en-US" dirty="0"/>
              <a:t>Update Signal Attributes</a:t>
            </a:r>
            <a:br>
              <a:rPr lang="en-US" i="1" dirty="0"/>
            </a:br>
            <a:r>
              <a:rPr lang="en-US" sz="1200" b="0" i="1" dirty="0">
                <a:solidFill>
                  <a:srgbClr val="FF0000"/>
                </a:solidFill>
              </a:rPr>
              <a:t>Note: </a:t>
            </a:r>
            <a:r>
              <a:rPr lang="en-US" sz="1200" b="0" i="1" dirty="0" err="1">
                <a:solidFill>
                  <a:srgbClr val="FF0000"/>
                </a:solidFill>
              </a:rPr>
              <a:t>pathC.Min</a:t>
            </a:r>
            <a:r>
              <a:rPr lang="en-US" sz="1200" b="0" i="1" dirty="0">
                <a:solidFill>
                  <a:srgbClr val="FF0000"/>
                </a:solidFill>
              </a:rPr>
              <a:t>, </a:t>
            </a:r>
            <a:r>
              <a:rPr lang="en-US" sz="1200" b="0" i="1" dirty="0" err="1">
                <a:solidFill>
                  <a:srgbClr val="FF0000"/>
                </a:solidFill>
              </a:rPr>
              <a:t>pathC.Max</a:t>
            </a:r>
            <a:r>
              <a:rPr lang="en-US" sz="1200" b="0" i="1" dirty="0">
                <a:solidFill>
                  <a:srgbClr val="FF0000"/>
                </a:solidFill>
              </a:rPr>
              <a:t>, and </a:t>
            </a:r>
            <a:r>
              <a:rPr lang="en-US" sz="1200" b="0" i="1" dirty="0" err="1">
                <a:solidFill>
                  <a:srgbClr val="FF0000"/>
                </a:solidFill>
              </a:rPr>
              <a:t>pathC.DataType</a:t>
            </a:r>
            <a:r>
              <a:rPr lang="en-US" sz="1200" b="0" i="1" dirty="0">
                <a:solidFill>
                  <a:srgbClr val="FF0000"/>
                </a:solidFill>
              </a:rPr>
              <a:t> reference values defined in the Simulink Data Dictionary file “</a:t>
            </a:r>
            <a:r>
              <a:rPr lang="en-US" sz="1200" b="0" i="1" dirty="0" err="1">
                <a:solidFill>
                  <a:srgbClr val="FF0000"/>
                </a:solidFill>
              </a:rPr>
              <a:t>sampleDD.sldd</a:t>
            </a:r>
            <a:r>
              <a:rPr lang="en-US" sz="1200" b="0" i="1" dirty="0">
                <a:solidFill>
                  <a:srgbClr val="FF0000"/>
                </a:solidFill>
              </a:rPr>
              <a:t>”</a:t>
            </a:r>
            <a:br>
              <a:rPr lang="en-US" sz="1200" b="0" i="1" dirty="0">
                <a:solidFill>
                  <a:srgbClr val="FF0000"/>
                </a:solidFill>
              </a:rPr>
            </a:br>
            <a:br>
              <a:rPr lang="en-US" sz="1200" b="0" i="1" dirty="0">
                <a:solidFill>
                  <a:srgbClr val="FF0000"/>
                </a:solidFill>
              </a:rPr>
            </a:br>
            <a:r>
              <a:rPr lang="en-US" sz="1200" b="0" dirty="0">
                <a:solidFill>
                  <a:srgbClr val="FF0000"/>
                </a:solidFill>
              </a:rPr>
              <a:t>Note: Use the submenu (⋮) to select signal attributes from the SLDD.</a:t>
            </a:r>
            <a:br>
              <a:rPr lang="en-US" sz="1200" b="0" i="1" dirty="0">
                <a:solidFill>
                  <a:srgbClr val="FF0000"/>
                </a:solidFill>
              </a:rPr>
            </a:br>
            <a:endParaRPr lang="en-US" sz="1200" b="0" i="1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B4C4FC-7A6A-2086-EFF3-A50183F6F8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2166365"/>
            <a:ext cx="3776472" cy="365760"/>
          </a:xfrm>
        </p:spPr>
        <p:txBody>
          <a:bodyPr/>
          <a:lstStyle/>
          <a:p>
            <a:r>
              <a:rPr lang="en-US" dirty="0"/>
              <a:t>Step 3. Update Other Attributes</a:t>
            </a:r>
          </a:p>
        </p:txBody>
      </p:sp>
      <p:pic>
        <p:nvPicPr>
          <p:cNvPr id="32" name="Content Placeholder 12">
            <a:extLst>
              <a:ext uri="{FF2B5EF4-FFF2-40B4-BE49-F238E27FC236}">
                <a16:creationId xmlns:a16="http://schemas.microsoft.com/office/drawing/2014/main" id="{2F4786E8-B1A6-1EA1-1046-8EE99CFF9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4546" t="57902" r="7074" b="7334"/>
          <a:stretch>
            <a:fillRect/>
          </a:stretch>
        </p:blipFill>
        <p:spPr>
          <a:xfrm>
            <a:off x="1638300" y="2638426"/>
            <a:ext cx="1533526" cy="3419474"/>
          </a:xfrm>
          <a:prstGeom prst="rect">
            <a:avLst/>
          </a:prstGeom>
        </p:spPr>
      </p:pic>
      <p:pic>
        <p:nvPicPr>
          <p:cNvPr id="35" name="Content Placeholder 19">
            <a:extLst>
              <a:ext uri="{FF2B5EF4-FFF2-40B4-BE49-F238E27FC236}">
                <a16:creationId xmlns:a16="http://schemas.microsoft.com/office/drawing/2014/main" id="{5A802AA5-359A-5F01-BB1F-9F41D6F7902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83989" t="57785" r="7631" b="24854"/>
          <a:stretch>
            <a:fillRect/>
          </a:stretch>
        </p:blipFill>
        <p:spPr>
          <a:xfrm>
            <a:off x="5439990" y="2638425"/>
            <a:ext cx="1533526" cy="1707645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C36F7C3-6A86-9514-C836-5DF033D61110}"/>
              </a:ext>
            </a:extLst>
          </p:cNvPr>
          <p:cNvCxnSpPr>
            <a:cxnSpLocks/>
          </p:cNvCxnSpPr>
          <p:nvPr/>
        </p:nvCxnSpPr>
        <p:spPr>
          <a:xfrm>
            <a:off x="916709" y="3535267"/>
            <a:ext cx="80461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54FCEB6-56C8-8EEA-6AB5-DF6E7A4438FB}"/>
              </a:ext>
            </a:extLst>
          </p:cNvPr>
          <p:cNvCxnSpPr>
            <a:cxnSpLocks/>
          </p:cNvCxnSpPr>
          <p:nvPr/>
        </p:nvCxnSpPr>
        <p:spPr>
          <a:xfrm>
            <a:off x="916709" y="4507801"/>
            <a:ext cx="80461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843A08E-AAE7-5466-657B-146091573AF9}"/>
              </a:ext>
            </a:extLst>
          </p:cNvPr>
          <p:cNvSpPr txBox="1"/>
          <p:nvPr/>
        </p:nvSpPr>
        <p:spPr>
          <a:xfrm>
            <a:off x="22995" y="3138067"/>
            <a:ext cx="1615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Type </a:t>
            </a:r>
            <a:r>
              <a:rPr lang="en-US" sz="1800" dirty="0" err="1">
                <a:solidFill>
                  <a:srgbClr val="FF0000"/>
                </a:solidFill>
              </a:rPr>
              <a:t>pathC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CF624F-F2C8-E2AB-1023-873370379486}"/>
              </a:ext>
            </a:extLst>
          </p:cNvPr>
          <p:cNvSpPr txBox="1"/>
          <p:nvPr/>
        </p:nvSpPr>
        <p:spPr>
          <a:xfrm>
            <a:off x="22994" y="4110600"/>
            <a:ext cx="1615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2. Select Min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0" name="Content Placeholder 45">
            <a:extLst>
              <a:ext uri="{FF2B5EF4-FFF2-40B4-BE49-F238E27FC236}">
                <a16:creationId xmlns:a16="http://schemas.microsoft.com/office/drawing/2014/main" id="{7684186A-DDF6-798F-EA6C-D26BD41545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0910" t="65455" r="8397" b="31797"/>
          <a:stretch>
            <a:fillRect/>
          </a:stretch>
        </p:blipFill>
        <p:spPr>
          <a:xfrm>
            <a:off x="100810" y="1560421"/>
            <a:ext cx="252163" cy="537887"/>
          </a:xfrm>
          <a:prstGeom prst="rect">
            <a:avLst/>
          </a:prstGeom>
        </p:spPr>
      </p:pic>
      <p:pic>
        <p:nvPicPr>
          <p:cNvPr id="62" name="Content Placeholder 45">
            <a:extLst>
              <a:ext uri="{FF2B5EF4-FFF2-40B4-BE49-F238E27FC236}">
                <a16:creationId xmlns:a16="http://schemas.microsoft.com/office/drawing/2014/main" id="{52115C61-E0C7-D69E-D463-181CB3DD66C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80544" t="42353" b="20429"/>
          <a:stretch>
            <a:fillRect/>
          </a:stretch>
        </p:blipFill>
        <p:spPr>
          <a:xfrm>
            <a:off x="8171468" y="2638425"/>
            <a:ext cx="3559552" cy="365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431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8492D-FDF1-F1C0-1B72-9BED18795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87247725-F245-5D42-824C-EB6AC671D5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document has been saved.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35DB51F-020D-EB02-E322-15D327F944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Save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A33E058-CC0C-442B-B15E-303630071E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46CF475-7672-CC8C-9546-4F2D8BC08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618605"/>
          </a:xfrm>
        </p:spPr>
        <p:txBody>
          <a:bodyPr/>
          <a:lstStyle/>
          <a:p>
            <a:r>
              <a:rPr lang="en-US" dirty="0"/>
              <a:t>Save Changes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The star * was removed after the save took place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1B87AC57-E48B-AF2A-CBA5-C126B5F0C3F8}"/>
              </a:ext>
            </a:extLst>
          </p:cNvPr>
          <p:cNvSpPr txBox="1">
            <a:spLocks/>
          </p:cNvSpPr>
          <p:nvPr/>
        </p:nvSpPr>
        <p:spPr>
          <a:xfrm>
            <a:off x="1693758" y="392566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46" name="Content Placeholder 32">
            <a:extLst>
              <a:ext uri="{FF2B5EF4-FFF2-40B4-BE49-F238E27FC236}">
                <a16:creationId xmlns:a16="http://schemas.microsoft.com/office/drawing/2014/main" id="{413F9272-53AC-BB69-3B15-0E07CB2E9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629" b="69240"/>
          <a:stretch>
            <a:fillRect/>
          </a:stretch>
        </p:blipFill>
        <p:spPr>
          <a:xfrm>
            <a:off x="1618497" y="3072265"/>
            <a:ext cx="3178093" cy="3024869"/>
          </a:xfrm>
          <a:prstGeom prst="rect">
            <a:avLst/>
          </a:prstGeom>
        </p:spPr>
      </p:pic>
      <p:pic>
        <p:nvPicPr>
          <p:cNvPr id="51" name="Content Placeholder 47">
            <a:extLst>
              <a:ext uri="{FF2B5EF4-FFF2-40B4-BE49-F238E27FC236}">
                <a16:creationId xmlns:a16="http://schemas.microsoft.com/office/drawing/2014/main" id="{297708EF-FD83-C099-3014-DA36B600085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050" b="94745"/>
          <a:stretch>
            <a:fillRect/>
          </a:stretch>
        </p:blipFill>
        <p:spPr>
          <a:xfrm>
            <a:off x="8106206" y="3072265"/>
            <a:ext cx="1637438" cy="51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0898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CC330-69EE-DC99-DCFC-7FD70D540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72BC1A-DB9B-68D8-3A6B-F142B1BE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</p:spTree>
    <p:extLst>
      <p:ext uri="{BB962C8B-B14F-4D97-AF65-F5344CB8AC3E}">
        <p14:creationId xmlns:p14="http://schemas.microsoft.com/office/powerpoint/2010/main" val="32560601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7E2E-2B8C-6268-DC13-5DF79867B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A10464-528E-CD29-3805-D0777CFB77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A9342A-A67C-2AEC-243D-818586D1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Documentation (Optional Reading)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363F7-4E25-1E8E-D31F-A2429F013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 Editor	</a:t>
            </a:r>
            <a:r>
              <a:rPr lang="en-US" dirty="0">
                <a:hlinkClick r:id="rId2"/>
              </a:rPr>
              <a:t>Requirements Editor - Create and edit requirements – MATLAB</a:t>
            </a:r>
            <a:endParaRPr lang="en-US" dirty="0"/>
          </a:p>
          <a:p>
            <a:r>
              <a:rPr lang="en-US" dirty="0"/>
              <a:t>Requirements Manager </a:t>
            </a:r>
            <a:r>
              <a:rPr lang="en-US" dirty="0">
                <a:hlinkClick r:id="rId3"/>
              </a:rPr>
              <a:t>Requirements Manager - Manage requirements and links in model – MATLAB</a:t>
            </a:r>
            <a:endParaRPr lang="en-US" dirty="0"/>
          </a:p>
          <a:p>
            <a:r>
              <a:rPr lang="en-US" dirty="0"/>
              <a:t>Import Requirements 	</a:t>
            </a:r>
            <a:r>
              <a:rPr lang="en-US" dirty="0">
                <a:hlinkClick r:id="rId4"/>
              </a:rPr>
              <a:t>Author and Import Requirements - MATLAB &amp; Simulink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70884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48144-57EC-1458-1606-4C98557D7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C0BE4D-B92E-6D80-D171-FA3629F452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E0CF31-390F-F5DA-1165-6F778B38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6EBED-8FA3-9224-1225-B775CE301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Requirements Editor 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Use Requirements editor(</a:t>
            </a:r>
            <a:r>
              <a:rPr lang="en-US" sz="1800" i="1" dirty="0" err="1"/>
              <a:t>slreqx</a:t>
            </a:r>
            <a:r>
              <a:rPr lang="en-US" sz="1800" i="1" dirty="0"/>
              <a:t>)	Create / View / Edit / Link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Use Requirements Manager 		Create / View / Edit / Link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11699821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A7B1C-EA06-AB47-451F-BB7583189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B6342A20-A8F9-494C-3F85-026EC3877B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483206"/>
            <a:ext cx="11338560" cy="731520"/>
          </a:xfrm>
        </p:spPr>
        <p:txBody>
          <a:bodyPr/>
          <a:lstStyle/>
          <a:p>
            <a:r>
              <a:rPr lang="en-US" dirty="0"/>
              <a:t>Step 1. Click “APPS” tab and click down arrow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B906BB-AF11-667F-183C-8015E40010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4B7C565-080D-DA00-EAF7-FB2FAD9B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Requirements Editor</a:t>
            </a:r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1677A787-35BC-718A-F349-809DC49D8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6887" b="71002"/>
          <a:stretch>
            <a:fillRect/>
          </a:stretch>
        </p:blipFill>
        <p:spPr>
          <a:xfrm>
            <a:off x="395288" y="1820902"/>
            <a:ext cx="11339512" cy="2126531"/>
          </a:xfrm>
          <a:prstGeom prst="rect">
            <a:avLst/>
          </a:prstGeom>
        </p:spPr>
      </p:pic>
      <p:sp>
        <p:nvSpPr>
          <p:cNvPr id="18" name="Text Placeholder 44">
            <a:extLst>
              <a:ext uri="{FF2B5EF4-FFF2-40B4-BE49-F238E27FC236}">
                <a16:creationId xmlns:a16="http://schemas.microsoft.com/office/drawing/2014/main" id="{950E66E6-AEC8-A4AB-6834-B0E26BBF8149}"/>
              </a:ext>
            </a:extLst>
          </p:cNvPr>
          <p:cNvSpPr txBox="1">
            <a:spLocks/>
          </p:cNvSpPr>
          <p:nvPr/>
        </p:nvSpPr>
        <p:spPr>
          <a:xfrm>
            <a:off x="395396" y="4096002"/>
            <a:ext cx="5587437" cy="29369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2. Click “Requirements Editor”</a:t>
            </a:r>
          </a:p>
        </p:txBody>
      </p:sp>
      <p:pic>
        <p:nvPicPr>
          <p:cNvPr id="20" name="Content Placeholder 3">
            <a:extLst>
              <a:ext uri="{FF2B5EF4-FFF2-40B4-BE49-F238E27FC236}">
                <a16:creationId xmlns:a16="http://schemas.microsoft.com/office/drawing/2014/main" id="{43FF6ECB-E2E5-A5A7-8B92-8F75B230A4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50" t="46052" r="62126" b="34702"/>
          <a:stretch>
            <a:fillRect/>
          </a:stretch>
        </p:blipFill>
        <p:spPr>
          <a:xfrm>
            <a:off x="270279" y="4467225"/>
            <a:ext cx="5712554" cy="18926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A2F4268-591F-A9A0-E948-701964A9A6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81057" b="83244"/>
          <a:stretch>
            <a:fillRect/>
          </a:stretch>
        </p:blipFill>
        <p:spPr>
          <a:xfrm>
            <a:off x="6423263" y="4389695"/>
            <a:ext cx="4144185" cy="1970197"/>
          </a:xfrm>
          <a:prstGeom prst="rect">
            <a:avLst/>
          </a:prstGeom>
        </p:spPr>
      </p:pic>
      <p:sp>
        <p:nvSpPr>
          <p:cNvPr id="28" name="Text Placeholder 44">
            <a:extLst>
              <a:ext uri="{FF2B5EF4-FFF2-40B4-BE49-F238E27FC236}">
                <a16:creationId xmlns:a16="http://schemas.microsoft.com/office/drawing/2014/main" id="{24CBE015-03DA-550D-31A4-00BEF898AA1E}"/>
              </a:ext>
            </a:extLst>
          </p:cNvPr>
          <p:cNvSpPr txBox="1">
            <a:spLocks/>
          </p:cNvSpPr>
          <p:nvPr/>
        </p:nvSpPr>
        <p:spPr>
          <a:xfrm>
            <a:off x="6423263" y="4096001"/>
            <a:ext cx="5587437" cy="29369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3. Observe “Requirements Editor” was opened.</a:t>
            </a:r>
          </a:p>
        </p:txBody>
      </p:sp>
    </p:spTree>
    <p:extLst>
      <p:ext uri="{BB962C8B-B14F-4D97-AF65-F5344CB8AC3E}">
        <p14:creationId xmlns:p14="http://schemas.microsoft.com/office/powerpoint/2010/main" val="179596106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F1AEE-4946-AE50-9B9D-41677D3D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289BEEE-5780-F49F-6CD5-8736B50EC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Step 2. Enter file Name “</a:t>
            </a:r>
            <a:r>
              <a:rPr lang="en-US" dirty="0" err="1"/>
              <a:t>sampleHLR</a:t>
            </a:r>
            <a:r>
              <a:rPr lang="en-US" dirty="0"/>
              <a:t>” and click “Save”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0F3D363-4FAA-4308-9311-D5DFA48F16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Click New Requirement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202DA-B884-088F-C13C-A02BAEBB3E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840FA0-D8AA-D615-681A-5CE9E78E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High Level Requirements (HLR) File (.</a:t>
            </a:r>
            <a:r>
              <a:rPr lang="en-US" dirty="0" err="1"/>
              <a:t>slreqx</a:t>
            </a:r>
            <a:r>
              <a:rPr lang="en-US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CED17-5F20-5516-5459-B12F8BF3AC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Step 3. Observe newly added requirements File.</a:t>
            </a:r>
          </a:p>
          <a:p>
            <a:endParaRPr lang="en-US" dirty="0"/>
          </a:p>
        </p:txBody>
      </p:sp>
      <p:pic>
        <p:nvPicPr>
          <p:cNvPr id="8" name="Content Placeholder 8">
            <a:extLst>
              <a:ext uri="{FF2B5EF4-FFF2-40B4-BE49-F238E27FC236}">
                <a16:creationId xmlns:a16="http://schemas.microsoft.com/office/drawing/2014/main" id="{F3EE34E6-3FF1-4B63-4AAA-0CED17234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8703" b="72247"/>
          <a:stretch>
            <a:fillRect/>
          </a:stretch>
        </p:blipFill>
        <p:spPr>
          <a:xfrm>
            <a:off x="395288" y="2043113"/>
            <a:ext cx="3776662" cy="2645319"/>
          </a:xfrm>
          <a:prstGeom prst="rect">
            <a:avLst/>
          </a:prstGeom>
        </p:spPr>
      </p:pic>
      <p:pic>
        <p:nvPicPr>
          <p:cNvPr id="14" name="Content Placeholder 8">
            <a:extLst>
              <a:ext uri="{FF2B5EF4-FFF2-40B4-BE49-F238E27FC236}">
                <a16:creationId xmlns:a16="http://schemas.microsoft.com/office/drawing/2014/main" id="{31E2D22C-45D7-45DE-7781-25C775C2204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0486" t="24938" r="57728" b="23708"/>
          <a:stretch>
            <a:fillRect/>
          </a:stretch>
        </p:blipFill>
        <p:spPr>
          <a:xfrm>
            <a:off x="4393980" y="2043113"/>
            <a:ext cx="3446902" cy="4367212"/>
          </a:xfrm>
          <a:prstGeom prst="rect">
            <a:avLst/>
          </a:prstGeom>
        </p:spPr>
      </p:pic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A4071EDB-90C3-7446-C99F-E50E56D7D834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/>
          <a:srcRect r="80610" b="75675"/>
          <a:stretch>
            <a:fillRect/>
          </a:stretch>
        </p:blipFill>
        <p:spPr>
          <a:xfrm>
            <a:off x="8177505" y="2043113"/>
            <a:ext cx="3547477" cy="239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5260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6F2DD61-0840-4963-7F4A-A64DF0DCFB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60352" y="1563046"/>
            <a:ext cx="4031648" cy="36576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Step 2. Observe Newly added Requirement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5852E0C-87FF-3EE9-8995-E805BD886C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7" y="1563046"/>
            <a:ext cx="7638273" cy="365760"/>
          </a:xfrm>
        </p:spPr>
        <p:txBody>
          <a:bodyPr/>
          <a:lstStyle/>
          <a:p>
            <a:r>
              <a:rPr lang="en-US" dirty="0"/>
              <a:t>Step 1. Right Click and Add Requirement.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11D04A7-50FE-5BDF-16FA-FE8BECE087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83709A2F-571A-5E7D-79E4-742BA7AD2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New Requirement Parent Requirement</a:t>
            </a:r>
          </a:p>
        </p:txBody>
      </p:sp>
      <p:pic>
        <p:nvPicPr>
          <p:cNvPr id="31" name="Content Placeholder 12">
            <a:extLst>
              <a:ext uri="{FF2B5EF4-FFF2-40B4-BE49-F238E27FC236}">
                <a16:creationId xmlns:a16="http://schemas.microsoft.com/office/drawing/2014/main" id="{3946A866-FAC5-8FEC-60DF-C5C6782657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6582" b="71277"/>
          <a:stretch>
            <a:fillRect/>
          </a:stretch>
        </p:blipFill>
        <p:spPr>
          <a:xfrm>
            <a:off x="0" y="2955423"/>
            <a:ext cx="8034091" cy="2321974"/>
          </a:xfrm>
          <a:prstGeom prst="rect">
            <a:avLst/>
          </a:prstGeom>
        </p:spPr>
      </p:pic>
      <p:pic>
        <p:nvPicPr>
          <p:cNvPr id="36" name="Content Placeholder 32">
            <a:extLst>
              <a:ext uri="{FF2B5EF4-FFF2-40B4-BE49-F238E27FC236}">
                <a16:creationId xmlns:a16="http://schemas.microsoft.com/office/drawing/2014/main" id="{184745B6-BD68-1BF7-2469-01121CF0EE3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77287" b="76394"/>
          <a:stretch>
            <a:fillRect/>
          </a:stretch>
        </p:blipFill>
        <p:spPr>
          <a:xfrm>
            <a:off x="8160352" y="2955423"/>
            <a:ext cx="3701449" cy="206775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CCCA021-2882-28D6-4A1A-3465AA45DC88}"/>
              </a:ext>
            </a:extLst>
          </p:cNvPr>
          <p:cNvCxnSpPr/>
          <p:nvPr/>
        </p:nvCxnSpPr>
        <p:spPr>
          <a:xfrm flipH="1">
            <a:off x="10114961" y="4685121"/>
            <a:ext cx="10463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7179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190E52-9434-57BB-F752-AFF19C09D2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Update Properties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9CF0E-6998-E879-3C2C-ABD9258644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Requirement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641E7-A253-41FD-81F9-455DE13D85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16483-5E7B-24AE-99D3-D1E8787A4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Requirement (Part 1)</a:t>
            </a:r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2BF5B023-600C-A9BA-DE7C-66BE5B442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7921" b="76387"/>
          <a:stretch>
            <a:fillRect/>
          </a:stretch>
        </p:blipFill>
        <p:spPr>
          <a:xfrm>
            <a:off x="395288" y="2042465"/>
            <a:ext cx="5624512" cy="1696481"/>
          </a:xfrm>
          <a:prstGeom prst="rect">
            <a:avLst/>
          </a:prstGeom>
        </p:spPr>
      </p:pic>
      <p:pic>
        <p:nvPicPr>
          <p:cNvPr id="19" name="Content Placeholder 12">
            <a:extLst>
              <a:ext uri="{FF2B5EF4-FFF2-40B4-BE49-F238E27FC236}">
                <a16:creationId xmlns:a16="http://schemas.microsoft.com/office/drawing/2014/main" id="{A33A0271-9AF2-C785-7929-22FBE7F7A30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26" b="55107"/>
          <a:stretch>
            <a:fillRect/>
          </a:stretch>
        </p:blipFill>
        <p:spPr>
          <a:xfrm>
            <a:off x="6066367" y="2042464"/>
            <a:ext cx="4768076" cy="325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628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9237E-7DB5-BC5A-C2E0-1ABD0C74D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E23302-B7C4-58D1-7647-62909E875C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Updated Properties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63020-6A21-CCD7-9956-0B9E31C29C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Requirement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BEACD-DEE9-8156-1943-C1C8FD83DC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4D2B03-1E02-3734-B087-B25B3661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Requirement (Part 2) 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F15FEA19-A5D3-5821-55A2-3A90F1C9E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552" b="76432"/>
          <a:stretch>
            <a:fillRect/>
          </a:stretch>
        </p:blipFill>
        <p:spPr>
          <a:xfrm>
            <a:off x="395287" y="2042464"/>
            <a:ext cx="5623561" cy="1678252"/>
          </a:xfrm>
          <a:prstGeom prst="rect">
            <a:avLst/>
          </a:prstGeom>
        </p:spPr>
      </p:pic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BF315EE3-7344-6CDD-418E-9DD62587CD4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57" r="14917" b="45548"/>
          <a:stretch>
            <a:fillRect/>
          </a:stretch>
        </p:blipFill>
        <p:spPr>
          <a:xfrm>
            <a:off x="6113356" y="2024259"/>
            <a:ext cx="2787271" cy="378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754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4011D-23DB-789B-03F0-D6D78CD2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47076784-3874-446A-3243-62FDC173306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975" b="76001"/>
          <a:stretch>
            <a:fillRect/>
          </a:stretch>
        </p:blipFill>
        <p:spPr>
          <a:xfrm>
            <a:off x="8197178" y="2955423"/>
            <a:ext cx="2948577" cy="1899378"/>
          </a:xfrm>
          <a:prstGeom prst="rect">
            <a:avLst/>
          </a:prstGeom>
        </p:spPr>
      </p:pic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DFE3121-C26D-4128-764C-BFC7C32C7F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60352" y="1563046"/>
            <a:ext cx="4031648" cy="36576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Step 2. Observe Newly added Requirement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C13532F-399E-1933-C50D-2D92CB8DC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7" y="1563046"/>
            <a:ext cx="7638273" cy="365760"/>
          </a:xfrm>
        </p:spPr>
        <p:txBody>
          <a:bodyPr/>
          <a:lstStyle/>
          <a:p>
            <a:r>
              <a:rPr lang="en-US" dirty="0"/>
              <a:t>Step 1. Right Click and Add Requirement.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3951C0E-7D5B-60E6-E2A5-944B5AEBAB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55C7FAAA-B372-1F93-4337-CF862C4B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New Requirement Parent Requirement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85D7A88-4268-FC57-FE15-85F2D017EDAF}"/>
              </a:ext>
            </a:extLst>
          </p:cNvPr>
          <p:cNvCxnSpPr/>
          <p:nvPr/>
        </p:nvCxnSpPr>
        <p:spPr>
          <a:xfrm flipH="1">
            <a:off x="10114961" y="4685121"/>
            <a:ext cx="10463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39D57-5F03-B8C0-F69A-7ED2406C0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521" b="62385"/>
          <a:stretch>
            <a:fillRect/>
          </a:stretch>
        </p:blipFill>
        <p:spPr>
          <a:xfrm>
            <a:off x="15511" y="2955423"/>
            <a:ext cx="8032275" cy="25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87577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E25AE-8D70-54D5-503C-FE89B1119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11F99400-2802-CD03-B25A-E05AA7AC5C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334" b="72893"/>
          <a:stretch>
            <a:fillRect/>
          </a:stretch>
        </p:blipFill>
        <p:spPr>
          <a:xfrm>
            <a:off x="395287" y="2042465"/>
            <a:ext cx="5623561" cy="179424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1D35CA-A942-3627-4861-BC5C623A68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Updated Properties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CDD75-683D-E108-16B9-7E06D0B8EE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Child Requirement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6F03B-A77B-5685-0EDD-43C7F8DF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4C44321-2E52-F71E-CF9E-EC3D8E05E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Child Requirement (Part 1) 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EF8A6C5-BCA3-1412-6D13-F5FCD5FA80CE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30" b="57732"/>
          <a:stretch>
            <a:fillRect/>
          </a:stretch>
        </p:blipFill>
        <p:spPr>
          <a:xfrm>
            <a:off x="6113463" y="2042465"/>
            <a:ext cx="4889127" cy="311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090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1F732-8EE0-EC2C-8F1F-002AF1F48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8C708396-8DD3-FE17-726B-2F666C43F6B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70" r="12474" b="47663"/>
          <a:stretch>
            <a:fillRect/>
          </a:stretch>
        </p:blipFill>
        <p:spPr>
          <a:xfrm>
            <a:off x="6113357" y="2042466"/>
            <a:ext cx="3340882" cy="3858713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F942AF-3C40-11F3-F7C3-D462C4A45A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Updated Properties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2E10A-C2AC-368D-8F33-ADE83420D0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Child Requirement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9907B-7A87-15D2-2047-CEBE922205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78295D-7177-0EAE-F30D-A45E0064F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Child Requirement (Part 2) 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C871BD5F-FBE9-244D-A187-F3713D671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51" b="74562"/>
          <a:stretch>
            <a:fillRect/>
          </a:stretch>
        </p:blipFill>
        <p:spPr>
          <a:xfrm>
            <a:off x="538255" y="2042466"/>
            <a:ext cx="3779221" cy="17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2617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47A86C-AE02-A30D-4261-BEA47B3249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Step 2. Click Block “</a:t>
            </a:r>
            <a:r>
              <a:rPr lang="en-US" dirty="0" err="1"/>
              <a:t>prodBlkC</a:t>
            </a:r>
            <a:r>
              <a:rPr lang="en-US" dirty="0"/>
              <a:t>” and Click Link to Selection in Requirements Browser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97D2D-0403-610C-FEA8-38E6CF2F10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Ensure “Functional C” is selected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41009-FDA6-A67B-99EC-3BFF866D08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B328E7A-5094-B92A-2993-9149E067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Child Requirement To Block (Part 1A)</a:t>
            </a:r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FBE3D09B-44E2-9A79-C12F-4BB3289C2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7474" b="72879"/>
          <a:stretch>
            <a:fillRect/>
          </a:stretch>
        </p:blipFill>
        <p:spPr>
          <a:xfrm>
            <a:off x="395288" y="2042465"/>
            <a:ext cx="5624512" cy="25207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Content Placeholder 11">
            <a:extLst>
              <a:ext uri="{FF2B5EF4-FFF2-40B4-BE49-F238E27FC236}">
                <a16:creationId xmlns:a16="http://schemas.microsoft.com/office/drawing/2014/main" id="{6C3C816D-91F1-33E3-9F6E-05D6F1082B3E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5515" t="32417" r="6203"/>
          <a:stretch>
            <a:fillRect/>
          </a:stretch>
        </p:blipFill>
        <p:spPr>
          <a:xfrm>
            <a:off x="6113356" y="2024301"/>
            <a:ext cx="5858578" cy="44078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988649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9F3B034-71B6-5D77-73B6-F7A1B362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Child Requirement To Block (Part 2A)</a:t>
            </a:r>
          </a:p>
        </p:txBody>
      </p:sp>
      <p:pic>
        <p:nvPicPr>
          <p:cNvPr id="21" name="Content Placeholder 14">
            <a:extLst>
              <a:ext uri="{FF2B5EF4-FFF2-40B4-BE49-F238E27FC236}">
                <a16:creationId xmlns:a16="http://schemas.microsoft.com/office/drawing/2014/main" id="{9A7799B6-3C9B-1886-1734-9D8C2AAFE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3963" t="16339" b="60665"/>
          <a:stretch>
            <a:fillRect/>
          </a:stretch>
        </p:blipFill>
        <p:spPr>
          <a:xfrm>
            <a:off x="1622468" y="1822517"/>
            <a:ext cx="10200138" cy="2249864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6F8343-1815-5B40-63AE-86CC9641B2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pic>
        <p:nvPicPr>
          <p:cNvPr id="24" name="Content Placeholder 14">
            <a:extLst>
              <a:ext uri="{FF2B5EF4-FFF2-40B4-BE49-F238E27FC236}">
                <a16:creationId xmlns:a16="http://schemas.microsoft.com/office/drawing/2014/main" id="{5F12C6C4-B0CB-0E74-9D07-FE62418DB3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63" t="75543" b="-172"/>
          <a:stretch>
            <a:fillRect/>
          </a:stretch>
        </p:blipFill>
        <p:spPr>
          <a:xfrm>
            <a:off x="1622466" y="4076050"/>
            <a:ext cx="10200139" cy="2409592"/>
          </a:xfrm>
          <a:prstGeom prst="rect">
            <a:avLst/>
          </a:prstGeom>
        </p:spPr>
      </p:pic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205519CD-138A-7DAD-5DDD-B83091C18998}"/>
              </a:ext>
            </a:extLst>
          </p:cNvPr>
          <p:cNvSpPr txBox="1">
            <a:spLocks/>
          </p:cNvSpPr>
          <p:nvPr/>
        </p:nvSpPr>
        <p:spPr>
          <a:xfrm>
            <a:off x="395818" y="1440495"/>
            <a:ext cx="10606652" cy="3657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Step 1. Observe Block has been linked to Child Requirement</a:t>
            </a:r>
          </a:p>
        </p:txBody>
      </p:sp>
      <p:pic>
        <p:nvPicPr>
          <p:cNvPr id="27" name="Content Placeholder 14">
            <a:extLst>
              <a:ext uri="{FF2B5EF4-FFF2-40B4-BE49-F238E27FC236}">
                <a16:creationId xmlns:a16="http://schemas.microsoft.com/office/drawing/2014/main" id="{4616B525-3BB8-6240-CFD4-D28AECDD52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" t="16339" r="72748" b="60665"/>
          <a:stretch>
            <a:fillRect/>
          </a:stretch>
        </p:blipFill>
        <p:spPr>
          <a:xfrm>
            <a:off x="369615" y="1822517"/>
            <a:ext cx="4943476" cy="224986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CA28DFD-B5F5-A6A5-F202-53219262BB4C}"/>
              </a:ext>
            </a:extLst>
          </p:cNvPr>
          <p:cNvSpPr/>
          <p:nvPr/>
        </p:nvSpPr>
        <p:spPr>
          <a:xfrm>
            <a:off x="369615" y="1806255"/>
            <a:ext cx="11452770" cy="467938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8558267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3EF1-7680-3A74-0554-16F539C96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B0D0C2-0F26-879F-B863-D54610DDB8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Step 2. Select Blocks “</a:t>
            </a:r>
            <a:r>
              <a:rPr lang="en-US" dirty="0" err="1"/>
              <a:t>constBlkA</a:t>
            </a:r>
            <a:r>
              <a:rPr lang="en-US" dirty="0"/>
              <a:t>” &amp; “</a:t>
            </a:r>
            <a:r>
              <a:rPr lang="en-US" dirty="0" err="1"/>
              <a:t>constBlkB</a:t>
            </a:r>
            <a:r>
              <a:rPr lang="en-US" dirty="0"/>
              <a:t>” &amp; Click “Link to Selection in Requirements Browser”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5650C-ECE5-3D48-11BF-209F7FD5F7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Ensure “Functional C” is selected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AB3690-F3DE-B854-422F-1076566BA0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50D364A-AE01-A5C2-B2D9-E181610DB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Child Requirement To Block (Part 1B)</a:t>
            </a:r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F41DB0E7-6DB0-A327-F819-9B393B6A2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7474" b="72879"/>
          <a:stretch>
            <a:fillRect/>
          </a:stretch>
        </p:blipFill>
        <p:spPr>
          <a:xfrm>
            <a:off x="395288" y="2042465"/>
            <a:ext cx="5624512" cy="25207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Content Placeholder 21">
            <a:extLst>
              <a:ext uri="{FF2B5EF4-FFF2-40B4-BE49-F238E27FC236}">
                <a16:creationId xmlns:a16="http://schemas.microsoft.com/office/drawing/2014/main" id="{F827A51A-2C65-41A3-65E5-1284DE69860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19863" t="23605" r="30680" b="19019"/>
          <a:stretch>
            <a:fillRect/>
          </a:stretch>
        </p:blipFill>
        <p:spPr>
          <a:xfrm>
            <a:off x="6113463" y="2042465"/>
            <a:ext cx="6078537" cy="37903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890698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98B68-21D0-1E9A-5B97-A126EB64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454ED0-9EC9-2315-F525-26C1DF5F9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9" t="74531" b="2434"/>
          <a:stretch>
            <a:fillRect/>
          </a:stretch>
        </p:blipFill>
        <p:spPr>
          <a:xfrm>
            <a:off x="1664406" y="4072382"/>
            <a:ext cx="10165599" cy="2266128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77C61AFC-D96C-7BFB-2CE9-F63800BE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Child Requirement To Block (Part 2B)</a:t>
            </a:r>
          </a:p>
        </p:txBody>
      </p:sp>
      <p:pic>
        <p:nvPicPr>
          <p:cNvPr id="21" name="Content Placeholder 14">
            <a:extLst>
              <a:ext uri="{FF2B5EF4-FFF2-40B4-BE49-F238E27FC236}">
                <a16:creationId xmlns:a16="http://schemas.microsoft.com/office/drawing/2014/main" id="{2069E864-A849-9AE3-294D-1C5D54E0F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3963" t="16338" b="58441"/>
          <a:stretch>
            <a:fillRect/>
          </a:stretch>
        </p:blipFill>
        <p:spPr>
          <a:xfrm>
            <a:off x="1622468" y="1822516"/>
            <a:ext cx="10200138" cy="2467543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52A37D5-CCC0-1641-4FAF-D303837B22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2423B4E6-B36C-9CF9-C566-B3A909613C1F}"/>
              </a:ext>
            </a:extLst>
          </p:cNvPr>
          <p:cNvSpPr txBox="1">
            <a:spLocks/>
          </p:cNvSpPr>
          <p:nvPr/>
        </p:nvSpPr>
        <p:spPr>
          <a:xfrm>
            <a:off x="395818" y="1440495"/>
            <a:ext cx="10606652" cy="3657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Step 1. Observe Block has been linked to Child Requirement</a:t>
            </a:r>
          </a:p>
        </p:txBody>
      </p:sp>
      <p:pic>
        <p:nvPicPr>
          <p:cNvPr id="27" name="Content Placeholder 14">
            <a:extLst>
              <a:ext uri="{FF2B5EF4-FFF2-40B4-BE49-F238E27FC236}">
                <a16:creationId xmlns:a16="http://schemas.microsoft.com/office/drawing/2014/main" id="{B3332B7C-960C-D009-5C10-324EA59A9B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" t="16339" r="72748" b="60665"/>
          <a:stretch>
            <a:fillRect/>
          </a:stretch>
        </p:blipFill>
        <p:spPr>
          <a:xfrm>
            <a:off x="369615" y="1822517"/>
            <a:ext cx="4943476" cy="224986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770CFDC3-0BA0-2DA0-7A8E-C27310ACA9F8}"/>
              </a:ext>
            </a:extLst>
          </p:cNvPr>
          <p:cNvSpPr/>
          <p:nvPr/>
        </p:nvSpPr>
        <p:spPr>
          <a:xfrm>
            <a:off x="369615" y="1822517"/>
            <a:ext cx="11452770" cy="467938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E48993-E9CB-3357-C8A0-79DC7FC91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52" t="15542" b="60066"/>
          <a:stretch>
            <a:fillRect/>
          </a:stretch>
        </p:blipFill>
        <p:spPr>
          <a:xfrm>
            <a:off x="4979871" y="1888435"/>
            <a:ext cx="6859561" cy="240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3283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4D45A-051F-0FDB-9E26-6038831C3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0D4FA463-7CE0-BE3C-F31D-F360717264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document has been saved.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7F4D62D-3AB7-F929-B01D-488F6AEC54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Save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7225D673-D293-2A50-9760-E5CAEE9C4D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FFAA12A-03B6-4B5E-EDFB-2D6C25981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618605"/>
          </a:xfrm>
        </p:spPr>
        <p:txBody>
          <a:bodyPr/>
          <a:lstStyle/>
          <a:p>
            <a:r>
              <a:rPr lang="en-US" dirty="0"/>
              <a:t>Save Changes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The star * was removed after the save took place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EF19BE91-B6B1-C82F-5A47-8F90CCBF2072}"/>
              </a:ext>
            </a:extLst>
          </p:cNvPr>
          <p:cNvSpPr txBox="1">
            <a:spLocks/>
          </p:cNvSpPr>
          <p:nvPr/>
        </p:nvSpPr>
        <p:spPr>
          <a:xfrm>
            <a:off x="1693758" y="392566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71893CF0-4D76-C8A2-93E8-F4439365A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619" b="65386"/>
          <a:stretch>
            <a:fillRect/>
          </a:stretch>
        </p:blipFill>
        <p:spPr>
          <a:xfrm>
            <a:off x="1707869" y="2881416"/>
            <a:ext cx="2999350" cy="34065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Content Placeholder 22">
            <a:extLst>
              <a:ext uri="{FF2B5EF4-FFF2-40B4-BE49-F238E27FC236}">
                <a16:creationId xmlns:a16="http://schemas.microsoft.com/office/drawing/2014/main" id="{2537E35D-01E4-0251-EE16-526D3F6A0BF1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245" b="64905"/>
          <a:stretch>
            <a:fillRect/>
          </a:stretch>
        </p:blipFill>
        <p:spPr>
          <a:xfrm>
            <a:off x="6203028" y="2859118"/>
            <a:ext cx="5443795" cy="345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54363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A9E79-F32E-F9EE-459B-7D7905F50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8FBC10DE-65B8-AC8F-14B3-743BF16794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483206"/>
            <a:ext cx="11338560" cy="731520"/>
          </a:xfrm>
        </p:spPr>
        <p:txBody>
          <a:bodyPr/>
          <a:lstStyle/>
          <a:p>
            <a:r>
              <a:rPr lang="en-US" dirty="0"/>
              <a:t>Step 1. Click “APPS” tab and click down arrow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57EF24-F0FA-3B62-9BB6-7E55E3BD1A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Manager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BF400F1-2828-45BC-BEED-DBD5C425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Requirements Manager</a:t>
            </a:r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5BB691F1-55F5-8D19-F658-D9DA494C2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6887" b="71002"/>
          <a:stretch>
            <a:fillRect/>
          </a:stretch>
        </p:blipFill>
        <p:spPr>
          <a:xfrm>
            <a:off x="395288" y="1820902"/>
            <a:ext cx="11339512" cy="2126531"/>
          </a:xfrm>
          <a:prstGeom prst="rect">
            <a:avLst/>
          </a:prstGeom>
        </p:spPr>
      </p:pic>
      <p:sp>
        <p:nvSpPr>
          <p:cNvPr id="18" name="Text Placeholder 44">
            <a:extLst>
              <a:ext uri="{FF2B5EF4-FFF2-40B4-BE49-F238E27FC236}">
                <a16:creationId xmlns:a16="http://schemas.microsoft.com/office/drawing/2014/main" id="{12424C7A-9EB0-F6B0-2E81-637E256095E0}"/>
              </a:ext>
            </a:extLst>
          </p:cNvPr>
          <p:cNvSpPr txBox="1">
            <a:spLocks/>
          </p:cNvSpPr>
          <p:nvPr/>
        </p:nvSpPr>
        <p:spPr>
          <a:xfrm>
            <a:off x="395396" y="4096002"/>
            <a:ext cx="5587437" cy="29369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2. Click “Requirements Manager”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447486-5D69-2001-6441-9EAE2C84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9" t="46008" r="60348" b="36420"/>
          <a:stretch>
            <a:fillRect/>
          </a:stretch>
        </p:blipFill>
        <p:spPr>
          <a:xfrm>
            <a:off x="395288" y="4479305"/>
            <a:ext cx="5919787" cy="171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2360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EA1BE7-D532-75B8-E064-AA021CBA61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Manager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2467DE-06A8-A960-95A9-3F4FCA2CE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 “Requirements Manager” panels were opened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B991C71-C75C-6E65-4799-1A617BED4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8993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5036-8039-0E98-32EC-937893C8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48D9542-37E8-803E-1BD9-2D546D9B869C}"/>
              </a:ext>
            </a:extLst>
          </p:cNvPr>
          <p:cNvSpPr/>
          <p:nvPr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</a:t>
            </a:r>
            <a:r>
              <a:rPr lang="es-AR" sz="24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</a:t>
            </a:r>
            <a:r>
              <a:rPr lang="es-AR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Quiz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89401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008710-C0EB-4FD2-A9EA-A8F1281D62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4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8" name="Add-in_Icon" descr="Icon for Microsoft Power BI.">
            <a:extLst>
              <a:ext uri="{FF2B5EF4-FFF2-40B4-BE49-F238E27FC236}">
                <a16:creationId xmlns:a16="http://schemas.microsoft.com/office/drawing/2014/main" id="{5D58D801-6773-16C9-A8D2-FFC7EBB3E7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448806" y="471750"/>
            <a:ext cx="291465" cy="291465"/>
          </a:xfrm>
          <a:prstGeom prst="rect">
            <a:avLst/>
          </a:prstGeom>
          <a:noFill/>
        </p:spPr>
      </p:pic>
      <p:sp>
        <p:nvSpPr>
          <p:cNvPr id="9" name="InstallationHelpContent">
            <a:extLst>
              <a:ext uri="{FF2B5EF4-FFF2-40B4-BE49-F238E27FC236}">
                <a16:creationId xmlns:a16="http://schemas.microsoft.com/office/drawing/2014/main" id="{7546BC82-82B0-1DA5-83A8-832E247AECA0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InstallationHelpHeader">
            <a:extLst>
              <a:ext uri="{FF2B5EF4-FFF2-40B4-BE49-F238E27FC236}">
                <a16:creationId xmlns:a16="http://schemas.microsoft.com/office/drawing/2014/main" id="{16E6AD5B-209B-8FCB-3F9E-7AB7B48E2B16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1" name="LaunchHelpImage" descr="Office ribbon open on the Home tab.">
            <a:extLst>
              <a:ext uri="{FF2B5EF4-FFF2-40B4-BE49-F238E27FC236}">
                <a16:creationId xmlns:a16="http://schemas.microsoft.com/office/drawing/2014/main" id="{6E6B97A0-7151-814C-B11C-2F769C4B650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12" name="MyAdd-ins">
            <a:extLst>
              <a:ext uri="{FF2B5EF4-FFF2-40B4-BE49-F238E27FC236}">
                <a16:creationId xmlns:a16="http://schemas.microsoft.com/office/drawing/2014/main" id="{E02A9CC5-71EF-ECF3-5B79-196434B384F0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abName">
            <a:extLst>
              <a:ext uri="{FF2B5EF4-FFF2-40B4-BE49-F238E27FC236}">
                <a16:creationId xmlns:a16="http://schemas.microsoft.com/office/drawing/2014/main" id="{20F738CC-6671-7BF5-89CF-590043DB1285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LaunchHelpContent2">
            <a:extLst>
              <a:ext uri="{FF2B5EF4-FFF2-40B4-BE49-F238E27FC236}">
                <a16:creationId xmlns:a16="http://schemas.microsoft.com/office/drawing/2014/main" id="{3D8CBDB8-9B83-3EA9-3404-247171A3877A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LaunchHelpContent1">
            <a:extLst>
              <a:ext uri="{FF2B5EF4-FFF2-40B4-BE49-F238E27FC236}">
                <a16:creationId xmlns:a16="http://schemas.microsoft.com/office/drawing/2014/main" id="{40F34F9B-9A7C-0B18-CF10-40A6EA5E951F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LaunchHelpHeader">
            <a:extLst>
              <a:ext uri="{FF2B5EF4-FFF2-40B4-BE49-F238E27FC236}">
                <a16:creationId xmlns:a16="http://schemas.microsoft.com/office/drawing/2014/main" id="{3B2EDEE1-3260-050C-41BB-338682ADDF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</p:spTree>
    <p:extLst>
      <p:ext uri="{BB962C8B-B14F-4D97-AF65-F5344CB8AC3E}">
        <p14:creationId xmlns:p14="http://schemas.microsoft.com/office/powerpoint/2010/main" val="124243603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F1480-D393-77EF-BB60-969A418F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2C893AA-EB94-1B8F-75A6-1D2921812E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 </a:t>
            </a:r>
            <a:r>
              <a:rPr lang="en-US" dirty="0"/>
              <a:t>Test Results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5" name="Add-in" descr="Add-in content for Microsoft Power BI.">
                <a:extLst>
                  <a:ext uri="{FF2B5EF4-FFF2-40B4-BE49-F238E27FC236}">
                    <a16:creationId xmlns:a16="http://schemas.microsoft.com/office/drawing/2014/main" id="{23650CF7-5DCD-5894-1234-001434C6B30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46652928"/>
                  </p:ext>
                </p:extLst>
              </p:nvPr>
            </p:nvGraphicFramePr>
            <p:xfrm>
              <a:off x="395288" y="1133475"/>
              <a:ext cx="11341100" cy="522128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5" name="Add-in" descr="Add-in content for Microsoft Power BI.">
                <a:extLst>
                  <a:ext uri="{FF2B5EF4-FFF2-40B4-BE49-F238E27FC236}">
                    <a16:creationId xmlns:a16="http://schemas.microsoft.com/office/drawing/2014/main" id="{23650CF7-5DCD-5894-1234-001434C6B3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5288" y="1133475"/>
                <a:ext cx="11341100" cy="522128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601286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127B0-FC76-9619-3B40-9CDC0B72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Only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9C65C-2639-7A58-9087-D07C49590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Quiz – Summary Page</a:t>
            </a:r>
            <a:r>
              <a:rPr lang="en-US" dirty="0"/>
              <a:t> 		METRICS for Mike and Brandon</a:t>
            </a:r>
          </a:p>
          <a:p>
            <a:r>
              <a:rPr lang="en-US" dirty="0">
                <a:hlinkClick r:id="rId3"/>
              </a:rPr>
              <a:t>Quiz – Responses Overview</a:t>
            </a:r>
            <a:endParaRPr lang="en-US" dirty="0"/>
          </a:p>
          <a:p>
            <a:r>
              <a:rPr lang="en-US" dirty="0">
                <a:hlinkClick r:id="rId4"/>
              </a:rPr>
              <a:t>Quiz – Excel Log</a:t>
            </a:r>
            <a:r>
              <a:rPr lang="en-US" dirty="0"/>
              <a:t> </a:t>
            </a:r>
          </a:p>
          <a:p>
            <a:endParaRPr lang="en-US" dirty="0">
              <a:hlinkClick r:id="rId5"/>
            </a:endParaRPr>
          </a:p>
          <a:p>
            <a:r>
              <a:rPr lang="en-US" dirty="0">
                <a:hlinkClick r:id="rId5"/>
              </a:rPr>
              <a:t>My files – OneDrive</a:t>
            </a:r>
            <a:r>
              <a:rPr lang="en-US" dirty="0"/>
              <a:t> 		Where Excel Log is stored</a:t>
            </a:r>
          </a:p>
          <a:p>
            <a:endParaRPr lang="en-US" dirty="0">
              <a:hlinkClick r:id="rId6"/>
            </a:endParaRPr>
          </a:p>
          <a:p>
            <a:r>
              <a:rPr lang="en-US" dirty="0">
                <a:hlinkClick r:id="rId6"/>
              </a:rPr>
              <a:t>Power BI – Workspace</a:t>
            </a:r>
            <a:r>
              <a:rPr lang="en-US" dirty="0"/>
              <a:t>		My workspace</a:t>
            </a:r>
          </a:p>
          <a:p>
            <a:r>
              <a:rPr lang="en-US" dirty="0">
                <a:hlinkClick r:id="rId7"/>
              </a:rPr>
              <a:t>Power BI – Semantic Model</a:t>
            </a:r>
            <a:r>
              <a:rPr lang="en-US" dirty="0"/>
              <a:t> 	Training Quiz Results Master	Power Queries</a:t>
            </a:r>
          </a:p>
          <a:p>
            <a:r>
              <a:rPr lang="en-US" dirty="0">
                <a:hlinkClick r:id="rId8"/>
              </a:rPr>
              <a:t>Power BI – Results</a:t>
            </a:r>
            <a:r>
              <a:rPr lang="en-US" dirty="0"/>
              <a:t> 		Training Performance Dashboard	Power BI Dashboard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8CC46-32C2-B2A7-07C7-0E38FAB7F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Only the Admin uses these links</a:t>
            </a:r>
          </a:p>
        </p:txBody>
      </p:sp>
    </p:spTree>
    <p:extLst>
      <p:ext uri="{BB962C8B-B14F-4D97-AF65-F5344CB8AC3E}">
        <p14:creationId xmlns:p14="http://schemas.microsoft.com/office/powerpoint/2010/main" val="396209242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149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ExdrrT4J0C1fnz5aAV6X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uB4lW1kl025PsSgEWBrJ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3kfiwG_mkuGI2Bt.8obm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2_Office Theme">
  <a:themeElements>
    <a:clrScheme name="Custom 9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32741"/>
      </a:accent1>
      <a:accent2>
        <a:srgbClr val="003B5D"/>
      </a:accent2>
      <a:accent3>
        <a:srgbClr val="7487A7"/>
      </a:accent3>
      <a:accent4>
        <a:srgbClr val="0254A1"/>
      </a:accent4>
      <a:accent5>
        <a:srgbClr val="007FC1"/>
      </a:accent5>
      <a:accent6>
        <a:srgbClr val="F36C38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3BD08961-5BEB-4455-B46A-2F6F50DDC40B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7F7F7&quot;"/>
    <we:property name="bookmark" value="&quot;H4sIAAAAAAAAA+1YTW/cNhD9KwKBIpdtwQ99UL7FGwco0AZubLiHwocROVoz0UoCpbWzMfzfMxLXduzubuOkMGS0PhjSkDOc92YoPu41s65rK1i/gyWyA3bYNB+X4D9Ggs1YHWwll1KkCc9BxcC1EgCaRpu2d03dsYNr1oNfYH/muhVUQyAy/sVytEKYhFuwqVZ5kQq07HzGWo8d+kt8h1fBg/67wlWuX7OD3q9wxqCqjmExhCmh6sjQou+aGir3GYNPF6bezBh+aqvGw5DLSQ89Dvlc0nR6p9zFL4pSBdO7SzxB0wcrpnGmEsy1lCqWKrMZNzStCxNGSFunDKHH5edN3YOraZnBloNNylSUeSI5N5jEVvHBXrqq30wp1kefWk+0EFnrdmD1tb2E2hAlIwTiJGR8zV4vFh4X0G9ejx4MzptqtdxiP2lW3uB7LMehuh/JZKeeknT1Ivpj5T5H77FbVX0X/Q4dpUU29Gt2QxQe+4YIHj2OluCq0fh2VW/oksPrRXM190j8WnbAb87J0lHgalOOe2ZOAzoD3m6GqFOKD8TswAO5Nd6iP1yPVLxx/rYmcvYI0RRpINxkslCWNokTrSEFZQrDE3ih5T5teqiitnE1lechXPHfq/p+NkLxMQdZai55quKiQOCQ6hdd/OOGAhcV0sP/XfAEWkI7FMDzMo1LBUqnGedoi39uhzlRuWi8MyND+Kzo5hfQ0iD7jrp2lTPk+XVN2RLp5B8eFkin4eBEMNuwnMPunoqHT2e3BzSV/q1vlqPbRoL0tMJTAM5YyI8QzNifF+hxjEZHtHW3HfTrI0a7zZRv4Dq8jHntpJIWPoNqNeoeivub6wMX18FMc19tJkdcRD9HpxcYHULnTPdq8D4P3TTGsdDDFhKXjR1pxrGVti/xhjxsc1UPMW/7MygfSvrDV9rmLtfnbLcB4IzprEhTqY2WhRJaqkRnctL7ZdCUq+5f3y4/UOaxcaZU4zuKQom36v6dJd7cMVKVKpOZAjXENssyE8tBkU+gAebNsq1w4DXqHeX6906Y3aHIICF1gBhbgcbklnMN00Axflv3pS5iC0oIrqgQXNB9B+N4Gqnfa/GdtJdWFzzTRpqYcy4IiLzPfcria6vW5Puw0l00h7KgG6aReZbQXuP8ZWDdr6j2gpai0JBIJZVJZZZmVueTBx2+itFPT8Fpgb6WHAs6GCVtQ+rodCJfwZ3H4H3ykNlUCFsMvxUlieYmN3oayf+A5u2BOvbo0zdeZMTji8zzIQtSQBjkKqPdYQy3iKS14j1n7wRKs/tcmkByu06e7+ua8W+7GmxWfdeCwWOocYsqJNRQ26Ci9ijD8bfSO114c/MFtfPin9wVAAA=&quot;"/>
    <we:property name="creatorSessionId" value="&quot;a7e0b918-ffee-490a-8028-7f3e6a3baddd&quot;"/>
    <we:property name="creatorTenantId" value="&quot;64ff49ba-62b0-46de-b74b-cc4d370ce341&quot;"/>
    <we:property name="creatorUserId" value="&quot;10032006298BAD65&quot;"/>
    <we:property name="datasetId" value="&quot;9b03b459-3eeb-4c13-8cb9-9748bd494699&quot;"/>
    <we:property name="embedUrl" value="&quot;/reportEmbed?reportId=e42aa0e6-717e-407a-ac45-5ac0ef73007d&amp;config=eyJjbHVzdGVyVXJsIjoiaHR0cHM6Ly9XQUJJLVVTLU5PUlRILUNFTlRSQUwtQi1yZWRpcmVjdC5hbmFseXNpcy53aW5kb3dzLm5ldCIsImVtYmVkRmVhdHVyZXMiOnsidXNhZ2VNZXRyaWNzVk5leHQiOnRydWV9fQ%3D%3D&amp;disableSensitivityBanner=true&amp;storytellingChangeViewModeShortcutKeys=true&quot;"/>
    <we:property name="initialStateBookmark" value="&quot;H4sIAAAAAAAAA+1Y227bOBD9FYPAoi/GghddqLwlrvelmzSbBH1ZFIsROXLZyqJASU7cIP/ekeQ2vcTuZYFAwa4fDGuG5Mw5M9Ic+ZZZ19QlbM9gjeyInXj/bg3h3UywOat2tpcvX5weX7z45+z4dElmX7fOVw07umUthBW2r1zTQdmfQMa/X89ZHbDBsMEzvB599O1yV7p2y47a0OGcQVmew6rfUEDZkKHG0PgKSvcexz3NuPRuzvCmLn2APuplCy32kTe0nK4pPfG7oqTAtG6Dl2ja0YpJlKoYMy2liqRKbcoNLWvGBUPyDy7pjx7CL3zVgqsoTG/LwMZFIooslpwbjCOreG8vXNnuluTb5U0diACiZVv3xB3bDVQGLRsgECdjxrfseLUKuIJ2d7n8wrnwZbd+wH7pu2DwAovBVbUDmewqUJKuWs3+6tz72QU2Xdk2s1NoKC2yYdiyO6LwPHgieNixXIMrB+MfXbWjS/aXb/z1IiDxa9kRv3tNloYOLnfluGfmakRnINidi3oif0vM9jzQNh8shpPtQMVzFz7WRM6/QjRFGgg3mSwUhY2jWGtIQJnc8BieaLmvfAvlrPauovJ8CVf896p+mI2x+JiBLDSXPFFRniNwSPSTLv65p4PzEunH/13wE7SM7ZADz4okKhQonaSco82/3w4LonLlgzMDQ/io6BZvoCYn+4W6NqUztPPzmrI10ozvf1hoYcBYj7Ecjn5vBzcOFNyyPx0FH89+BWXXH/vsOe2w/rp6Rkl95HWc2JT3289m8rCjGaI8Hk2UDrl0mieJ1EbLXAktVaxTOek691qoa6ZU5hNonJlSjT9RNJY4QyuEibkFm2iV5YnoCdtX4p38TVSiTGpy1BDZNE1NJHslOYEGWPh1XWLP66x1lOu3nTD/hCKFmKYaYmQFGpNZzjVMA8Xw5nEodRFZUEJwRYXggnQ6RtE0Ur/XkHtpL6zOeaqNNBHnXBAQeZ/7lEXDgxqJH8JK71AZFDm9GRmZpTHda5w/DayHlcBB0FLkGmKppDKJTJPU6mzyoMen4uy3n8FpgZ6WHHMajJJuQ+roZCJPwb1j8D55SG0ihM2lSOI41txkRk8j+X+h1Vqgjl3e/KAAF18L8MdDNkoBYZCrlO4OY7hFJK0VHZi9EyjN/rk0geT2TZ5f65rh87Aa9F3b1GDwHCp8QBUSaqjsqKIOKMP+jzw2xNi44Un7g+tH4Xb3AcVkRHumFAAA&quot;"/>
    <we:property name="isFiltersActionButtonVisible" value="true"/>
    <we:property name="isVisualContainerHeaderHidden" value="false"/>
    <we:property name="pageDisplayName" value="&quot;Page 1&quot;"/>
    <we:property name="pageName" value="&quot;e64735e982234237d70c&quot;"/>
    <we:property name="reportEmbeddedTime" value="&quot;2026-09-16T18:33:10.358Z&quot;"/>
    <we:property name="reportName" value="&quot;Training Performance Dashboard&quot;"/>
    <we:property name="reportState" value="&quot;CONNECTED&quot;"/>
    <we:property name="reportUrl" value="&quot;/groups/a3d2b873-adca-46a9-ad6d-c1d5a20aa3e0/reports/e42aa0e6-717e-407a-ac45-5ac0ef73007d/e64735e982234237d70c?bookmarkGuid=dee5032c-36e5-4c62-b7b9-204153444a11&amp;bookmarkUsage=1&amp;ctid=64ff49ba-62b0-46de-b74b-cc4d370ce341&amp;fromEntryPoint=export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0BF5D2CCC9BE4EBBD35A8004C48EA3" ma:contentTypeVersion="9" ma:contentTypeDescription="Create a new document." ma:contentTypeScope="" ma:versionID="9eada2b7c4bdaa665e90d0121b8e42d2">
  <xsd:schema xmlns:xsd="http://www.w3.org/2001/XMLSchema" xmlns:xs="http://www.w3.org/2001/XMLSchema" xmlns:p="http://schemas.microsoft.com/office/2006/metadata/properties" xmlns:ns2="2d6c60d3-f5d7-4053-bda5-60231931954e" xmlns:ns3="0873cd69-40f1-433c-bf93-e1d73619fdb5" targetNamespace="http://schemas.microsoft.com/office/2006/metadata/properties" ma:root="true" ma:fieldsID="993ddfcb2f17b45b1238621a2ab33d08" ns2:_="" ns3:_="">
    <xsd:import namespace="2d6c60d3-f5d7-4053-bda5-60231931954e"/>
    <xsd:import namespace="0873cd69-40f1-433c-bf93-e1d73619fd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c60d3-f5d7-4053-bda5-6023193195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73cd69-40f1-433c-bf93-e1d73619fdb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titus xmlns="http://schemas.titus.com/TitusProperties/">
  <TitusGUID xmlns="">9becc2c3-2c36-43f0-a9c1-7e62f07c4846</TitusGUID>
  <TitusMetadata xmlns="">eyJucyI6Imh0dHA6XC9cL3d3dy50aXR1cy5jb21cL25zXC9OQVJBQ1VJIiwicHJvcHMiOlt7Im4iOiJEZXNpZ25hdGlvbiIsInZhbHMiOlt7InZhbHVlIjoiTlRETkNVSSJ9XX1dfQ==</TitusMetadata>
</titu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2EC94B-890F-4F06-B798-4B4DED8D1AEE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0873cd69-40f1-433c-bf93-e1d73619fdb5"/>
    <ds:schemaRef ds:uri="2d6c60d3-f5d7-4053-bda5-60231931954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EFACC39-F032-45A3-9C45-73967BBFF6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6c60d3-f5d7-4053-bda5-60231931954e"/>
    <ds:schemaRef ds:uri="0873cd69-40f1-433c-bf93-e1d73619fd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506775-A450-4DA8-B0A8-D0F0CE449F59}">
  <ds:schemaRefs>
    <ds:schemaRef ds:uri="http://schemas.titus.com/TitusProperties/"/>
    <ds:schemaRef ds:uri=""/>
  </ds:schemaRefs>
</ds:datastoreItem>
</file>

<file path=customXml/itemProps4.xml><?xml version="1.0" encoding="utf-8"?>
<ds:datastoreItem xmlns:ds="http://schemas.openxmlformats.org/officeDocument/2006/customXml" ds:itemID="{8EE2F036-3CB6-498C-987A-D68D448BB1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138085</TotalTime>
  <Words>3310</Words>
  <Application>Microsoft Office PowerPoint</Application>
  <PresentationFormat>Widescreen</PresentationFormat>
  <Paragraphs>435</Paragraphs>
  <Slides>100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13" baseType="lpstr">
      <vt:lpstr>.AppleSystemUIFont</vt:lpstr>
      <vt:lpstr>Aptos</vt:lpstr>
      <vt:lpstr>Arial</vt:lpstr>
      <vt:lpstr>Arial Black</vt:lpstr>
      <vt:lpstr>Barlow ExtraBold</vt:lpstr>
      <vt:lpstr>Calibri</vt:lpstr>
      <vt:lpstr>Microsoft Sans Serif</vt:lpstr>
      <vt:lpstr>Segoe UI</vt:lpstr>
      <vt:lpstr>Segoe UI Light</vt:lpstr>
      <vt:lpstr>Segoe UI Semibold</vt:lpstr>
      <vt:lpstr>Times New Roman</vt:lpstr>
      <vt:lpstr>2_Office Theme</vt:lpstr>
      <vt:lpstr>think-cell Slide</vt:lpstr>
      <vt:lpstr>Chapter 1 The Basics</vt:lpstr>
      <vt:lpstr>What is MATLAB and Simulink? MATLAB and Simulink provide a unified environment for model-based development, simulation, and verification of complex engineering systems.</vt:lpstr>
      <vt:lpstr>What are some useful commands for MATLAB and Simulink?</vt:lpstr>
      <vt:lpstr>Success looks like knowing how to …</vt:lpstr>
      <vt:lpstr>simpleDemo.slx Note: Scopes are not used in Rolls Royce models. I ONLY used a scope because it was the first sink I thought of for this Chapter 1 walkthrough.</vt:lpstr>
      <vt:lpstr>How to Download the Git Repo</vt:lpstr>
      <vt:lpstr>Git Hub Training Repo</vt:lpstr>
      <vt:lpstr>How to Open MATLAB &amp; SIMULINK</vt:lpstr>
      <vt:lpstr>Open MATLAB</vt:lpstr>
      <vt:lpstr>Review the MATLAB Window Layout</vt:lpstr>
      <vt:lpstr>Navigate to training folder</vt:lpstr>
      <vt:lpstr>How to Create a new Simulink Model</vt:lpstr>
      <vt:lpstr>MATLAB Documentation (Optional Reading)</vt:lpstr>
      <vt:lpstr>Detailed Success in this section looks like knowing how to …</vt:lpstr>
      <vt:lpstr>Navigate to training folder &amp; create Simulink Model (Method 1)</vt:lpstr>
      <vt:lpstr>Navigate to training folder &amp; create Simulink Model (Method 1)</vt:lpstr>
      <vt:lpstr>Navigate to training folder &amp; create Simulink Model (Method 2)</vt:lpstr>
      <vt:lpstr>Rename Simulink File</vt:lpstr>
      <vt:lpstr>Open Simulink Model</vt:lpstr>
      <vt:lpstr>How to Use blocks (Part 1)</vt:lpstr>
      <vt:lpstr>MATLAB Documentation (Optional Reading)</vt:lpstr>
      <vt:lpstr>Detailed Success in this section looks like knowing how to …</vt:lpstr>
      <vt:lpstr>Open Library Browser (Part 1)</vt:lpstr>
      <vt:lpstr>Open Library Browser (Part 2)</vt:lpstr>
      <vt:lpstr>Open Library Browser (Part 3)</vt:lpstr>
      <vt:lpstr>Add Blocks to Simulink Model (Method 1)</vt:lpstr>
      <vt:lpstr>Add Blocks to Simulink Model (Method 2)</vt:lpstr>
      <vt:lpstr>Fit Contents to Window</vt:lpstr>
      <vt:lpstr>Rename Blocks</vt:lpstr>
      <vt:lpstr>Save Simulink Model File</vt:lpstr>
      <vt:lpstr>Connect Lines / Drag Line (Part 1)</vt:lpstr>
      <vt:lpstr>Connect Lines / Drag Line (Part 2)</vt:lpstr>
      <vt:lpstr>Connect Lines / Auto Routing</vt:lpstr>
      <vt:lpstr>Connect Lines / Drag Line / Create Inport</vt:lpstr>
      <vt:lpstr>Connect Lines / Drag Line / Create Inport</vt:lpstr>
      <vt:lpstr>Rename Signals</vt:lpstr>
      <vt:lpstr>Move Signals</vt:lpstr>
      <vt:lpstr>Clean up Window</vt:lpstr>
      <vt:lpstr>Fit Contents to Window</vt:lpstr>
      <vt:lpstr>Remove Yellow Bar</vt:lpstr>
      <vt:lpstr>Select Lines Note: Do Not Select any blocks</vt:lpstr>
      <vt:lpstr>Signal Logging (Part 1)</vt:lpstr>
      <vt:lpstr>Signal Logging (Part 2)</vt:lpstr>
      <vt:lpstr>How to Run a simulation</vt:lpstr>
      <vt:lpstr>MATLAB Documentation (Optional Reading)</vt:lpstr>
      <vt:lpstr>Detailed Success in this section looks like knowing how to …</vt:lpstr>
      <vt:lpstr>Run Simulation</vt:lpstr>
      <vt:lpstr>How to Use Data inspector</vt:lpstr>
      <vt:lpstr>MATLAB Documentation (Optional Reading)</vt:lpstr>
      <vt:lpstr>Detailed Success in this section looks like knowing how to …</vt:lpstr>
      <vt:lpstr>Open Data Inspector Note: Simulation must be run prior to opening Data inspector to observe raw values.</vt:lpstr>
      <vt:lpstr>Add 1 Signal to Chart + Stop Time Overview</vt:lpstr>
      <vt:lpstr>Edit Grid Layout</vt:lpstr>
      <vt:lpstr>Add Signal(s) to Chart</vt:lpstr>
      <vt:lpstr>How to Use blocks (Part 2)</vt:lpstr>
      <vt:lpstr>MATLAB Documentation (Optional Reading)</vt:lpstr>
      <vt:lpstr>Detailed Success in this section looks like knowing how to …</vt:lpstr>
      <vt:lpstr>Formatting Blocks – Align Left Note: both lines and blocks may be selected for this section  Note: align commands will only affect the placement of the blocks</vt:lpstr>
      <vt:lpstr>Show Property Inspector (Method 1) Note: This is my preferred method </vt:lpstr>
      <vt:lpstr>Show Property Inspector (Method 2) Note: This method will force property Inspector to activate</vt:lpstr>
      <vt:lpstr>Update Signal Attributes (P1)</vt:lpstr>
      <vt:lpstr>Update Signal Attributes (P1)</vt:lpstr>
      <vt:lpstr>Save Changes Note: The star * was removed after the save took place</vt:lpstr>
      <vt:lpstr>How to Use Model Explorer</vt:lpstr>
      <vt:lpstr>MATLAB Documentation (Optional Reading)</vt:lpstr>
      <vt:lpstr>Detailed Success in this section looks like knowing how to …</vt:lpstr>
      <vt:lpstr>Open Model Explorer</vt:lpstr>
      <vt:lpstr>Create Data Dictionary File (.sldd) Note: In later chapters I deep dive the data dictionary. For now, I will only cover high level topics.</vt:lpstr>
      <vt:lpstr>Create Data Dictionary File (.sldd)</vt:lpstr>
      <vt:lpstr>Open Design Data</vt:lpstr>
      <vt:lpstr>Create Simulink Signal</vt:lpstr>
      <vt:lpstr>Update Sig (Before Changes)</vt:lpstr>
      <vt:lpstr>Update Sig (After Changes) </vt:lpstr>
      <vt:lpstr>Save Changes made to Data Dictionary (.sldd) Note: Changes made to the data dictionary must be saved from the Model Explorer otherwise the changes will not be saved / applied.</vt:lpstr>
      <vt:lpstr>Property Inspector – Block Signal Attributes</vt:lpstr>
      <vt:lpstr>Update Signal Attributes Note: pathC.Min, pathC.Max, and pathC.DataType reference values defined in the Simulink Data Dictionary file “sampleDD.sldd”  Note: Use the submenu (⋮) to select signal attributes from the SLDD. </vt:lpstr>
      <vt:lpstr>Save Changes Note: The star * was removed after the save took place</vt:lpstr>
      <vt:lpstr>How to Use Requirements editor</vt:lpstr>
      <vt:lpstr>MATLAB Documentation (Optional Reading)</vt:lpstr>
      <vt:lpstr>Detailed Success in this section looks like knowing how to …</vt:lpstr>
      <vt:lpstr>Open Requirements Editor</vt:lpstr>
      <vt:lpstr>Create High Level Requirements (HLR) File (.slreqx)</vt:lpstr>
      <vt:lpstr>Add New Requirement Parent Requirement</vt:lpstr>
      <vt:lpstr>Update Requirement (Part 1)</vt:lpstr>
      <vt:lpstr>Update Requirement (Part 2) </vt:lpstr>
      <vt:lpstr>Add New Requirement Parent Requirement</vt:lpstr>
      <vt:lpstr>Edit Child Requirement (Part 1) </vt:lpstr>
      <vt:lpstr>Edit Child Requirement (Part 2) </vt:lpstr>
      <vt:lpstr>Link Child Requirement To Block (Part 1A)</vt:lpstr>
      <vt:lpstr>Link Child Requirement To Block (Part 2A)</vt:lpstr>
      <vt:lpstr>Link Child Requirement To Block (Part 1B)</vt:lpstr>
      <vt:lpstr>Link Child Requirement To Block (Part 2B)</vt:lpstr>
      <vt:lpstr>Save Changes Note: The star * was removed after the save took place</vt:lpstr>
      <vt:lpstr>Open Requirements Manager</vt:lpstr>
      <vt:lpstr>Observe “Requirements Manager” panels were opened</vt:lpstr>
      <vt:lpstr>PowerPoint Presentation</vt:lpstr>
      <vt:lpstr>Relaunch the add-in</vt:lpstr>
      <vt:lpstr>PowerPoint Presentation</vt:lpstr>
      <vt:lpstr>Admin Only Links</vt:lpstr>
      <vt:lpstr>PowerPoint Presentation</vt:lpstr>
    </vt:vector>
  </TitlesOfParts>
  <Company>Belcan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Aircraft Capabilities for Spirit Aerosystems Defense Group 1-15-21</dc:title>
  <dc:creator>Juraco, Devra D.</dc:creator>
  <cp:keywords/>
  <dc:description>Structural Analysis Capabilities</dc:description>
  <cp:lastModifiedBy>Tyler, Nathaniel</cp:lastModifiedBy>
  <cp:revision>2212</cp:revision>
  <cp:lastPrinted>2026-03-04T20:38:48Z</cp:lastPrinted>
  <dcterms:created xsi:type="dcterms:W3CDTF">2017-05-22T13:23:52Z</dcterms:created>
  <dcterms:modified xsi:type="dcterms:W3CDTF">2026-10-19T17:08:42Z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0x010100280BF5D2CCC9BE4EBBD35A8004C48EA3</vt:lpwstr>
  </property>
  <property fmtid="{D5CDD505-2E9C-101B-9397-08002B2CF9AE}" pid="3" name="docIndexRef">
    <vt:lpwstr>35f620e0-3dd2-4867-83d5-d9af9c72e9e3</vt:lpwstr>
  </property>
  <property fmtid="{D5CDD505-2E9C-101B-9397-08002B2CF9AE}" pid="4" name="bjDocumentSecurityLabel">
    <vt:lpwstr>No Marking</vt:lpwstr>
  </property>
  <property fmtid="{D5CDD505-2E9C-101B-9397-08002B2CF9AE}" pid="5" name="bjSaver">
    <vt:lpwstr>iVCgZez7e+NedMZW8m0dhRZDBR035PuE</vt:lpwstr>
  </property>
  <property fmtid="{D5CDD505-2E9C-101B-9397-08002B2CF9AE}" pid="6" name="Presentation">
    <vt:lpwstr>Aircraft Capabilities for Spirit Aerosystems Defense Group 1-15-21</vt:lpwstr>
  </property>
  <property fmtid="{D5CDD505-2E9C-101B-9397-08002B2CF9AE}" pid="7" name="SlideDescription">
    <vt:lpwstr>Structural Analysis Capabilities</vt:lpwstr>
  </property>
  <property fmtid="{D5CDD505-2E9C-101B-9397-08002B2CF9AE}" pid="8" name="bjClsUserRVM">
    <vt:lpwstr>[]</vt:lpwstr>
  </property>
  <property fmtid="{D5CDD505-2E9C-101B-9397-08002B2CF9AE}" pid="9" name="bjLabelHistoryID">
    <vt:lpwstr>{46014CD1-4077-46EA-8F24-7482198939F9}</vt:lpwstr>
  </property>
  <property fmtid="{D5CDD505-2E9C-101B-9397-08002B2CF9AE}" pid="10" name="TitusGUID">
    <vt:lpwstr>9becc2c3-2c36-43f0-a9c1-7e62f07c4846</vt:lpwstr>
  </property>
  <property fmtid="{D5CDD505-2E9C-101B-9397-08002B2CF9AE}" pid="11" name="TitusDesignation">
    <vt:lpwstr>NTDNCUI</vt:lpwstr>
  </property>
</Properties>
</file>