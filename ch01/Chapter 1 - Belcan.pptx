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35"/>
  </p:notesMasterIdLst>
  <p:handoutMasterIdLst>
    <p:handoutMasterId r:id="rId36"/>
  </p:handoutMasterIdLst>
  <p:sldIdLst>
    <p:sldId id="256" r:id="rId6"/>
    <p:sldId id="3628" r:id="rId7"/>
    <p:sldId id="3631" r:id="rId8"/>
    <p:sldId id="3632" r:id="rId9"/>
    <p:sldId id="3633" r:id="rId10"/>
    <p:sldId id="3640" r:id="rId11"/>
    <p:sldId id="3641" r:id="rId12"/>
    <p:sldId id="3642" r:id="rId13"/>
    <p:sldId id="3634" r:id="rId14"/>
    <p:sldId id="3643" r:id="rId15"/>
    <p:sldId id="3644" r:id="rId16"/>
    <p:sldId id="3645" r:id="rId17"/>
    <p:sldId id="3635" r:id="rId18"/>
    <p:sldId id="3646" r:id="rId19"/>
    <p:sldId id="3647" r:id="rId20"/>
    <p:sldId id="3648" r:id="rId21"/>
    <p:sldId id="3650" r:id="rId22"/>
    <p:sldId id="3651" r:id="rId23"/>
    <p:sldId id="3652" r:id="rId24"/>
    <p:sldId id="3654" r:id="rId25"/>
    <p:sldId id="3657" r:id="rId26"/>
    <p:sldId id="3636" r:id="rId27"/>
    <p:sldId id="3637" r:id="rId28"/>
    <p:sldId id="3638" r:id="rId29"/>
    <p:sldId id="3639" r:id="rId30"/>
    <p:sldId id="3626" r:id="rId31"/>
    <p:sldId id="3625" r:id="rId32"/>
    <p:sldId id="3567" r:id="rId33"/>
    <p:sldId id="3582" r:id="rId34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628"/>
          </p14:sldIdLst>
        </p14:section>
        <p14:section name="What does success look like?" id="{2184ACB6-BC5A-45A7-AA08-0CFF90079FF3}">
          <p14:sldIdLst>
            <p14:sldId id="3631"/>
          </p14:sldIdLst>
        </p14:section>
        <p14:section name="Final Model(s)" id="{DD7E7087-D4C1-49C4-90BA-FD121933CBC3}">
          <p14:sldIdLst>
            <p14:sldId id="3632"/>
          </p14:sldIdLst>
        </p14:section>
        <p14:section name="How to Open MATLAB &amp; SIMULINK" id="{C8DF2CCC-DF37-4452-A9BD-12549E5D36D1}">
          <p14:sldIdLst>
            <p14:sldId id="3633"/>
            <p14:sldId id="3640"/>
            <p14:sldId id="3641"/>
            <p14:sldId id="3642"/>
          </p14:sldIdLst>
        </p14:section>
        <p14:section name="How to Create a new Simulink Model" id="{82C3D226-D794-4489-92A1-E620DEDFB2A5}">
          <p14:sldIdLst>
            <p14:sldId id="3634"/>
            <p14:sldId id="3643"/>
            <p14:sldId id="3644"/>
            <p14:sldId id="3645"/>
          </p14:sldIdLst>
        </p14:section>
        <p14:section name="How to Use blocks" id="{000E4B64-D857-4ECD-81C8-90C1508B930D}">
          <p14:sldIdLst>
            <p14:sldId id="3635"/>
            <p14:sldId id="3646"/>
            <p14:sldId id="3647"/>
            <p14:sldId id="3648"/>
            <p14:sldId id="3650"/>
            <p14:sldId id="3651"/>
            <p14:sldId id="3652"/>
            <p14:sldId id="3654"/>
            <p14:sldId id="3657"/>
          </p14:sldIdLst>
        </p14:section>
        <p14:section name="How to Run a simulation" id="{3F1A5FEB-EFB7-4B88-A875-0798919095F3}">
          <p14:sldIdLst>
            <p14:sldId id="3636"/>
          </p14:sldIdLst>
        </p14:section>
        <p14:section name="How to Use Data inspector" id="{62385923-6401-41CB-84E6-D309E1EB289F}">
          <p14:sldIdLst>
            <p14:sldId id="3637"/>
          </p14:sldIdLst>
        </p14:section>
        <p14:section name="How to Use Model Explorer" id="{84EACC95-D6FF-4E20-90C5-FE2F477BB695}">
          <p14:sldIdLst>
            <p14:sldId id="3638"/>
          </p14:sldIdLst>
        </p14:section>
        <p14:section name="How to Use Requirements editor" id="{04F53C19-E036-40F5-A4EF-E2AEF7972486}">
          <p14:sldIdLst>
            <p14:sldId id="3639"/>
            <p14:sldId id="3626"/>
            <p14:sldId id="3625"/>
            <p14:sldId id="3567"/>
            <p14:sldId id="35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54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theme" Target="theme/theme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ED21D-21EF-7E6D-5B72-0560D6AF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A173E-2807-4794-7F23-EF60F539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702A5-FC84-A5F6-B60C-2DF5CCC5D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2D3525D-9FC3-483D-45F9-81BAD2AEE419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917A-7EE9-EF91-DB3F-4574ACA166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B1F2F-FE3A-2B46-3567-35A4C2CCC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2831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85639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8.xml"/><Relationship Id="rId7" Type="http://schemas.openxmlformats.org/officeDocument/2006/relationships/image" Target="../media/image2.em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9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360" imgH="360" progId="TCLayout.ActiveDocument.1">
                  <p:embed/>
                </p:oleObj>
              </mc:Choice>
              <mc:Fallback>
                <p:oleObj name="think-cell Slide" r:id="rId1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794" r:id="rId3"/>
    <p:sldLayoutId id="2147484795" r:id="rId4"/>
    <p:sldLayoutId id="2147484796" r:id="rId5"/>
    <p:sldLayoutId id="2147484798" r:id="rId6"/>
    <p:sldLayoutId id="2147484800" r:id="rId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E62CD-A924-D5BC-DA59-150364047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9FB752-1763-93D5-228F-EEC9C9997F5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is MATLAB and Simulink?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D141CB-8FCA-D812-4969-CD2764BC26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What is MATLAB and Simulink?</a:t>
            </a:r>
            <a:br>
              <a:rPr lang="en-US" sz="21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b="0" i="1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589D463-8449-016D-2E65-1AA063023CF2}"/>
              </a:ext>
            </a:extLst>
          </p:cNvPr>
          <p:cNvSpPr txBox="1">
            <a:spLocks/>
          </p:cNvSpPr>
          <p:nvPr/>
        </p:nvSpPr>
        <p:spPr>
          <a:xfrm>
            <a:off x="839788" y="1992254"/>
            <a:ext cx="5157787" cy="369332"/>
          </a:xfr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MATLAB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A56A49-BF59-B749-4A18-293A0E3D768C}"/>
              </a:ext>
            </a:extLst>
          </p:cNvPr>
          <p:cNvSpPr txBox="1">
            <a:spLocks/>
          </p:cNvSpPr>
          <p:nvPr/>
        </p:nvSpPr>
        <p:spPr>
          <a:xfrm>
            <a:off x="6172200" y="1992254"/>
            <a:ext cx="5183188" cy="369332"/>
          </a:xfr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Simulink</a:t>
            </a:r>
          </a:p>
        </p:txBody>
      </p:sp>
      <p:pic>
        <p:nvPicPr>
          <p:cNvPr id="8" name="Content Placeholder 9">
            <a:extLst>
              <a:ext uri="{FF2B5EF4-FFF2-40B4-BE49-F238E27FC236}">
                <a16:creationId xmlns:a16="http://schemas.microsoft.com/office/drawing/2014/main" id="{78655114-1A25-EB6E-7E81-5C8BFD242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88" y="3195299"/>
            <a:ext cx="5157787" cy="3218244"/>
          </a:xfrm>
          <a:prstGeom prst="rect">
            <a:avLst/>
          </a:prstGeom>
        </p:spPr>
      </p:pic>
      <p:pic>
        <p:nvPicPr>
          <p:cNvPr id="9" name="Picture 8" descr="MATLAB Logo, symbol, meaning, history, PNG, brand">
            <a:extLst>
              <a:ext uri="{FF2B5EF4-FFF2-40B4-BE49-F238E27FC236}">
                <a16:creationId xmlns:a16="http://schemas.microsoft.com/office/drawing/2014/main" id="{8D4DDF90-6388-C1EF-C402-CB15E36783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097" r="65520" b="27886"/>
          <a:stretch>
            <a:fillRect/>
          </a:stretch>
        </p:blipFill>
        <p:spPr>
          <a:xfrm>
            <a:off x="2287815" y="1839021"/>
            <a:ext cx="779850" cy="572729"/>
          </a:xfrm>
          <a:prstGeom prst="rect">
            <a:avLst/>
          </a:prstGeom>
        </p:spPr>
      </p:pic>
      <p:pic>
        <p:nvPicPr>
          <p:cNvPr id="11" name="Picture 10" descr="Logotipo De Simulink De Matlab MATLAB® And Simulink® | Microchip">
            <a:extLst>
              <a:ext uri="{FF2B5EF4-FFF2-40B4-BE49-F238E27FC236}">
                <a16:creationId xmlns:a16="http://schemas.microsoft.com/office/drawing/2014/main" id="{EC3FC2F0-0943-0DFE-F6CA-79EC70675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664" y="1866697"/>
            <a:ext cx="525259" cy="5252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529F6E-9268-30B6-2456-B8B453CD23F6}"/>
              </a:ext>
            </a:extLst>
          </p:cNvPr>
          <p:cNvSpPr txBox="1"/>
          <p:nvPr/>
        </p:nvSpPr>
        <p:spPr>
          <a:xfrm>
            <a:off x="6172200" y="2420888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Graphical modeling and simulation of dynamic systems.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EBD052-9C8C-D19B-7EA6-20AFDD901847}"/>
              </a:ext>
            </a:extLst>
          </p:cNvPr>
          <p:cNvSpPr txBox="1"/>
          <p:nvPr/>
        </p:nvSpPr>
        <p:spPr>
          <a:xfrm>
            <a:off x="839788" y="2420888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computing, analysis, and algorithm development.</a:t>
            </a:r>
          </a:p>
        </p:txBody>
      </p:sp>
      <p:pic>
        <p:nvPicPr>
          <p:cNvPr id="14" name="Content Placeholder 11">
            <a:extLst>
              <a:ext uri="{FF2B5EF4-FFF2-40B4-BE49-F238E27FC236}">
                <a16:creationId xmlns:a16="http://schemas.microsoft.com/office/drawing/2014/main" id="{6E6E7B14-B25C-A7EC-F416-D7F565330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195299"/>
            <a:ext cx="5987432" cy="321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896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04B2E-4295-3478-AD48-D4CAD1D2D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313CD5-D119-CC16-E8F4-FF12AC3EB99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EB54A0-F271-C250-EA99-C3135011174D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Open MATLAB &amp; SIMULINK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Create a new Simulink Model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blocks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Run a simulation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Model Explorer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0C679F78-73FB-AB93-7A81-46381BF375E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Success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575760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97AB5-A5D4-3944-0F7D-C85DD1D46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A4E279-D21E-F0CF-6F4E-5EDBA1D4ED8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Final Model(s)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D535CB43-462B-508E-D728-E34C163B190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7A09FCA9-ED12-9807-290C-BC0C63D5F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44" y="1815793"/>
            <a:ext cx="80955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673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C53D0-4FBD-B36F-C004-E1787F85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64C7E8-4A6B-AAEB-FBB6-2D79D11796F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6D197DC7-0F06-7AAB-B469-F83EE5911FA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MATLAB</a:t>
            </a: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C80C3C2-02B5-DA99-33EC-289ACEFC5B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576" y="3243951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866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9EF8-636C-4CAF-F65E-9AF03140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1DA2C2-5F82-34DB-D47B-FBE23CD76BCF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C34F7BC0-64DE-976C-A707-103AD80B70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Review the MATLAB Window Layout</a:t>
            </a: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90B884E6-7808-5B5C-CA23-8DCB2A30C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576" y="3243951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231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00D5-9A5A-76D4-BA0B-BD1B8DEF6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4">
            <a:extLst>
              <a:ext uri="{FF2B5EF4-FFF2-40B4-BE49-F238E27FC236}">
                <a16:creationId xmlns:a16="http://schemas.microsoft.com/office/drawing/2014/main" id="{B8CFFBC4-0B5F-0238-F7ED-DD8B8CB1B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839788" y="2582556"/>
            <a:ext cx="5157787" cy="3096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B45F4EC-DA9A-3328-622F-0FAE00B1D72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4E1001-1584-6807-5B3F-3D6CF604977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Navigate to training folder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64DF38-FE80-6524-8A1B-5CBCD13A55D6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Navigate to Chapter 1 folder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3A3146-0F3B-E712-2ED5-941608DE96A4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Navigate to training folder</a:t>
            </a:r>
          </a:p>
        </p:txBody>
      </p:sp>
      <p:pic>
        <p:nvPicPr>
          <p:cNvPr id="3" name="Content Placeholder 13">
            <a:extLst>
              <a:ext uri="{FF2B5EF4-FFF2-40B4-BE49-F238E27FC236}">
                <a16:creationId xmlns:a16="http://schemas.microsoft.com/office/drawing/2014/main" id="{DD768DE8-0749-81F6-121F-09496A2A47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096000" y="2582556"/>
            <a:ext cx="5183188" cy="296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52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A03E9-A88C-BB1D-75DB-3B44A6A2F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C786F9-09BE-EFD8-32F5-2E7FA20A5D71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D1F6C991-6AEE-5FC6-2009-F4DEB0A2238B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Navigate to training folder &amp; create Simulink Model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44FBDD96-9C1E-0F94-653F-2BC0980A8F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200458" y="1825625"/>
            <a:ext cx="779108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126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913E2-DD61-05C8-3AA2-2D168C162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14">
            <a:extLst>
              <a:ext uri="{FF2B5EF4-FFF2-40B4-BE49-F238E27FC236}">
                <a16:creationId xmlns:a16="http://schemas.microsoft.com/office/drawing/2014/main" id="{3A08736A-7D47-0596-839D-1E01C96673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096000" y="2582556"/>
            <a:ext cx="5183188" cy="3170114"/>
          </a:xfrm>
          <a:prstGeom prst="rect">
            <a:avLst/>
          </a:prstGeom>
        </p:spPr>
      </p:pic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0876F7C8-834E-FAA9-2257-D9C872CE76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839788" y="2629566"/>
            <a:ext cx="5157787" cy="3435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8CB322-5B34-F9F9-DBFB-D83DE915971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00A42B-31D3-AC19-8D33-C7F85C8C03C5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Simulink File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F27C5-5353-9989-556A-84FEA15EEA5C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1B84A3-9271-6043-3389-47F73AC89625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Right click new file</a:t>
            </a:r>
          </a:p>
        </p:txBody>
      </p:sp>
    </p:spTree>
    <p:extLst>
      <p:ext uri="{BB962C8B-B14F-4D97-AF65-F5344CB8AC3E}">
        <p14:creationId xmlns:p14="http://schemas.microsoft.com/office/powerpoint/2010/main" val="25631570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ACA5-37C6-C9B0-99BC-AB5DF0ED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876321-6A34-A610-3DFA-B18E86863DD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7C2A0B45-8E7D-5D8E-8327-E9D8C95C9B8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Simulink Model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B149CBB3-0BBC-CAE7-DAD7-2ED8EFA828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942671" y="1825625"/>
            <a:ext cx="83066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041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EFED5-83BC-A155-523D-913EE098B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11">
            <a:extLst>
              <a:ext uri="{FF2B5EF4-FFF2-40B4-BE49-F238E27FC236}">
                <a16:creationId xmlns:a16="http://schemas.microsoft.com/office/drawing/2014/main" id="{DF491675-074E-645D-B7A0-44B949A76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839788" y="2610389"/>
            <a:ext cx="5157787" cy="34739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58205A1-9992-0CB4-5F12-6D5F9BCFC7A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390349-D6E7-C020-1F52-03E244E12BD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1)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81EED9-F0E1-C875-88A0-81DEEFA83163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3BB10-E127-78D4-BD28-01C5D0FA36A6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Library Browser</a:t>
            </a:r>
          </a:p>
        </p:txBody>
      </p:sp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7BCED9DC-FFB4-E772-140C-C298D1232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096000" y="2582556"/>
            <a:ext cx="4430813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02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972FE-AFC5-4321-CA64-F554920DC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14">
            <a:extLst>
              <a:ext uri="{FF2B5EF4-FFF2-40B4-BE49-F238E27FC236}">
                <a16:creationId xmlns:a16="http://schemas.microsoft.com/office/drawing/2014/main" id="{6102F780-A36B-AEA4-851A-84734384DF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737" t="32614" r="10967" b="7647"/>
          <a:stretch>
            <a:fillRect/>
          </a:stretch>
        </p:blipFill>
        <p:spPr>
          <a:xfrm>
            <a:off x="6134493" y="2620686"/>
            <a:ext cx="5183188" cy="36742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7CAC930-9B4C-ADC9-74B2-3B6F13AD39D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F33B6F-6A0D-5C68-6029-414B3480C304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2)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CA13CB-8F99-5999-94A1-D7656C7DB0B1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FE893E-C0A3-25AF-6D4D-9A046BCE5DF4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Click Icon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4401BFD6-3D40-4475-96A8-B479E284DE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30" t="21125" r="42413" b="46364"/>
          <a:stretch>
            <a:fillRect/>
          </a:stretch>
        </p:blipFill>
        <p:spPr>
          <a:xfrm>
            <a:off x="839787" y="2610389"/>
            <a:ext cx="5157787" cy="254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13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228C5-5A4A-0F1D-10B2-9B9D0512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EABA8152-C163-118D-3E9A-792BD25C6D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839788" y="2591473"/>
            <a:ext cx="5157787" cy="35117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1B1E27-B819-746C-EC55-F556BA12DA2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FA8130E-2AFF-DAED-148E-11A7BCBA708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3)</a:t>
            </a:r>
            <a:endParaRPr lang="en-US" sz="1600" b="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B6370F-DDEB-489B-9552-EB7F572A121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5. Review Common Blocks</a:t>
            </a:r>
          </a:p>
        </p:txBody>
      </p:sp>
    </p:spTree>
    <p:extLst>
      <p:ext uri="{BB962C8B-B14F-4D97-AF65-F5344CB8AC3E}">
        <p14:creationId xmlns:p14="http://schemas.microsoft.com/office/powerpoint/2010/main" val="3596953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75A8C-D972-689D-1642-874B83DDF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0">
            <a:extLst>
              <a:ext uri="{FF2B5EF4-FFF2-40B4-BE49-F238E27FC236}">
                <a16:creationId xmlns:a16="http://schemas.microsoft.com/office/drawing/2014/main" id="{FFD636E9-31C3-1389-00AB-4D991EC659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839787" y="2610389"/>
            <a:ext cx="5132295" cy="36845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1DF0A6D-CC6B-270F-861E-2672D978713A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A2CA7A-19A2-C8F5-48B6-E12E2ADEA4F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Blocks to Simulink Model (Method 1)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18B99A-D17F-FDBA-C645-9A0B274DC86E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030777-70AD-89C7-AF1C-A68EA0F2D55C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Drag Blocks from Library to Simulink model window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E0E51410-5063-0792-97AE-2216C07FB5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134493" y="2610389"/>
            <a:ext cx="4057840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377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E741B-DA75-BEAE-43FA-E74CB2B8C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079677-C762-C00E-2830-A995268950A8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30F7556-EB38-462E-89B4-40B016253C9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Blocks to Simulink Model (Method 2)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C4AF4D-FA36-AE61-662E-6B1AD8CC9B78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DC2579-AC88-D429-E5E1-C54D5BDE9670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Double Click on Empty Space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2D7B56-A81B-1416-F85E-97E111444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170483" y="2608032"/>
            <a:ext cx="3770722" cy="37548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B8AA5D-E61B-894B-2EA5-A96724686B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192570" y="2608032"/>
            <a:ext cx="3883844" cy="375482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162FD5F-764A-D7D4-0FE5-7E40A43839F2}"/>
              </a:ext>
            </a:extLst>
          </p:cNvPr>
          <p:cNvSpPr txBox="1"/>
          <p:nvPr/>
        </p:nvSpPr>
        <p:spPr>
          <a:xfrm>
            <a:off x="8175379" y="1805788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6540618-A2DD-8FB4-2A68-F058229EA6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137672" y="2608032"/>
            <a:ext cx="3883844" cy="18288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A1EA5BF4-3366-D553-555F-68866DF2EEA4}"/>
              </a:ext>
            </a:extLst>
          </p:cNvPr>
          <p:cNvSpPr/>
          <p:nvPr/>
        </p:nvSpPr>
        <p:spPr>
          <a:xfrm>
            <a:off x="8606672" y="3978111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25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0A2F7-74B0-396F-45DC-E782BF40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21582F82-2B72-B5A1-67A8-740A4250E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839786" y="2582555"/>
            <a:ext cx="3940405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F1BDB1-0B89-FDB2-D271-D516CAB019F1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BAC2B7-DE47-4107-4079-90778C0F6F5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Fit Contents to Window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C6AF6-0CC4-DFA2-D8F6-392727749B8B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92009-BE56-F3DE-CC46-CC5A9BDC5F8D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Simulink Model and press space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9AC7A6B-C8CE-DE60-DD58-B0C1DA56BE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6096000" y="2582556"/>
            <a:ext cx="3695308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624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B85DA-73BB-6304-AF3C-98C3B6886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C702DB-F0AA-6BAB-379D-C5149C9AF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190907" y="2608032"/>
            <a:ext cx="3940405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FFF30C-04DC-0344-9C3E-085FF4E50EF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DE34C2-CEC5-3ECD-4184-ACF10C9B45D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Blocks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7AA9F6-AE57-4776-6607-24078FEB96B1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Rename Block and then press enter or click off the block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EA4C5E-EABA-71E1-163F-94C18AFCC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192570" y="2608032"/>
            <a:ext cx="3940405" cy="388384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0468B3-717C-3493-D31B-545736F576D2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2859F8-D17E-297F-192F-030959A30670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90398B-EABD-D510-DF1E-73DED2BB23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161256" y="2608032"/>
            <a:ext cx="3940406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51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F2ECD-6BE3-5E7A-DBA5-C91C619A8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FE233-5A76-F861-9C10-171AD6ED4634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FC361C-F3CE-62DE-7E19-C48EFFBB7A3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Save Simulink Model File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605F21-6F19-445B-CBA5-CF893A20E2F2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Press Save (ctrl + 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5EBC97-0E8F-4A56-3385-3CC3CAD80D7A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B6807C-F615-9180-58BD-E931918ACEFB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99B5F7-AC88-7F38-A9DB-CA79A207AA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190907" y="2608032"/>
            <a:ext cx="3940405" cy="23920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1DFFDC-0565-1775-4A08-97AB62563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493" y="2608032"/>
            <a:ext cx="3733014" cy="19108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208D0D-1F32-C0EB-7E7B-6D8F9DE118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161256" y="2608032"/>
            <a:ext cx="3977309" cy="12066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1111B1-4EA1-FBB1-CC77-ECFDB6208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190907" y="5302516"/>
            <a:ext cx="3564511" cy="8897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DB43FFA-EEC2-362A-1F23-0D629D473F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493" y="5302516"/>
            <a:ext cx="3564511" cy="889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8464DEE-93A0-9917-D484-BE70AE2EE7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76415" y="5300759"/>
            <a:ext cx="3763650" cy="639447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0C5BB27-CF0F-B340-A315-5D220C695EA6}"/>
              </a:ext>
            </a:extLst>
          </p:cNvPr>
          <p:cNvCxnSpPr>
            <a:cxnSpLocks/>
          </p:cNvCxnSpPr>
          <p:nvPr/>
        </p:nvCxnSpPr>
        <p:spPr>
          <a:xfrm>
            <a:off x="1715678" y="4911365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CE75EE4-75FB-49B6-5096-4184D760F88E}"/>
              </a:ext>
            </a:extLst>
          </p:cNvPr>
          <p:cNvCxnSpPr>
            <a:cxnSpLocks/>
          </p:cNvCxnSpPr>
          <p:nvPr/>
        </p:nvCxnSpPr>
        <p:spPr>
          <a:xfrm>
            <a:off x="1715678" y="4911365"/>
            <a:ext cx="5071621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39049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5548-FEEA-2086-399A-428AB7BD8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4BA837-3DD9-FAEF-B923-6FBB6C8D95D0}"/>
              </a:ext>
            </a:extLst>
          </p:cNvPr>
          <p:cNvSpPr/>
          <p:nvPr/>
        </p:nvSpPr>
        <p:spPr>
          <a:xfrm>
            <a:off x="152400" y="1038225"/>
            <a:ext cx="4962525" cy="52197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900-F523-9E97-6149-55392B7E1565}"/>
              </a:ext>
            </a:extLst>
          </p:cNvPr>
          <p:cNvSpPr txBox="1"/>
          <p:nvPr/>
        </p:nvSpPr>
        <p:spPr>
          <a:xfrm>
            <a:off x="8392249" y="207390"/>
            <a:ext cx="3447815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Problem to Solve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F7601-BA2A-880D-C704-363CC3A88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36" y="1555981"/>
            <a:ext cx="4313686" cy="15313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161B12-EF82-C9F1-1F7D-46DC7AB91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79" y="3187588"/>
            <a:ext cx="4313686" cy="2027094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9B1D5D-777C-3B27-DCA3-0CB11691EDDA}"/>
              </a:ext>
            </a:extLst>
          </p:cNvPr>
          <p:cNvSpPr/>
          <p:nvPr/>
        </p:nvSpPr>
        <p:spPr>
          <a:xfrm>
            <a:off x="7082673" y="1038225"/>
            <a:ext cx="4962525" cy="52197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6C44C2-9FD0-E25E-3B4D-9FF660A2C19D}"/>
              </a:ext>
            </a:extLst>
          </p:cNvPr>
          <p:cNvSpPr/>
          <p:nvPr/>
        </p:nvSpPr>
        <p:spPr>
          <a:xfrm>
            <a:off x="7315200" y="1391933"/>
            <a:ext cx="4524864" cy="57987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is the “Next Big Thing”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8B69E25-A407-4B60-0EB8-5340BA41D391}"/>
              </a:ext>
            </a:extLst>
          </p:cNvPr>
          <p:cNvSpPr/>
          <p:nvPr/>
        </p:nvSpPr>
        <p:spPr>
          <a:xfrm>
            <a:off x="8392514" y="2581283"/>
            <a:ext cx="3105311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Today is </a:t>
            </a:r>
          </a:p>
          <a:p>
            <a:pPr algn="ctr"/>
            <a:endParaRPr lang="en-US" sz="1200" b="1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Mireina</a:t>
            </a:r>
            <a:r>
              <a:rPr lang="en-US" sz="1200" dirty="0">
                <a:solidFill>
                  <a:schemeClr val="tx1"/>
                </a:solidFill>
              </a:rPr>
              <a:t> Keith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Richard Dalton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Nate Tyler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Linda Herman</a:t>
            </a:r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877C5770-DD2A-9583-C9A7-838D7B6A98DB}"/>
              </a:ext>
            </a:extLst>
          </p:cNvPr>
          <p:cNvSpPr/>
          <p:nvPr/>
        </p:nvSpPr>
        <p:spPr>
          <a:xfrm rot="5400000">
            <a:off x="2738889" y="3035909"/>
            <a:ext cx="5044393" cy="1216152"/>
          </a:xfrm>
          <a:prstGeom prst="trapezoid">
            <a:avLst>
              <a:gd name="adj" fmla="val 109489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Notched Right 13">
            <a:extLst>
              <a:ext uri="{FF2B5EF4-FFF2-40B4-BE49-F238E27FC236}">
                <a16:creationId xmlns:a16="http://schemas.microsoft.com/office/drawing/2014/main" id="{BD311A8A-C8AF-D8D2-75AC-3656CC11366E}"/>
              </a:ext>
            </a:extLst>
          </p:cNvPr>
          <p:cNvSpPr/>
          <p:nvPr/>
        </p:nvSpPr>
        <p:spPr>
          <a:xfrm>
            <a:off x="4845376" y="3255169"/>
            <a:ext cx="901236" cy="758778"/>
          </a:xfrm>
          <a:prstGeom prst="notch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2C14EE-64C9-845B-8154-8B138BF09042}"/>
              </a:ext>
            </a:extLst>
          </p:cNvPr>
          <p:cNvSpPr txBox="1"/>
          <p:nvPr/>
        </p:nvSpPr>
        <p:spPr>
          <a:xfrm>
            <a:off x="6036583" y="2997652"/>
            <a:ext cx="897232" cy="129266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b="1" u="sng" dirty="0"/>
              <a:t>OBJECTIVE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Allow </a:t>
            </a:r>
          </a:p>
          <a:p>
            <a:pPr algn="ctr"/>
            <a:r>
              <a:rPr lang="en-US" sz="1200" dirty="0"/>
              <a:t>F130 Team </a:t>
            </a:r>
          </a:p>
          <a:p>
            <a:pPr algn="ctr"/>
            <a:r>
              <a:rPr lang="en-US" sz="1200" dirty="0"/>
              <a:t>Members to</a:t>
            </a:r>
          </a:p>
          <a:p>
            <a:pPr algn="ctr"/>
            <a:r>
              <a:rPr lang="en-US" sz="1200" dirty="0"/>
              <a:t>Roll</a:t>
            </a:r>
          </a:p>
          <a:p>
            <a:pPr algn="ctr"/>
            <a:r>
              <a:rPr lang="en-US" sz="1200" dirty="0"/>
              <a:t>Onto </a:t>
            </a:r>
            <a:r>
              <a:rPr lang="en-US" sz="1200" dirty="0" err="1"/>
              <a:t>ACaMS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606B8-A21A-A1F5-2682-E5551518BAFC}"/>
              </a:ext>
            </a:extLst>
          </p:cNvPr>
          <p:cNvSpPr txBox="1"/>
          <p:nvPr/>
        </p:nvSpPr>
        <p:spPr>
          <a:xfrm>
            <a:off x="408378" y="5354035"/>
            <a:ext cx="4471545" cy="83099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/>
              <a:t>Roughly 70 People Assigned to F130 Today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Work Backlog Runs Thru Q4 2027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1D78C02-749F-62BE-324B-8DCE58A9586F}"/>
              </a:ext>
            </a:extLst>
          </p:cNvPr>
          <p:cNvSpPr/>
          <p:nvPr/>
        </p:nvSpPr>
        <p:spPr>
          <a:xfrm>
            <a:off x="7315200" y="4442246"/>
            <a:ext cx="4524864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7030A0"/>
                </a:solidFill>
              </a:rPr>
              <a:t>PROBLEM TO SOLVE</a:t>
            </a:r>
          </a:p>
          <a:p>
            <a:pPr algn="ctr"/>
            <a:endParaRPr lang="en-US" sz="1200" b="1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How can we enable RR </a:t>
            </a:r>
            <a:r>
              <a:rPr lang="en-US" sz="1200" dirty="0" err="1">
                <a:solidFill>
                  <a:srgbClr val="7030A0"/>
                </a:solidFill>
              </a:rPr>
              <a:t>ACaMS</a:t>
            </a:r>
            <a:r>
              <a:rPr lang="en-US" sz="1200" dirty="0">
                <a:solidFill>
                  <a:srgbClr val="7030A0"/>
                </a:solidFill>
              </a:rPr>
              <a:t> to adopt the F130 team members at the right time – in software and/or systems?</a:t>
            </a:r>
          </a:p>
          <a:p>
            <a:pPr algn="ctr"/>
            <a:endParaRPr lang="en-US" sz="1200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Aka – SW Tools Gap Closure Plan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C11552-7E03-C3D6-0B9A-1DEF946FD24D}"/>
              </a:ext>
            </a:extLst>
          </p:cNvPr>
          <p:cNvSpPr txBox="1"/>
          <p:nvPr/>
        </p:nvSpPr>
        <p:spPr>
          <a:xfrm>
            <a:off x="7194185" y="2659098"/>
            <a:ext cx="1040349" cy="16004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FF0000"/>
                </a:highlight>
              </a:rPr>
              <a:t>Big Gap:</a:t>
            </a:r>
          </a:p>
          <a:p>
            <a:pPr algn="ctr"/>
            <a:endParaRPr lang="en-US" sz="16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Application SW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MBD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Simulink</a:t>
            </a:r>
          </a:p>
          <a:p>
            <a:pPr algn="ctr"/>
            <a:endParaRPr lang="en-US" sz="12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Systems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CAMEO </a:t>
            </a:r>
          </a:p>
        </p:txBody>
      </p:sp>
    </p:spTree>
    <p:extLst>
      <p:ext uri="{BB962C8B-B14F-4D97-AF65-F5344CB8AC3E}">
        <p14:creationId xmlns:p14="http://schemas.microsoft.com/office/powerpoint/2010/main" val="39408372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B3608-4B31-01F8-0EB2-14F7E7386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7BD952-6A55-F1D4-FA9D-95E230E8B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Scenario in 2027….</a:t>
            </a:r>
          </a:p>
          <a:p>
            <a:r>
              <a:rPr lang="en-US" dirty="0"/>
              <a:t>Problem:  Many F130 people don’t have the Simulink pedigree desired by </a:t>
            </a:r>
            <a:r>
              <a:rPr lang="en-US" dirty="0" err="1"/>
              <a:t>ACaMS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B59279D-8340-6C0A-6C00-34C7271D851B}"/>
              </a:ext>
            </a:extLst>
          </p:cNvPr>
          <p:cNvSpPr/>
          <p:nvPr/>
        </p:nvSpPr>
        <p:spPr>
          <a:xfrm>
            <a:off x="3041715" y="1611380"/>
            <a:ext cx="6108569" cy="4204355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</p:spTree>
    <p:extLst>
      <p:ext uri="{BB962C8B-B14F-4D97-AF65-F5344CB8AC3E}">
        <p14:creationId xmlns:p14="http://schemas.microsoft.com/office/powerpoint/2010/main" val="5608158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BD21A-82E6-D5A6-138A-78D750F03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08915" y="158812"/>
            <a:ext cx="10043158" cy="368300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Welcome to Q3/Q4 2026</a:t>
            </a:r>
          </a:p>
          <a:p>
            <a:r>
              <a:rPr lang="en-US" dirty="0">
                <a:sym typeface="Wingdings" panose="05000000000000000000" pitchFamily="2" charset="2"/>
              </a:rPr>
              <a:t>We have two months to mitigate – can we productively do anything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F596F-04F3-9EAD-7F15-7B902D601691}"/>
              </a:ext>
            </a:extLst>
          </p:cNvPr>
          <p:cNvSpPr/>
          <p:nvPr/>
        </p:nvSpPr>
        <p:spPr>
          <a:xfrm>
            <a:off x="8135174" y="1648827"/>
            <a:ext cx="3933219" cy="3683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November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328566-E34C-DCC7-DD12-D2813765EDCC}"/>
              </a:ext>
            </a:extLst>
          </p:cNvPr>
          <p:cNvSpPr/>
          <p:nvPr/>
        </p:nvSpPr>
        <p:spPr>
          <a:xfrm>
            <a:off x="98981" y="1646750"/>
            <a:ext cx="3933219" cy="3683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September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22D2DC-13AA-25D6-CB19-22A21CD04E32}"/>
              </a:ext>
            </a:extLst>
          </p:cNvPr>
          <p:cNvSpPr/>
          <p:nvPr/>
        </p:nvSpPr>
        <p:spPr>
          <a:xfrm>
            <a:off x="4093968" y="1645206"/>
            <a:ext cx="3933219" cy="36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October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E954298-1979-2750-A392-559E9E2146CE}"/>
              </a:ext>
            </a:extLst>
          </p:cNvPr>
          <p:cNvCxnSpPr>
            <a:cxnSpLocks/>
          </p:cNvCxnSpPr>
          <p:nvPr/>
        </p:nvCxnSpPr>
        <p:spPr>
          <a:xfrm>
            <a:off x="55689" y="1667583"/>
            <a:ext cx="0" cy="449678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BC35EE-E2E8-B972-BCAC-6C63030F5F95}"/>
              </a:ext>
            </a:extLst>
          </p:cNvPr>
          <p:cNvCxnSpPr>
            <a:cxnSpLocks/>
          </p:cNvCxnSpPr>
          <p:nvPr/>
        </p:nvCxnSpPr>
        <p:spPr>
          <a:xfrm>
            <a:off x="4055986" y="1677108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E53E6892-B84D-8AE4-2146-CC5C460A55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716" y="870469"/>
            <a:ext cx="412927" cy="7054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A6BF91-5A15-5BE8-C964-D40D1725B0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479" y="1541808"/>
            <a:ext cx="851144" cy="5951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413277-635B-5B8C-686C-FD5F03949E12}"/>
              </a:ext>
            </a:extLst>
          </p:cNvPr>
          <p:cNvSpPr txBox="1"/>
          <p:nvPr/>
        </p:nvSpPr>
        <p:spPr>
          <a:xfrm>
            <a:off x="131964" y="3488857"/>
            <a:ext cx="1948077" cy="22159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/>
              <a:t>Nate Tyler</a:t>
            </a:r>
          </a:p>
          <a:p>
            <a:r>
              <a:rPr lang="en-US" sz="1600" dirty="0"/>
              <a:t>Andrew Williamson</a:t>
            </a:r>
          </a:p>
          <a:p>
            <a:r>
              <a:rPr lang="en-US" sz="1600" dirty="0"/>
              <a:t>Alex Johnson (PT)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 err="1"/>
              <a:t>Mireina</a:t>
            </a:r>
            <a:r>
              <a:rPr lang="en-US" sz="1600" dirty="0"/>
              <a:t> Keith</a:t>
            </a:r>
          </a:p>
          <a:p>
            <a:r>
              <a:rPr lang="en-US" sz="1600" dirty="0"/>
              <a:t>Linda Herman</a:t>
            </a:r>
          </a:p>
          <a:p>
            <a:r>
              <a:rPr lang="en-US" sz="1600" dirty="0"/>
              <a:t>Dominic Basciano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072B832-A579-32D0-1D3B-8C4FA8E0F4BB}"/>
              </a:ext>
            </a:extLst>
          </p:cNvPr>
          <p:cNvSpPr/>
          <p:nvPr/>
        </p:nvSpPr>
        <p:spPr>
          <a:xfrm>
            <a:off x="117972" y="2818863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can get the solution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1FE2EED-5CD0-A680-E8F5-73B8E907084B}"/>
              </a:ext>
            </a:extLst>
          </p:cNvPr>
          <p:cNvSpPr/>
          <p:nvPr/>
        </p:nvSpPr>
        <p:spPr>
          <a:xfrm>
            <a:off x="119542" y="4291016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be “users group”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D776DF7-9CBB-F3CE-7BF8-09DF28600E1B}"/>
              </a:ext>
            </a:extLst>
          </p:cNvPr>
          <p:cNvCxnSpPr>
            <a:cxnSpLocks/>
          </p:cNvCxnSpPr>
          <p:nvPr/>
        </p:nvCxnSpPr>
        <p:spPr>
          <a:xfrm>
            <a:off x="8082804" y="1688105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46BF6F2-FCE3-7B27-C695-1B887C6CCAC3}"/>
              </a:ext>
            </a:extLst>
          </p:cNvPr>
          <p:cNvSpPr/>
          <p:nvPr/>
        </p:nvSpPr>
        <p:spPr>
          <a:xfrm>
            <a:off x="6550041" y="2739570"/>
            <a:ext cx="2272945" cy="2944791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ACaMS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Resumes</a:t>
            </a:r>
          </a:p>
          <a:p>
            <a:pPr algn="ctr"/>
            <a:r>
              <a:rPr lang="en-US" sz="1400" dirty="0"/>
              <a:t>(Tyler)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Next Project Starts</a:t>
            </a:r>
          </a:p>
          <a:p>
            <a:pPr algn="ctr"/>
            <a:r>
              <a:rPr lang="en-US" sz="1400" dirty="0"/>
              <a:t>(Williamson)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FTAI picks up</a:t>
            </a:r>
          </a:p>
          <a:p>
            <a:pPr algn="ctr"/>
            <a:r>
              <a:rPr lang="en-US" sz="1400" dirty="0"/>
              <a:t>(Johnson)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E8BDD9A-53C5-14DA-7452-47B930F013CB}"/>
              </a:ext>
            </a:extLst>
          </p:cNvPr>
          <p:cNvSpPr/>
          <p:nvPr/>
        </p:nvSpPr>
        <p:spPr>
          <a:xfrm>
            <a:off x="2343803" y="3414048"/>
            <a:ext cx="4020848" cy="1344197"/>
          </a:xfrm>
          <a:prstGeom prst="rightArrow">
            <a:avLst>
              <a:gd name="adj1" fmla="val 50000"/>
              <a:gd name="adj2" fmla="val 840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B3D896-FB1E-4ADA-703A-4A067FED361F}"/>
              </a:ext>
            </a:extLst>
          </p:cNvPr>
          <p:cNvSpPr txBox="1"/>
          <p:nvPr/>
        </p:nvSpPr>
        <p:spPr>
          <a:xfrm>
            <a:off x="2870757" y="3828270"/>
            <a:ext cx="237084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C0C0C0"/>
                </a:highlight>
              </a:rPr>
              <a:t>There is some time to </a:t>
            </a:r>
          </a:p>
          <a:p>
            <a:pPr algn="ctr"/>
            <a:r>
              <a:rPr lang="en-US" sz="1600" dirty="0">
                <a:highlight>
                  <a:srgbClr val="C0C0C0"/>
                </a:highlight>
              </a:rPr>
              <a:t>assemble a plan / solution</a:t>
            </a:r>
          </a:p>
        </p:txBody>
      </p:sp>
    </p:spTree>
    <p:extLst>
      <p:ext uri="{BB962C8B-B14F-4D97-AF65-F5344CB8AC3E}">
        <p14:creationId xmlns:p14="http://schemas.microsoft.com/office/powerpoint/2010/main" val="1832103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1625-85EA-F73C-AA5E-34855B77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8C72C6-C153-AC6F-0F3D-2C995529E5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What is Definition of Done – Scenario in 2027….</a:t>
            </a:r>
          </a:p>
          <a:p>
            <a:r>
              <a:rPr lang="en-US" dirty="0"/>
              <a:t>(Solution to the Problem)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E371F8-7FDE-300B-B711-72EBB1C9F6F4}"/>
              </a:ext>
            </a:extLst>
          </p:cNvPr>
          <p:cNvSpPr/>
          <p:nvPr/>
        </p:nvSpPr>
        <p:spPr>
          <a:xfrm>
            <a:off x="45589" y="1611380"/>
            <a:ext cx="6108569" cy="433222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CCAB7B-AA6B-63AE-482D-8812C900970A}"/>
              </a:ext>
            </a:extLst>
          </p:cNvPr>
          <p:cNvSpPr/>
          <p:nvPr/>
        </p:nvSpPr>
        <p:spPr>
          <a:xfrm>
            <a:off x="6274337" y="1611380"/>
            <a:ext cx="2636196" cy="433222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Jason and / or Conrad inquire about each person’s MBD capacity and proficiency….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So they ask people like Nate or Linda…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“Can they step into App SW and help quickly”???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AD89E8-D49C-F4BE-ACDD-E6BEA9DDD3C4}"/>
              </a:ext>
            </a:extLst>
          </p:cNvPr>
          <p:cNvSpPr/>
          <p:nvPr/>
        </p:nvSpPr>
        <p:spPr>
          <a:xfrm>
            <a:off x="8994846" y="1627592"/>
            <a:ext cx="2999358" cy="433222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Nate and / or Linda say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“yes, they have been trained and/or done pilot projects and I am confident they can help us”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Then Conrad and / or Jason say “good for me, they know how we do things and can adapt quickly to the technology”</a:t>
            </a:r>
          </a:p>
        </p:txBody>
      </p:sp>
    </p:spTree>
    <p:extLst>
      <p:ext uri="{BB962C8B-B14F-4D97-AF65-F5344CB8AC3E}">
        <p14:creationId xmlns:p14="http://schemas.microsoft.com/office/powerpoint/2010/main" val="10782596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4B2EC94B-890F-4F06-B798-4B4DED8D1AEE}">
  <ds:schemaRefs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0873cd69-40f1-433c-bf93-e1d73619fdb5"/>
    <ds:schemaRef ds:uri="http://purl.org/dc/dcmitype/"/>
    <ds:schemaRef ds:uri="http://schemas.microsoft.com/office/2006/documentManagement/types"/>
    <ds:schemaRef ds:uri="2d6c60d3-f5d7-4053-bda5-60231931954e"/>
    <ds:schemaRef ds:uri="http://purl.org/dc/elements/1.1/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118187</TotalTime>
  <Words>855</Words>
  <Application>Microsoft Office PowerPoint</Application>
  <PresentationFormat>Widescreen</PresentationFormat>
  <Paragraphs>163</Paragraphs>
  <Slides>29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9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Wingdings</vt:lpstr>
      <vt:lpstr>2_Office Theme</vt:lpstr>
      <vt:lpstr>think-cell Slide</vt:lpstr>
      <vt:lpstr>Chapter 1 The Basics</vt:lpstr>
      <vt:lpstr>PowerPoint Presentation</vt:lpstr>
      <vt:lpstr>PowerPoint Presentation</vt:lpstr>
      <vt:lpstr>PowerPoint Presentation</vt:lpstr>
      <vt:lpstr>How to Open MATLAB &amp; SIMULINK</vt:lpstr>
      <vt:lpstr>PowerPoint Presentation</vt:lpstr>
      <vt:lpstr>PowerPoint Presentation</vt:lpstr>
      <vt:lpstr>PowerPoint Presentation</vt:lpstr>
      <vt:lpstr>How to Create a new Simulink Model</vt:lpstr>
      <vt:lpstr>PowerPoint Presentation</vt:lpstr>
      <vt:lpstr>PowerPoint Presentation</vt:lpstr>
      <vt:lpstr>PowerPoint Presentation</vt:lpstr>
      <vt:lpstr>How to Use blocks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Run a simulation</vt:lpstr>
      <vt:lpstr>How to Use Data inspector</vt:lpstr>
      <vt:lpstr>How to Use Model Explorer</vt:lpstr>
      <vt:lpstr>How to Use Requirements editor</vt:lpstr>
      <vt:lpstr>PowerPoint Presentation</vt:lpstr>
      <vt:lpstr>PowerPoint Presentation</vt:lpstr>
      <vt:lpstr>PowerPoint Presentation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1721</cp:revision>
  <cp:lastPrinted>2026-03-04T20:38:48Z</cp:lastPrinted>
  <dcterms:created xsi:type="dcterms:W3CDTF">2017-05-22T13:23:52Z</dcterms:created>
  <dcterms:modified xsi:type="dcterms:W3CDTF">2026-09-01T21:20:43Z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