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80"/>
  </p:notesMasterIdLst>
  <p:handoutMasterIdLst>
    <p:handoutMasterId r:id="rId81"/>
  </p:handoutMasterIdLst>
  <p:sldIdLst>
    <p:sldId id="256" r:id="rId6"/>
    <p:sldId id="3714" r:id="rId7"/>
    <p:sldId id="3764" r:id="rId8"/>
    <p:sldId id="3715" r:id="rId9"/>
    <p:sldId id="3717" r:id="rId10"/>
    <p:sldId id="3633" r:id="rId11"/>
    <p:sldId id="3718" r:id="rId12"/>
    <p:sldId id="3719" r:id="rId13"/>
    <p:sldId id="3720" r:id="rId14"/>
    <p:sldId id="3634" r:id="rId15"/>
    <p:sldId id="3721" r:id="rId16"/>
    <p:sldId id="3722" r:id="rId17"/>
    <p:sldId id="3723" r:id="rId18"/>
    <p:sldId id="3724" r:id="rId19"/>
    <p:sldId id="3635" r:id="rId20"/>
    <p:sldId id="3725" r:id="rId21"/>
    <p:sldId id="3726" r:id="rId22"/>
    <p:sldId id="3727" r:id="rId23"/>
    <p:sldId id="3728" r:id="rId24"/>
    <p:sldId id="3729" r:id="rId25"/>
    <p:sldId id="3730" r:id="rId26"/>
    <p:sldId id="3731" r:id="rId27"/>
    <p:sldId id="3732" r:id="rId28"/>
    <p:sldId id="3733" r:id="rId29"/>
    <p:sldId id="3734" r:id="rId30"/>
    <p:sldId id="3735" r:id="rId31"/>
    <p:sldId id="3736" r:id="rId32"/>
    <p:sldId id="3737" r:id="rId33"/>
    <p:sldId id="3738" r:id="rId34"/>
    <p:sldId id="3739" r:id="rId35"/>
    <p:sldId id="3740" r:id="rId36"/>
    <p:sldId id="3741" r:id="rId37"/>
    <p:sldId id="3742" r:id="rId38"/>
    <p:sldId id="3743" r:id="rId39"/>
    <p:sldId id="3744" r:id="rId40"/>
    <p:sldId id="3745" r:id="rId41"/>
    <p:sldId id="3746" r:id="rId42"/>
    <p:sldId id="3636" r:id="rId43"/>
    <p:sldId id="3747" r:id="rId44"/>
    <p:sldId id="3748" r:id="rId45"/>
    <p:sldId id="3637" r:id="rId46"/>
    <p:sldId id="3749" r:id="rId47"/>
    <p:sldId id="3750" r:id="rId48"/>
    <p:sldId id="3751" r:id="rId49"/>
    <p:sldId id="3752" r:id="rId50"/>
    <p:sldId id="3753" r:id="rId51"/>
    <p:sldId id="3695" r:id="rId52"/>
    <p:sldId id="3754" r:id="rId53"/>
    <p:sldId id="3755" r:id="rId54"/>
    <p:sldId id="3756" r:id="rId55"/>
    <p:sldId id="3757" r:id="rId56"/>
    <p:sldId id="3758" r:id="rId57"/>
    <p:sldId id="3759" r:id="rId58"/>
    <p:sldId id="3760" r:id="rId59"/>
    <p:sldId id="3638" r:id="rId60"/>
    <p:sldId id="3761" r:id="rId61"/>
    <p:sldId id="3762" r:id="rId62"/>
    <p:sldId id="3765" r:id="rId63"/>
    <p:sldId id="3766" r:id="rId64"/>
    <p:sldId id="3769" r:id="rId65"/>
    <p:sldId id="3770" r:id="rId66"/>
    <p:sldId id="3773" r:id="rId67"/>
    <p:sldId id="3774" r:id="rId68"/>
    <p:sldId id="3776" r:id="rId69"/>
    <p:sldId id="3777" r:id="rId70"/>
    <p:sldId id="3778" r:id="rId71"/>
    <p:sldId id="3779" r:id="rId72"/>
    <p:sldId id="3639" r:id="rId73"/>
    <p:sldId id="3710" r:id="rId74"/>
    <p:sldId id="3780" r:id="rId75"/>
    <p:sldId id="3626" r:id="rId76"/>
    <p:sldId id="3625" r:id="rId77"/>
    <p:sldId id="3567" r:id="rId78"/>
    <p:sldId id="3582" r:id="rId79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714"/>
            <p14:sldId id="3764"/>
          </p14:sldIdLst>
        </p14:section>
        <p14:section name="What does success look like?" id="{2184ACB6-BC5A-45A7-AA08-0CFF90079FF3}">
          <p14:sldIdLst>
            <p14:sldId id="3715"/>
          </p14:sldIdLst>
        </p14:section>
        <p14:section name="Final Model(s)" id="{DD7E7087-D4C1-49C4-90BA-FD121933CBC3}">
          <p14:sldIdLst>
            <p14:sldId id="3717"/>
          </p14:sldIdLst>
        </p14:section>
        <p14:section name="How to Open MATLAB &amp; SIMULINK" id="{C8DF2CCC-DF37-4452-A9BD-12549E5D36D1}">
          <p14:sldIdLst>
            <p14:sldId id="3633"/>
            <p14:sldId id="3718"/>
            <p14:sldId id="3719"/>
            <p14:sldId id="3720"/>
          </p14:sldIdLst>
        </p14:section>
        <p14:section name="How to Create a new Simulink Model" id="{82C3D226-D794-4489-92A1-E620DEDFB2A5}">
          <p14:sldIdLst>
            <p14:sldId id="3634"/>
            <p14:sldId id="3721"/>
            <p14:sldId id="3722"/>
            <p14:sldId id="3723"/>
            <p14:sldId id="3724"/>
          </p14:sldIdLst>
        </p14:section>
        <p14:section name="How to Use blocks" id="{000E4B64-D857-4ECD-81C8-90C1508B930D}">
          <p14:sldIdLst>
            <p14:sldId id="3635"/>
            <p14:sldId id="3725"/>
            <p14:sldId id="3726"/>
            <p14:sldId id="3727"/>
            <p14:sldId id="3728"/>
            <p14:sldId id="3729"/>
            <p14:sldId id="3730"/>
            <p14:sldId id="3731"/>
            <p14:sldId id="3732"/>
            <p14:sldId id="3733"/>
            <p14:sldId id="3734"/>
            <p14:sldId id="3735"/>
            <p14:sldId id="3736"/>
            <p14:sldId id="3737"/>
            <p14:sldId id="3738"/>
            <p14:sldId id="3739"/>
            <p14:sldId id="3740"/>
            <p14:sldId id="3741"/>
            <p14:sldId id="3742"/>
            <p14:sldId id="3743"/>
            <p14:sldId id="3744"/>
            <p14:sldId id="3745"/>
            <p14:sldId id="3746"/>
          </p14:sldIdLst>
        </p14:section>
        <p14:section name="How to Run a simulation" id="{3F1A5FEB-EFB7-4B88-A875-0798919095F3}">
          <p14:sldIdLst>
            <p14:sldId id="3636"/>
            <p14:sldId id="3747"/>
            <p14:sldId id="3748"/>
          </p14:sldIdLst>
        </p14:section>
        <p14:section name="How to Use Data inspector" id="{62385923-6401-41CB-84E6-D309E1EB289F}">
          <p14:sldIdLst>
            <p14:sldId id="3637"/>
            <p14:sldId id="3749"/>
            <p14:sldId id="3750"/>
            <p14:sldId id="3751"/>
            <p14:sldId id="3752"/>
            <p14:sldId id="3753"/>
            <p14:sldId id="3695"/>
            <p14:sldId id="3754"/>
            <p14:sldId id="3755"/>
            <p14:sldId id="3756"/>
            <p14:sldId id="3757"/>
            <p14:sldId id="3758"/>
            <p14:sldId id="3759"/>
            <p14:sldId id="3760"/>
          </p14:sldIdLst>
        </p14:section>
        <p14:section name="How to Use Model Explorer" id="{84EACC95-D6FF-4E20-90C5-FE2F477BB695}">
          <p14:sldIdLst>
            <p14:sldId id="3638"/>
            <p14:sldId id="3761"/>
            <p14:sldId id="3762"/>
            <p14:sldId id="3765"/>
            <p14:sldId id="3766"/>
            <p14:sldId id="3769"/>
            <p14:sldId id="3770"/>
            <p14:sldId id="3773"/>
            <p14:sldId id="3774"/>
            <p14:sldId id="3776"/>
            <p14:sldId id="3777"/>
            <p14:sldId id="3778"/>
            <p14:sldId id="3779"/>
          </p14:sldIdLst>
        </p14:section>
        <p14:section name="How to Use Requirements editor" id="{04F53C19-E036-40F5-A4EF-E2AEF7972486}">
          <p14:sldIdLst>
            <p14:sldId id="3639"/>
            <p14:sldId id="3710"/>
            <p14:sldId id="3780"/>
            <p14:sldId id="3626"/>
            <p14:sldId id="3625"/>
            <p14:sldId id="3567"/>
            <p14:sldId id="35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548" autoAdjust="0"/>
  </p:normalViewPr>
  <p:slideViewPr>
    <p:cSldViewPr snapToGrid="0">
      <p:cViewPr varScale="1">
        <p:scale>
          <a:sx n="100" d="100"/>
          <a:sy n="100" d="100"/>
        </p:scale>
        <p:origin x="90" y="132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7" d="100"/>
          <a:sy n="77" d="100"/>
        </p:scale>
        <p:origin x="322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theme" Target="theme/theme1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77" Type="http://schemas.openxmlformats.org/officeDocument/2006/relationships/slide" Target="slides/slide72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80" Type="http://schemas.openxmlformats.org/officeDocument/2006/relationships/notesMaster" Target="notesMasters/notesMaster1.xml"/><Relationship Id="rId85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61" Type="http://schemas.openxmlformats.org/officeDocument/2006/relationships/slide" Target="slides/slide56.xml"/><Relationship Id="rId8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9/3/2026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D21D-21EF-7E6D-5B72-0560D6AF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A173E-2807-4794-7F23-EF60F539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702A5-FC84-A5F6-B60C-2DF5CCC5D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2D3525D-9FC3-483D-45F9-81BAD2AEE419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917A-7EE9-EF91-DB3F-4574ACA166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B1F2F-FE3A-2B46-3567-35A4C2CCC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72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2831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74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85639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26.xml"/><Relationship Id="rId7" Type="http://schemas.openxmlformats.org/officeDocument/2006/relationships/image" Target="../media/image2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27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 dirty="0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531941"/>
            <a:ext cx="11341101" cy="482282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1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1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6385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64008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333C370-613B-3E3D-3647-7A8D70B2A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6" y="1838484"/>
            <a:ext cx="11341101" cy="45162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hcSlideMaster.1_1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1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1 Comparison B2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1 Comparison B2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295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mparison B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11338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11338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1 Comparison B3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1 Comparison B3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4102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3192313"/>
            <a:ext cx="5623560" cy="3218243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1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1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5" name="Text Placeholder 7">
            <a:extLst>
              <a:ext uri="{FF2B5EF4-FFF2-40B4-BE49-F238E27FC236}">
                <a16:creationId xmlns:a16="http://schemas.microsoft.com/office/drawing/2014/main" id="{72DFA65D-B2CE-3E05-BE20-8537C69FFD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95818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6" name="Text Placeholder 7">
            <a:extLst>
              <a:ext uri="{FF2B5EF4-FFF2-40B4-BE49-F238E27FC236}">
                <a16:creationId xmlns:a16="http://schemas.microsoft.com/office/drawing/2014/main" id="{82DB8494-3814-E0E3-27A9-B12017EEF9F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13356" y="2420888"/>
            <a:ext cx="5623560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3" name="hcSlideMaster.2 Comparison AHeader" descr=" ">
            <a:extLst>
              <a:ext uri="{FF2B5EF4-FFF2-40B4-BE49-F238E27FC236}">
                <a16:creationId xmlns:a16="http://schemas.microsoft.com/office/drawing/2014/main" id="{F1F89A26-CD57-2053-40B7-B51CDAB9FC3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4" name="fcSlideMaster.2 Comparison AFooter" descr=" ">
            <a:extLst>
              <a:ext uri="{FF2B5EF4-FFF2-40B4-BE49-F238E27FC236}">
                <a16:creationId xmlns:a16="http://schemas.microsoft.com/office/drawing/2014/main" id="{06CEAAAD-DA45-4350-D5CA-363F379592A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69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5623560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758381"/>
            <a:ext cx="5623560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87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13356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5623560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13356" y="2042465"/>
            <a:ext cx="5623560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2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2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hcSlideMaster.2 Comparison BHeader" descr=" ">
            <a:extLst>
              <a:ext uri="{FF2B5EF4-FFF2-40B4-BE49-F238E27FC236}">
                <a16:creationId xmlns:a16="http://schemas.microsoft.com/office/drawing/2014/main" id="{C00971FF-2044-F9AA-4CBF-5B2FC02F8D5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2 Comparison BFooter" descr=" ">
            <a:extLst>
              <a:ext uri="{FF2B5EF4-FFF2-40B4-BE49-F238E27FC236}">
                <a16:creationId xmlns:a16="http://schemas.microsoft.com/office/drawing/2014/main" id="{517EE859-1AB9-EBE9-B093-415917A3A9BC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2 Comparison CHeader" descr=" ">
            <a:extLst>
              <a:ext uri="{FF2B5EF4-FFF2-40B4-BE49-F238E27FC236}">
                <a16:creationId xmlns:a16="http://schemas.microsoft.com/office/drawing/2014/main" id="{508F0E3E-452A-401E-E954-91090E28AE5A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2 Comparison CFooter" descr=" ">
            <a:extLst>
              <a:ext uri="{FF2B5EF4-FFF2-40B4-BE49-F238E27FC236}">
                <a16:creationId xmlns:a16="http://schemas.microsoft.com/office/drawing/2014/main" id="{DDC17D0F-3F44-4B9C-2CD1-64DE756AF4C5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750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51FD2A61-A021-DDFD-0B3D-2758D5276CA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95817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3138034"/>
            <a:ext cx="3776472" cy="327252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CAE348C-CA9B-6DA5-85C0-6EA00EA90EF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95818" y="1992254"/>
            <a:ext cx="3776472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A6ABB32-3570-2D77-6ACA-8DA3FA3849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049E229-D6A4-F87E-AB12-4C2B517E7374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064FEF03-992E-3B70-A2B4-51080444E6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A037C432-8FB9-320B-3A82-ECDB6E29C130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3137004"/>
            <a:ext cx="3776472" cy="327355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hcSlideMaster.3 Comparison BHeader" descr=" ">
            <a:extLst>
              <a:ext uri="{FF2B5EF4-FFF2-40B4-BE49-F238E27FC236}">
                <a16:creationId xmlns:a16="http://schemas.microsoft.com/office/drawing/2014/main" id="{9BC8C6B8-4E01-9ECA-E6B8-4C91558F028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1" name="fcSlideMaster.3 Comparison BFooter" descr=" ">
            <a:extLst>
              <a:ext uri="{FF2B5EF4-FFF2-40B4-BE49-F238E27FC236}">
                <a16:creationId xmlns:a16="http://schemas.microsoft.com/office/drawing/2014/main" id="{B211ACB9-3DF6-7317-BC04-482FCC5ED1C2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7B9245E7-4718-498D-130B-89CF21FC238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8569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4F32C694-8B96-B9CD-8392-C42EBEE5E24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62555" y="2420888"/>
            <a:ext cx="3776472" cy="649224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 i="1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32" name="hcSlideMaster.3 Comparison AHeader" descr=" ">
            <a:extLst>
              <a:ext uri="{FF2B5EF4-FFF2-40B4-BE49-F238E27FC236}">
                <a16:creationId xmlns:a16="http://schemas.microsoft.com/office/drawing/2014/main" id="{F7626623-CDA9-2F4D-A611-475B9A1A7A16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33" name="fcSlideMaster.3 Comparison AFooter" descr=" ">
            <a:extLst>
              <a:ext uri="{FF2B5EF4-FFF2-40B4-BE49-F238E27FC236}">
                <a16:creationId xmlns:a16="http://schemas.microsoft.com/office/drawing/2014/main" id="{F2F70BF1-CED2-7175-F3A4-BAD6CF4704C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1150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992254"/>
            <a:ext cx="3776472" cy="73152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758381"/>
            <a:ext cx="3776472" cy="365217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1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mparison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Placeholder 7">
            <a:extLst>
              <a:ext uri="{FF2B5EF4-FFF2-40B4-BE49-F238E27FC236}">
                <a16:creationId xmlns:a16="http://schemas.microsoft.com/office/drawing/2014/main" id="{9FB5145F-8251-5402-0898-33957D81D0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28569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6" name="Text Placeholder 7">
            <a:extLst>
              <a:ext uri="{FF2B5EF4-FFF2-40B4-BE49-F238E27FC236}">
                <a16:creationId xmlns:a16="http://schemas.microsoft.com/office/drawing/2014/main" id="{9A239EB5-949D-5EBB-9621-73B95F844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818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9022BD2F-5A74-34BC-EE2D-B69F38C56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817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" name="Object 2" hidden="1">
                        <a:extLst>
                          <a:ext uri="{FF2B5EF4-FFF2-40B4-BE49-F238E27FC236}">
                            <a16:creationId xmlns:a16="http://schemas.microsoft.com/office/drawing/2014/main" id="{92B653C4-4876-9EE6-7A3F-94E343AAA12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FE394BD7-C5AE-E5BC-E209-E50A846CF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B6165CC7-E92A-4D80-4ABF-ACB94BA97DC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4228569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43F772C-E4D1-DD5B-2BFB-769C4F9F2F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62555" y="1563046"/>
            <a:ext cx="3776472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 b="0">
                <a:solidFill>
                  <a:sysClr val="windowText" lastClr="000000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F9773B9-3F0D-5222-F270-22C325B35B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8062555" y="2042465"/>
            <a:ext cx="3776472" cy="43680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hcSlideMaster.3_Layout 1 - BlankHeader" descr=" ">
            <a:extLst>
              <a:ext uri="{FF2B5EF4-FFF2-40B4-BE49-F238E27FC236}">
                <a16:creationId xmlns:a16="http://schemas.microsoft.com/office/drawing/2014/main" id="{A5D4F477-9807-406C-7209-8A213AD91AE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55" name="fcSlideMaster.3_Layout 1 - BlankFooter" descr=" ">
            <a:extLst>
              <a:ext uri="{FF2B5EF4-FFF2-40B4-BE49-F238E27FC236}">
                <a16:creationId xmlns:a16="http://schemas.microsoft.com/office/drawing/2014/main" id="{34AE15F3-B823-B0AA-C192-139CEF3AF3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5" name="hcSlideMaster.3 Comparison BHeader" descr=" ">
            <a:extLst>
              <a:ext uri="{FF2B5EF4-FFF2-40B4-BE49-F238E27FC236}">
                <a16:creationId xmlns:a16="http://schemas.microsoft.com/office/drawing/2014/main" id="{4243B30D-2C9E-680B-88D2-B3936D67E911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6" name="fcSlideMaster.3 Comparison BFooter" descr=" ">
            <a:extLst>
              <a:ext uri="{FF2B5EF4-FFF2-40B4-BE49-F238E27FC236}">
                <a16:creationId xmlns:a16="http://schemas.microsoft.com/office/drawing/2014/main" id="{9C11A4BE-A09A-9074-C1B9-73CC72597C3E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3" name="hcSlideMaster.1_3 Comparison BHeader" descr=" ">
            <a:extLst>
              <a:ext uri="{FF2B5EF4-FFF2-40B4-BE49-F238E27FC236}">
                <a16:creationId xmlns:a16="http://schemas.microsoft.com/office/drawing/2014/main" id="{5A4E2B12-F16F-38C1-2B27-18CE64A2DB40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4" name="fcSlideMaster.1_3 Comparison BFooter" descr=" ">
            <a:extLst>
              <a:ext uri="{FF2B5EF4-FFF2-40B4-BE49-F238E27FC236}">
                <a16:creationId xmlns:a16="http://schemas.microsoft.com/office/drawing/2014/main" id="{D2AC2636-7C2F-5D6C-3C99-E10D815BEED0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8" name="hcSlideMaster.3 Comparison CHeader" descr=" ">
            <a:extLst>
              <a:ext uri="{FF2B5EF4-FFF2-40B4-BE49-F238E27FC236}">
                <a16:creationId xmlns:a16="http://schemas.microsoft.com/office/drawing/2014/main" id="{023C4D99-3769-1404-CB20-C1B6E0FF34D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9" name="fcSlideMaster.3 Comparison CFooter" descr=" ">
            <a:extLst>
              <a:ext uri="{FF2B5EF4-FFF2-40B4-BE49-F238E27FC236}">
                <a16:creationId xmlns:a16="http://schemas.microsoft.com/office/drawing/2014/main" id="{71634C75-08A0-7D05-C922-CF82463F608D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44857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 Quiz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▶ </a:t>
            </a:r>
            <a:r>
              <a:rPr lang="es-AR" sz="2400" b="1" dirty="0" err="1">
                <a:solidFill>
                  <a:schemeClr val="bg1"/>
                </a:solidFill>
              </a:rPr>
              <a:t>Launch</a:t>
            </a:r>
            <a:r>
              <a:rPr lang="es-AR" sz="2400" b="1" dirty="0">
                <a:solidFill>
                  <a:schemeClr val="bg1"/>
                </a:solidFill>
              </a:rPr>
              <a:t> Quiz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5563446" cy="67710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 dirty="0">
                <a:solidFill>
                  <a:schemeClr val="accent1"/>
                </a:solidFill>
                <a:latin typeface="Arial Black" panose="020B0A04020102020204" pitchFamily="34" charset="0"/>
              </a:rPr>
              <a:t>Knowledge Check</a:t>
            </a:r>
            <a:endParaRPr lang="en-US" altLang="en-US" sz="4400" b="1" dirty="0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hcSlideMaster.Take Quiz SlideHeader" descr=" ">
            <a:extLst>
              <a:ext uri="{FF2B5EF4-FFF2-40B4-BE49-F238E27FC236}">
                <a16:creationId xmlns:a16="http://schemas.microsoft.com/office/drawing/2014/main" id="{2F20B705-9D19-FFB5-2EC6-5DA534BDA5B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Take Quiz SlideFooter" descr=" ">
            <a:extLst>
              <a:ext uri="{FF2B5EF4-FFF2-40B4-BE49-F238E27FC236}">
                <a16:creationId xmlns:a16="http://schemas.microsoft.com/office/drawing/2014/main" id="{742A4D41-DBE7-74FE-259C-CCF3B3650CEB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785795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emf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360" imgH="360" progId="TCLayout.ActiveDocument.1">
                  <p:embed/>
                </p:oleObj>
              </mc:Choice>
              <mc:Fallback>
                <p:oleObj name="think-cell Slide" r:id="rId2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806" r:id="rId3"/>
    <p:sldLayoutId id="2147484807" r:id="rId4"/>
    <p:sldLayoutId id="2147484808" r:id="rId5"/>
    <p:sldLayoutId id="2147484801" r:id="rId6"/>
    <p:sldLayoutId id="2147484802" r:id="rId7"/>
    <p:sldLayoutId id="2147484809" r:id="rId8"/>
    <p:sldLayoutId id="2147484803" r:id="rId9"/>
    <p:sldLayoutId id="2147484804" r:id="rId10"/>
    <p:sldLayoutId id="2147484810" r:id="rId11"/>
    <p:sldLayoutId id="2147484811" r:id="rId12"/>
    <p:sldLayoutId id="2147484794" r:id="rId13"/>
    <p:sldLayoutId id="2147484795" r:id="rId14"/>
    <p:sldLayoutId id="2147484796" r:id="rId15"/>
    <p:sldLayoutId id="2147484798" r:id="rId16"/>
    <p:sldLayoutId id="2147484800" r:id="rId1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6.jpe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0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8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6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hyperlink" Target="https://forms.cloud.microsoft/r/jSnUfYGFat" TargetMode="Externa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78E31C-38C2-F6ED-D037-C3E408D0FD4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EA7C0-0E57-D7BE-A136-2E1865F80C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021B32-8A88-1517-3AA4-EBB431004A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is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F7FE4CC-3FAC-FA81-E419-C9CF5944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is MATLAB and Simulink?</a:t>
            </a:r>
            <a:br>
              <a:rPr lang="en-US" sz="36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392E0B-4393-7176-D5FA-886403E421C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Numerical computing, analysis, and algorithm development.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E23897C-2DAD-DF99-DD6F-0B5E873A69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Graphical modeling and simulation of dynamic systems.</a:t>
            </a:r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DC21BC19-A3FF-ADEF-AC92-2B1A01941D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8957" y="3192463"/>
            <a:ext cx="5157174" cy="3217862"/>
          </a:xfrm>
          <a:prstGeom prst="rect">
            <a:avLst/>
          </a:prstGeom>
        </p:spPr>
      </p:pic>
      <p:pic>
        <p:nvPicPr>
          <p:cNvPr id="13" name="Content Placeholder 11">
            <a:extLst>
              <a:ext uri="{FF2B5EF4-FFF2-40B4-BE49-F238E27FC236}">
                <a16:creationId xmlns:a16="http://schemas.microsoft.com/office/drawing/2014/main" id="{6CB1E81D-46BC-7BB7-55D7-6307B0DA617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tretch>
            <a:fillRect/>
          </a:stretch>
        </p:blipFill>
        <p:spPr>
          <a:xfrm>
            <a:off x="6113463" y="3192463"/>
            <a:ext cx="5622925" cy="3217862"/>
          </a:xfrm>
          <a:prstGeom prst="rect">
            <a:avLst/>
          </a:prstGeom>
        </p:spPr>
      </p:pic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9747FE6E-CA9C-F29C-CB51-C3F96B2C1C3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78B1D84A-992E-6675-1A93-9DE876134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699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75A9C-B21F-B38B-3502-4636ED67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7B20CA-58FF-AEB0-87F6-A37AEEE128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Simulink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EE1638-BF47-BE36-C601-85E440C65F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MATLAB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51350-A8BF-681B-53F2-80727248E9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518CF53-993E-CFE4-39CA-1E28C731B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49223"/>
          </a:xfrm>
        </p:spPr>
        <p:txBody>
          <a:bodyPr/>
          <a:lstStyle/>
          <a:p>
            <a:r>
              <a:rPr lang="en-US" dirty="0"/>
              <a:t>What are some useful commands for MATLAB and Simulink?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AFA8D9D-0A3E-C11D-0DC6-608DD322454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What are some useful commands?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EAB3D3-D37C-6958-5669-E969D46C5C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dirty="0"/>
              <a:t>What are some useful shortcuts?</a:t>
            </a:r>
          </a:p>
        </p:txBody>
      </p:sp>
      <p:pic>
        <p:nvPicPr>
          <p:cNvPr id="15" name="Picture 14" descr="MATLAB Logo, symbol, meaning, history, PNG, brand">
            <a:extLst>
              <a:ext uri="{FF2B5EF4-FFF2-40B4-BE49-F238E27FC236}">
                <a16:creationId xmlns:a16="http://schemas.microsoft.com/office/drawing/2014/main" id="{39EFD516-368B-342D-3536-58C10602E3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97" r="65520" b="27886"/>
          <a:stretch>
            <a:fillRect/>
          </a:stretch>
        </p:blipFill>
        <p:spPr>
          <a:xfrm>
            <a:off x="1695657" y="1848159"/>
            <a:ext cx="779850" cy="572729"/>
          </a:xfrm>
          <a:prstGeom prst="rect">
            <a:avLst/>
          </a:prstGeom>
        </p:spPr>
      </p:pic>
      <p:pic>
        <p:nvPicPr>
          <p:cNvPr id="17" name="Picture 16" descr="Logotipo De Simulink De Matlab MATLAB® And Simulink® | Microchip">
            <a:extLst>
              <a:ext uri="{FF2B5EF4-FFF2-40B4-BE49-F238E27FC236}">
                <a16:creationId xmlns:a16="http://schemas.microsoft.com/office/drawing/2014/main" id="{D196EAA9-D59B-F616-4735-80596116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0126" y="1871893"/>
            <a:ext cx="525259" cy="525259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25AD302-DF14-EADF-F91A-A5FECCDC2690}"/>
              </a:ext>
            </a:extLst>
          </p:cNvPr>
          <p:cNvSpPr>
            <a:spLocks noGrp="1"/>
          </p:cNvSpPr>
          <p:nvPr>
            <p:ph idx="15"/>
          </p:nvPr>
        </p:nvSpPr>
        <p:spPr/>
        <p:txBody>
          <a:bodyPr/>
          <a:lstStyle/>
          <a:p>
            <a:r>
              <a:rPr lang="en-US" dirty="0"/>
              <a:t>Save			CTRL + S</a:t>
            </a:r>
          </a:p>
          <a:p>
            <a:r>
              <a:rPr lang="en-US" dirty="0"/>
              <a:t>Cancel Action 		CTRL + C	</a:t>
            </a:r>
          </a:p>
          <a:p>
            <a:r>
              <a:rPr lang="en-US" dirty="0"/>
              <a:t>Compile		CTRL + D</a:t>
            </a:r>
          </a:p>
          <a:p>
            <a:r>
              <a:rPr lang="en-US" dirty="0"/>
              <a:t>Build			CTRL + B</a:t>
            </a:r>
          </a:p>
          <a:p>
            <a:r>
              <a:rPr lang="en-US" dirty="0"/>
              <a:t>Run Sim		CTRL + T</a:t>
            </a:r>
          </a:p>
          <a:p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4DC3BBA-95F9-FAE3-9F55-055808976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Clear workspace	clear</a:t>
            </a:r>
          </a:p>
          <a:p>
            <a:r>
              <a:rPr lang="en-US" dirty="0"/>
              <a:t>Clean window		</a:t>
            </a:r>
            <a:r>
              <a:rPr lang="en-US" dirty="0" err="1"/>
              <a:t>clc</a:t>
            </a:r>
            <a:endParaRPr lang="en-US" dirty="0"/>
          </a:p>
          <a:p>
            <a:r>
              <a:rPr lang="en-US" dirty="0"/>
              <a:t>Cancel Action		CTRL + C</a:t>
            </a:r>
          </a:p>
        </p:txBody>
      </p:sp>
    </p:spTree>
    <p:extLst>
      <p:ext uri="{BB962C8B-B14F-4D97-AF65-F5344CB8AC3E}">
        <p14:creationId xmlns:p14="http://schemas.microsoft.com/office/powerpoint/2010/main" val="2384426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86766-355D-FAB3-7FBD-0DD4D63364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What does success look like?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2608F93-F47F-FA51-3F4B-69DE4430E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Success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1B8FD5-671E-7696-712F-662D72BB1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Open MATLAB &amp; SIMULINK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427441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69C3D62-E170-20C9-A762-81F86C9126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Final Model(s)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B440D6-4257-B20F-9554-6BCBB4FA7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br>
              <a:rPr lang="en-US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Scopes are not used in Rolls Royce models. I ONLY used a scope because it was the first sink I thought of for this Chapter 1 walkthrough.</a:t>
            </a:r>
            <a:endParaRPr lang="en-US" sz="1400" dirty="0">
              <a:solidFill>
                <a:srgbClr val="FF0000"/>
              </a:solidFill>
            </a:endParaRPr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C400D79-1803-58F5-C997-28612DF707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64500" y="1838325"/>
            <a:ext cx="8402675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709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402783-68BA-C9C0-1AC5-61F64EFA96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6A2E9F-D28F-AE5F-E71B-CCD9CD844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MATLAB</a:t>
            </a:r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68E633BC-D912-875C-0557-4C3E80DAEA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414" y="3186007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39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9490F-4813-44BC-B6D3-A250E715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002A99-A321-FE5D-D57A-865F7F7A5A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04A3B1-04A3-5A6B-8091-AFEFD494A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the MATLAB Window Layout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8983052-63F9-5116-2FF5-7171F5374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489" y="1531938"/>
            <a:ext cx="8972697" cy="482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342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559982-691B-FA14-9CB8-071C504544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Step 2. Navigate to Chapter 1 folder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CD61AAE-F74F-9488-E10F-A925F709EF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b="0" dirty="0"/>
              <a:t>Step 1. Navigate to training folder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E1F6A0C-64C0-D84B-4383-4BE4E3A4CC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CA6CEE0-422F-9D95-D87E-FD915189C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</a:t>
            </a:r>
          </a:p>
        </p:txBody>
      </p:sp>
      <p:pic>
        <p:nvPicPr>
          <p:cNvPr id="14" name="Content Placeholder 4">
            <a:extLst>
              <a:ext uri="{FF2B5EF4-FFF2-40B4-BE49-F238E27FC236}">
                <a16:creationId xmlns:a16="http://schemas.microsoft.com/office/drawing/2014/main" id="{EBC2390E-A214-51AE-1C7F-7F1B3B157B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395288" y="2896423"/>
            <a:ext cx="5624512" cy="3376553"/>
          </a:xfrm>
          <a:prstGeom prst="rect">
            <a:avLst/>
          </a:prstGeom>
        </p:spPr>
      </p:pic>
      <p:pic>
        <p:nvPicPr>
          <p:cNvPr id="16" name="Content Placeholder 13">
            <a:extLst>
              <a:ext uri="{FF2B5EF4-FFF2-40B4-BE49-F238E27FC236}">
                <a16:creationId xmlns:a16="http://schemas.microsoft.com/office/drawing/2014/main" id="{F6057ABE-AB24-A50B-CCFC-69C0534643D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113463" y="2896423"/>
            <a:ext cx="5622925" cy="321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299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EB3153-E9D3-6B78-8C05-BA55FE0D0E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7EDF59-33EB-340F-6A8D-BA6AD96A2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C9318-A0AB-00FD-A7EA-8A4E31D282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Create a new Simulink Model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Creating File (</a:t>
            </a:r>
            <a:r>
              <a:rPr lang="en-US" sz="1800" i="1" dirty="0" err="1"/>
              <a:t>slx</a:t>
            </a:r>
            <a:r>
              <a:rPr lang="en-US" sz="1800" i="1" dirty="0"/>
              <a:t>) 		Create / Rename / Open</a:t>
            </a: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879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A5396D6-CC26-F8ED-A396-D7179DEE3D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F82484C-C605-D0D9-B234-DE13CCD0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Navigate to training folder &amp; create Simulink Model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99307E3-EEFC-62FC-9EC2-F27B00ED60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022490" y="1838325"/>
            <a:ext cx="8086696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644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90732C-8F19-7D5A-04A0-713EEEF62C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D784B39-4DE4-69EC-DC0A-99F7AE5267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Right click new file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B8A5A09-C90E-1B70-99CA-B2652252D36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1FF07215-7511-E884-21CA-FBB31BEA9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Simulink File</a:t>
            </a:r>
          </a:p>
        </p:txBody>
      </p:sp>
      <p:pic>
        <p:nvPicPr>
          <p:cNvPr id="24" name="Content Placeholder 14">
            <a:extLst>
              <a:ext uri="{FF2B5EF4-FFF2-40B4-BE49-F238E27FC236}">
                <a16:creationId xmlns:a16="http://schemas.microsoft.com/office/drawing/2014/main" id="{19A907B0-69B1-B00B-6313-79186CD3194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113463" y="2759075"/>
            <a:ext cx="5622925" cy="3439064"/>
          </a:xfrm>
          <a:prstGeom prst="rect">
            <a:avLst/>
          </a:prstGeom>
        </p:spPr>
      </p:pic>
      <p:pic>
        <p:nvPicPr>
          <p:cNvPr id="28" name="Content Placeholder 9">
            <a:extLst>
              <a:ext uri="{FF2B5EF4-FFF2-40B4-BE49-F238E27FC236}">
                <a16:creationId xmlns:a16="http://schemas.microsoft.com/office/drawing/2014/main" id="{19BDE33F-21DA-8478-32B8-1185345288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466780" y="2759075"/>
            <a:ext cx="548152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928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CC6610-DB27-620B-5279-432E077CBE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6C924A2-8621-7A2A-7218-2D882261C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Simulink Model</a:t>
            </a:r>
          </a:p>
        </p:txBody>
      </p:sp>
      <p:pic>
        <p:nvPicPr>
          <p:cNvPr id="12" name="Content Placeholder 9">
            <a:extLst>
              <a:ext uri="{FF2B5EF4-FFF2-40B4-BE49-F238E27FC236}">
                <a16:creationId xmlns:a16="http://schemas.microsoft.com/office/drawing/2014/main" id="{DE7EA072-5C3F-B609-32D5-E2433F8C9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754922" y="1838325"/>
            <a:ext cx="8621832" cy="4516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18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8678B9-02E4-3024-860C-85FA9DFC7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01A3B32-66DF-E323-60A9-773FDB861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C70C1-2543-6C35-7A94-35DAD4525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Accessing Library Browser	Open / Find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Add / Edit / Label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Model 			Fit Contents to Window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Lines 			Create / Edit / Format / Label / Data log</a:t>
            </a:r>
          </a:p>
        </p:txBody>
      </p:sp>
    </p:spTree>
    <p:extLst>
      <p:ext uri="{BB962C8B-B14F-4D97-AF65-F5344CB8AC3E}">
        <p14:creationId xmlns:p14="http://schemas.microsoft.com/office/powerpoint/2010/main" val="33137975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31B6F5F-575D-949C-A66C-5BB1E5EEC1A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17D507-7614-3899-90A9-632807472D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Library Browser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168C9EE-58A3-F7A9-D12D-30DBF2E723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C8ABBCE7-E126-689C-9AF6-8124D1EF5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1)</a:t>
            </a:r>
          </a:p>
        </p:txBody>
      </p:sp>
      <p:pic>
        <p:nvPicPr>
          <p:cNvPr id="23" name="Content Placeholder 11">
            <a:extLst>
              <a:ext uri="{FF2B5EF4-FFF2-40B4-BE49-F238E27FC236}">
                <a16:creationId xmlns:a16="http://schemas.microsoft.com/office/drawing/2014/main" id="{9C0CDFBC-BCB5-BAAA-52CC-4B97A7A9F1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596516" y="2759075"/>
            <a:ext cx="5222055" cy="3517246"/>
          </a:xfrm>
          <a:prstGeom prst="rect">
            <a:avLst/>
          </a:prstGeom>
        </p:spPr>
      </p:pic>
      <p:pic>
        <p:nvPicPr>
          <p:cNvPr id="25" name="Content Placeholder 9">
            <a:extLst>
              <a:ext uri="{FF2B5EF4-FFF2-40B4-BE49-F238E27FC236}">
                <a16:creationId xmlns:a16="http://schemas.microsoft.com/office/drawing/2014/main" id="{0E0F5B02-AEED-5A52-ED05-758A27E2250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729564" y="2759075"/>
            <a:ext cx="439072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974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3DB-06DD-88DA-57C3-6F2EA6D41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72A8F4-5DFA-0D94-7D59-2FC3E83EE3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89AF18-E7AB-5274-67A1-5F4A1959CF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3. Click Icon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2049CAD-D3C0-A500-7344-6C9F23A995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2632320-A4E2-1B43-387F-DB796045E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2)</a:t>
            </a:r>
            <a:endParaRPr lang="en-US" sz="1800" b="0" i="1" dirty="0"/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DCB515E8-BD35-9965-F1F9-0A8F623EDF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2130" t="21125" r="42413" b="46364"/>
          <a:stretch>
            <a:fillRect/>
          </a:stretch>
        </p:blipFill>
        <p:spPr>
          <a:xfrm>
            <a:off x="395288" y="2759075"/>
            <a:ext cx="5624512" cy="2771990"/>
          </a:xfrm>
          <a:prstGeom prst="rect">
            <a:avLst/>
          </a:prstGeom>
        </p:spPr>
      </p:pic>
      <p:pic>
        <p:nvPicPr>
          <p:cNvPr id="9" name="Content Placeholder 14">
            <a:extLst>
              <a:ext uri="{FF2B5EF4-FFF2-40B4-BE49-F238E27FC236}">
                <a16:creationId xmlns:a16="http://schemas.microsoft.com/office/drawing/2014/main" id="{2AA708EE-9471-F303-5177-661DA51B3C2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3737" t="32614" r="10967" b="7647"/>
          <a:stretch>
            <a:fillRect/>
          </a:stretch>
        </p:blipFill>
        <p:spPr>
          <a:xfrm>
            <a:off x="6349583" y="2759075"/>
            <a:ext cx="515068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0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7999F-1EB3-A96F-0293-A61908B70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EFE84A3-AAAD-EF20-D8C7-D5BEFA1296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5. Review Common Blocks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7BAFB52-8A92-8640-F163-F20CC242DC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C121021-E7B6-9A07-8FDA-2C72139F9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Library Browser (Part 3)</a:t>
            </a:r>
            <a:endParaRPr lang="en-US" sz="1800" b="0" i="1" dirty="0"/>
          </a:p>
        </p:txBody>
      </p:sp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6BDC311-6751-29C8-E62E-C9AECC55F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526240" y="2759075"/>
            <a:ext cx="5362608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2302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BABC-0E85-ADCE-CA56-ADB59443E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E183E520-C3FC-3EF4-CF3C-6847EA96BB6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804ED92-DD1B-6A3C-E6FD-365B2BAEDD0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Blocks from Library to Simulink model window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7BFA3F6-11EC-CC30-7953-D2188578AA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ED09F0-02F7-EDA0-636E-3B789718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1)</a:t>
            </a:r>
            <a:endParaRPr lang="en-US" sz="1800" b="0" i="1" dirty="0"/>
          </a:p>
        </p:txBody>
      </p:sp>
      <p:pic>
        <p:nvPicPr>
          <p:cNvPr id="6" name="Content Placeholder 20">
            <a:extLst>
              <a:ext uri="{FF2B5EF4-FFF2-40B4-BE49-F238E27FC236}">
                <a16:creationId xmlns:a16="http://schemas.microsoft.com/office/drawing/2014/main" id="{23ECAA17-91EF-319D-C929-AB1621FC09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664615" y="2759075"/>
            <a:ext cx="5085858" cy="3651250"/>
          </a:xfrm>
          <a:prstGeom prst="rect">
            <a:avLst/>
          </a:prstGeom>
        </p:spPr>
      </p:pic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0091E88F-F055-68D9-76C6-AA475F65A9D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914363" y="2759075"/>
            <a:ext cx="402112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933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353C4A7-45AC-703F-9672-575D3AAE29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AB57E3E-D271-6D5E-FB8E-6C4B478EA23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Double Click on Empty Space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7FE4CB4-4EEA-2F76-3DD7-121F40D405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EAC9A14-C8AB-D5A5-A255-5483B087E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Blocks to Simulink Model (Method 2)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9623424-8908-581D-D533-BEE5BFFA45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4B2854F-963B-E1D2-B31D-6D78B4AAC1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450269" y="2759075"/>
            <a:ext cx="3666700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9A1E397E-6A23-CD69-DCB1-9B1756D6EA9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228569" y="2758381"/>
            <a:ext cx="3776472" cy="3652175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00AC16AC-BD2E-224D-DCA7-617FEC9B774D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062913" y="2758381"/>
            <a:ext cx="3776662" cy="1778314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2CFD86C-04C9-73FA-B647-1B8F88834383}"/>
              </a:ext>
            </a:extLst>
          </p:cNvPr>
          <p:cNvSpPr/>
          <p:nvPr/>
        </p:nvSpPr>
        <p:spPr>
          <a:xfrm>
            <a:off x="8531256" y="4110086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452C10BE-E1E2-E059-6952-87DE0FEDA33B}"/>
              </a:ext>
            </a:extLst>
          </p:cNvPr>
          <p:cNvSpPr/>
          <p:nvPr/>
        </p:nvSpPr>
        <p:spPr>
          <a:xfrm>
            <a:off x="8531256" y="4468305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206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C71F0-DC01-1FA7-14F3-B374ACBA4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82E0B13-6AC5-60B4-C5AA-1FCBECF00A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38390B0-76D9-66EF-8FF2-C1955058D9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spacebar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B05FBB4-2E66-27EC-84E7-7EAA61787F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4F113060-8142-E5C8-845B-5DF664BF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  <a:endParaRPr lang="en-US" sz="1600" b="0" i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B50195-2E25-5B6B-5139-958DB758FB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1355297" y="2759075"/>
            <a:ext cx="3704493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E584719-3547-BA36-195E-467A8B1987C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7187928" y="2759075"/>
            <a:ext cx="347399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41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B94F1-5B6A-8250-773A-16B0D68CE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4F7A0A3-AA10-AB7D-20DA-DAE7E4F55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Rename Block and then press enter or click off the block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9F60671-6188-FF21-84B8-323A695FB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201CBCA-A7FB-AE9F-6844-1EF3841C02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70C29AF-8344-2E08-0C38-DD9F79C41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Blocks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0085EA7-651F-6227-63C3-F925D3974D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83AAF4D-1D2D-E3F6-9170-8C716DF6B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431372" y="2759075"/>
            <a:ext cx="3704493" cy="3651250"/>
          </a:xfrm>
          <a:prstGeom prst="rect">
            <a:avLst/>
          </a:prstGeom>
        </p:spPr>
      </p:pic>
      <p:pic>
        <p:nvPicPr>
          <p:cNvPr id="20" name="Content Placeholder 19">
            <a:extLst>
              <a:ext uri="{FF2B5EF4-FFF2-40B4-BE49-F238E27FC236}">
                <a16:creationId xmlns:a16="http://schemas.microsoft.com/office/drawing/2014/main" id="{58610AF5-296A-9B5E-3C69-D4C4E647C3B8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265185" y="2759075"/>
            <a:ext cx="3704493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D27D0166-BE2A-0EBF-4A7B-098B8A3ABCA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098997" y="2759075"/>
            <a:ext cx="3704493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39712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20288-992C-7B36-5B59-43395D540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E951EBA-7925-1722-2408-34203CAC340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A94179-DD9B-46E9-550C-E44562E136E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EC374A5-7DF0-E0D4-8FCC-C4D8671A4A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80C7C3F-DD62-EE74-2576-0C150BD2C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Simulink Model File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624A7A4-FE16-EB8E-4B1A-F326A2035C1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D71D435C-B471-7FF2-980E-9380F9AEBB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395288" y="2759075"/>
            <a:ext cx="3776662" cy="2292619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5E220B36-F99D-65BF-1BC1-D72592E85F9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100" y="2759075"/>
            <a:ext cx="3776663" cy="1933225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DB9AD10-0729-DF04-333F-EAA686FD450A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062913" y="2759075"/>
            <a:ext cx="3776662" cy="114577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F34EAF4-0283-8B00-E44C-791A10CA7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395288" y="5340224"/>
            <a:ext cx="3564511" cy="8897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D656EEC-10FF-F665-540E-19C7E2D0D6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100" y="5340224"/>
            <a:ext cx="3564511" cy="8897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EC94F7E-2321-EF23-42E4-9D81091B4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62913" y="5338467"/>
            <a:ext cx="3763650" cy="63944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7BABF72-04A0-ACA4-72C2-72D2A5E143D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EDDAAEE-F9D9-53F0-82E8-54ECCEC10F1B}"/>
              </a:ext>
            </a:extLst>
          </p:cNvPr>
          <p:cNvCxnSpPr>
            <a:cxnSpLocks/>
          </p:cNvCxnSpPr>
          <p:nvPr/>
        </p:nvCxnSpPr>
        <p:spPr>
          <a:xfrm>
            <a:off x="1951351" y="4949073"/>
            <a:ext cx="4817094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038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C410-814D-5DD1-618C-23EB95D04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F8F87390-97E0-E899-055E-9A6341CF52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F183C2D-F2E7-E2BD-40B5-C0CED825D5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4FC811C-8D10-C020-12E5-B20FA70A96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DB09051-1ED9-084D-4B52-F6DED4102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1)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28F7450-539C-6E4B-AEC7-2B6942B83B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1452810" y="2759075"/>
            <a:ext cx="3509467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D17D27-53A3-3394-CDAA-7A5D85F233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7155808" y="2759075"/>
            <a:ext cx="353823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128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00031-1B4E-FB20-2CC7-7A12B9546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323F4388-061A-8D40-6F09-7DC8DE3824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A88729B-B679-6F90-38C9-2AB9A74382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E507BF30-4BC1-3623-F653-AAA479AB6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289EF9-B290-A81A-E03A-0DC0406B4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(Part 2)</a:t>
            </a:r>
            <a:endParaRPr lang="en-US" b="0" i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E34D2EF-4D57-652A-8C23-C68F40DE1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1438483" y="2759075"/>
            <a:ext cx="3538121" cy="365125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325A987-8051-5586-B109-103D3AB0481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7155807" y="2759075"/>
            <a:ext cx="3538236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17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89024-9160-6159-3E4E-997EE6690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8009BB24-0B37-2076-B42E-FCFB67DCB1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9A49AE3-AA07-5C40-2C4D-27B7C9E7EF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Connect Line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A186E23E-A317-1693-ABC1-375735B9FB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2937986-1676-ADF5-507C-CE35E4E87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Auto Routing</a:t>
            </a:r>
            <a:endParaRPr lang="en-US" b="0" i="1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D2BB063-7256-D441-04DD-DFAACA38DA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395288" y="2761503"/>
            <a:ext cx="5624512" cy="364639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1A95C6-046B-74CD-23C6-1D34B89BC9A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155778" y="2759075"/>
            <a:ext cx="353829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869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5C9B5-ED2B-A868-531B-37802D4C5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4E25BDB-1144-37B2-DE29-5634CCE166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49F16CF-A15F-01BB-98DD-BCD9838341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6F017B9-8919-0FC8-530A-2BCE43462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9CC3727-EC80-B572-1BCC-BD9D1368C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576F680-F5CE-0315-B415-C1CB821A366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EFACE0F-15A2-DE13-814A-CB2A599AECCF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/>
          <a:srcRect l="42758" t="36130" r="26546" b="4603"/>
          <a:stretch>
            <a:fillRect/>
          </a:stretch>
        </p:blipFill>
        <p:spPr>
          <a:xfrm>
            <a:off x="8192098" y="2759075"/>
            <a:ext cx="3518292" cy="3651250"/>
          </a:xfrm>
          <a:prstGeom prst="rect">
            <a:avLst/>
          </a:prstGeom>
        </p:spPr>
      </p:pic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01B722D4-51AB-7338-AAFA-F9E6D859CA85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358343" y="2759075"/>
            <a:ext cx="3518177" cy="3651250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CC51C61C-F3B2-34AC-CDB4-8B4053FAE0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531538" y="2759075"/>
            <a:ext cx="3504161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3451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984BD-C113-6740-5339-B41B4B77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131EAB6-5B08-7627-2542-766FC03397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5ACC7C-B6B5-4069-B752-F87BA2F35C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E47435C9-0486-159E-C068-3A7402A32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C4E5AC-4345-F76B-57A8-09F0A95865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C568CA6-974F-D313-14A7-7847C1DF1C9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348341" y="2759075"/>
            <a:ext cx="3538180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6106DE6-EC2C-1292-0478-F6F21E27465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92155" y="2759075"/>
            <a:ext cx="3518177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8760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5A484-D3BB-DB37-74B0-64253A74C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4339A10-CDA5-9821-AF89-799692CEB4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E22BBF-9CB1-5EC7-D312-8EF9CBCFC58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96126E-00B5-EE0C-6AB5-097C735BC19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BE25709-A2D5-DF8B-15F5-A951488C5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Rename Signals</a:t>
            </a:r>
            <a:endParaRPr lang="en-US" sz="1800" b="0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2D16130-15FE-DAD4-2B98-0C1894ECD66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2E1D363-39CC-1C2D-6BB3-66A56295E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533355" y="2759075"/>
            <a:ext cx="3500527" cy="3651250"/>
          </a:xfrm>
          <a:prstGeom prst="rect">
            <a:avLst/>
          </a:prstGeom>
        </p:spPr>
      </p:pic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2813DDC7-EDD7-2718-57F7-7EC542D99571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367111" y="2759075"/>
            <a:ext cx="3500641" cy="3651250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FEEC6BB-CEBC-ED33-1638-F0CBAA7F2867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200894" y="2759075"/>
            <a:ext cx="350070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459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F73685-B026-648D-4515-C3157D71A7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325E4-FA2B-8DA0-C776-0A0554FBDF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2F985-BEA8-7CA7-AFC7-46EB9B4EB4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9DB835-1E0C-110B-653C-E016FAE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Signals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55BD705-0A6A-B626-1361-7833EB7EE4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Move other signal names towards their source blocks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1782483-E488-5635-9C13-A6DDE7E2B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395288" y="5152897"/>
            <a:ext cx="3776662" cy="1257428"/>
          </a:xfrm>
          <a:prstGeom prst="rect">
            <a:avLst/>
          </a:prstGeom>
        </p:spPr>
      </p:pic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36FCB97-7D37-74A8-2744-C32D0F65407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229100" y="5152831"/>
            <a:ext cx="3776663" cy="125749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E45A5745-C798-7913-A372-DE8C12968940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223073" y="2759075"/>
            <a:ext cx="3456342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688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1145FD7-ED3F-B7B2-D4B5-85D1B79B21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72102" y="1992254"/>
            <a:ext cx="4664813" cy="731520"/>
          </a:xfrm>
        </p:spPr>
        <p:txBody>
          <a:bodyPr/>
          <a:lstStyle/>
          <a:p>
            <a:r>
              <a:rPr lang="en-US" dirty="0"/>
              <a:t>Step 2. Observe cleaned up window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0C29A74-3058-F333-4F9E-C6EC33390B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6570590" cy="731520"/>
          </a:xfrm>
        </p:spPr>
        <p:txBody>
          <a:bodyPr/>
          <a:lstStyle/>
          <a:p>
            <a:r>
              <a:rPr lang="en-US" dirty="0"/>
              <a:t>Step 1. Clean up the window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739428-D983-FA1E-DC6E-6278D8BEEB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B6FE35CD-E676-2CEE-05D7-C908E4092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Clean up Window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1BC69F5E-7653-1AC7-39F0-970C50BD1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395288" y="2759075"/>
            <a:ext cx="6571120" cy="3656333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E4EAEFC3-38E4-671B-6CF4-9B8CA3A0BC1B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072103" y="2759075"/>
            <a:ext cx="3705644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5414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4445B2-5D44-8737-FA93-DD4D11043D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0C8151-98CE-FB58-C406-FE86C673D2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Simulink Model and press space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0D5C92-F5E6-C67E-F298-7845F70670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352E27C-BE0D-72EA-D678-489F261A5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Contents to Window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BE752F6-675E-B4D0-6E51-B3A94DFA31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45612" y="2759075"/>
            <a:ext cx="4723863" cy="3651250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6FF370F-A61C-2D20-3A77-DA943B25E2C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759075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021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A9DC90-F4F4-BD7D-CEBD-9B4B5439AA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71EEC-DBEA-9F3C-DB4B-D174796418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the down arrow and remove bar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C00130-9554-A409-7AA2-FDAF7D0BBF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C1C8C68-2A56-AFA5-D904-E19A452D4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Remove Yellow Bar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126AAFE-DF7E-6037-1436-526714BA67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1557208" y="2852309"/>
            <a:ext cx="3300672" cy="2093611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30C0C113-644E-87B3-6601-69C2235BA35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463" y="2852309"/>
            <a:ext cx="5622925" cy="302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7130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878DCEE-31FC-0878-7A64-9BDBCC35B1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EC55E-D6A9-F83F-45D4-72277EEAC8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601918-891B-20B0-E067-6174555F73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3BBB1A3-7232-E33A-59AA-28ED4C50D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Select Lines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  <a:latin typeface="Aptos"/>
              </a:rPr>
              <a:t>Note: Do Not Select any blocks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EE835C57-FB6D-7C2F-F6DA-F2C0E2CD09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395288" y="2852309"/>
            <a:ext cx="5624512" cy="3464781"/>
          </a:xfrm>
          <a:prstGeom prst="rect">
            <a:avLst/>
          </a:prstGeom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0E53AE7-EABE-B63E-71E6-2395E4F857FC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113463" y="2855810"/>
            <a:ext cx="5622925" cy="3457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909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7D0D213-A3B7-267C-1593-E5AE6A3A52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1774855-20BF-6002-45E2-D26DEDCC1D9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18DB36-30D3-686D-7702-1E1A4DFB77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1)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17180FBB-784A-D356-170A-18DC57082F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555203" y="2852309"/>
            <a:ext cx="11019682" cy="1398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09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BCC7-BBB6-00AC-AB99-63813CAB0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F45BFE2-5093-48B9-8979-2CF6425F83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A45FC2-70FB-4520-6DA1-9B75B03E44E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32397-7B47-F846-4E0C-18739714BD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3FD5E2C-7DFC-1BCA-11BD-E904A8953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Logging (Part 2)</a:t>
            </a:r>
          </a:p>
        </p:txBody>
      </p:sp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FE675B39-AC92-13DE-465F-E46DAEB940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728696" y="2043113"/>
            <a:ext cx="4957696" cy="4367212"/>
          </a:xfrm>
          <a:prstGeom prst="rect">
            <a:avLst/>
          </a:prstGeom>
        </p:spPr>
      </p:pic>
      <p:pic>
        <p:nvPicPr>
          <p:cNvPr id="27" name="Content Placeholder 26">
            <a:extLst>
              <a:ext uri="{FF2B5EF4-FFF2-40B4-BE49-F238E27FC236}">
                <a16:creationId xmlns:a16="http://schemas.microsoft.com/office/drawing/2014/main" id="{5D6BCCCD-E46B-EBBA-E46F-BCAD2CC3379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455910" y="2043113"/>
            <a:ext cx="4938030" cy="4367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005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3389C-A617-C504-AE55-1468D7D734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122A067-03DF-2C1B-8C59-87F9DE5F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003E58-98B9-3985-D9CB-87E98C961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Run a simulation 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Run		Shortcut (CTRL+T)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198604631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2F79FBF-04B9-780E-A94E-E0754A023B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Run</a:t>
            </a:r>
          </a:p>
          <a:p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3E285AC-BB46-4A15-1E33-44F2FE15184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114D054-45D3-2C6B-D004-1ED1395D6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Simulation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C5245F31-9D8A-6008-2201-5E72AF0859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1434022" y="2852309"/>
            <a:ext cx="9262044" cy="317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7149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ACF9B-7E7E-7CCE-4617-016B4525D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0EB84-73BF-1E5D-89F5-1BE34CBB1E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6F613-CCB4-ABE2-D716-C7974F21A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A06BDD-F972-1020-18E1-375EC0A79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Data inspector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Graph 		Graph Data / Edit Grid / Use Cursors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Stop Time		Default Value is 10 sec</a:t>
            </a:r>
          </a:p>
        </p:txBody>
      </p:sp>
    </p:spTree>
    <p:extLst>
      <p:ext uri="{BB962C8B-B14F-4D97-AF65-F5344CB8AC3E}">
        <p14:creationId xmlns:p14="http://schemas.microsoft.com/office/powerpoint/2010/main" val="4824149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7EE104F-2DA7-99DB-CF27-E2A5376F2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9192630-2AE5-C722-F707-666B0B3931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59F69C1-5FE3-618F-72F4-38A4F922C9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F3B75B73-4226-76CF-31CA-4B707AA7B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89204"/>
          </a:xfrm>
        </p:spPr>
        <p:txBody>
          <a:bodyPr/>
          <a:lstStyle/>
          <a:p>
            <a:r>
              <a:rPr lang="en-US" dirty="0"/>
              <a:t>Open Data Inspector</a:t>
            </a:r>
            <a:br>
              <a:rPr lang="en-US" dirty="0"/>
            </a:br>
            <a:r>
              <a:rPr lang="en-US" sz="1400" b="0" i="1" dirty="0">
                <a:solidFill>
                  <a:srgbClr val="FF0000"/>
                </a:solidFill>
              </a:rPr>
              <a:t>Note: Simulation must be run prior to opening Data inspector to observe raw values.</a:t>
            </a:r>
            <a:endParaRPr lang="en-US" sz="1400" b="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BE1FBE1-00A5-3E65-469B-86D800141C1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3. Observe the Data Inspector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1C4E0DA0-2125-1361-734B-AF56BB55C3F9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261700" y="2759075"/>
            <a:ext cx="3379087" cy="3651250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3FAAFDBB-DB32-5501-2A9B-6EA8019B75D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229100" y="2759075"/>
            <a:ext cx="3776663" cy="2513370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1682C7BE-BFCB-10CB-E203-E0B12EFF40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395288" y="2759075"/>
            <a:ext cx="3776662" cy="3496040"/>
          </a:xfrm>
          <a:prstGeom prst="rect">
            <a:avLst/>
          </a:prstGeom>
        </p:spPr>
      </p:pic>
      <p:sp>
        <p:nvSpPr>
          <p:cNvPr id="28" name="Arrow: Up 27">
            <a:extLst>
              <a:ext uri="{FF2B5EF4-FFF2-40B4-BE49-F238E27FC236}">
                <a16:creationId xmlns:a16="http://schemas.microsoft.com/office/drawing/2014/main" id="{64A0BB2C-1ADD-D2E0-F8F3-B9265A944580}"/>
              </a:ext>
            </a:extLst>
          </p:cNvPr>
          <p:cNvSpPr/>
          <p:nvPr/>
        </p:nvSpPr>
        <p:spPr>
          <a:xfrm rot="10800000">
            <a:off x="2114655" y="5086024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Up 29">
            <a:extLst>
              <a:ext uri="{FF2B5EF4-FFF2-40B4-BE49-F238E27FC236}">
                <a16:creationId xmlns:a16="http://schemas.microsoft.com/office/drawing/2014/main" id="{75FC103F-2B20-5911-44B7-8EF74D9F3BE5}"/>
              </a:ext>
            </a:extLst>
          </p:cNvPr>
          <p:cNvSpPr/>
          <p:nvPr/>
        </p:nvSpPr>
        <p:spPr>
          <a:xfrm rot="10800000">
            <a:off x="1171680" y="4033511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BE5D6EF7-A576-9C2D-22FC-E82CFA6A4DEA}"/>
              </a:ext>
            </a:extLst>
          </p:cNvPr>
          <p:cNvSpPr/>
          <p:nvPr/>
        </p:nvSpPr>
        <p:spPr>
          <a:xfrm rot="10800000">
            <a:off x="1376467" y="260985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Up 33">
            <a:extLst>
              <a:ext uri="{FF2B5EF4-FFF2-40B4-BE49-F238E27FC236}">
                <a16:creationId xmlns:a16="http://schemas.microsoft.com/office/drawing/2014/main" id="{7F9C2BCE-E3A3-BE06-4C97-822DE3F728DE}"/>
              </a:ext>
            </a:extLst>
          </p:cNvPr>
          <p:cNvSpPr/>
          <p:nvPr/>
        </p:nvSpPr>
        <p:spPr>
          <a:xfrm rot="10800000">
            <a:off x="3362429" y="3429000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7" name="Content Placeholder 25">
            <a:extLst>
              <a:ext uri="{FF2B5EF4-FFF2-40B4-BE49-F238E27FC236}">
                <a16:creationId xmlns:a16="http://schemas.microsoft.com/office/drawing/2014/main" id="{971FA5EB-4F1F-42A8-D018-9A323FB9BB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547" t="24844" r="65276" b="72451"/>
          <a:stretch>
            <a:fillRect/>
          </a:stretch>
        </p:blipFill>
        <p:spPr>
          <a:xfrm>
            <a:off x="3684676" y="1956953"/>
            <a:ext cx="343424" cy="4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6317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E9421D79-56A8-8AE1-C42C-A5DF8EC542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2864481" y="1349421"/>
            <a:ext cx="8872435" cy="5060904"/>
          </a:xfrm>
          <a:prstGeom prst="rect">
            <a:avLst/>
          </a:prstGeo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CA5CC42-9589-0D6C-386D-EDEDA0BAA40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992254"/>
            <a:ext cx="2366236" cy="4088035"/>
          </a:xfrm>
        </p:spPr>
        <p:txBody>
          <a:bodyPr>
            <a:norm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>
                <a:solidFill>
                  <a:schemeClr val="tx1"/>
                </a:solidFill>
              </a:rPr>
              <a:t>Note: The only reason we have 10 seconds of data is because the stop time is currently set for 10 seconds.</a:t>
            </a:r>
          </a:p>
          <a:p>
            <a:endParaRPr lang="en-US" sz="1200" i="1" dirty="0">
              <a:solidFill>
                <a:schemeClr val="tx1"/>
              </a:solidFill>
            </a:endParaRPr>
          </a:p>
          <a:p>
            <a:r>
              <a:rPr lang="en-US" sz="1200" i="1" dirty="0">
                <a:solidFill>
                  <a:schemeClr val="tx1"/>
                </a:solidFill>
              </a:rPr>
              <a:t>Increase the stop time to obtain more data.</a:t>
            </a:r>
            <a:endParaRPr lang="en-US" sz="1400" i="1" dirty="0">
              <a:solidFill>
                <a:schemeClr val="tx1"/>
              </a:solidFill>
            </a:endParaRP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D51971D1-CFA1-D67E-3B67-78D9701C4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B10F40B-B978-ED84-AB39-07D295640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1 Signal to Chart + Stop Time Overview</a:t>
            </a:r>
          </a:p>
        </p:txBody>
      </p:sp>
    </p:spTree>
    <p:extLst>
      <p:ext uri="{BB962C8B-B14F-4D97-AF65-F5344CB8AC3E}">
        <p14:creationId xmlns:p14="http://schemas.microsoft.com/office/powerpoint/2010/main" val="2447863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08E35E9-3847-D824-FC46-4675A290B7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6757DAC-9DF4-E10D-D87B-0EDDC48B43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7582E8E0-E787-A901-EBFD-6DD375D13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Grid Layout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287E60C7-A43A-E9FE-E5D0-D740FDF90F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450472" y="2043113"/>
            <a:ext cx="55141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85F1D4A-CC56-CC3F-1A85-CA77EDC2880A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914400"/>
            <a:ext cx="5654115" cy="549592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30CD35B-E580-D8AE-0092-9A854BA668F7}"/>
              </a:ext>
            </a:extLst>
          </p:cNvPr>
          <p:cNvSpPr/>
          <p:nvPr/>
        </p:nvSpPr>
        <p:spPr>
          <a:xfrm>
            <a:off x="3610466" y="4288120"/>
            <a:ext cx="650448" cy="39700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606E9E-C73B-7DCD-925B-451504E66CF4}"/>
              </a:ext>
            </a:extLst>
          </p:cNvPr>
          <p:cNvSpPr/>
          <p:nvPr/>
        </p:nvSpPr>
        <p:spPr>
          <a:xfrm>
            <a:off x="8923056" y="2819109"/>
            <a:ext cx="692283" cy="4242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750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BAD649D-5E2F-FD62-8D72-FA01A29573E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5BE762F-78CE-B201-8A27-8B2D8F2DD7D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7BEB303-DDBB-BF3F-2DD1-67F4E28D1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0709B06-2524-004A-A52D-E15A87A0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Signal(s) to Chart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59FC8D-7C7C-B678-E0F8-DAA040418B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36609" y="1563046"/>
            <a:ext cx="2843287" cy="365760"/>
          </a:xfrm>
        </p:spPr>
        <p:txBody>
          <a:bodyPr>
            <a:normAutofit fontScale="92500"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EE9FA9D-ACD6-1B98-9561-17FC698AC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607625" y="2043113"/>
            <a:ext cx="3351987" cy="436721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6F7852DC-0858-2AD8-73BC-37B1AA7D4133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29100" y="2043113"/>
            <a:ext cx="4899844" cy="4367212"/>
          </a:xfrm>
          <a:prstGeom prst="rect">
            <a:avLst/>
          </a:prstGeom>
        </p:spPr>
      </p:pic>
      <p:pic>
        <p:nvPicPr>
          <p:cNvPr id="21" name="Content Placeholder 20">
            <a:extLst>
              <a:ext uri="{FF2B5EF4-FFF2-40B4-BE49-F238E27FC236}">
                <a16:creationId xmlns:a16="http://schemas.microsoft.com/office/drawing/2014/main" id="{64366120-FC18-DD2E-EC02-95B219EB5834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9236610" y="2042464"/>
            <a:ext cx="2843287" cy="969905"/>
          </a:xfrm>
          <a:prstGeom prst="rect">
            <a:avLst/>
          </a:prstGeom>
          <a:ln>
            <a:noFill/>
          </a:ln>
        </p:spPr>
      </p:pic>
      <p:sp>
        <p:nvSpPr>
          <p:cNvPr id="25" name="Text Placeholder 13">
            <a:extLst>
              <a:ext uri="{FF2B5EF4-FFF2-40B4-BE49-F238E27FC236}">
                <a16:creationId xmlns:a16="http://schemas.microsoft.com/office/drawing/2014/main" id="{953B5473-9950-9F1C-9AD0-2C7404A1BC32}"/>
              </a:ext>
            </a:extLst>
          </p:cNvPr>
          <p:cNvSpPr txBox="1">
            <a:spLocks/>
          </p:cNvSpPr>
          <p:nvPr/>
        </p:nvSpPr>
        <p:spPr>
          <a:xfrm>
            <a:off x="9236609" y="3366214"/>
            <a:ext cx="2843287" cy="36576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800" b="0" kern="1200">
                <a:solidFill>
                  <a:sysClr val="windowText" lastClr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4. Save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97AEE18-7BE7-3D8E-5260-9F9DAEC2C9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9257475" y="3731973"/>
            <a:ext cx="2604326" cy="2640676"/>
          </a:xfrm>
          <a:prstGeom prst="rect">
            <a:avLst/>
          </a:prstGeom>
          <a:ln>
            <a:noFill/>
          </a:ln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AEE1396-34E1-49B0-4F0E-A24782589976}"/>
              </a:ext>
            </a:extLst>
          </p:cNvPr>
          <p:cNvCxnSpPr>
            <a:cxnSpLocks/>
          </p:cNvCxnSpPr>
          <p:nvPr/>
        </p:nvCxnSpPr>
        <p:spPr>
          <a:xfrm>
            <a:off x="9189474" y="914401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FAD188-84D2-DEC8-C1DA-07D79F5F2880}"/>
              </a:ext>
            </a:extLst>
          </p:cNvPr>
          <p:cNvCxnSpPr>
            <a:cxnSpLocks/>
          </p:cNvCxnSpPr>
          <p:nvPr/>
        </p:nvCxnSpPr>
        <p:spPr>
          <a:xfrm>
            <a:off x="4100571" y="903933"/>
            <a:ext cx="0" cy="56560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5200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3D96-71C8-50E9-2282-AAB67D3E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6D792-7C3F-BD3F-873A-DA1F508E2B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B33F52-6CEB-82FE-A393-5BC253FA9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6720D3-C0E7-D971-97FF-100015D2BC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blocks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Blocks 			Format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031834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E5F58EB-AB12-9F10-0CD7-41A8C7023AA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9F949557-61D8-DF69-3287-F2F872416C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43B67F1-CFF5-45D0-9160-5E34AA7DA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C85B7DFF-9252-4408-BA01-62BCA9A60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Formatting Blocks – Align Left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400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167C471-CD75-287D-0AC0-4F96967B9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081C0998-356F-3DF4-08E1-67B50615DD0B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4045"/>
          <a:stretch>
            <a:fillRect/>
          </a:stretch>
        </p:blipFill>
        <p:spPr>
          <a:xfrm>
            <a:off x="8068518" y="2655378"/>
            <a:ext cx="4072022" cy="3877056"/>
          </a:xfrm>
          <a:prstGeom prst="rect">
            <a:avLst/>
          </a:prstGeom>
        </p:spPr>
      </p:pic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1E1A176-6BA8-AA9F-86E1-7000DB265D30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4564445" y="2655378"/>
            <a:ext cx="3336948" cy="3922776"/>
          </a:xfrm>
          <a:prstGeom prst="rect">
            <a:avLst/>
          </a:prstGeom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8396C6B5-FE57-AAA0-983B-5567F8C8BE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679525" y="2655378"/>
            <a:ext cx="3406594" cy="3877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8632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F00FB1B-4E63-02CC-FC29-E59865ACE65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Property Inspector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2FEE59-A398-103E-7E00-61CE71AEE8D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“MODELING” Tab and expand options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83E49E70-C9FD-BD56-AFBA-B3EBE13D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84CDC20-538F-C970-46CF-5F310B2CC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1)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  <a:endParaRPr lang="en-US" dirty="0"/>
          </a:p>
        </p:txBody>
      </p:sp>
      <p:pic>
        <p:nvPicPr>
          <p:cNvPr id="23" name="Content Placeholder 22">
            <a:extLst>
              <a:ext uri="{FF2B5EF4-FFF2-40B4-BE49-F238E27FC236}">
                <a16:creationId xmlns:a16="http://schemas.microsoft.com/office/drawing/2014/main" id="{DD528E1A-0AA4-441E-B8DC-13E867724A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100" y="2759075"/>
            <a:ext cx="4916887" cy="2267867"/>
          </a:xfrm>
          <a:prstGeom prst="rect">
            <a:avLst/>
          </a:prstGeom>
        </p:spPr>
      </p:pic>
      <p:pic>
        <p:nvPicPr>
          <p:cNvPr id="25" name="Content Placeholder 24">
            <a:extLst>
              <a:ext uri="{FF2B5EF4-FFF2-40B4-BE49-F238E27FC236}">
                <a16:creationId xmlns:a16="http://schemas.microsoft.com/office/drawing/2014/main" id="{636B2735-0B73-43A1-22A1-49C75DA97B14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455968" y="2759075"/>
            <a:ext cx="4937915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775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9AF-CC67-52CB-7E38-F80373ABE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2638C17E-BE06-F0F7-F917-434733910C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777210E-CF19-3957-6812-FF4A42AD1E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Property Inspector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189C1E1-96EC-04C8-8C70-69C1C957DB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E6E70D0-E693-76E2-0392-EC9260477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731520"/>
          </a:xfrm>
        </p:spPr>
        <p:txBody>
          <a:bodyPr/>
          <a:lstStyle/>
          <a:p>
            <a:r>
              <a:rPr lang="en-US" dirty="0"/>
              <a:t>Show Property Inspector (Method 2)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DEB9B9-BE26-7FF6-347C-A415EC5CE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630637" y="2759075"/>
            <a:ext cx="5153813" cy="3038833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43850D8-51CA-1F34-6A99-1178AD7DF3E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7312920" y="2759075"/>
            <a:ext cx="3224010" cy="3651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679516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5225B62C-43D3-BE32-A57C-A0316060A8C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5E1930E-FFE5-C94C-301B-4CC8B6F025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4FAAE48-27B7-B2CC-67D0-A3EB60AFED9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32983A16-4B67-810F-60D6-F83A5492B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BC7398C2-2C1A-0FDE-4968-9FABEC8176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394865" y="2042464"/>
            <a:ext cx="7778173" cy="4406948"/>
          </a:xfrm>
          <a:prstGeom prst="rect">
            <a:avLst/>
          </a:prstGeom>
        </p:spPr>
      </p:pic>
      <p:pic>
        <p:nvPicPr>
          <p:cNvPr id="30" name="Content Placeholder 25">
            <a:extLst>
              <a:ext uri="{FF2B5EF4-FFF2-40B4-BE49-F238E27FC236}">
                <a16:creationId xmlns:a16="http://schemas.microsoft.com/office/drawing/2014/main" id="{2DD8CD07-1A75-9C83-51ED-745ED0A8B4A2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8598879" y="2042464"/>
            <a:ext cx="3119731" cy="318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6808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C9B73-8186-77CA-2C4F-3E6C10487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D2070818-07A7-946A-6F88-1A4FE92E6D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88888" y="1563046"/>
            <a:ext cx="3739714" cy="365760"/>
          </a:xfrm>
        </p:spPr>
        <p:txBody>
          <a:bodyPr>
            <a:normAutofit/>
          </a:bodyPr>
          <a:lstStyle/>
          <a:p>
            <a:r>
              <a:rPr lang="en-US" dirty="0"/>
              <a:t>Step 2. Observe updated Attributes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6C54C42-B7A2-9814-A803-0251269B70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7777220" cy="365760"/>
          </a:xfrm>
        </p:spPr>
        <p:txBody>
          <a:bodyPr/>
          <a:lstStyle/>
          <a:p>
            <a:r>
              <a:rPr lang="en-US" dirty="0"/>
              <a:t>Step 1. Click Block + Expand &amp; Edit Signal Attributes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B17D0E-AB1B-D2C6-2051-3D70A4A2565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977ACF53-4432-9C3A-CC4B-1B60B2049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Signal Attributes (P1)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F8A62B2-5094-CF10-6D9C-CC2D3F4B13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536691" y="2042465"/>
            <a:ext cx="7629106" cy="4407408"/>
          </a:xfrm>
          <a:prstGeom prst="rect">
            <a:avLst/>
          </a:prstGeom>
        </p:spPr>
      </p:pic>
      <p:sp>
        <p:nvSpPr>
          <p:cNvPr id="11" name="Arrow: Up 10">
            <a:extLst>
              <a:ext uri="{FF2B5EF4-FFF2-40B4-BE49-F238E27FC236}">
                <a16:creationId xmlns:a16="http://schemas.microsoft.com/office/drawing/2014/main" id="{9D24418D-DE40-B2A6-5B14-6F22B59EB127}"/>
              </a:ext>
            </a:extLst>
          </p:cNvPr>
          <p:cNvSpPr/>
          <p:nvPr/>
        </p:nvSpPr>
        <p:spPr>
          <a:xfrm rot="5400000">
            <a:off x="249256" y="3896310"/>
            <a:ext cx="365761" cy="395289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755CBB7F-160B-7C48-1523-93FBFEC72AD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8717250" y="2042464"/>
            <a:ext cx="3001360" cy="30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2740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58E1EFD-0830-6482-723B-E22687849F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7BE9EC8-6906-DFCF-3B91-F4F690793B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E1860D15-2307-2325-D36F-0EB7B7988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C4F58E8-8969-BEF8-8A55-F05296827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DF5A7799-20EA-66CC-EE94-07F38FF3B6B2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F9C9106B-3752-3A01-83B6-4D3319C5086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61792BC4-858F-1D94-711A-94CE5A955E3F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4547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83411-7D46-E6DA-3EE2-CC6ADE9B2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0DE9EE-2708-DCC2-921D-49F84701C25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615A4A6-FF83-CD51-D3D0-0CC913D5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Detailed Success in this section looks like knowing how to 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D4A697-C136-48DF-BFCF-12AE5B9F8B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 eaLnBrk="1" hangingPunct="1">
              <a:lnSpc>
                <a:spcPct val="90000"/>
              </a:lnSpc>
              <a:spcBef>
                <a:spcPts val="1000"/>
              </a:spcBef>
            </a:pPr>
            <a:r>
              <a:rPr lang="en-US" dirty="0"/>
              <a:t>Use Model Explorer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Data Dictionary (</a:t>
            </a:r>
            <a:r>
              <a:rPr lang="en-US" sz="1800" i="1" dirty="0" err="1"/>
              <a:t>sldd</a:t>
            </a:r>
            <a:r>
              <a:rPr lang="en-US" sz="1800" i="1" dirty="0"/>
              <a:t>)	Create / Edit</a:t>
            </a:r>
          </a:p>
          <a:p>
            <a:pPr marL="685800" lvl="1" indent="-228600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i="1" dirty="0"/>
              <a:t>Signal Attributes 		View / Edit / Property Inspector</a:t>
            </a:r>
          </a:p>
        </p:txBody>
      </p:sp>
    </p:spTree>
    <p:extLst>
      <p:ext uri="{BB962C8B-B14F-4D97-AF65-F5344CB8AC3E}">
        <p14:creationId xmlns:p14="http://schemas.microsoft.com/office/powerpoint/2010/main" val="38651395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E0D61F4-83A6-87DD-F4CC-1B0FFD6EFFD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A5AAB5-9C59-CB32-8394-48F4C2C0B6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2AA4820-D472-79CC-7585-DE0AEE4496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0EFA85-C487-33F7-D82E-267779C8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Model Explorer</a:t>
            </a:r>
          </a:p>
        </p:txBody>
      </p:sp>
      <p:pic>
        <p:nvPicPr>
          <p:cNvPr id="18" name="Content Placeholder 17">
            <a:extLst>
              <a:ext uri="{FF2B5EF4-FFF2-40B4-BE49-F238E27FC236}">
                <a16:creationId xmlns:a16="http://schemas.microsoft.com/office/drawing/2014/main" id="{1E9CF2AC-E5E7-5C67-B475-73826DB927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1303931" y="2759075"/>
            <a:ext cx="3807226" cy="3651250"/>
          </a:xfrm>
          <a:prstGeom prst="rect">
            <a:avLst/>
          </a:prstGeom>
        </p:spPr>
      </p:pic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A1C7ED89-3B42-2426-31E1-FD16BA6E6BC9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519828" y="2759075"/>
            <a:ext cx="6584206" cy="3073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3234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AFB61AA-618D-8E62-AE46-ED8BE54C6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Drill Down to “External Data” and then Click “New”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EA85813-BB2A-1807-DD64-113483C0F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865A10B2-9764-1090-723D-8A0D2FAB6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596252"/>
          </a:xfrm>
        </p:spPr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In later chapters I deep dive the data dictionary. For now, I will only cover high level topics.</a:t>
            </a:r>
          </a:p>
        </p:txBody>
      </p:sp>
      <p:pic>
        <p:nvPicPr>
          <p:cNvPr id="18" name="Content Placeholder 7">
            <a:extLst>
              <a:ext uri="{FF2B5EF4-FFF2-40B4-BE49-F238E27FC236}">
                <a16:creationId xmlns:a16="http://schemas.microsoft.com/office/drawing/2014/main" id="{7BF1609D-02F2-F6D8-87CA-7E208FA8F2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466" b="58868"/>
          <a:stretch>
            <a:fillRect/>
          </a:stretch>
        </p:blipFill>
        <p:spPr>
          <a:xfrm>
            <a:off x="395288" y="2759075"/>
            <a:ext cx="11339512" cy="3192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6103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DEA34-1529-D8B2-7A32-C836E6DBB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FD06E56-E64F-2EE3-CAA7-B92724D08C8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2) Apply Changes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567F8A8-D5E3-F1C2-5714-11558CBC5C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Save file as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E75D9FF-D8FF-358E-6955-2BE3FF83F7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9A85F825-140B-B1A1-A7C1-5A3C1933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Data Dictionary File (.</a:t>
            </a:r>
            <a:r>
              <a:rPr lang="en-US" dirty="0" err="1"/>
              <a:t>sldd</a:t>
            </a:r>
            <a:r>
              <a:rPr lang="en-US" dirty="0"/>
              <a:t>)</a:t>
            </a:r>
            <a:endParaRPr lang="en-US" sz="1200" b="0" i="1" dirty="0">
              <a:solidFill>
                <a:srgbClr val="FF0000"/>
              </a:solidFill>
            </a:endParaRPr>
          </a:p>
        </p:txBody>
      </p:sp>
      <p:pic>
        <p:nvPicPr>
          <p:cNvPr id="32" name="Content Placeholder 21">
            <a:extLst>
              <a:ext uri="{FF2B5EF4-FFF2-40B4-BE49-F238E27FC236}">
                <a16:creationId xmlns:a16="http://schemas.microsoft.com/office/drawing/2014/main" id="{B9164461-C473-8151-B995-BFEC05FD7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772" t="81394" b="1969"/>
          <a:stretch>
            <a:fillRect/>
          </a:stretch>
        </p:blipFill>
        <p:spPr>
          <a:xfrm>
            <a:off x="9697937" y="5373497"/>
            <a:ext cx="2038451" cy="11969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Content Placeholder 21">
            <a:extLst>
              <a:ext uri="{FF2B5EF4-FFF2-40B4-BE49-F238E27FC236}">
                <a16:creationId xmlns:a16="http://schemas.microsoft.com/office/drawing/2014/main" id="{9D67CDB5-8601-3348-99FE-42ACF51E7AF7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l="46352" t="6713" r="15592" b="52300"/>
          <a:stretch>
            <a:fillRect/>
          </a:stretch>
        </p:blipFill>
        <p:spPr>
          <a:xfrm>
            <a:off x="6113463" y="2108976"/>
            <a:ext cx="5622925" cy="325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5" name="Content Placeholder 3">
            <a:extLst>
              <a:ext uri="{FF2B5EF4-FFF2-40B4-BE49-F238E27FC236}">
                <a16:creationId xmlns:a16="http://schemas.microsoft.com/office/drawing/2014/main" id="{0D02B84A-D910-237B-2371-5B38FD6712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50211" b="36084"/>
          <a:stretch>
            <a:fillRect/>
          </a:stretch>
        </p:blipFill>
        <p:spPr>
          <a:xfrm>
            <a:off x="395288" y="2108976"/>
            <a:ext cx="5624512" cy="38809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447001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Content Placeholder 21">
            <a:extLst>
              <a:ext uri="{FF2B5EF4-FFF2-40B4-BE49-F238E27FC236}">
                <a16:creationId xmlns:a16="http://schemas.microsoft.com/office/drawing/2014/main" id="{DCB353DD-4B98-6AA2-0008-D06C02759C06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2"/>
          <a:srcRect r="88008" b="64104"/>
          <a:stretch>
            <a:fillRect/>
          </a:stretch>
        </p:blipFill>
        <p:spPr>
          <a:xfrm>
            <a:off x="4228569" y="2050798"/>
            <a:ext cx="2697473" cy="434000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3651F84-34C0-60AF-3BBE-7875FC0219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/>
          <a:lstStyle/>
          <a:p>
            <a:r>
              <a:rPr lang="en-US" dirty="0"/>
              <a:t>Step 2. Drill down to Design Data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25451B5-59ED-C507-94FE-B602E2056CC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</a:t>
            </a:r>
            <a:r>
              <a:rPr lang="en-US" dirty="0" err="1"/>
              <a:t>sampleDD</a:t>
            </a:r>
            <a:r>
              <a:rPr lang="en-US" dirty="0"/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3307F5C-C328-4FDE-C5EC-9D2BDB1773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97909E-CD13-75DB-9574-1F6CA5012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Design Data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28CC08A-73A2-A990-0A93-319F930759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r>
              <a:rPr lang="en-US" dirty="0"/>
              <a:t>Step 3. Observe Design Data</a:t>
            </a:r>
          </a:p>
        </p:txBody>
      </p:sp>
      <p:pic>
        <p:nvPicPr>
          <p:cNvPr id="21" name="Content Placeholder 17">
            <a:extLst>
              <a:ext uri="{FF2B5EF4-FFF2-40B4-BE49-F238E27FC236}">
                <a16:creationId xmlns:a16="http://schemas.microsoft.com/office/drawing/2014/main" id="{EEFA6EE9-2E8B-6141-6F5C-E349145F34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r="85256" b="55746"/>
          <a:stretch>
            <a:fillRect/>
          </a:stretch>
        </p:blipFill>
        <p:spPr>
          <a:xfrm>
            <a:off x="934882" y="2050799"/>
            <a:ext cx="2697473" cy="435183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BC743D8B-1749-C2F8-C402-92EE8A6509E8}"/>
              </a:ext>
            </a:extLst>
          </p:cNvPr>
          <p:cNvSpPr txBox="1"/>
          <p:nvPr/>
        </p:nvSpPr>
        <p:spPr>
          <a:xfrm>
            <a:off x="6953471" y="5264776"/>
            <a:ext cx="105157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1) Expand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1EC08CD-78A7-ACDF-0B0C-1F18D53D6993}"/>
              </a:ext>
            </a:extLst>
          </p:cNvPr>
          <p:cNvSpPr txBox="1"/>
          <p:nvPr/>
        </p:nvSpPr>
        <p:spPr>
          <a:xfrm>
            <a:off x="6953471" y="5694342"/>
            <a:ext cx="769441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2) Click</a:t>
            </a:r>
          </a:p>
        </p:txBody>
      </p:sp>
      <p:pic>
        <p:nvPicPr>
          <p:cNvPr id="40" name="Content Placeholder 18">
            <a:extLst>
              <a:ext uri="{FF2B5EF4-FFF2-40B4-BE49-F238E27FC236}">
                <a16:creationId xmlns:a16="http://schemas.microsoft.com/office/drawing/2014/main" id="{A2B1C7A3-94DE-A129-A61D-2B1D9B90428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4604" b="59925"/>
          <a:stretch>
            <a:fillRect/>
          </a:stretch>
        </p:blipFill>
        <p:spPr>
          <a:xfrm>
            <a:off x="8399777" y="2050798"/>
            <a:ext cx="3102029" cy="434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710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FA7077EE-55DB-A77C-1D79-7D840E86EEB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“Simulink Signal”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This will add a new signal to your data inspector.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DD28EAC-92AA-5D75-4ADD-3E59EDFD0A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9DD8F10B-A291-1F5A-FC2D-03FDBC7D0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Simulink Signal</a:t>
            </a:r>
          </a:p>
        </p:txBody>
      </p:sp>
      <p:pic>
        <p:nvPicPr>
          <p:cNvPr id="47" name="Content Placeholder 19">
            <a:extLst>
              <a:ext uri="{FF2B5EF4-FFF2-40B4-BE49-F238E27FC236}">
                <a16:creationId xmlns:a16="http://schemas.microsoft.com/office/drawing/2014/main" id="{A560FBBB-211E-A8D7-793D-08FA19786B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0406" b="62962"/>
          <a:stretch>
            <a:fillRect/>
          </a:stretch>
        </p:blipFill>
        <p:spPr>
          <a:xfrm>
            <a:off x="1528335" y="2763583"/>
            <a:ext cx="9073418" cy="3642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82780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C8181-ED90-83AE-FB90-0013CDD5D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>
            <a:extLst>
              <a:ext uri="{FF2B5EF4-FFF2-40B4-BE49-F238E27FC236}">
                <a16:creationId xmlns:a16="http://schemas.microsoft.com/office/drawing/2014/main" id="{F0839451-B068-A6A9-E329-5070A7BCF2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9209" t="5859" b="65414"/>
          <a:stretch>
            <a:fillRect/>
          </a:stretch>
        </p:blipFill>
        <p:spPr>
          <a:xfrm>
            <a:off x="455084" y="1828762"/>
            <a:ext cx="8239665" cy="250496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2" name="Content Placeholder 25">
            <a:extLst>
              <a:ext uri="{FF2B5EF4-FFF2-40B4-BE49-F238E27FC236}">
                <a16:creationId xmlns:a16="http://schemas.microsoft.com/office/drawing/2014/main" id="{3E5208E1-8889-3FA5-C28F-2F775D9C19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0" t="43943" r="8917" b="26372"/>
          <a:stretch>
            <a:fillRect/>
          </a:stretch>
        </p:blipFill>
        <p:spPr>
          <a:xfrm>
            <a:off x="7300344" y="3769190"/>
            <a:ext cx="4769979" cy="1972551"/>
          </a:xfrm>
          <a:prstGeom prst="rect">
            <a:avLst/>
          </a:prstGeom>
          <a:ln>
            <a:noFill/>
          </a:ln>
        </p:spPr>
      </p:pic>
      <p:pic>
        <p:nvPicPr>
          <p:cNvPr id="4" name="Content Placeholder 25">
            <a:extLst>
              <a:ext uri="{FF2B5EF4-FFF2-40B4-BE49-F238E27FC236}">
                <a16:creationId xmlns:a16="http://schemas.microsoft.com/office/drawing/2014/main" id="{ADF8AD22-268E-3886-CECB-C0212FA93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470" t="36405" r="8955" b="54676"/>
          <a:stretch>
            <a:fillRect/>
          </a:stretch>
        </p:blipFill>
        <p:spPr>
          <a:xfrm>
            <a:off x="7463586" y="5831126"/>
            <a:ext cx="4398215" cy="592634"/>
          </a:xfrm>
          <a:prstGeom prst="rect">
            <a:avLst/>
          </a:prstGeom>
          <a:ln>
            <a:noFill/>
          </a:ln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7AC67502-9541-3117-CBAF-0DC2D29164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7A3EB4-82B8-7989-93F3-D7D70C193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(Before Changes)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4D79086B-2262-73B3-E1CF-9845FA5498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5" t="7131" r="50825" b="81323"/>
          <a:stretch>
            <a:fillRect/>
          </a:stretch>
        </p:blipFill>
        <p:spPr>
          <a:xfrm>
            <a:off x="395816" y="4955968"/>
            <a:ext cx="6185836" cy="1371591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ED0FF2-1A79-4857-15B2-A62085F22303}"/>
              </a:ext>
            </a:extLst>
          </p:cNvPr>
          <p:cNvCxnSpPr>
            <a:cxnSpLocks/>
          </p:cNvCxnSpPr>
          <p:nvPr/>
        </p:nvCxnSpPr>
        <p:spPr>
          <a:xfrm flipV="1">
            <a:off x="863600" y="6216442"/>
            <a:ext cx="0" cy="23378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2A1E0B6-557C-D256-9728-24950A215AF7}"/>
              </a:ext>
            </a:extLst>
          </p:cNvPr>
          <p:cNvCxnSpPr>
            <a:cxnSpLocks/>
          </p:cNvCxnSpPr>
          <p:nvPr/>
        </p:nvCxnSpPr>
        <p:spPr>
          <a:xfrm>
            <a:off x="863600" y="6450222"/>
            <a:ext cx="8254129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018CD4-4606-1A8A-A8CB-F5DBB029C321}"/>
              </a:ext>
            </a:extLst>
          </p:cNvPr>
          <p:cNvCxnSpPr>
            <a:cxnSpLocks/>
          </p:cNvCxnSpPr>
          <p:nvPr/>
        </p:nvCxnSpPr>
        <p:spPr>
          <a:xfrm>
            <a:off x="9117729" y="6216442"/>
            <a:ext cx="0" cy="23378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44D3746-6336-2C08-95B7-96AB2FC9BC93}"/>
              </a:ext>
            </a:extLst>
          </p:cNvPr>
          <p:cNvCxnSpPr>
            <a:cxnSpLocks/>
          </p:cNvCxnSpPr>
          <p:nvPr/>
        </p:nvCxnSpPr>
        <p:spPr>
          <a:xfrm>
            <a:off x="8859277" y="6216442"/>
            <a:ext cx="516904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4" name="Left Brace 43">
            <a:extLst>
              <a:ext uri="{FF2B5EF4-FFF2-40B4-BE49-F238E27FC236}">
                <a16:creationId xmlns:a16="http://schemas.microsoft.com/office/drawing/2014/main" id="{4353C694-71FB-4BEF-E457-29939125460D}"/>
              </a:ext>
            </a:extLst>
          </p:cNvPr>
          <p:cNvSpPr/>
          <p:nvPr/>
        </p:nvSpPr>
        <p:spPr>
          <a:xfrm>
            <a:off x="6975274" y="3733889"/>
            <a:ext cx="650139" cy="197659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6AEF483-C649-ABCC-E1F7-73B316E2B472}"/>
              </a:ext>
            </a:extLst>
          </p:cNvPr>
          <p:cNvCxnSpPr>
            <a:cxnSpLocks/>
            <a:stCxn id="44" idx="1"/>
          </p:cNvCxnSpPr>
          <p:nvPr/>
        </p:nvCxnSpPr>
        <p:spPr>
          <a:xfrm flipH="1" flipV="1">
            <a:off x="4648200" y="4015731"/>
            <a:ext cx="2327074" cy="706457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0531E51E-6065-0E8A-D7BD-3AD2A6564A55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6D6C851-3648-FC12-FCB6-8DF4004B2E41}"/>
              </a:ext>
            </a:extLst>
          </p:cNvPr>
          <p:cNvSpPr txBox="1"/>
          <p:nvPr/>
        </p:nvSpPr>
        <p:spPr>
          <a:xfrm>
            <a:off x="396711" y="4614993"/>
            <a:ext cx="542905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 and then apply changes</a:t>
            </a:r>
          </a:p>
        </p:txBody>
      </p:sp>
    </p:spTree>
    <p:extLst>
      <p:ext uri="{BB962C8B-B14F-4D97-AF65-F5344CB8AC3E}">
        <p14:creationId xmlns:p14="http://schemas.microsoft.com/office/powerpoint/2010/main" val="15940067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925F7-B7DD-1254-BF8C-321363B1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B134E101-54F0-E7B2-6168-56BC3CF3B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4" t="6808" r="50593" b="81134"/>
          <a:stretch>
            <a:fillRect/>
          </a:stretch>
        </p:blipFill>
        <p:spPr>
          <a:xfrm>
            <a:off x="395816" y="4918453"/>
            <a:ext cx="6185835" cy="140910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4E2D940-A1A3-8EA1-FFBA-593A39438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30" t="6817" b="64637"/>
          <a:stretch>
            <a:fillRect/>
          </a:stretch>
        </p:blipFill>
        <p:spPr>
          <a:xfrm>
            <a:off x="457200" y="1869114"/>
            <a:ext cx="8238744" cy="2494803"/>
          </a:xfrm>
          <a:prstGeom prst="rect">
            <a:avLst/>
          </a:prstGeo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6ED23F3-DE36-91FD-B68C-D7E43BEF73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C385912-5E68-571D-A05C-BDA8B7F59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Sig (After Changes)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2222EB-CE47-7ED3-FA18-AB4EB0A10F41}"/>
              </a:ext>
            </a:extLst>
          </p:cNvPr>
          <p:cNvSpPr txBox="1"/>
          <p:nvPr/>
        </p:nvSpPr>
        <p:spPr>
          <a:xfrm>
            <a:off x="455084" y="1490431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1. Update Sig Attributes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69DD3DD-8619-4902-4474-0C0FD6B9C328}"/>
              </a:ext>
            </a:extLst>
          </p:cNvPr>
          <p:cNvSpPr txBox="1"/>
          <p:nvPr/>
        </p:nvSpPr>
        <p:spPr>
          <a:xfrm>
            <a:off x="396711" y="4614993"/>
            <a:ext cx="425148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2. Update Signal Name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BC70A7-08C0-9753-470A-8FDCF74E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38" t="42124" r="40308" b="43155"/>
          <a:stretch>
            <a:fillRect/>
          </a:stretch>
        </p:blipFill>
        <p:spPr>
          <a:xfrm>
            <a:off x="6691112" y="4918453"/>
            <a:ext cx="3480410" cy="1430322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BCA73B5-4271-0D72-4B07-2AE0EED5D577}"/>
              </a:ext>
            </a:extLst>
          </p:cNvPr>
          <p:cNvSpPr txBox="1"/>
          <p:nvPr/>
        </p:nvSpPr>
        <p:spPr>
          <a:xfrm>
            <a:off x="6691112" y="4614993"/>
            <a:ext cx="295804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Step 3. Click Apply</a:t>
            </a:r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FD09F965-722F-D49B-9F20-445436416C8D}"/>
              </a:ext>
            </a:extLst>
          </p:cNvPr>
          <p:cNvSpPr/>
          <p:nvPr/>
        </p:nvSpPr>
        <p:spPr>
          <a:xfrm>
            <a:off x="8658236" y="6219153"/>
            <a:ext cx="293566" cy="480767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1645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9AB96A-1EB6-E7A9-B289-92E11BA9A8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1563046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2. Right Click &amp; Save Changes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F9F55E2-A749-39D7-6BBC-88324B1F2FB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1563046"/>
            <a:ext cx="3776472" cy="365760"/>
          </a:xfrm>
        </p:spPr>
        <p:txBody>
          <a:bodyPr/>
          <a:lstStyle/>
          <a:p>
            <a:r>
              <a:rPr lang="en-US" dirty="0"/>
              <a:t>Step 1. Click </a:t>
            </a:r>
            <a:r>
              <a:rPr lang="en-US" dirty="0" err="1"/>
              <a:t>sampleDD</a:t>
            </a:r>
            <a:r>
              <a:rPr lang="en-US" dirty="0"/>
              <a:t>*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B949DF5-A370-7AE4-EC24-ED8D3E5390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CDF06266-B6CA-E30E-001F-F9FDC850D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Save Changes made to Data Dictionary (.</a:t>
            </a:r>
            <a:r>
              <a:rPr lang="en-US" dirty="0" err="1"/>
              <a:t>sldd</a:t>
            </a:r>
            <a:r>
              <a:rPr lang="en-US" dirty="0"/>
              <a:t>)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93F57FF2-97AF-77A2-1B55-D74BEE48D1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1563046"/>
            <a:ext cx="3776472" cy="365760"/>
          </a:xfrm>
        </p:spPr>
        <p:txBody>
          <a:bodyPr/>
          <a:lstStyle/>
          <a:p>
            <a:pPr algn="r"/>
            <a:r>
              <a:rPr lang="en-US" dirty="0"/>
              <a:t>Step 3. Observe Saved File</a:t>
            </a:r>
          </a:p>
        </p:txBody>
      </p:sp>
      <p:pic>
        <p:nvPicPr>
          <p:cNvPr id="16" name="Content Placeholder 7">
            <a:extLst>
              <a:ext uri="{FF2B5EF4-FFF2-40B4-BE49-F238E27FC236}">
                <a16:creationId xmlns:a16="http://schemas.microsoft.com/office/drawing/2014/main" id="{0282AAC2-0865-35D5-985B-4F427A247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86400" b="62971"/>
          <a:stretch>
            <a:fillRect/>
          </a:stretch>
        </p:blipFill>
        <p:spPr>
          <a:xfrm>
            <a:off x="395818" y="2043113"/>
            <a:ext cx="2986638" cy="4370832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364091-C50E-E2E2-2001-00CA0BB378F1}"/>
              </a:ext>
            </a:extLst>
          </p:cNvPr>
          <p:cNvCxnSpPr/>
          <p:nvPr/>
        </p:nvCxnSpPr>
        <p:spPr>
          <a:xfrm flipH="1">
            <a:off x="2362983" y="5420627"/>
            <a:ext cx="1004695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99E8407-BBF8-2717-67EC-792305C074A1}"/>
              </a:ext>
            </a:extLst>
          </p:cNvPr>
          <p:cNvSpPr txBox="1"/>
          <p:nvPr/>
        </p:nvSpPr>
        <p:spPr>
          <a:xfrm>
            <a:off x="3303165" y="5235961"/>
            <a:ext cx="10046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Click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9" name="Content Placeholder 16">
            <a:extLst>
              <a:ext uri="{FF2B5EF4-FFF2-40B4-BE49-F238E27FC236}">
                <a16:creationId xmlns:a16="http://schemas.microsoft.com/office/drawing/2014/main" id="{35B15440-BB17-111D-5D11-BFB7F3B4254E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r="79709" b="46058"/>
          <a:stretch>
            <a:fillRect/>
          </a:stretch>
        </p:blipFill>
        <p:spPr>
          <a:xfrm>
            <a:off x="4228569" y="2043113"/>
            <a:ext cx="3056344" cy="4367212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0E1B59-5DF5-AFEF-1697-A2F74BEC191B}"/>
              </a:ext>
            </a:extLst>
          </p:cNvPr>
          <p:cNvCxnSpPr>
            <a:cxnSpLocks/>
          </p:cNvCxnSpPr>
          <p:nvPr/>
        </p:nvCxnSpPr>
        <p:spPr>
          <a:xfrm flipH="1">
            <a:off x="5564806" y="4360606"/>
            <a:ext cx="1764891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3C45498-EA4B-9C87-0F76-FB6247014CBF}"/>
              </a:ext>
            </a:extLst>
          </p:cNvPr>
          <p:cNvCxnSpPr>
            <a:cxnSpLocks/>
          </p:cNvCxnSpPr>
          <p:nvPr/>
        </p:nvCxnSpPr>
        <p:spPr>
          <a:xfrm flipH="1">
            <a:off x="6447251" y="4925961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456E1DD-81B4-3F2C-6EBD-79DE5C786FC0}"/>
              </a:ext>
            </a:extLst>
          </p:cNvPr>
          <p:cNvSpPr txBox="1"/>
          <p:nvPr/>
        </p:nvSpPr>
        <p:spPr>
          <a:xfrm>
            <a:off x="7329697" y="4175940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Right Click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5EC681-BC7F-0C8F-9FEE-7508C6FEF80D}"/>
              </a:ext>
            </a:extLst>
          </p:cNvPr>
          <p:cNvSpPr txBox="1"/>
          <p:nvPr/>
        </p:nvSpPr>
        <p:spPr>
          <a:xfrm>
            <a:off x="7329697" y="4741295"/>
            <a:ext cx="16026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Click Save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27" name="Content Placeholder 23">
            <a:extLst>
              <a:ext uri="{FF2B5EF4-FFF2-40B4-BE49-F238E27FC236}">
                <a16:creationId xmlns:a16="http://schemas.microsoft.com/office/drawing/2014/main" id="{ACBD2AA5-8D32-0EA9-EE95-C5F59B922FA6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r="85219" b="62158"/>
          <a:stretch>
            <a:fillRect/>
          </a:stretch>
        </p:blipFill>
        <p:spPr>
          <a:xfrm>
            <a:off x="9134785" y="2043113"/>
            <a:ext cx="2704242" cy="3721297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2DBBAC8-5239-E102-8F2C-612F21375684}"/>
              </a:ext>
            </a:extLst>
          </p:cNvPr>
          <p:cNvCxnSpPr>
            <a:cxnSpLocks/>
          </p:cNvCxnSpPr>
          <p:nvPr/>
        </p:nvCxnSpPr>
        <p:spPr>
          <a:xfrm flipH="1">
            <a:off x="10729199" y="4871883"/>
            <a:ext cx="88244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6563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BF64A02-AB59-6057-E30D-2F12B99A93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9A48F23-C06F-9E69-2F46-A001FB590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Property Inspector – Block Signal Attributes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8077E344-3498-18DC-7454-1B09770B1B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19302" y="1531937"/>
            <a:ext cx="8972698" cy="4822825"/>
          </a:xfrm>
          <a:prstGeom prst="rect">
            <a:avLst/>
          </a:prstGeom>
        </p:spPr>
      </p:pic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C7065F1-3D4C-2B35-C7FF-EFBCE5400324}"/>
              </a:ext>
            </a:extLst>
          </p:cNvPr>
          <p:cNvSpPr txBox="1">
            <a:spLocks/>
          </p:cNvSpPr>
          <p:nvPr/>
        </p:nvSpPr>
        <p:spPr>
          <a:xfrm>
            <a:off x="0" y="1563045"/>
            <a:ext cx="3219302" cy="4791717"/>
          </a:xfrm>
          <a:prstGeom prst="rect">
            <a:avLst/>
          </a:prstGeo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Step 1. Arrange Windows:</a:t>
            </a:r>
          </a:p>
          <a:p>
            <a:pPr lvl="1"/>
            <a:r>
              <a:rPr lang="en-US" dirty="0"/>
              <a:t>Model Explorer</a:t>
            </a:r>
          </a:p>
          <a:p>
            <a:pPr lvl="1"/>
            <a:r>
              <a:rPr lang="en-US" dirty="0"/>
              <a:t>Simulink Model</a:t>
            </a:r>
          </a:p>
          <a:p>
            <a:endParaRPr lang="en-US" dirty="0"/>
          </a:p>
          <a:p>
            <a:r>
              <a:rPr lang="en-US" dirty="0"/>
              <a:t>Step 2. Click </a:t>
            </a:r>
            <a:r>
              <a:rPr lang="en-US" dirty="0" err="1"/>
              <a:t>prodBlkC</a:t>
            </a:r>
            <a:endParaRPr lang="en-US" dirty="0"/>
          </a:p>
          <a:p>
            <a:endParaRPr lang="en-US" dirty="0"/>
          </a:p>
          <a:p>
            <a:r>
              <a:rPr lang="en-US" dirty="0"/>
              <a:t>Step 3. Show Property Inspector</a:t>
            </a:r>
          </a:p>
          <a:p>
            <a:endParaRPr lang="en-US" dirty="0"/>
          </a:p>
          <a:p>
            <a:r>
              <a:rPr lang="en-US" dirty="0"/>
              <a:t>Step 4. Focus on Signal Attributes</a:t>
            </a:r>
          </a:p>
        </p:txBody>
      </p:sp>
    </p:spTree>
    <p:extLst>
      <p:ext uri="{BB962C8B-B14F-4D97-AF65-F5344CB8AC3E}">
        <p14:creationId xmlns:p14="http://schemas.microsoft.com/office/powerpoint/2010/main" val="35038761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C61873-F682-0F8F-5928-FB21C84DAA0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28569" y="2166365"/>
            <a:ext cx="3776472" cy="365760"/>
          </a:xfrm>
        </p:spPr>
        <p:txBody>
          <a:bodyPr/>
          <a:lstStyle/>
          <a:p>
            <a:r>
              <a:rPr lang="en-US" dirty="0"/>
              <a:t>Step 2. Observe </a:t>
            </a:r>
            <a:r>
              <a:rPr lang="en-US" dirty="0" err="1"/>
              <a:t>pathC.Min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FEDA825-AE93-9B54-BA06-3A9B1CB3EF2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5818" y="2166364"/>
            <a:ext cx="3776472" cy="365760"/>
          </a:xfrm>
        </p:spPr>
        <p:txBody>
          <a:bodyPr>
            <a:normAutofit/>
          </a:bodyPr>
          <a:lstStyle/>
          <a:p>
            <a:r>
              <a:rPr lang="en-US" dirty="0"/>
              <a:t>Step 1. Type </a:t>
            </a:r>
            <a:r>
              <a:rPr lang="en-US" dirty="0" err="1"/>
              <a:t>pathC</a:t>
            </a:r>
            <a:r>
              <a:rPr lang="en-US" dirty="0"/>
              <a:t> and Select Min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469B8EB-67FD-E7C0-F37A-4C88797C92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B66CE79-34F9-3EE3-B0F5-77079390D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535264"/>
          </a:xfrm>
        </p:spPr>
        <p:txBody>
          <a:bodyPr/>
          <a:lstStyle/>
          <a:p>
            <a:r>
              <a:rPr lang="en-US" dirty="0"/>
              <a:t>Update Signal Attributes</a:t>
            </a:r>
            <a:br>
              <a:rPr lang="en-US" i="1" dirty="0"/>
            </a:br>
            <a:r>
              <a:rPr lang="en-US" sz="1200" b="0" i="1" dirty="0">
                <a:solidFill>
                  <a:srgbClr val="FF0000"/>
                </a:solidFill>
              </a:rPr>
              <a:t>Note: </a:t>
            </a:r>
            <a:r>
              <a:rPr lang="en-US" sz="1200" b="0" i="1" dirty="0" err="1">
                <a:solidFill>
                  <a:srgbClr val="FF0000"/>
                </a:solidFill>
              </a:rPr>
              <a:t>pathC.Min</a:t>
            </a:r>
            <a:r>
              <a:rPr lang="en-US" sz="1200" b="0" i="1" dirty="0">
                <a:solidFill>
                  <a:srgbClr val="FF0000"/>
                </a:solidFill>
              </a:rPr>
              <a:t>, </a:t>
            </a:r>
            <a:r>
              <a:rPr lang="en-US" sz="1200" b="0" i="1" dirty="0" err="1">
                <a:solidFill>
                  <a:srgbClr val="FF0000"/>
                </a:solidFill>
              </a:rPr>
              <a:t>pathC.Max</a:t>
            </a:r>
            <a:r>
              <a:rPr lang="en-US" sz="1200" b="0" i="1" dirty="0">
                <a:solidFill>
                  <a:srgbClr val="FF0000"/>
                </a:solidFill>
              </a:rPr>
              <a:t>, and </a:t>
            </a:r>
            <a:r>
              <a:rPr lang="en-US" sz="1200" b="0" i="1" dirty="0" err="1">
                <a:solidFill>
                  <a:srgbClr val="FF0000"/>
                </a:solidFill>
              </a:rPr>
              <a:t>pathC.DataType</a:t>
            </a:r>
            <a:r>
              <a:rPr lang="en-US" sz="1200" b="0" i="1" dirty="0">
                <a:solidFill>
                  <a:srgbClr val="FF0000"/>
                </a:solidFill>
              </a:rPr>
              <a:t> reference values defined in the Simulink Data Dictionary (SLDD)</a:t>
            </a:r>
            <a:br>
              <a:rPr lang="en-US" sz="1200" b="0" i="1" dirty="0">
                <a:solidFill>
                  <a:srgbClr val="FF0000"/>
                </a:solidFill>
              </a:rPr>
            </a:br>
            <a:br>
              <a:rPr lang="en-US" sz="1200" b="0" i="1" dirty="0">
                <a:solidFill>
                  <a:srgbClr val="FF0000"/>
                </a:solidFill>
              </a:rPr>
            </a:br>
            <a:r>
              <a:rPr lang="en-US" sz="1200" b="0" dirty="0">
                <a:solidFill>
                  <a:srgbClr val="FF0000"/>
                </a:solidFill>
              </a:rPr>
              <a:t>Note: Use the submenu (⋮) to select signal attributes from the SLDD.</a:t>
            </a:r>
            <a:br>
              <a:rPr lang="en-US" sz="1200" b="0" i="1" dirty="0">
                <a:solidFill>
                  <a:srgbClr val="FF0000"/>
                </a:solidFill>
              </a:rPr>
            </a:br>
            <a:endParaRPr lang="en-US" sz="1200" b="0" i="1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E5B4C4FC-7A6A-2086-EFF3-A50183F6F8F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062555" y="2166365"/>
            <a:ext cx="3776472" cy="365760"/>
          </a:xfrm>
        </p:spPr>
        <p:txBody>
          <a:bodyPr/>
          <a:lstStyle/>
          <a:p>
            <a:r>
              <a:rPr lang="en-US" dirty="0"/>
              <a:t>Step 3. Update Other Attributes</a:t>
            </a:r>
          </a:p>
        </p:txBody>
      </p:sp>
      <p:pic>
        <p:nvPicPr>
          <p:cNvPr id="32" name="Content Placeholder 12">
            <a:extLst>
              <a:ext uri="{FF2B5EF4-FFF2-40B4-BE49-F238E27FC236}">
                <a16:creationId xmlns:a16="http://schemas.microsoft.com/office/drawing/2014/main" id="{2F4786E8-B1A6-1EA1-1046-8EE99CFF9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4546" t="57902" r="7074" b="7334"/>
          <a:stretch>
            <a:fillRect/>
          </a:stretch>
        </p:blipFill>
        <p:spPr>
          <a:xfrm>
            <a:off x="1638300" y="2638426"/>
            <a:ext cx="1533526" cy="3419474"/>
          </a:xfrm>
          <a:prstGeom prst="rect">
            <a:avLst/>
          </a:prstGeom>
        </p:spPr>
      </p:pic>
      <p:pic>
        <p:nvPicPr>
          <p:cNvPr id="35" name="Content Placeholder 19">
            <a:extLst>
              <a:ext uri="{FF2B5EF4-FFF2-40B4-BE49-F238E27FC236}">
                <a16:creationId xmlns:a16="http://schemas.microsoft.com/office/drawing/2014/main" id="{5A802AA5-359A-5F01-BB1F-9F41D6F7902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/>
          <a:srcRect l="83989" t="57785" r="7631" b="24854"/>
          <a:stretch>
            <a:fillRect/>
          </a:stretch>
        </p:blipFill>
        <p:spPr>
          <a:xfrm>
            <a:off x="5439990" y="2638425"/>
            <a:ext cx="1533526" cy="1707645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C36F7C3-6A86-9514-C836-5DF033D61110}"/>
              </a:ext>
            </a:extLst>
          </p:cNvPr>
          <p:cNvCxnSpPr>
            <a:cxnSpLocks/>
          </p:cNvCxnSpPr>
          <p:nvPr/>
        </p:nvCxnSpPr>
        <p:spPr>
          <a:xfrm>
            <a:off x="916709" y="3535267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54FCEB6-56C8-8EEA-6AB5-DF6E7A4438FB}"/>
              </a:ext>
            </a:extLst>
          </p:cNvPr>
          <p:cNvCxnSpPr>
            <a:cxnSpLocks/>
          </p:cNvCxnSpPr>
          <p:nvPr/>
        </p:nvCxnSpPr>
        <p:spPr>
          <a:xfrm>
            <a:off x="916709" y="4507801"/>
            <a:ext cx="804612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843A08E-AAE7-5466-657B-146091573AF9}"/>
              </a:ext>
            </a:extLst>
          </p:cNvPr>
          <p:cNvSpPr txBox="1"/>
          <p:nvPr/>
        </p:nvSpPr>
        <p:spPr>
          <a:xfrm>
            <a:off x="22995" y="3138067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1. Type </a:t>
            </a:r>
            <a:r>
              <a:rPr lang="en-US" sz="1800" dirty="0" err="1">
                <a:solidFill>
                  <a:srgbClr val="FF0000"/>
                </a:solidFill>
              </a:rPr>
              <a:t>pathC</a:t>
            </a: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CF624F-F2C8-E2AB-1023-873370379486}"/>
              </a:ext>
            </a:extLst>
          </p:cNvPr>
          <p:cNvSpPr txBox="1"/>
          <p:nvPr/>
        </p:nvSpPr>
        <p:spPr>
          <a:xfrm>
            <a:off x="22994" y="4110600"/>
            <a:ext cx="1615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2. Select Min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50" name="Content Placeholder 45">
            <a:extLst>
              <a:ext uri="{FF2B5EF4-FFF2-40B4-BE49-F238E27FC236}">
                <a16:creationId xmlns:a16="http://schemas.microsoft.com/office/drawing/2014/main" id="{7684186A-DDF6-798F-EA6C-D26BD41545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0910" t="65455" r="8397" b="31797"/>
          <a:stretch>
            <a:fillRect/>
          </a:stretch>
        </p:blipFill>
        <p:spPr>
          <a:xfrm>
            <a:off x="100810" y="1560421"/>
            <a:ext cx="252163" cy="537887"/>
          </a:xfrm>
          <a:prstGeom prst="rect">
            <a:avLst/>
          </a:prstGeom>
        </p:spPr>
      </p:pic>
      <p:pic>
        <p:nvPicPr>
          <p:cNvPr id="62" name="Content Placeholder 45">
            <a:extLst>
              <a:ext uri="{FF2B5EF4-FFF2-40B4-BE49-F238E27FC236}">
                <a16:creationId xmlns:a16="http://schemas.microsoft.com/office/drawing/2014/main" id="{52115C61-E0C7-D69E-D463-181CB3DD66C1}"/>
              </a:ext>
            </a:extLst>
          </p:cNvPr>
          <p:cNvPicPr>
            <a:picLocks noGrp="1" noChangeAspect="1"/>
          </p:cNvPicPr>
          <p:nvPr>
            <p:ph idx="17"/>
          </p:nvPr>
        </p:nvPicPr>
        <p:blipFill>
          <a:blip r:embed="rId4"/>
          <a:srcRect l="80544" t="42353" b="20429"/>
          <a:stretch>
            <a:fillRect/>
          </a:stretch>
        </p:blipFill>
        <p:spPr>
          <a:xfrm>
            <a:off x="8171468" y="2638425"/>
            <a:ext cx="3559552" cy="365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31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8492D-FDF1-F1C0-1B72-9BED18795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87247725-F245-5D42-824C-EB6AC671D5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Step 2. Observe document has been saved. 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35DB51F-020D-EB02-E322-15D327F944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Step 1. Click Save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A33E058-CC0C-442B-B15E-303630071E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A46CF475-7672-CC8C-9546-4F2D8BC08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17" y="1025157"/>
            <a:ext cx="11341099" cy="618605"/>
          </a:xfrm>
        </p:spPr>
        <p:txBody>
          <a:bodyPr/>
          <a:lstStyle/>
          <a:p>
            <a:r>
              <a:rPr lang="en-US" dirty="0"/>
              <a:t>Save Changes</a:t>
            </a:r>
            <a:br>
              <a:rPr lang="en-US" dirty="0"/>
            </a:br>
            <a:r>
              <a:rPr lang="en-US" sz="1200" b="0" i="1" dirty="0">
                <a:solidFill>
                  <a:srgbClr val="FF0000"/>
                </a:solidFill>
              </a:rPr>
              <a:t>Note: The star * was removed after the save took place</a:t>
            </a:r>
          </a:p>
        </p:txBody>
      </p:sp>
      <p:sp>
        <p:nvSpPr>
          <p:cNvPr id="34" name="Text Placeholder 26">
            <a:extLst>
              <a:ext uri="{FF2B5EF4-FFF2-40B4-BE49-F238E27FC236}">
                <a16:creationId xmlns:a16="http://schemas.microsoft.com/office/drawing/2014/main" id="{1B87AC57-E48B-AF2A-CBA5-C126B5F0C3F8}"/>
              </a:ext>
            </a:extLst>
          </p:cNvPr>
          <p:cNvSpPr txBox="1">
            <a:spLocks/>
          </p:cNvSpPr>
          <p:nvPr/>
        </p:nvSpPr>
        <p:spPr>
          <a:xfrm>
            <a:off x="1693758" y="392566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r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46" name="Content Placeholder 32">
            <a:extLst>
              <a:ext uri="{FF2B5EF4-FFF2-40B4-BE49-F238E27FC236}">
                <a16:creationId xmlns:a16="http://schemas.microsoft.com/office/drawing/2014/main" id="{413F9272-53AC-BB69-3B15-0E07CB2E92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618497" y="3072265"/>
            <a:ext cx="3178093" cy="3024869"/>
          </a:xfrm>
          <a:prstGeom prst="rect">
            <a:avLst/>
          </a:prstGeom>
        </p:spPr>
      </p:pic>
      <p:pic>
        <p:nvPicPr>
          <p:cNvPr id="51" name="Content Placeholder 47">
            <a:extLst>
              <a:ext uri="{FF2B5EF4-FFF2-40B4-BE49-F238E27FC236}">
                <a16:creationId xmlns:a16="http://schemas.microsoft.com/office/drawing/2014/main" id="{297708EF-FD83-C099-3014-DA36B600085D}"/>
              </a:ext>
            </a:extLst>
          </p:cNvPr>
          <p:cNvPicPr>
            <a:picLocks noGrp="1" noChangeAspect="1"/>
          </p:cNvPicPr>
          <p:nvPr>
            <p:ph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050" b="94745"/>
          <a:stretch>
            <a:fillRect/>
          </a:stretch>
        </p:blipFill>
        <p:spPr>
          <a:xfrm>
            <a:off x="8106206" y="3072265"/>
            <a:ext cx="1637438" cy="51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0898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12ED-AF24-BC4E-8FB5-39FC512C8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F73587-5A62-1943-E355-4370B4CD578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CFE975-6361-ACAC-BCFC-A5D235208E73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000" b="0" i="1" dirty="0">
                <a:solidFill>
                  <a:srgbClr val="FF0000"/>
                </a:solidFill>
                <a:latin typeface="+mn-lt"/>
                <a:cs typeface="+mn-cs"/>
              </a:rPr>
              <a:t>Graph 		Graph Data / Edit Grid / Use Cursors</a:t>
            </a:r>
            <a:endParaRPr lang="en-US" sz="1000" b="0" i="1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 b="0" i="1" dirty="0">
                <a:solidFill>
                  <a:srgbClr val="FF0000"/>
                </a:solidFill>
              </a:rPr>
              <a:t>Editor (</a:t>
            </a:r>
            <a:r>
              <a:rPr lang="en-US" sz="1100" b="0" i="1" dirty="0" err="1">
                <a:solidFill>
                  <a:srgbClr val="FF0000"/>
                </a:solidFill>
              </a:rPr>
              <a:t>slreqx</a:t>
            </a:r>
            <a:r>
              <a:rPr lang="en-US" sz="1100" b="0" i="1" dirty="0">
                <a:solidFill>
                  <a:srgbClr val="FF0000"/>
                </a:solidFill>
              </a:rPr>
              <a:t>)		Create / Edit / 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35F4C767-C4A9-2993-DE50-764933B8542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388388488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0369556-C633-106C-EC64-15ADC17DDE83}"/>
              </a:ext>
            </a:extLst>
          </p:cNvPr>
          <p:cNvSpPr/>
          <p:nvPr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</a:t>
            </a:r>
            <a:r>
              <a:rPr lang="es-AR" sz="2400" dirty="0" err="1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</a:t>
            </a:r>
            <a:r>
              <a:rPr lang="es-AR" sz="2400" dirty="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Quiz</a:t>
            </a:r>
            <a:endParaRPr lang="en-US" sz="2400" dirty="0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4" name="Add-in 13">
                <a:extLst>
                  <a:ext uri="{FF2B5EF4-FFF2-40B4-BE49-F238E27FC236}">
                    <a16:creationId xmlns:a16="http://schemas.microsoft.com/office/drawing/2014/main" id="{61F26447-8794-A17B-1A85-4111D883C0D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12192000" cy="68580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14" name="Add-in 13">
                <a:extLst>
                  <a:ext uri="{FF2B5EF4-FFF2-40B4-BE49-F238E27FC236}">
                    <a16:creationId xmlns:a16="http://schemas.microsoft.com/office/drawing/2014/main" id="{61F26447-8794-A17B-1A85-4111D883C0D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2192000" cy="685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317541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5548-FEEA-2086-399A-428AB7BD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4BA837-3DD9-FAEF-B923-6FBB6C8D95D0}"/>
              </a:ext>
            </a:extLst>
          </p:cNvPr>
          <p:cNvSpPr/>
          <p:nvPr/>
        </p:nvSpPr>
        <p:spPr>
          <a:xfrm>
            <a:off x="152400" y="1038225"/>
            <a:ext cx="4962525" cy="52197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900-F523-9E97-6149-55392B7E1565}"/>
              </a:ext>
            </a:extLst>
          </p:cNvPr>
          <p:cNvSpPr txBox="1"/>
          <p:nvPr/>
        </p:nvSpPr>
        <p:spPr>
          <a:xfrm>
            <a:off x="8392249" y="207390"/>
            <a:ext cx="3447815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Problem to Solve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F7601-BA2A-880D-C704-363CC3A88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36" y="1555981"/>
            <a:ext cx="4313686" cy="15313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161B12-EF82-C9F1-1F7D-46DC7AB91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79" y="3187588"/>
            <a:ext cx="4313686" cy="202709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9B1D5D-777C-3B27-DCA3-0CB11691EDDA}"/>
              </a:ext>
            </a:extLst>
          </p:cNvPr>
          <p:cNvSpPr/>
          <p:nvPr/>
        </p:nvSpPr>
        <p:spPr>
          <a:xfrm>
            <a:off x="7082673" y="1038225"/>
            <a:ext cx="4962525" cy="52197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6C44C2-9FD0-E25E-3B4D-9FF660A2C19D}"/>
              </a:ext>
            </a:extLst>
          </p:cNvPr>
          <p:cNvSpPr/>
          <p:nvPr/>
        </p:nvSpPr>
        <p:spPr>
          <a:xfrm>
            <a:off x="7315200" y="1391933"/>
            <a:ext cx="4524864" cy="57987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is the “Next Big Thing”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B69E25-A407-4B60-0EB8-5340BA41D391}"/>
              </a:ext>
            </a:extLst>
          </p:cNvPr>
          <p:cNvSpPr/>
          <p:nvPr/>
        </p:nvSpPr>
        <p:spPr>
          <a:xfrm>
            <a:off x="8392514" y="2581283"/>
            <a:ext cx="3105311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Today is </a:t>
            </a:r>
          </a:p>
          <a:p>
            <a:pPr algn="ctr"/>
            <a:endParaRPr lang="en-US" sz="1200" b="1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Mireina</a:t>
            </a:r>
            <a:r>
              <a:rPr lang="en-US" sz="1200" dirty="0">
                <a:solidFill>
                  <a:schemeClr val="tx1"/>
                </a:solidFill>
              </a:rPr>
              <a:t> Keith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Richard Dalton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Nate Tyler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Linda Herman</a:t>
            </a:r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877C5770-DD2A-9583-C9A7-838D7B6A98DB}"/>
              </a:ext>
            </a:extLst>
          </p:cNvPr>
          <p:cNvSpPr/>
          <p:nvPr/>
        </p:nvSpPr>
        <p:spPr>
          <a:xfrm rot="5400000">
            <a:off x="2738889" y="3035909"/>
            <a:ext cx="5044393" cy="1216152"/>
          </a:xfrm>
          <a:prstGeom prst="trapezoid">
            <a:avLst>
              <a:gd name="adj" fmla="val 109489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Notched Right 13">
            <a:extLst>
              <a:ext uri="{FF2B5EF4-FFF2-40B4-BE49-F238E27FC236}">
                <a16:creationId xmlns:a16="http://schemas.microsoft.com/office/drawing/2014/main" id="{BD311A8A-C8AF-D8D2-75AC-3656CC11366E}"/>
              </a:ext>
            </a:extLst>
          </p:cNvPr>
          <p:cNvSpPr/>
          <p:nvPr/>
        </p:nvSpPr>
        <p:spPr>
          <a:xfrm>
            <a:off x="4845376" y="3255169"/>
            <a:ext cx="901236" cy="758778"/>
          </a:xfrm>
          <a:prstGeom prst="notch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2C14EE-64C9-845B-8154-8B138BF09042}"/>
              </a:ext>
            </a:extLst>
          </p:cNvPr>
          <p:cNvSpPr txBox="1"/>
          <p:nvPr/>
        </p:nvSpPr>
        <p:spPr>
          <a:xfrm>
            <a:off x="6036583" y="2997652"/>
            <a:ext cx="897232" cy="12926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b="1" u="sng" dirty="0"/>
              <a:t>OBJECTIVE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Allow </a:t>
            </a:r>
          </a:p>
          <a:p>
            <a:pPr algn="ctr"/>
            <a:r>
              <a:rPr lang="en-US" sz="1200" dirty="0"/>
              <a:t>F130 Team </a:t>
            </a:r>
          </a:p>
          <a:p>
            <a:pPr algn="ctr"/>
            <a:r>
              <a:rPr lang="en-US" sz="1200" dirty="0"/>
              <a:t>Members to</a:t>
            </a:r>
          </a:p>
          <a:p>
            <a:pPr algn="ctr"/>
            <a:r>
              <a:rPr lang="en-US" sz="1200" dirty="0"/>
              <a:t>Roll</a:t>
            </a:r>
          </a:p>
          <a:p>
            <a:pPr algn="ctr"/>
            <a:r>
              <a:rPr lang="en-US" sz="1200" dirty="0"/>
              <a:t>Onto </a:t>
            </a:r>
            <a:r>
              <a:rPr lang="en-US" sz="1200" dirty="0" err="1"/>
              <a:t>ACaMS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606B8-A21A-A1F5-2682-E5551518BAFC}"/>
              </a:ext>
            </a:extLst>
          </p:cNvPr>
          <p:cNvSpPr txBox="1"/>
          <p:nvPr/>
        </p:nvSpPr>
        <p:spPr>
          <a:xfrm>
            <a:off x="408378" y="5354035"/>
            <a:ext cx="4471545" cy="83099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/>
              <a:t>Roughly 70 People Assigned to F130 Today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Work Backlog Runs Thru Q4 2027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1D78C02-749F-62BE-324B-8DCE58A9586F}"/>
              </a:ext>
            </a:extLst>
          </p:cNvPr>
          <p:cNvSpPr/>
          <p:nvPr/>
        </p:nvSpPr>
        <p:spPr>
          <a:xfrm>
            <a:off x="7315200" y="4442246"/>
            <a:ext cx="4524864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7030A0"/>
                </a:solidFill>
              </a:rPr>
              <a:t>PROBLEM TO SOLVE</a:t>
            </a:r>
          </a:p>
          <a:p>
            <a:pPr algn="ctr"/>
            <a:endParaRPr lang="en-US" sz="1200" b="1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How can we enable RR </a:t>
            </a:r>
            <a:r>
              <a:rPr lang="en-US" sz="1200" dirty="0" err="1">
                <a:solidFill>
                  <a:srgbClr val="7030A0"/>
                </a:solidFill>
              </a:rPr>
              <a:t>ACaMS</a:t>
            </a:r>
            <a:r>
              <a:rPr lang="en-US" sz="1200" dirty="0">
                <a:solidFill>
                  <a:srgbClr val="7030A0"/>
                </a:solidFill>
              </a:rPr>
              <a:t> to adopt the F130 team members at the right time – in software and/or systems?</a:t>
            </a:r>
          </a:p>
          <a:p>
            <a:pPr algn="ctr"/>
            <a:endParaRPr lang="en-US" sz="1200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Aka – SW Tools Gap Closure Plan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C11552-7E03-C3D6-0B9A-1DEF946FD24D}"/>
              </a:ext>
            </a:extLst>
          </p:cNvPr>
          <p:cNvSpPr txBox="1"/>
          <p:nvPr/>
        </p:nvSpPr>
        <p:spPr>
          <a:xfrm>
            <a:off x="7194185" y="2659098"/>
            <a:ext cx="1040349" cy="16004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FF0000"/>
                </a:highlight>
              </a:rPr>
              <a:t>Big Gap:</a:t>
            </a:r>
          </a:p>
          <a:p>
            <a:pPr algn="ctr"/>
            <a:endParaRPr lang="en-US" sz="16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Application SW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MBD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Simulink</a:t>
            </a:r>
          </a:p>
          <a:p>
            <a:pPr algn="ctr"/>
            <a:endParaRPr lang="en-US" sz="12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Systems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CAMEO </a:t>
            </a:r>
          </a:p>
        </p:txBody>
      </p:sp>
    </p:spTree>
    <p:extLst>
      <p:ext uri="{BB962C8B-B14F-4D97-AF65-F5344CB8AC3E}">
        <p14:creationId xmlns:p14="http://schemas.microsoft.com/office/powerpoint/2010/main" val="394083724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B3608-4B31-01F8-0EB2-14F7E738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7BD952-6A55-F1D4-FA9D-95E230E8B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Scenario in 2027….</a:t>
            </a:r>
          </a:p>
          <a:p>
            <a:r>
              <a:rPr lang="en-US" dirty="0"/>
              <a:t>Problem:  Many F130 people don’t have the Simulink pedigree desired by </a:t>
            </a:r>
            <a:r>
              <a:rPr lang="en-US" dirty="0" err="1"/>
              <a:t>ACaMS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59279D-8340-6C0A-6C00-34C7271D851B}"/>
              </a:ext>
            </a:extLst>
          </p:cNvPr>
          <p:cNvSpPr/>
          <p:nvPr/>
        </p:nvSpPr>
        <p:spPr>
          <a:xfrm>
            <a:off x="3041715" y="1611380"/>
            <a:ext cx="6108569" cy="420435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</p:spTree>
    <p:extLst>
      <p:ext uri="{BB962C8B-B14F-4D97-AF65-F5344CB8AC3E}">
        <p14:creationId xmlns:p14="http://schemas.microsoft.com/office/powerpoint/2010/main" val="56081585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BD21A-82E6-D5A6-138A-78D750F03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8915" y="158812"/>
            <a:ext cx="10043158" cy="368300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Welcome to Q3/Q4 2026</a:t>
            </a:r>
          </a:p>
          <a:p>
            <a:r>
              <a:rPr lang="en-US" dirty="0">
                <a:sym typeface="Wingdings" panose="05000000000000000000" pitchFamily="2" charset="2"/>
              </a:rPr>
              <a:t>We have two months to mitigate – can we productively do anything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F596F-04F3-9EAD-7F15-7B902D601691}"/>
              </a:ext>
            </a:extLst>
          </p:cNvPr>
          <p:cNvSpPr/>
          <p:nvPr/>
        </p:nvSpPr>
        <p:spPr>
          <a:xfrm>
            <a:off x="8135174" y="1648827"/>
            <a:ext cx="3933219" cy="3683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November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328566-E34C-DCC7-DD12-D2813765EDCC}"/>
              </a:ext>
            </a:extLst>
          </p:cNvPr>
          <p:cNvSpPr/>
          <p:nvPr/>
        </p:nvSpPr>
        <p:spPr>
          <a:xfrm>
            <a:off x="98981" y="1646750"/>
            <a:ext cx="3933219" cy="3683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September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2D2DC-13AA-25D6-CB19-22A21CD04E32}"/>
              </a:ext>
            </a:extLst>
          </p:cNvPr>
          <p:cNvSpPr/>
          <p:nvPr/>
        </p:nvSpPr>
        <p:spPr>
          <a:xfrm>
            <a:off x="4093968" y="1645206"/>
            <a:ext cx="3933219" cy="36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October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E954298-1979-2750-A392-559E9E2146CE}"/>
              </a:ext>
            </a:extLst>
          </p:cNvPr>
          <p:cNvCxnSpPr>
            <a:cxnSpLocks/>
          </p:cNvCxnSpPr>
          <p:nvPr/>
        </p:nvCxnSpPr>
        <p:spPr>
          <a:xfrm>
            <a:off x="55689" y="1667583"/>
            <a:ext cx="0" cy="449678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BC35EE-E2E8-B972-BCAC-6C63030F5F95}"/>
              </a:ext>
            </a:extLst>
          </p:cNvPr>
          <p:cNvCxnSpPr>
            <a:cxnSpLocks/>
          </p:cNvCxnSpPr>
          <p:nvPr/>
        </p:nvCxnSpPr>
        <p:spPr>
          <a:xfrm>
            <a:off x="4055986" y="1677108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E53E6892-B84D-8AE4-2146-CC5C460A55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716" y="870469"/>
            <a:ext cx="412927" cy="7054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A6BF91-5A15-5BE8-C964-D40D1725B0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479" y="1541808"/>
            <a:ext cx="851144" cy="5951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413277-635B-5B8C-686C-FD5F03949E12}"/>
              </a:ext>
            </a:extLst>
          </p:cNvPr>
          <p:cNvSpPr txBox="1"/>
          <p:nvPr/>
        </p:nvSpPr>
        <p:spPr>
          <a:xfrm>
            <a:off x="131964" y="3488857"/>
            <a:ext cx="1948077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/>
              <a:t>Nate Tyler</a:t>
            </a:r>
          </a:p>
          <a:p>
            <a:r>
              <a:rPr lang="en-US" sz="1600" dirty="0"/>
              <a:t>Andrew Williamson</a:t>
            </a:r>
          </a:p>
          <a:p>
            <a:r>
              <a:rPr lang="en-US" sz="1600" dirty="0"/>
              <a:t>Alex Johnson (PT)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 err="1"/>
              <a:t>Mireina</a:t>
            </a:r>
            <a:r>
              <a:rPr lang="en-US" sz="1600" dirty="0"/>
              <a:t> Keith</a:t>
            </a:r>
          </a:p>
          <a:p>
            <a:r>
              <a:rPr lang="en-US" sz="1600" dirty="0"/>
              <a:t>Linda Herman</a:t>
            </a:r>
          </a:p>
          <a:p>
            <a:r>
              <a:rPr lang="en-US" sz="1600" dirty="0"/>
              <a:t>Dominic Basciano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72B832-A579-32D0-1D3B-8C4FA8E0F4BB}"/>
              </a:ext>
            </a:extLst>
          </p:cNvPr>
          <p:cNvSpPr/>
          <p:nvPr/>
        </p:nvSpPr>
        <p:spPr>
          <a:xfrm>
            <a:off x="117972" y="2818863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can get the solution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FE2EED-5CD0-A680-E8F5-73B8E907084B}"/>
              </a:ext>
            </a:extLst>
          </p:cNvPr>
          <p:cNvSpPr/>
          <p:nvPr/>
        </p:nvSpPr>
        <p:spPr>
          <a:xfrm>
            <a:off x="119542" y="4291016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be “users group”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776DF7-9CBB-F3CE-7BF8-09DF28600E1B}"/>
              </a:ext>
            </a:extLst>
          </p:cNvPr>
          <p:cNvCxnSpPr>
            <a:cxnSpLocks/>
          </p:cNvCxnSpPr>
          <p:nvPr/>
        </p:nvCxnSpPr>
        <p:spPr>
          <a:xfrm>
            <a:off x="8082804" y="1688105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6BF6F2-FCE3-7B27-C695-1B887C6CCAC3}"/>
              </a:ext>
            </a:extLst>
          </p:cNvPr>
          <p:cNvSpPr/>
          <p:nvPr/>
        </p:nvSpPr>
        <p:spPr>
          <a:xfrm>
            <a:off x="6550041" y="2739570"/>
            <a:ext cx="2272945" cy="2944791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ACaMS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Resumes</a:t>
            </a:r>
          </a:p>
          <a:p>
            <a:pPr algn="ctr"/>
            <a:r>
              <a:rPr lang="en-US" sz="1400" dirty="0"/>
              <a:t>(Tyler)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Next Project Starts</a:t>
            </a:r>
          </a:p>
          <a:p>
            <a:pPr algn="ctr"/>
            <a:r>
              <a:rPr lang="en-US" sz="1400" dirty="0"/>
              <a:t>(Williamson)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FTAI picks up</a:t>
            </a:r>
          </a:p>
          <a:p>
            <a:pPr algn="ctr"/>
            <a:r>
              <a:rPr lang="en-US" sz="1400" dirty="0"/>
              <a:t>(Johnson)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8BDD9A-53C5-14DA-7452-47B930F013CB}"/>
              </a:ext>
            </a:extLst>
          </p:cNvPr>
          <p:cNvSpPr/>
          <p:nvPr/>
        </p:nvSpPr>
        <p:spPr>
          <a:xfrm>
            <a:off x="2343803" y="3414048"/>
            <a:ext cx="4020848" cy="1344197"/>
          </a:xfrm>
          <a:prstGeom prst="rightArrow">
            <a:avLst>
              <a:gd name="adj1" fmla="val 50000"/>
              <a:gd name="adj2" fmla="val 840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B3D896-FB1E-4ADA-703A-4A067FED361F}"/>
              </a:ext>
            </a:extLst>
          </p:cNvPr>
          <p:cNvSpPr txBox="1"/>
          <p:nvPr/>
        </p:nvSpPr>
        <p:spPr>
          <a:xfrm>
            <a:off x="2870757" y="3828270"/>
            <a:ext cx="237084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C0C0C0"/>
                </a:highlight>
              </a:rPr>
              <a:t>There is some time to </a:t>
            </a:r>
          </a:p>
          <a:p>
            <a:pPr algn="ctr"/>
            <a:r>
              <a:rPr lang="en-US" sz="1600" dirty="0">
                <a:highlight>
                  <a:srgbClr val="C0C0C0"/>
                </a:highlight>
              </a:rPr>
              <a:t>assemble a plan / solution</a:t>
            </a:r>
          </a:p>
        </p:txBody>
      </p:sp>
    </p:spTree>
    <p:extLst>
      <p:ext uri="{BB962C8B-B14F-4D97-AF65-F5344CB8AC3E}">
        <p14:creationId xmlns:p14="http://schemas.microsoft.com/office/powerpoint/2010/main" val="183210362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1625-85EA-F73C-AA5E-34855B77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8C72C6-C153-AC6F-0F3D-2C995529E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What is Definition of Done – Scenario in 2027….</a:t>
            </a:r>
          </a:p>
          <a:p>
            <a:r>
              <a:rPr lang="en-US" dirty="0"/>
              <a:t>(Solution to the Problem)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E371F8-7FDE-300B-B711-72EBB1C9F6F4}"/>
              </a:ext>
            </a:extLst>
          </p:cNvPr>
          <p:cNvSpPr/>
          <p:nvPr/>
        </p:nvSpPr>
        <p:spPr>
          <a:xfrm>
            <a:off x="45589" y="1611380"/>
            <a:ext cx="6108569" cy="43322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CCAB7B-AA6B-63AE-482D-8812C900970A}"/>
              </a:ext>
            </a:extLst>
          </p:cNvPr>
          <p:cNvSpPr/>
          <p:nvPr/>
        </p:nvSpPr>
        <p:spPr>
          <a:xfrm>
            <a:off x="6274337" y="1611380"/>
            <a:ext cx="2636196" cy="433222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Jason and / or Conrad inquire about each person’s MBD capacity and proficiency….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So they ask people like Nate or Linda…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“Can they step into App SW and help quickly”???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AD89E8-D49C-F4BE-ACDD-E6BEA9DDD3C4}"/>
              </a:ext>
            </a:extLst>
          </p:cNvPr>
          <p:cNvSpPr/>
          <p:nvPr/>
        </p:nvSpPr>
        <p:spPr>
          <a:xfrm>
            <a:off x="8994846" y="1627592"/>
            <a:ext cx="2999358" cy="433222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Nate and / or Linda say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“yes, they have been trained and/or done pilot projects and I am confident they can help us”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Then Conrad and / or Jason say “good for me, they know how we do things and can adapt quickly to the technology”</a:t>
            </a:r>
          </a:p>
        </p:txBody>
      </p:sp>
    </p:spTree>
    <p:extLst>
      <p:ext uri="{BB962C8B-B14F-4D97-AF65-F5344CB8AC3E}">
        <p14:creationId xmlns:p14="http://schemas.microsoft.com/office/powerpoint/2010/main" val="10782596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947AB0B9-9025-453D-8AA8-5C17231DC36F}">
  <we:reference id="wa104381526" version="1.0.0.2" store="en-US" storeType="OMEX"/>
  <we:alternateReferences>
    <we:reference id="WA104381526" version="1.0.0.2" store="WA104381526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Props1.xml><?xml version="1.0" encoding="utf-8"?>
<ds:datastoreItem xmlns:ds="http://schemas.openxmlformats.org/officeDocument/2006/customXml" ds:itemID="{4B2EC94B-890F-4F06-B798-4B4DED8D1AEE}">
  <ds:schemaRefs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www.w3.org/XML/1998/namespace"/>
    <ds:schemaRef ds:uri="http://purl.org/dc/terms/"/>
    <ds:schemaRef ds:uri="http://purl.org/dc/dcmitype/"/>
    <ds:schemaRef ds:uri="0873cd69-40f1-433c-bf93-e1d73619fdb5"/>
    <ds:schemaRef ds:uri="2d6c60d3-f5d7-4053-bda5-60231931954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122119</TotalTime>
  <Words>2576</Words>
  <Application>Microsoft Office PowerPoint</Application>
  <PresentationFormat>Widescreen</PresentationFormat>
  <Paragraphs>383</Paragraphs>
  <Slides>74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4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Wingdings</vt:lpstr>
      <vt:lpstr>2_Office Theme</vt:lpstr>
      <vt:lpstr>think-cell Slide</vt:lpstr>
      <vt:lpstr>Chapter 1 The Basics</vt:lpstr>
      <vt:lpstr>What is MATLAB and Simulink? MATLAB and Simulink provide a unified environment for model-based development, simulation, and verification of complex engineering systems.</vt:lpstr>
      <vt:lpstr>What are some useful commands for MATLAB and Simulink?</vt:lpstr>
      <vt:lpstr>Success looks like knowing how to …</vt:lpstr>
      <vt:lpstr>simpleDemo.slx Note: Scopes are not used in Rolls Royce models. I ONLY used a scope because it was the first sink I thought of for this Chapter 1 walkthrough.</vt:lpstr>
      <vt:lpstr>How to Open MATLAB &amp; SIMULINK</vt:lpstr>
      <vt:lpstr>Open MATLAB</vt:lpstr>
      <vt:lpstr>Review the MATLAB Window Layout</vt:lpstr>
      <vt:lpstr>Navigate to training folder</vt:lpstr>
      <vt:lpstr>How to Create a new Simulink Model</vt:lpstr>
      <vt:lpstr>Detailed Success in this section looks like knowing how to …</vt:lpstr>
      <vt:lpstr>Navigate to training folder &amp; create Simulink Model</vt:lpstr>
      <vt:lpstr>Rename Simulink File</vt:lpstr>
      <vt:lpstr>Open Simulink Model</vt:lpstr>
      <vt:lpstr>How to Use blocks (Part 1)</vt:lpstr>
      <vt:lpstr>Detailed Success in this section looks like knowing how to …</vt:lpstr>
      <vt:lpstr>Open Library Browser (Part 1)</vt:lpstr>
      <vt:lpstr>Open Library Browser (Part 2)</vt:lpstr>
      <vt:lpstr>Open Library Browser (Part 3)</vt:lpstr>
      <vt:lpstr>Add Blocks to Simulink Model (Method 1)</vt:lpstr>
      <vt:lpstr>Add Blocks to Simulink Model (Method 2)</vt:lpstr>
      <vt:lpstr>Fit Contents to Window</vt:lpstr>
      <vt:lpstr>Rename Blocks</vt:lpstr>
      <vt:lpstr>Save Simulink Model File</vt:lpstr>
      <vt:lpstr>Connect Lines / Drag Line (Part 1)</vt:lpstr>
      <vt:lpstr>Connect Lines / Drag Line (Part 2)</vt:lpstr>
      <vt:lpstr>Connect Lines / Auto Routing</vt:lpstr>
      <vt:lpstr>Connect Lines / Drag Line / Create Inport</vt:lpstr>
      <vt:lpstr>Connect Lines / Drag Line / Create Inport</vt:lpstr>
      <vt:lpstr>Rename Signals</vt:lpstr>
      <vt:lpstr>Move Signals</vt:lpstr>
      <vt:lpstr>Clean up Window</vt:lpstr>
      <vt:lpstr>Fit Contents to Window</vt:lpstr>
      <vt:lpstr>Remove Yellow Bar</vt:lpstr>
      <vt:lpstr>Select Lines Note: Do Not Select any blocks</vt:lpstr>
      <vt:lpstr>Signal Logging (Part 1)</vt:lpstr>
      <vt:lpstr>Signal Logging (Part 2)</vt:lpstr>
      <vt:lpstr>How to Run a simulation</vt:lpstr>
      <vt:lpstr>Detailed Success in this section looks like knowing how to …</vt:lpstr>
      <vt:lpstr>Run Simulation</vt:lpstr>
      <vt:lpstr>How to Use Data inspector</vt:lpstr>
      <vt:lpstr>Detailed Success in this section looks like knowing how to …</vt:lpstr>
      <vt:lpstr>Open Data Inspector Note: Simulation must be run prior to opening Data inspector to observe raw values.</vt:lpstr>
      <vt:lpstr>Add 1 Signal to Chart + Stop Time Overview</vt:lpstr>
      <vt:lpstr>Edit Grid Layout</vt:lpstr>
      <vt:lpstr>Add Signal(s) to Chart</vt:lpstr>
      <vt:lpstr>How to Use blocks (Part 2)</vt:lpstr>
      <vt:lpstr>Detailed Success in this section looks like knowing how to …</vt:lpstr>
      <vt:lpstr>Formatting Blocks – Align Left Note: both lines and blocks may be selected for this section  Note: align commands will only affect the placement of the blocks</vt:lpstr>
      <vt:lpstr>Show Property Inspector (Method 1) Note: This method will force property Inspector to activate</vt:lpstr>
      <vt:lpstr>Show Property Inspector (Method 2) Note: This is my preferred method </vt:lpstr>
      <vt:lpstr>Update Signal Attributes (P1)</vt:lpstr>
      <vt:lpstr>Update Signal Attributes (P1)</vt:lpstr>
      <vt:lpstr>Save Changes Note: The star * was removed after the save took place</vt:lpstr>
      <vt:lpstr>How to Use Model Explorer</vt:lpstr>
      <vt:lpstr>Detailed Success in this section looks like knowing how to …</vt:lpstr>
      <vt:lpstr>Open Model Explorer</vt:lpstr>
      <vt:lpstr>Create Data Dictionary File (.sldd) Note: In later chapters I deep dive the data dictionary. For now, I will only cover high level topics.</vt:lpstr>
      <vt:lpstr>Create Data Dictionary File (.sldd)</vt:lpstr>
      <vt:lpstr>Open Design Data</vt:lpstr>
      <vt:lpstr>Create Simulink Signal</vt:lpstr>
      <vt:lpstr>Update Sig (Before Changes)</vt:lpstr>
      <vt:lpstr>Update Sig (After Changes) </vt:lpstr>
      <vt:lpstr>Save Changes made to Data Dictionary (.sldd)</vt:lpstr>
      <vt:lpstr>Property Inspector – Block Signal Attributes</vt:lpstr>
      <vt:lpstr>Update Signal Attributes Note: pathC.Min, pathC.Max, and pathC.DataType reference values defined in the Simulink Data Dictionary (SLDD)  Note: Use the submenu (⋮) to select signal attributes from the SLDD. </vt:lpstr>
      <vt:lpstr>Save Changes Note: The star * was removed after the save took place</vt:lpstr>
      <vt:lpstr>How to Use Requirements editor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2101</cp:revision>
  <cp:lastPrinted>2026-03-04T20:38:48Z</cp:lastPrinted>
  <dcterms:created xsi:type="dcterms:W3CDTF">2017-05-22T13:23:52Z</dcterms:created>
  <dcterms:modified xsi:type="dcterms:W3CDTF">2026-09-04T15:00:46Z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