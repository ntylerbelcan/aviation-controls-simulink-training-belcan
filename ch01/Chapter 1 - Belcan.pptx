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5"/>
  </p:sldMasterIdLst>
  <p:notesMasterIdLst>
    <p:notesMasterId r:id="rId35"/>
  </p:notesMasterIdLst>
  <p:handoutMasterIdLst>
    <p:handoutMasterId r:id="rId36"/>
  </p:handoutMasterIdLst>
  <p:sldIdLst>
    <p:sldId id="256" r:id="rId6"/>
    <p:sldId id="3628" r:id="rId7"/>
    <p:sldId id="3631" r:id="rId8"/>
    <p:sldId id="3632" r:id="rId9"/>
    <p:sldId id="3633" r:id="rId10"/>
    <p:sldId id="3640" r:id="rId11"/>
    <p:sldId id="3641" r:id="rId12"/>
    <p:sldId id="3642" r:id="rId13"/>
    <p:sldId id="3634" r:id="rId14"/>
    <p:sldId id="3643" r:id="rId15"/>
    <p:sldId id="3644" r:id="rId16"/>
    <p:sldId id="3645" r:id="rId17"/>
    <p:sldId id="3635" r:id="rId18"/>
    <p:sldId id="3646" r:id="rId19"/>
    <p:sldId id="3647" r:id="rId20"/>
    <p:sldId id="3648" r:id="rId21"/>
    <p:sldId id="3650" r:id="rId22"/>
    <p:sldId id="3651" r:id="rId23"/>
    <p:sldId id="3652" r:id="rId24"/>
    <p:sldId id="3654" r:id="rId25"/>
    <p:sldId id="3657" r:id="rId26"/>
    <p:sldId id="3636" r:id="rId27"/>
    <p:sldId id="3637" r:id="rId28"/>
    <p:sldId id="3638" r:id="rId29"/>
    <p:sldId id="3639" r:id="rId30"/>
    <p:sldId id="3626" r:id="rId31"/>
    <p:sldId id="3625" r:id="rId32"/>
    <p:sldId id="3567" r:id="rId33"/>
    <p:sldId id="3582" r:id="rId34"/>
  </p:sldIdLst>
  <p:sldSz cx="12192000" cy="6858000"/>
  <p:notesSz cx="6950075" cy="923607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C01A4A7-E4B7-46E5-93DE-A146A072A09E}">
          <p14:sldIdLst>
            <p14:sldId id="256"/>
          </p14:sldIdLst>
        </p14:section>
        <p14:section name="What is MATLAB and Simulink?" id="{08094596-2F79-407D-957C-27286169ABE8}">
          <p14:sldIdLst>
            <p14:sldId id="3628"/>
          </p14:sldIdLst>
        </p14:section>
        <p14:section name="What does success look like?" id="{2184ACB6-BC5A-45A7-AA08-0CFF90079FF3}">
          <p14:sldIdLst>
            <p14:sldId id="3631"/>
          </p14:sldIdLst>
        </p14:section>
        <p14:section name="Final Model(s)" id="{DD7E7087-D4C1-49C4-90BA-FD121933CBC3}">
          <p14:sldIdLst>
            <p14:sldId id="3632"/>
          </p14:sldIdLst>
        </p14:section>
        <p14:section name="How to Open MATLAB &amp; SIMULINK" id="{C8DF2CCC-DF37-4452-A9BD-12549E5D36D1}">
          <p14:sldIdLst>
            <p14:sldId id="3633"/>
            <p14:sldId id="3640"/>
            <p14:sldId id="3641"/>
            <p14:sldId id="3642"/>
          </p14:sldIdLst>
        </p14:section>
        <p14:section name="How to Create a new Simulink Model" id="{82C3D226-D794-4489-92A1-E620DEDFB2A5}">
          <p14:sldIdLst>
            <p14:sldId id="3634"/>
            <p14:sldId id="3643"/>
            <p14:sldId id="3644"/>
            <p14:sldId id="3645"/>
          </p14:sldIdLst>
        </p14:section>
        <p14:section name="How to Use blocks" id="{000E4B64-D857-4ECD-81C8-90C1508B930D}">
          <p14:sldIdLst>
            <p14:sldId id="3635"/>
            <p14:sldId id="3646"/>
            <p14:sldId id="3647"/>
            <p14:sldId id="3648"/>
            <p14:sldId id="3650"/>
            <p14:sldId id="3651"/>
            <p14:sldId id="3652"/>
            <p14:sldId id="3654"/>
            <p14:sldId id="3657"/>
          </p14:sldIdLst>
        </p14:section>
        <p14:section name="How to Run a simulation" id="{3F1A5FEB-EFB7-4B88-A875-0798919095F3}">
          <p14:sldIdLst>
            <p14:sldId id="3636"/>
          </p14:sldIdLst>
        </p14:section>
        <p14:section name="How to Use Data inspector" id="{62385923-6401-41CB-84E6-D309E1EB289F}">
          <p14:sldIdLst>
            <p14:sldId id="3637"/>
          </p14:sldIdLst>
        </p14:section>
        <p14:section name="How to Use Model Explorer" id="{84EACC95-D6FF-4E20-90C5-FE2F477BB695}">
          <p14:sldIdLst>
            <p14:sldId id="3638"/>
          </p14:sldIdLst>
        </p14:section>
        <p14:section name="How to Use Requirements editor" id="{04F53C19-E036-40F5-A4EF-E2AEF7972486}">
          <p14:sldIdLst>
            <p14:sldId id="3639"/>
            <p14:sldId id="3626"/>
            <p14:sldId id="3625"/>
            <p14:sldId id="3567"/>
            <p14:sldId id="358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48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548" autoAdjust="0"/>
  </p:normalViewPr>
  <p:slideViewPr>
    <p:cSldViewPr snapToGrid="0">
      <p:cViewPr varScale="1">
        <p:scale>
          <a:sx n="102" d="100"/>
          <a:sy n="102" d="100"/>
        </p:scale>
        <p:origin x="954" y="114"/>
      </p:cViewPr>
      <p:guideLst>
        <p:guide orient="horz" pos="348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theme" Target="theme/theme1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098D98F-175E-78A3-B8F6-CC7AB773523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D1D7EE-CF92-23B0-51BA-B4DDAA57D6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A40AAD2-F4DE-46BB-9F99-83A578C04AFF}" type="datetimeFigureOut">
              <a:rPr lang="en-US"/>
              <a:pPr>
                <a:defRPr/>
              </a:pPr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8C0E3-C851-CE37-FD1B-A70FC4954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3D36C-A4BC-55F4-6B23-3774811418C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F3CA2B0F-1A0A-4562-9947-C246A40584F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4087F94-3C40-5DB6-5E60-B61FB53A37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17044B-4DF8-C000-1661-91CAF8D24A8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6D71FA5-8285-4D80-ACF0-ECBE044B5E2B}" type="datetimeFigureOut">
              <a:rPr lang="en-US"/>
              <a:pPr>
                <a:defRPr/>
              </a:pPr>
              <a:t>9/1/2026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A6DFA5B-B99B-0C95-58EF-202B53A6DC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771CE75-06FE-FE26-DCC2-2C570D11B5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278A4-2710-CFD8-CEF4-4DA98B66B49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55B7C4-2ABE-6434-8EA6-9A0B3F434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A04150-874A-42E2-8795-B6E7E159182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:a16="http://schemas.microsoft.com/office/drawing/2014/main" id="{2F4B7EE4-2ED7-D686-41CF-29D23845D1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5363" name="Notes Placeholder 2">
            <a:extLst>
              <a:ext uri="{FF2B5EF4-FFF2-40B4-BE49-F238E27FC236}">
                <a16:creationId xmlns:a16="http://schemas.microsoft.com/office/drawing/2014/main" id="{AA4ED621-05FA-44A0-34EE-D9D763AA73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C449068-0203-BD64-465A-32FB5765F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CD74A-8049-1673-A412-BC69A5A452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66" name="Slide Number Placeholder 5">
            <a:extLst>
              <a:ext uri="{FF2B5EF4-FFF2-40B4-BE49-F238E27FC236}">
                <a16:creationId xmlns:a16="http://schemas.microsoft.com/office/drawing/2014/main" id="{26FCB2B9-C5D1-C952-5E9B-F3FCF35F80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5B3D759-A5EF-4211-AF68-8970C468B8A9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ED21D-21EF-7E6D-5B72-0560D6AF3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BA173E-2807-4794-7F23-EF60F5398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702A5-FC84-A5F6-B60C-2DF5CCC5DA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F2D3525D-9FC3-483D-45F9-81BAD2AEE419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FE917A-7EE9-EF91-DB3F-4574ACA166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AB1F2F-FE3A-2B46-3567-35A4C2CCCB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8A04150-874A-42E2-8795-B6E7E159182C}" type="slidenum">
              <a:rPr lang="en-US" altLang="en-US" smtClean="0"/>
              <a:pPr>
                <a:defRPr/>
              </a:pPr>
              <a:t>27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028314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8A04150-874A-42E2-8795-B6E7E159182C}" type="slidenum">
              <a:rPr lang="en-US" altLang="en-US" smtClean="0"/>
              <a:pPr>
                <a:defRPr/>
              </a:pPr>
              <a:t>29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85639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8.xml"/><Relationship Id="rId7" Type="http://schemas.openxmlformats.org/officeDocument/2006/relationships/image" Target="../media/image2.emf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oleObject" Target="../embeddings/oleObject3.bin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9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8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7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1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79C1A729-D5B7-CA1C-AF00-7DFA55FDD3F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051" name="Object 2" hidden="1">
                        <a:extLst>
                          <a:ext uri="{FF2B5EF4-FFF2-40B4-BE49-F238E27FC236}">
                            <a16:creationId xmlns:a16="http://schemas.microsoft.com/office/drawing/2014/main" id="{5136F095-8153-4125-4D5B-2AFDD07C32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BBA21-8225-20C1-5BDF-C71464D2B24F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4D9CA5D-BC3B-E8C1-603F-390C5EFC2740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7" name="Picture 5" descr="Purpose &amp; principles PPT 2.png">
            <a:extLst>
              <a:ext uri="{FF2B5EF4-FFF2-40B4-BE49-F238E27FC236}">
                <a16:creationId xmlns:a16="http://schemas.microsoft.com/office/drawing/2014/main" id="{7B4C6C15-5B35-83EE-4D10-265906990F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Purpose &amp; principles PPT.png">
            <a:extLst>
              <a:ext uri="{FF2B5EF4-FFF2-40B4-BE49-F238E27FC236}">
                <a16:creationId xmlns:a16="http://schemas.microsoft.com/office/drawing/2014/main" id="{492F9D93-D16B-9D12-9F50-8CC0D724526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3537E1-CF04-9648-0FD9-4F21DA1FFB2A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27ABA1CE-7F1E-4C0A-AB66-66670BD6FC9C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2226001" y="398463"/>
            <a:ext cx="9635800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134000"/>
            <a:ext cx="11341101" cy="522076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hcSlideMaster.1_Layout 1 - Title, Subtitle and ContentHeader" descr=" ">
            <a:extLst>
              <a:ext uri="{FF2B5EF4-FFF2-40B4-BE49-F238E27FC236}">
                <a16:creationId xmlns:a16="http://schemas.microsoft.com/office/drawing/2014/main" id="{C72B11F0-4474-8A6E-7B76-99B15B2E189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fcSlideMaster.1_Layout 1 - Title, Subtitle and ContentFooter" descr=" ">
            <a:extLst>
              <a:ext uri="{FF2B5EF4-FFF2-40B4-BE49-F238E27FC236}">
                <a16:creationId xmlns:a16="http://schemas.microsoft.com/office/drawing/2014/main" id="{AAEECE00-2F49-7A8D-181F-BB579B75B4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335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 -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3075" name="Object 2" hidden="1">
                        <a:extLst>
                          <a:ext uri="{FF2B5EF4-FFF2-40B4-BE49-F238E27FC236}">
                            <a16:creationId xmlns:a16="http://schemas.microsoft.com/office/drawing/2014/main" id="{FCB7C648-B77C-442A-E153-A1351F8DB2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894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Belcan.com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3787775" cy="6778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>
                <a:solidFill>
                  <a:schemeClr val="accent1"/>
                </a:solidFill>
                <a:latin typeface="Arial Black" panose="020B0A04020102020204" pitchFamily="34" charset="0"/>
              </a:rPr>
              <a:t>THANK YOU</a:t>
            </a:r>
            <a:endParaRPr lang="en-US" altLang="en-US" sz="4400" b="1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91003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920A949A-9641-2D5F-E932-01EC50A583E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5123" name="Object 2" hidden="1">
                        <a:extLst>
                          <a:ext uri="{FF2B5EF4-FFF2-40B4-BE49-F238E27FC236}">
                            <a16:creationId xmlns:a16="http://schemas.microsoft.com/office/drawing/2014/main" id="{FD3C687B-20BB-B94B-C3D8-30BAC96F25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FC0342D-A2E8-D410-05B0-8135E3CC221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1342688" y="6513513"/>
            <a:ext cx="542925" cy="3508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cs typeface="Arial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507EAE52-ED7C-039E-F134-7453006A005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01275" y="6513513"/>
            <a:ext cx="1141413" cy="352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508000" y="1219200"/>
            <a:ext cx="11379200" cy="452438"/>
          </a:xfrm>
        </p:spPr>
        <p:txBody>
          <a:bodyPr lIns="0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DE81475-0E4A-A3CD-15F2-7CBFCBD8C58F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3"/>
            </p:custDataLst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A9157AA-27E1-5C1C-6CB4-6CD176EB7815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4"/>
            </p:custDataLst>
          </p:nvPr>
        </p:nvSpPr>
        <p:spPr>
          <a:xfrm>
            <a:off x="11342688" y="6626225"/>
            <a:ext cx="542925" cy="131763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89E7ACC-C495-45C7-BB8A-D2912D09B9D9}" type="slidenum">
              <a:rPr lang="es-AR" altLang="en-US"/>
              <a:pPr>
                <a:defRPr/>
              </a:pPr>
              <a:t>‹#›</a:t>
            </a:fld>
            <a:endParaRPr lang="es-AR" altLang="en-US"/>
          </a:p>
        </p:txBody>
      </p:sp>
      <p:sp>
        <p:nvSpPr>
          <p:cNvPr id="7" name="hcSlideMaster.1_Title and ContentHeader" descr=" ">
            <a:extLst>
              <a:ext uri="{FF2B5EF4-FFF2-40B4-BE49-F238E27FC236}">
                <a16:creationId xmlns:a16="http://schemas.microsoft.com/office/drawing/2014/main" id="{1915600B-5545-1EF0-E6A9-56A36431466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fcSlideMaster.1_Title and ContentFooter" descr=" ">
            <a:extLst>
              <a:ext uri="{FF2B5EF4-FFF2-40B4-BE49-F238E27FC236}">
                <a16:creationId xmlns:a16="http://schemas.microsoft.com/office/drawing/2014/main" id="{24377476-82F4-ADCE-8376-8A58D6FAAB6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951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030" y="457201"/>
            <a:ext cx="11199941" cy="67506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96029" y="1183066"/>
            <a:ext cx="11204664" cy="49506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cap="all" baseline="0">
                <a:solidFill>
                  <a:schemeClr val="bg1">
                    <a:lumMod val="50000"/>
                  </a:schemeClr>
                </a:solidFill>
                <a:latin typeface="Barlow ExtraBold" pitchFamily="2" charset="77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9"/>
          </p:nvPr>
        </p:nvSpPr>
        <p:spPr>
          <a:xfrm>
            <a:off x="496030" y="1728931"/>
            <a:ext cx="11199941" cy="4443270"/>
          </a:xfrm>
        </p:spPr>
        <p:txBody>
          <a:bodyPr lIns="0" tIns="0" rIns="0" bIns="0"/>
          <a:lstStyle>
            <a:lvl1pPr>
              <a:defRPr sz="2400"/>
            </a:lvl1pPr>
            <a:lvl2pPr marL="685663" marR="0" indent="-228554" algn="l" defTabSz="91421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Pct val="80000"/>
              <a:buFont typeface=".AppleSystemUIFont"/>
              <a:buChar char="-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4B855-6D8E-4F4E-2B27-FB8DF8EEBEF3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F4A2603D-B5BA-45A7-8ADE-B68B0FC5AE6C}" type="datetime3">
              <a:rPr lang="en-US"/>
              <a:pPr>
                <a:defRPr/>
              </a:pPr>
              <a:t>1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7E28E-5579-CAD5-6F6F-876A35EBCA6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r>
              <a:rPr lang="en-US"/>
              <a:t>Proprietary &amp; Confidential | Customize footer text under Home &gt; Insert &gt; Header and Footer</a:t>
            </a:r>
            <a:endParaRPr lang="en-US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FF557EBB-7561-A327-2E0E-318AFE9ABA7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228388" y="6356350"/>
            <a:ext cx="468312" cy="36512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pPr>
              <a:defRPr/>
            </a:pPr>
            <a:fld id="{DB8DF716-EA0E-4412-80E4-FDA1B3962B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" name="hcSlideMaster.1 ColumnHeader" descr=" ">
            <a:extLst>
              <a:ext uri="{FF2B5EF4-FFF2-40B4-BE49-F238E27FC236}">
                <a16:creationId xmlns:a16="http://schemas.microsoft.com/office/drawing/2014/main" id="{B228FA16-0987-3567-2B38-C145F35271EE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4" name="fcSlideMaster.1 ColumnFooter" descr=" ">
            <a:extLst>
              <a:ext uri="{FF2B5EF4-FFF2-40B4-BE49-F238E27FC236}">
                <a16:creationId xmlns:a16="http://schemas.microsoft.com/office/drawing/2014/main" id="{43DE6FB4-96AE-3A8B-CFDD-F17C516E4F64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275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D53A8410-8A7D-2046-830B-9C9A397FDA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8195" name="Object 2" hidden="1">
                        <a:extLst>
                          <a:ext uri="{FF2B5EF4-FFF2-40B4-BE49-F238E27FC236}">
                            <a16:creationId xmlns:a16="http://schemas.microsoft.com/office/drawing/2014/main" id="{4EFECE96-FB42-7C76-1BC4-F04D47A5EEB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6F5FFF-9DCB-F57A-144E-9C5CFA22034E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C179704-AC9F-B5B4-7A2B-54F1CBDE24C5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9" name="Picture 5" descr="Purpose &amp; principles PPT 2.png">
            <a:extLst>
              <a:ext uri="{FF2B5EF4-FFF2-40B4-BE49-F238E27FC236}">
                <a16:creationId xmlns:a16="http://schemas.microsoft.com/office/drawing/2014/main" id="{51BB7C9D-805C-A9E3-7F29-75437C0BB7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Purpose &amp; principles PPT.png">
            <a:extLst>
              <a:ext uri="{FF2B5EF4-FFF2-40B4-BE49-F238E27FC236}">
                <a16:creationId xmlns:a16="http://schemas.microsoft.com/office/drawing/2014/main" id="{4A549EA2-D760-58AA-3107-A35416BAC1D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455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989138"/>
            <a:ext cx="11341101" cy="436562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95818" y="1538289"/>
            <a:ext cx="11339925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95817" y="6440102"/>
            <a:ext cx="11341099" cy="1384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sz="90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13855" y="398463"/>
            <a:ext cx="67225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r" defTabSz="914400" rtl="0" eaLnBrk="1" latinLnBrk="0" hangingPunct="1">
              <a:buNone/>
              <a:defRPr lang="en-US" sz="1800" kern="1200" dirty="0">
                <a:solidFill>
                  <a:srgbClr val="011C32"/>
                </a:solidFill>
                <a:latin typeface="Arial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EF6118B1-6479-5C3A-1BDD-18614384E3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520488" y="6492875"/>
            <a:ext cx="671512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E6F9664B-027D-4AEE-9671-4928BEA615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hcSlideMaster.3_Layout 1 - Title, Subtitle and ContentHeader" descr=" ">
            <a:extLst>
              <a:ext uri="{FF2B5EF4-FFF2-40B4-BE49-F238E27FC236}">
                <a16:creationId xmlns:a16="http://schemas.microsoft.com/office/drawing/2014/main" id="{94E5FAC6-9A0A-44F8-B9B3-D4501D93AD7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3_Layout 1 - Title, Subtitle and ContentFooter" descr=" ">
            <a:extLst>
              <a:ext uri="{FF2B5EF4-FFF2-40B4-BE49-F238E27FC236}">
                <a16:creationId xmlns:a16="http://schemas.microsoft.com/office/drawing/2014/main" id="{A97D2C51-3152-88B0-1B22-941262CECD8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3853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bg1">
            <a:alpha val="90195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aerospace engineering reviewing specifications on laptop">
            <a:extLst>
              <a:ext uri="{FF2B5EF4-FFF2-40B4-BE49-F238E27FC236}">
                <a16:creationId xmlns:a16="http://schemas.microsoft.com/office/drawing/2014/main" id="{6CF2200A-7965-A251-2FC7-3DB369B6FB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31013A9-9FBD-7644-61FF-9DDB201427EA}"/>
              </a:ext>
            </a:extLst>
          </p:cNvPr>
          <p:cNvSpPr/>
          <p:nvPr userDrawn="1"/>
        </p:nvSpPr>
        <p:spPr>
          <a:xfrm>
            <a:off x="0" y="4714875"/>
            <a:ext cx="12192000" cy="1285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7C041D6-A600-9DE5-86C4-03E906F683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3175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10244" name="Object 3" hidden="1">
                        <a:extLst>
                          <a:ext uri="{FF2B5EF4-FFF2-40B4-BE49-F238E27FC236}">
                            <a16:creationId xmlns:a16="http://schemas.microsoft.com/office/drawing/2014/main" id="{19D95245-B891-C7CD-1861-1B8BA77DB57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3175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o not remove" hidden="1">
            <a:extLst>
              <a:ext uri="{FF2B5EF4-FFF2-40B4-BE49-F238E27FC236}">
                <a16:creationId xmlns:a16="http://schemas.microsoft.com/office/drawing/2014/main" id="{8B2067C8-39F1-F65C-8D0E-5A7657CB6BC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7463" cy="12700"/>
          </a:xfrm>
          <a:prstGeom prst="octagon">
            <a:avLst/>
          </a:prstGeom>
          <a:noFill/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8A159E-64D9-393E-C348-B4CE33A50B31}"/>
              </a:ext>
            </a:extLst>
          </p:cNvPr>
          <p:cNvSpPr/>
          <p:nvPr userDrawn="1"/>
        </p:nvSpPr>
        <p:spPr>
          <a:xfrm>
            <a:off x="0" y="4711700"/>
            <a:ext cx="12192000" cy="84138"/>
          </a:xfrm>
          <a:prstGeom prst="rect">
            <a:avLst/>
          </a:prstGeom>
          <a:solidFill>
            <a:srgbClr val="186B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5CF18-49A8-8E1A-2AEC-9E1217ACA9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981200"/>
            <a:ext cx="2379663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9398C1-6466-6836-4718-870188C345F9}"/>
              </a:ext>
            </a:extLst>
          </p:cNvPr>
          <p:cNvCxnSpPr/>
          <p:nvPr userDrawn="1"/>
        </p:nvCxnSpPr>
        <p:spPr>
          <a:xfrm>
            <a:off x="1695450" y="5445125"/>
            <a:ext cx="6604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itle 8"/>
          <p:cNvSpPr>
            <a:spLocks noGrp="1"/>
          </p:cNvSpPr>
          <p:nvPr>
            <p:ph type="title"/>
          </p:nvPr>
        </p:nvSpPr>
        <p:spPr>
          <a:xfrm>
            <a:off x="2356222" y="5014045"/>
            <a:ext cx="9394363" cy="8713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0" rIns="91440" bIns="0" anchor="ctr">
            <a:noAutofit/>
          </a:bodyPr>
          <a:lstStyle>
            <a:lvl1pPr marL="0" algn="l" defTabSz="914377" rtl="0" eaLnBrk="1" latinLnBrk="0" hangingPunct="1">
              <a:lnSpc>
                <a:spcPct val="100000"/>
              </a:lnSpc>
              <a:defRPr lang="en-US" sz="1600" b="1" kern="1200" cap="all" baseline="0" dirty="0">
                <a:solidFill>
                  <a:schemeClr val="bg1"/>
                </a:solidFill>
                <a:latin typeface="+mj-lt"/>
                <a:ea typeface="+mn-ea"/>
                <a:cs typeface="Dreaming Outloud Script Pro" panose="020B0604020202020204" pitchFamily="66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hcSlideMaster.Divider 1Header" descr=" ">
            <a:extLst>
              <a:ext uri="{FF2B5EF4-FFF2-40B4-BE49-F238E27FC236}">
                <a16:creationId xmlns:a16="http://schemas.microsoft.com/office/drawing/2014/main" id="{2C1E635C-C015-3BA3-32CF-77754B0010B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Divider 1Footer" descr=" ">
            <a:extLst>
              <a:ext uri="{FF2B5EF4-FFF2-40B4-BE49-F238E27FC236}">
                <a16:creationId xmlns:a16="http://schemas.microsoft.com/office/drawing/2014/main" id="{D07816B1-6DE0-6C9C-157C-B661009C5397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1108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0" Type="http://schemas.openxmlformats.org/officeDocument/2006/relationships/oleObject" Target="../embeddings/oleObject1.bin"/><Relationship Id="rId4" Type="http://schemas.openxmlformats.org/officeDocument/2006/relationships/slideLayout" Target="../slideLayouts/slideLayout4.xml"/><Relationship Id="rId9" Type="http://schemas.openxmlformats.org/officeDocument/2006/relationships/tags" Target="../tags/tag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9" hidden="1">
            <a:extLst>
              <a:ext uri="{FF2B5EF4-FFF2-40B4-BE49-F238E27FC236}">
                <a16:creationId xmlns:a16="http://schemas.microsoft.com/office/drawing/2014/main" id="{7208E0D4-98E9-DD31-1ADD-B670E23C418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9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360" imgH="360" progId="TCLayout.ActiveDocument.1">
                  <p:embed/>
                </p:oleObj>
              </mc:Choice>
              <mc:Fallback>
                <p:oleObj name="think-cell Slide" r:id="rId10" imgW="360" imgH="360" progId="TCLayout.ActiveDocument.1">
                  <p:embed/>
                  <p:pic>
                    <p:nvPicPr>
                      <p:cNvPr id="0" name="Object 9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4792" r:id="rId1"/>
    <p:sldLayoutId id="2147484793" r:id="rId2"/>
    <p:sldLayoutId id="2147484794" r:id="rId3"/>
    <p:sldLayoutId id="2147484795" r:id="rId4"/>
    <p:sldLayoutId id="2147484796" r:id="rId5"/>
    <p:sldLayoutId id="2147484798" r:id="rId6"/>
    <p:sldLayoutId id="2147484800" r:id="rId7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2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594AB9-2C9A-954E-9F92-62EFB7D09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4130" y="4947338"/>
            <a:ext cx="9394825" cy="871538"/>
          </a:xfrm>
        </p:spPr>
        <p:txBody>
          <a:bodyPr/>
          <a:lstStyle/>
          <a:p>
            <a:pPr>
              <a:defRPr/>
            </a:pPr>
            <a:r>
              <a:rPr dirty="0"/>
              <a:t>Chapter 1 </a:t>
            </a:r>
            <a:r>
              <a:rPr lang="en-US" altLang="en-US" dirty="0"/>
              <a:t>The Basics</a:t>
            </a:r>
            <a:endParaRPr dirty="0"/>
          </a:p>
        </p:txBody>
      </p:sp>
      <p:sp>
        <p:nvSpPr>
          <p:cNvPr id="14339" name="TextBox 3">
            <a:extLst>
              <a:ext uri="{FF2B5EF4-FFF2-40B4-BE49-F238E27FC236}">
                <a16:creationId xmlns:a16="http://schemas.microsoft.com/office/drawing/2014/main" id="{5987A8B9-2167-D53B-8086-29D2671D8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7342" y="5310188"/>
            <a:ext cx="268451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How to Use MATLAB/SIMULINK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09 September 2026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8D16E5-FC70-4956-3DB3-2BE8C9924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5" y="2019503"/>
            <a:ext cx="4637020" cy="8715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E62CD-A924-D5BC-DA59-150364047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9FB752-1763-93D5-228F-EEC9C9997F5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What is MATLAB and Simulink?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D141CB-8FCA-D812-4969-CD2764BC2618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What is MATLAB and Simulink?</a:t>
            </a:r>
            <a:br>
              <a:rPr lang="en-US" sz="2100" b="0" i="1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17324A"/>
                </a:solidFill>
                <a:latin typeface="Aptos"/>
                <a:ea typeface="Aptos"/>
                <a:cs typeface="Aptos"/>
              </a:rPr>
              <a:t>MATLAB and Simulink provide a unified environment for model-based development, simulation, and verification of complex engineering systems.</a:t>
            </a:r>
            <a:endParaRPr lang="en-US" sz="1400" b="0" i="1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589D463-8449-016D-2E65-1AA063023CF2}"/>
              </a:ext>
            </a:extLst>
          </p:cNvPr>
          <p:cNvSpPr txBox="1">
            <a:spLocks/>
          </p:cNvSpPr>
          <p:nvPr/>
        </p:nvSpPr>
        <p:spPr>
          <a:xfrm>
            <a:off x="839788" y="1992254"/>
            <a:ext cx="5157787" cy="369332"/>
          </a:xfr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MATLAB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EA56A49-BF59-B749-4A18-293A0E3D768C}"/>
              </a:ext>
            </a:extLst>
          </p:cNvPr>
          <p:cNvSpPr txBox="1">
            <a:spLocks/>
          </p:cNvSpPr>
          <p:nvPr/>
        </p:nvSpPr>
        <p:spPr>
          <a:xfrm>
            <a:off x="6172200" y="1992254"/>
            <a:ext cx="5183188" cy="369332"/>
          </a:xfr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Simulink</a:t>
            </a:r>
          </a:p>
        </p:txBody>
      </p:sp>
      <p:pic>
        <p:nvPicPr>
          <p:cNvPr id="8" name="Content Placeholder 9">
            <a:extLst>
              <a:ext uri="{FF2B5EF4-FFF2-40B4-BE49-F238E27FC236}">
                <a16:creationId xmlns:a16="http://schemas.microsoft.com/office/drawing/2014/main" id="{78655114-1A25-EB6E-7E81-5C8BFD2429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788" y="3195299"/>
            <a:ext cx="5157787" cy="3218244"/>
          </a:xfrm>
          <a:prstGeom prst="rect">
            <a:avLst/>
          </a:prstGeom>
        </p:spPr>
      </p:pic>
      <p:pic>
        <p:nvPicPr>
          <p:cNvPr id="9" name="Picture 8" descr="MATLAB Logo, symbol, meaning, history, PNG, brand">
            <a:extLst>
              <a:ext uri="{FF2B5EF4-FFF2-40B4-BE49-F238E27FC236}">
                <a16:creationId xmlns:a16="http://schemas.microsoft.com/office/drawing/2014/main" id="{8D4DDF90-6388-C1EF-C402-CB15E36783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097" r="65520" b="27886"/>
          <a:stretch>
            <a:fillRect/>
          </a:stretch>
        </p:blipFill>
        <p:spPr>
          <a:xfrm>
            <a:off x="2287815" y="1839021"/>
            <a:ext cx="779850" cy="572729"/>
          </a:xfrm>
          <a:prstGeom prst="rect">
            <a:avLst/>
          </a:prstGeom>
        </p:spPr>
      </p:pic>
      <p:pic>
        <p:nvPicPr>
          <p:cNvPr id="11" name="Picture 10" descr="Logotipo De Simulink De Matlab MATLAB® And Simulink® | Microchip">
            <a:extLst>
              <a:ext uri="{FF2B5EF4-FFF2-40B4-BE49-F238E27FC236}">
                <a16:creationId xmlns:a16="http://schemas.microsoft.com/office/drawing/2014/main" id="{EC3FC2F0-0943-0DFE-F6CA-79EC70675B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9664" y="1866697"/>
            <a:ext cx="525259" cy="52525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5529F6E-9268-30B6-2456-B8B453CD23F6}"/>
              </a:ext>
            </a:extLst>
          </p:cNvPr>
          <p:cNvSpPr txBox="1"/>
          <p:nvPr/>
        </p:nvSpPr>
        <p:spPr>
          <a:xfrm>
            <a:off x="6172200" y="2420888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Graphical modeling and simulation of dynamic systems.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EBD052-9C8C-D19B-7EA6-20AFDD901847}"/>
              </a:ext>
            </a:extLst>
          </p:cNvPr>
          <p:cNvSpPr txBox="1"/>
          <p:nvPr/>
        </p:nvSpPr>
        <p:spPr>
          <a:xfrm>
            <a:off x="839788" y="2420888"/>
            <a:ext cx="5157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Numerical computing, analysis, and algorithm development.</a:t>
            </a:r>
          </a:p>
        </p:txBody>
      </p:sp>
      <p:pic>
        <p:nvPicPr>
          <p:cNvPr id="14" name="Content Placeholder 11">
            <a:extLst>
              <a:ext uri="{FF2B5EF4-FFF2-40B4-BE49-F238E27FC236}">
                <a16:creationId xmlns:a16="http://schemas.microsoft.com/office/drawing/2014/main" id="{6E6E7B14-B25C-A7EC-F416-D7F565330A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195299"/>
            <a:ext cx="5987432" cy="3218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2896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04B2E-4295-3478-AD48-D4CAD1D2D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313CD5-D119-CC16-E8F4-FF12AC3EB990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What does success look like?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EB54A0-F271-C250-EA99-C3135011174D}"/>
              </a:ext>
            </a:extLst>
          </p:cNvPr>
          <p:cNvSpPr txBox="1">
            <a:spLocks/>
          </p:cNvSpPr>
          <p:nvPr/>
        </p:nvSpPr>
        <p:spPr>
          <a:xfrm>
            <a:off x="839788" y="1376313"/>
            <a:ext cx="10515600" cy="4901938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Open MATLAB &amp; SIMULINK</a:t>
            </a: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Create a new Simulink Model</a:t>
            </a: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blocks</a:t>
            </a: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Run a simulation</a:t>
            </a: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Data inspector</a:t>
            </a: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Model Explorer</a:t>
            </a: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Requirements editor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0C679F78-73FB-AB93-7A81-46381BF375EC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Success looks like knowing how to …</a:t>
            </a:r>
          </a:p>
        </p:txBody>
      </p:sp>
    </p:spTree>
    <p:extLst>
      <p:ext uri="{BB962C8B-B14F-4D97-AF65-F5344CB8AC3E}">
        <p14:creationId xmlns:p14="http://schemas.microsoft.com/office/powerpoint/2010/main" val="575760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97AB5-A5D4-3944-0F7D-C85DD1D46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A4E279-D21E-F0CF-6F4E-5EDBA1D4ED85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Final Model(s)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D535CB43-462B-508E-D728-E34C163B190E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simpleDemo.slx</a:t>
            </a:r>
            <a:endParaRPr lang="en-US" dirty="0"/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7A09FCA9-ED12-9807-290C-BC0C63D5F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244" y="1815793"/>
            <a:ext cx="809551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673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25BDFB-94C2-A959-29C1-318ED12D8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</p:spTree>
    <p:extLst>
      <p:ext uri="{BB962C8B-B14F-4D97-AF65-F5344CB8AC3E}">
        <p14:creationId xmlns:p14="http://schemas.microsoft.com/office/powerpoint/2010/main" val="2009856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C53D0-4FBD-B36F-C004-E1787F859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364C7E8-4A6B-AAEB-FBB6-2D79D11796F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Open MATLAB &amp; SIMULINK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6D197DC7-0F06-7AAB-B469-F83EE5911FA3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Open MATLAB</a:t>
            </a:r>
          </a:p>
        </p:txBody>
      </p:sp>
      <p:pic>
        <p:nvPicPr>
          <p:cNvPr id="3" name="Content Placeholder 7">
            <a:extLst>
              <a:ext uri="{FF2B5EF4-FFF2-40B4-BE49-F238E27FC236}">
                <a16:creationId xmlns:a16="http://schemas.microsoft.com/office/drawing/2014/main" id="{DC80C3C2-02B5-DA99-33EC-289ACEFC5B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5576" y="3243951"/>
            <a:ext cx="3200847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78666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C9EF8-636C-4CAF-F65E-9AF03140F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ACC11EE-5225-5881-50F5-0D1E55CC9E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8244" y="1815793"/>
            <a:ext cx="8095513" cy="43513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31DA2C2-5F82-34DB-D47B-FBE23CD76BCF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Open MATLAB &amp; SIMULINK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C34F7BC0-64DE-976C-A707-103AD80B7018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Review the MATLAB Window Layout</a:t>
            </a:r>
          </a:p>
        </p:txBody>
      </p:sp>
    </p:spTree>
    <p:extLst>
      <p:ext uri="{BB962C8B-B14F-4D97-AF65-F5344CB8AC3E}">
        <p14:creationId xmlns:p14="http://schemas.microsoft.com/office/powerpoint/2010/main" val="42262319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200D5-9A5A-76D4-BA0B-BD1B8DEF6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Content Placeholder 4">
            <a:extLst>
              <a:ext uri="{FF2B5EF4-FFF2-40B4-BE49-F238E27FC236}">
                <a16:creationId xmlns:a16="http://schemas.microsoft.com/office/drawing/2014/main" id="{B8CFFBC4-0B5F-0238-F7ED-DD8B8CB1B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40" b="53247"/>
          <a:stretch>
            <a:fillRect/>
          </a:stretch>
        </p:blipFill>
        <p:spPr>
          <a:xfrm>
            <a:off x="839788" y="2582556"/>
            <a:ext cx="5157787" cy="309636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B45F4EC-DA9A-3328-622F-0FAE00B1D72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Open MATLAB &amp; SIMULINK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C4E1001-1584-6807-5B3F-3D6CF604977E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Navigate to training folder</a:t>
            </a:r>
            <a:endParaRPr lang="en-US" sz="14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64DF38-FE80-6524-8A1B-5CBCD13A55D6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Navigate to Chapter 1 folder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33A3146-0F3B-E712-2ED5-941608DE96A4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Navigate to training folder</a:t>
            </a:r>
          </a:p>
        </p:txBody>
      </p:sp>
      <p:pic>
        <p:nvPicPr>
          <p:cNvPr id="3" name="Content Placeholder 13">
            <a:extLst>
              <a:ext uri="{FF2B5EF4-FFF2-40B4-BE49-F238E27FC236}">
                <a16:creationId xmlns:a16="http://schemas.microsoft.com/office/drawing/2014/main" id="{DD768DE8-0749-81F6-121F-09496A2A47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93" b="59936"/>
          <a:stretch>
            <a:fillRect/>
          </a:stretch>
        </p:blipFill>
        <p:spPr>
          <a:xfrm>
            <a:off x="6096000" y="2582556"/>
            <a:ext cx="5183188" cy="2967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95265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9DFB6-62FA-C697-2982-FEA964845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D27DD5-B0EE-7BCF-19AD-3A8BF726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</p:spTree>
    <p:extLst>
      <p:ext uri="{BB962C8B-B14F-4D97-AF65-F5344CB8AC3E}">
        <p14:creationId xmlns:p14="http://schemas.microsoft.com/office/powerpoint/2010/main" val="15869734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A03E9-A88C-BB1D-75DB-3B44A6A2F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C786F9-09BE-EFD8-32F5-2E7FA20A5D71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Create a new Simulink Model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D1F6C991-6AEE-5FC6-2009-F4DEB0A2238B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Navigate to training folder &amp; create Simulink Model</a:t>
            </a:r>
          </a:p>
        </p:txBody>
      </p:sp>
      <p:pic>
        <p:nvPicPr>
          <p:cNvPr id="4" name="Content Placeholder 8">
            <a:extLst>
              <a:ext uri="{FF2B5EF4-FFF2-40B4-BE49-F238E27FC236}">
                <a16:creationId xmlns:a16="http://schemas.microsoft.com/office/drawing/2014/main" id="{44FBDD96-9C1E-0F94-653F-2BC0980A8F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940" b="34476"/>
          <a:stretch>
            <a:fillRect/>
          </a:stretch>
        </p:blipFill>
        <p:spPr>
          <a:xfrm>
            <a:off x="2200458" y="1825625"/>
            <a:ext cx="779108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91260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913E2-DD61-05C8-3AA2-2D168C162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14">
            <a:extLst>
              <a:ext uri="{FF2B5EF4-FFF2-40B4-BE49-F238E27FC236}">
                <a16:creationId xmlns:a16="http://schemas.microsoft.com/office/drawing/2014/main" id="{3A08736A-7D47-0596-839D-1E01C96673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592" b="56296"/>
          <a:stretch>
            <a:fillRect/>
          </a:stretch>
        </p:blipFill>
        <p:spPr>
          <a:xfrm>
            <a:off x="6096000" y="2582556"/>
            <a:ext cx="5183188" cy="3170114"/>
          </a:xfrm>
          <a:prstGeom prst="rect">
            <a:avLst/>
          </a:prstGeom>
        </p:spPr>
      </p:pic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0876F7C8-834E-FAA9-2257-D9C872CE76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650" b="54953"/>
          <a:stretch>
            <a:fillRect/>
          </a:stretch>
        </p:blipFill>
        <p:spPr>
          <a:xfrm>
            <a:off x="839788" y="2629566"/>
            <a:ext cx="5157787" cy="343560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78CB322-5B34-F9F9-DBFB-D83DE915971B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Create a new Simulink Model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00A42B-31D3-AC19-8D33-C7F85C8C03C5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Rename Simulink File</a:t>
            </a:r>
            <a:endParaRPr lang="en-US" sz="14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FF27C5-5353-9989-556A-84FEA15EEA5C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Rename and Press Enter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1B84A3-9271-6043-3389-47F73AC89625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Right click new file</a:t>
            </a:r>
          </a:p>
        </p:txBody>
      </p:sp>
    </p:spTree>
    <p:extLst>
      <p:ext uri="{BB962C8B-B14F-4D97-AF65-F5344CB8AC3E}">
        <p14:creationId xmlns:p14="http://schemas.microsoft.com/office/powerpoint/2010/main" val="25631570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2ACA5-37C6-C9B0-99BC-AB5DF0ED0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876321-6A34-A610-3DFA-B18E86863DDB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Create a new Simulink Model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7C2A0B45-8E7D-5D8E-8327-E9D8C95C9B8E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Open Simulink Model</a:t>
            </a:r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B149CBB3-0BBC-CAE7-DAD7-2ED8EFA828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504" b="38118"/>
          <a:stretch>
            <a:fillRect/>
          </a:stretch>
        </p:blipFill>
        <p:spPr>
          <a:xfrm>
            <a:off x="1942671" y="1825625"/>
            <a:ext cx="830665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40410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FC9AB-A703-9E2F-F787-CC1A0394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69A52B-51AC-CFB6-0C11-D2DE4A77B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</a:t>
            </a:r>
          </a:p>
        </p:txBody>
      </p:sp>
    </p:spTree>
    <p:extLst>
      <p:ext uri="{BB962C8B-B14F-4D97-AF65-F5344CB8AC3E}">
        <p14:creationId xmlns:p14="http://schemas.microsoft.com/office/powerpoint/2010/main" val="10880861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EFED5-83BC-A155-523D-913EE098B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11">
            <a:extLst>
              <a:ext uri="{FF2B5EF4-FFF2-40B4-BE49-F238E27FC236}">
                <a16:creationId xmlns:a16="http://schemas.microsoft.com/office/drawing/2014/main" id="{DF491675-074E-645D-B7A0-44B949A764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912" t="21270" r="48545" b="42963"/>
          <a:stretch>
            <a:fillRect/>
          </a:stretch>
        </p:blipFill>
        <p:spPr>
          <a:xfrm>
            <a:off x="839788" y="2610389"/>
            <a:ext cx="5157787" cy="347395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58205A1-9992-0CB4-5F12-6D5F9BCFC7A5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A390349-D6E7-C020-1F52-03E244E12BD2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Open Library Browser (Part 1)</a:t>
            </a:r>
            <a:endParaRPr lang="en-US" sz="14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81EED9-F0E1-C875-88A0-81DEEFA83163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loaded library browser window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A3BB10-E127-78D4-BD28-01C5D0FA36A6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Library Browser</a:t>
            </a:r>
          </a:p>
        </p:txBody>
      </p:sp>
      <p:pic>
        <p:nvPicPr>
          <p:cNvPr id="7" name="Content Placeholder 9">
            <a:extLst>
              <a:ext uri="{FF2B5EF4-FFF2-40B4-BE49-F238E27FC236}">
                <a16:creationId xmlns:a16="http://schemas.microsoft.com/office/drawing/2014/main" id="{7BCED9DC-FFB4-E772-140C-C298D12329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504" t="20872" r="27351"/>
          <a:stretch>
            <a:fillRect/>
          </a:stretch>
        </p:blipFill>
        <p:spPr>
          <a:xfrm>
            <a:off x="6096000" y="2582556"/>
            <a:ext cx="4430813" cy="3684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7024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972FE-AFC5-4321-CA64-F554920DC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14">
            <a:extLst>
              <a:ext uri="{FF2B5EF4-FFF2-40B4-BE49-F238E27FC236}">
                <a16:creationId xmlns:a16="http://schemas.microsoft.com/office/drawing/2014/main" id="{6102F780-A36B-AEA4-851A-84734384DF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737" t="32614" r="10967" b="7647"/>
          <a:stretch>
            <a:fillRect/>
          </a:stretch>
        </p:blipFill>
        <p:spPr>
          <a:xfrm>
            <a:off x="6134493" y="2620686"/>
            <a:ext cx="5183188" cy="36742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7CAC930-9B4C-ADC9-74B2-3B6F13AD39D3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9F33B6F-6A0D-5C68-6029-414B3480C304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Open Library Browser (Part 2)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CA13CB-8F99-5999-94A1-D7656C7DB0B1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4. Review Common Blocks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FE893E-C0A3-25AF-6D4D-9A046BCE5DF4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Click Icon</a:t>
            </a:r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4401BFD6-3D40-4475-96A8-B479E284DE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130" t="21125" r="42413" b="46364"/>
          <a:stretch>
            <a:fillRect/>
          </a:stretch>
        </p:blipFill>
        <p:spPr>
          <a:xfrm>
            <a:off x="839787" y="2610389"/>
            <a:ext cx="5157787" cy="254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135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228C5-5A4A-0F1D-10B2-9B9D05126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EABA8152-C163-118D-3E9A-792BD25C6D0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622" t="33987" r="10062" b="6076"/>
          <a:stretch>
            <a:fillRect/>
          </a:stretch>
        </p:blipFill>
        <p:spPr>
          <a:xfrm>
            <a:off x="839788" y="2591473"/>
            <a:ext cx="5157787" cy="35117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81B1E27-B819-746C-EC55-F556BA12DA23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FA8130E-2AFF-DAED-148E-11A7BCBA708C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Open Library Browser (Part 3)</a:t>
            </a:r>
            <a:endParaRPr lang="en-US" sz="1600" b="0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B6370F-DDEB-489B-9552-EB7F572A1213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5. Review Common Blocks</a:t>
            </a:r>
          </a:p>
        </p:txBody>
      </p:sp>
    </p:spTree>
    <p:extLst>
      <p:ext uri="{BB962C8B-B14F-4D97-AF65-F5344CB8AC3E}">
        <p14:creationId xmlns:p14="http://schemas.microsoft.com/office/powerpoint/2010/main" val="35969532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75A8C-D972-689D-1642-874B83DDF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0">
            <a:extLst>
              <a:ext uri="{FF2B5EF4-FFF2-40B4-BE49-F238E27FC236}">
                <a16:creationId xmlns:a16="http://schemas.microsoft.com/office/drawing/2014/main" id="{FFD636E9-31C3-1389-00AB-4D991EC659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211" t="10771" r="7128" b="20227"/>
          <a:stretch>
            <a:fillRect/>
          </a:stretch>
        </p:blipFill>
        <p:spPr>
          <a:xfrm>
            <a:off x="839787" y="2610389"/>
            <a:ext cx="5132295" cy="368458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1DF0A6D-CC6B-270F-861E-2672D978713A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EA2CA7A-19A2-C8F5-48B6-E12E2ADEA4F2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Add Blocks to Simulink Model (Method 1)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18B99A-D17F-FDBA-C645-9A0B274DC86E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the Simulink model after Drag and Drop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030777-70AD-89C7-AF1C-A68EA0F2D55C}"/>
              </a:ext>
            </a:extLst>
          </p:cNvPr>
          <p:cNvSpPr txBox="1"/>
          <p:nvPr/>
        </p:nvSpPr>
        <p:spPr>
          <a:xfrm>
            <a:off x="839788" y="1808145"/>
            <a:ext cx="5157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Drag Blocks from Library to Simulink model window</a:t>
            </a:r>
          </a:p>
        </p:txBody>
      </p:sp>
      <p:pic>
        <p:nvPicPr>
          <p:cNvPr id="6" name="Content Placeholder 6">
            <a:extLst>
              <a:ext uri="{FF2B5EF4-FFF2-40B4-BE49-F238E27FC236}">
                <a16:creationId xmlns:a16="http://schemas.microsoft.com/office/drawing/2014/main" id="{E0E51410-5063-0792-97AE-2216C07FB5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1289" t="35662" r="24433" b="6431"/>
          <a:stretch>
            <a:fillRect/>
          </a:stretch>
        </p:blipFill>
        <p:spPr>
          <a:xfrm>
            <a:off x="6134493" y="2610389"/>
            <a:ext cx="4057840" cy="3684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3776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E741B-DA75-BEAE-43FA-E74CB2B8C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6079677-C762-C00E-2830-A995268950A8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30F7556-EB38-462E-89B4-40B016253C91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Add Blocks to Simulink Model (Method 2)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C4AF4D-FA36-AE61-662E-6B1AD8CC9B78}"/>
              </a:ext>
            </a:extLst>
          </p:cNvPr>
          <p:cNvSpPr txBox="1"/>
          <p:nvPr/>
        </p:nvSpPr>
        <p:spPr>
          <a:xfrm>
            <a:off x="4230277" y="1808145"/>
            <a:ext cx="3846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Type “step” and press enter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DC2579-AC88-D429-E5E1-C54D5BDE9670}"/>
              </a:ext>
            </a:extLst>
          </p:cNvPr>
          <p:cNvSpPr txBox="1"/>
          <p:nvPr/>
        </p:nvSpPr>
        <p:spPr>
          <a:xfrm>
            <a:off x="170484" y="1808145"/>
            <a:ext cx="4118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Double Click on Empty Space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C2D7B56-A81B-1416-F85E-97E111444C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2" t="38815" r="26160" b="3887"/>
          <a:stretch>
            <a:fillRect/>
          </a:stretch>
        </p:blipFill>
        <p:spPr>
          <a:xfrm>
            <a:off x="170483" y="2608032"/>
            <a:ext cx="3770722" cy="375482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8B8AA5D-E61B-894B-2EA5-A96724686B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43" t="36202" r="26701" b="6501"/>
          <a:stretch>
            <a:fillRect/>
          </a:stretch>
        </p:blipFill>
        <p:spPr>
          <a:xfrm>
            <a:off x="4192570" y="2608032"/>
            <a:ext cx="3883844" cy="375482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162FD5F-764A-D7D4-0FE5-7E40A43839F2}"/>
              </a:ext>
            </a:extLst>
          </p:cNvPr>
          <p:cNvSpPr txBox="1"/>
          <p:nvPr/>
        </p:nvSpPr>
        <p:spPr>
          <a:xfrm>
            <a:off x="8175379" y="1805788"/>
            <a:ext cx="3846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6540618-A2DD-8FB4-2A68-F058229EA6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288" t="35939" r="26856" b="36154"/>
          <a:stretch>
            <a:fillRect/>
          </a:stretch>
        </p:blipFill>
        <p:spPr>
          <a:xfrm>
            <a:off x="8137672" y="2608032"/>
            <a:ext cx="3883844" cy="18288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A1EA5BF4-3366-D553-555F-68866DF2EEA4}"/>
              </a:ext>
            </a:extLst>
          </p:cNvPr>
          <p:cNvSpPr/>
          <p:nvPr/>
        </p:nvSpPr>
        <p:spPr>
          <a:xfrm>
            <a:off x="8606672" y="3978111"/>
            <a:ext cx="499621" cy="3582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8253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0A2F7-74B0-396F-45DC-E782BF40A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21582F82-2B72-B5A1-67A8-740A4250EC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520" t="36202" r="26160" b="4532"/>
          <a:stretch>
            <a:fillRect/>
          </a:stretch>
        </p:blipFill>
        <p:spPr>
          <a:xfrm>
            <a:off x="839786" y="2582555"/>
            <a:ext cx="3940405" cy="38838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2F1BDB1-0B89-FDB2-D271-D516CAB019F1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BAC2B7-DE47-4107-4079-90778C0F6F59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Fit Contents to Window</a:t>
            </a:r>
            <a:endParaRPr lang="en-US" sz="14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AC6AF6-0CC4-DFA2-D8F6-392727749B8B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C92009-BE56-F3DE-CC46-CC5A9BDC5F8D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Simulink Model and press space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79AC7A6B-C8CE-DE60-DD58-B0C1DA56BE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66" t="35938" r="26425" b="4796"/>
          <a:stretch>
            <a:fillRect/>
          </a:stretch>
        </p:blipFill>
        <p:spPr>
          <a:xfrm>
            <a:off x="6096000" y="2582556"/>
            <a:ext cx="3695308" cy="3883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6240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B85DA-73BB-6304-AF3C-98C3B6886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5C702DB-F0AA-6BAB-379D-C5149C9AF8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66" t="36202" r="26314" b="4532"/>
          <a:stretch>
            <a:fillRect/>
          </a:stretch>
        </p:blipFill>
        <p:spPr>
          <a:xfrm>
            <a:off x="190907" y="2608032"/>
            <a:ext cx="3940405" cy="38838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CFFF30C-04DC-0344-9C3E-085FF4E50EF7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DDE34C2-CEC5-3ECD-4184-ACF10C9B45D2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Rename Blocks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7AA9F6-AE57-4776-6607-24078FEB96B1}"/>
              </a:ext>
            </a:extLst>
          </p:cNvPr>
          <p:cNvSpPr txBox="1"/>
          <p:nvPr/>
        </p:nvSpPr>
        <p:spPr>
          <a:xfrm>
            <a:off x="4230277" y="1808145"/>
            <a:ext cx="3846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Rename Block and then press enter or click off the block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AEA4C5E-EABA-71E1-163F-94C18AFCC1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67" t="35651" r="26513" b="5083"/>
          <a:stretch>
            <a:fillRect/>
          </a:stretch>
        </p:blipFill>
        <p:spPr>
          <a:xfrm>
            <a:off x="4192570" y="2608032"/>
            <a:ext cx="3940405" cy="388384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30468B3-717C-3493-D31B-545736F576D2}"/>
              </a:ext>
            </a:extLst>
          </p:cNvPr>
          <p:cNvSpPr txBox="1"/>
          <p:nvPr/>
        </p:nvSpPr>
        <p:spPr>
          <a:xfrm>
            <a:off x="170484" y="1808145"/>
            <a:ext cx="411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the block &amp; then click the blue text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2859F8-D17E-297F-192F-030959A30670}"/>
              </a:ext>
            </a:extLst>
          </p:cNvPr>
          <p:cNvSpPr txBox="1"/>
          <p:nvPr/>
        </p:nvSpPr>
        <p:spPr>
          <a:xfrm>
            <a:off x="8175379" y="1805788"/>
            <a:ext cx="3846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Observe Blocks have been renamed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E90398B-EABD-D510-DF1E-73DED2BB23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14" t="36202" r="26366" b="4532"/>
          <a:stretch>
            <a:fillRect/>
          </a:stretch>
        </p:blipFill>
        <p:spPr>
          <a:xfrm>
            <a:off x="8161256" y="2608032"/>
            <a:ext cx="3940406" cy="3883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6519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F2ECD-6BE3-5E7A-DBA5-C91C619A8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7FE233-5A76-F861-9C10-171AD6ED4634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6FC361C-F3CE-62DE-7E19-C48EFFBB7A3C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Save Simulink Model File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605F21-6F19-445B-CBA5-CF893A20E2F2}"/>
              </a:ext>
            </a:extLst>
          </p:cNvPr>
          <p:cNvSpPr txBox="1"/>
          <p:nvPr/>
        </p:nvSpPr>
        <p:spPr>
          <a:xfrm>
            <a:off x="4230277" y="1808145"/>
            <a:ext cx="3846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Press Save Or CTRL+S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5EBC97-0E8F-4A56-3385-3CC3CAD80D7A}"/>
              </a:ext>
            </a:extLst>
          </p:cNvPr>
          <p:cNvSpPr txBox="1"/>
          <p:nvPr/>
        </p:nvSpPr>
        <p:spPr>
          <a:xfrm>
            <a:off x="170484" y="1808145"/>
            <a:ext cx="4118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Notice the File is unsaved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B6807C-F615-9180-58BD-E931918ACEFB}"/>
              </a:ext>
            </a:extLst>
          </p:cNvPr>
          <p:cNvSpPr txBox="1"/>
          <p:nvPr/>
        </p:nvSpPr>
        <p:spPr>
          <a:xfrm>
            <a:off x="8175379" y="1805788"/>
            <a:ext cx="3846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Observe Blocks have been renamed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99B5F7-AC88-7F38-A9DB-CA79A207AA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498" r="67680" b="50000"/>
          <a:stretch>
            <a:fillRect/>
          </a:stretch>
        </p:blipFill>
        <p:spPr>
          <a:xfrm>
            <a:off x="190907" y="2608032"/>
            <a:ext cx="3940405" cy="239205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71DFFDC-0565-1775-4A08-97AB625637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16" r="69382" b="56725"/>
          <a:stretch>
            <a:fillRect/>
          </a:stretch>
        </p:blipFill>
        <p:spPr>
          <a:xfrm>
            <a:off x="4229493" y="2608032"/>
            <a:ext cx="3733014" cy="191084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A208D0D-1F32-C0EB-7E7B-6D8F9DE118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3642" r="67377" b="67945"/>
          <a:stretch>
            <a:fillRect/>
          </a:stretch>
        </p:blipFill>
        <p:spPr>
          <a:xfrm>
            <a:off x="8161256" y="2608032"/>
            <a:ext cx="3977309" cy="120663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F1111B1-4EA1-FBB1-CC77-ECFDB62084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190907" y="5302516"/>
            <a:ext cx="3564511" cy="88972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DB43FFA-EEC2-362A-1F23-0D629D473F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4229493" y="5302516"/>
            <a:ext cx="3564511" cy="889725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D8464DEE-93A0-9917-D484-BE70AE2EE79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31" t="21554" r="68118" b="75807"/>
          <a:stretch>
            <a:fillRect/>
          </a:stretch>
        </p:blipFill>
        <p:spPr>
          <a:xfrm>
            <a:off x="8076415" y="5300759"/>
            <a:ext cx="3763650" cy="639447"/>
          </a:xfrm>
          <a:prstGeom prst="rect">
            <a:avLst/>
          </a:prstGeom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0C5BB27-CF0F-B340-A315-5D220C695EA6}"/>
              </a:ext>
            </a:extLst>
          </p:cNvPr>
          <p:cNvCxnSpPr>
            <a:cxnSpLocks/>
          </p:cNvCxnSpPr>
          <p:nvPr/>
        </p:nvCxnSpPr>
        <p:spPr>
          <a:xfrm>
            <a:off x="1715678" y="4911365"/>
            <a:ext cx="1055802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CE75EE4-75FB-49B6-5096-4184D760F88E}"/>
              </a:ext>
            </a:extLst>
          </p:cNvPr>
          <p:cNvCxnSpPr>
            <a:cxnSpLocks/>
          </p:cNvCxnSpPr>
          <p:nvPr/>
        </p:nvCxnSpPr>
        <p:spPr>
          <a:xfrm>
            <a:off x="1715678" y="4911365"/>
            <a:ext cx="5071621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39049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7386-0D8C-4646-E970-73A935B7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43CAA9-0F9B-F905-B9DA-D24FF412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</p:spTree>
    <p:extLst>
      <p:ext uri="{BB962C8B-B14F-4D97-AF65-F5344CB8AC3E}">
        <p14:creationId xmlns:p14="http://schemas.microsoft.com/office/powerpoint/2010/main" val="19427917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1615-0473-6AF2-6A66-0254DA51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7A326D-AF3E-2ABD-F88A-B055C80E8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</p:spTree>
    <p:extLst>
      <p:ext uri="{BB962C8B-B14F-4D97-AF65-F5344CB8AC3E}">
        <p14:creationId xmlns:p14="http://schemas.microsoft.com/office/powerpoint/2010/main" val="30608125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2B210-3699-7A48-73F7-F337EAEFB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6C3D40-CE56-0FF6-13D1-C7987DA8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</p:spTree>
    <p:extLst>
      <p:ext uri="{BB962C8B-B14F-4D97-AF65-F5344CB8AC3E}">
        <p14:creationId xmlns:p14="http://schemas.microsoft.com/office/powerpoint/2010/main" val="18844099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CC330-69EE-DC99-DCFC-7FD70D540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72BC1A-DB9B-68D8-3A6B-F142B1BE3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256060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55548-FEEA-2086-399A-428AB7BD8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B4BA837-3DD9-FAEF-B923-6FBB6C8D95D0}"/>
              </a:ext>
            </a:extLst>
          </p:cNvPr>
          <p:cNvSpPr/>
          <p:nvPr/>
        </p:nvSpPr>
        <p:spPr>
          <a:xfrm>
            <a:off x="152400" y="1038225"/>
            <a:ext cx="4962525" cy="521970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409900-F523-9E97-6149-55392B7E1565}"/>
              </a:ext>
            </a:extLst>
          </p:cNvPr>
          <p:cNvSpPr txBox="1"/>
          <p:nvPr/>
        </p:nvSpPr>
        <p:spPr>
          <a:xfrm>
            <a:off x="8392249" y="207390"/>
            <a:ext cx="3447815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Problem to Solve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FF7601-BA2A-880D-C704-363CC3A887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36" y="1555981"/>
            <a:ext cx="4313686" cy="15313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5161B12-EF82-C9F1-1F7D-46DC7AB915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079" y="3187588"/>
            <a:ext cx="4313686" cy="2027094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49B1D5D-777C-3B27-DCA3-0CB11691EDDA}"/>
              </a:ext>
            </a:extLst>
          </p:cNvPr>
          <p:cNvSpPr/>
          <p:nvPr/>
        </p:nvSpPr>
        <p:spPr>
          <a:xfrm>
            <a:off x="7082673" y="1038225"/>
            <a:ext cx="4962525" cy="52197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56C44C2-9FD0-E25E-3B4D-9FF660A2C19D}"/>
              </a:ext>
            </a:extLst>
          </p:cNvPr>
          <p:cNvSpPr/>
          <p:nvPr/>
        </p:nvSpPr>
        <p:spPr>
          <a:xfrm>
            <a:off x="7315200" y="1391933"/>
            <a:ext cx="4524864" cy="579879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</a:rPr>
              <a:t>ACaMS</a:t>
            </a:r>
            <a:r>
              <a:rPr lang="en-US" sz="1200" b="1" dirty="0">
                <a:solidFill>
                  <a:schemeClr val="tx1"/>
                </a:solidFill>
              </a:rPr>
              <a:t> is the “Next Big Thing”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8B69E25-A407-4B60-0EB8-5340BA41D391}"/>
              </a:ext>
            </a:extLst>
          </p:cNvPr>
          <p:cNvSpPr/>
          <p:nvPr/>
        </p:nvSpPr>
        <p:spPr>
          <a:xfrm>
            <a:off x="8392514" y="2581283"/>
            <a:ext cx="3105311" cy="136854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</a:rPr>
              <a:t>ACaMS</a:t>
            </a:r>
            <a:r>
              <a:rPr lang="en-US" sz="1200" b="1" dirty="0">
                <a:solidFill>
                  <a:schemeClr val="tx1"/>
                </a:solidFill>
              </a:rPr>
              <a:t> Today is </a:t>
            </a:r>
          </a:p>
          <a:p>
            <a:pPr algn="ctr"/>
            <a:endParaRPr lang="en-US" sz="1200" b="1" dirty="0">
              <a:solidFill>
                <a:schemeClr val="tx1"/>
              </a:solidFill>
            </a:endParaRPr>
          </a:p>
          <a:p>
            <a:pPr algn="ctr"/>
            <a:r>
              <a:rPr lang="en-US" sz="1200" dirty="0" err="1">
                <a:solidFill>
                  <a:schemeClr val="tx1"/>
                </a:solidFill>
              </a:rPr>
              <a:t>Mireina</a:t>
            </a:r>
            <a:r>
              <a:rPr lang="en-US" sz="1200" dirty="0">
                <a:solidFill>
                  <a:schemeClr val="tx1"/>
                </a:solidFill>
              </a:rPr>
              <a:t> Keith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Richard Dalton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Nate Tyler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Linda Herman</a:t>
            </a:r>
          </a:p>
        </p:txBody>
      </p:sp>
      <p:sp>
        <p:nvSpPr>
          <p:cNvPr id="13" name="Trapezoid 12">
            <a:extLst>
              <a:ext uri="{FF2B5EF4-FFF2-40B4-BE49-F238E27FC236}">
                <a16:creationId xmlns:a16="http://schemas.microsoft.com/office/drawing/2014/main" id="{877C5770-DD2A-9583-C9A7-838D7B6A98DB}"/>
              </a:ext>
            </a:extLst>
          </p:cNvPr>
          <p:cNvSpPr/>
          <p:nvPr/>
        </p:nvSpPr>
        <p:spPr>
          <a:xfrm rot="5400000">
            <a:off x="2738889" y="3035909"/>
            <a:ext cx="5044393" cy="1216152"/>
          </a:xfrm>
          <a:prstGeom prst="trapezoid">
            <a:avLst>
              <a:gd name="adj" fmla="val 109489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Notched Right 13">
            <a:extLst>
              <a:ext uri="{FF2B5EF4-FFF2-40B4-BE49-F238E27FC236}">
                <a16:creationId xmlns:a16="http://schemas.microsoft.com/office/drawing/2014/main" id="{BD311A8A-C8AF-D8D2-75AC-3656CC11366E}"/>
              </a:ext>
            </a:extLst>
          </p:cNvPr>
          <p:cNvSpPr/>
          <p:nvPr/>
        </p:nvSpPr>
        <p:spPr>
          <a:xfrm>
            <a:off x="4845376" y="3255169"/>
            <a:ext cx="901236" cy="758778"/>
          </a:xfrm>
          <a:prstGeom prst="notched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2C14EE-64C9-845B-8154-8B138BF09042}"/>
              </a:ext>
            </a:extLst>
          </p:cNvPr>
          <p:cNvSpPr txBox="1"/>
          <p:nvPr/>
        </p:nvSpPr>
        <p:spPr>
          <a:xfrm>
            <a:off x="6036583" y="2997652"/>
            <a:ext cx="897232" cy="129266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200" b="1" u="sng" dirty="0"/>
              <a:t>OBJECTIVE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Allow </a:t>
            </a:r>
          </a:p>
          <a:p>
            <a:pPr algn="ctr"/>
            <a:r>
              <a:rPr lang="en-US" sz="1200" dirty="0"/>
              <a:t>F130 Team </a:t>
            </a:r>
          </a:p>
          <a:p>
            <a:pPr algn="ctr"/>
            <a:r>
              <a:rPr lang="en-US" sz="1200" dirty="0"/>
              <a:t>Members to</a:t>
            </a:r>
          </a:p>
          <a:p>
            <a:pPr algn="ctr"/>
            <a:r>
              <a:rPr lang="en-US" sz="1200" dirty="0"/>
              <a:t>Roll</a:t>
            </a:r>
          </a:p>
          <a:p>
            <a:pPr algn="ctr"/>
            <a:r>
              <a:rPr lang="en-US" sz="1200" dirty="0"/>
              <a:t>Onto </a:t>
            </a:r>
            <a:r>
              <a:rPr lang="en-US" sz="1200" dirty="0" err="1"/>
              <a:t>ACaMS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6606B8-A21A-A1F5-2682-E5551518BAFC}"/>
              </a:ext>
            </a:extLst>
          </p:cNvPr>
          <p:cNvSpPr txBox="1"/>
          <p:nvPr/>
        </p:nvSpPr>
        <p:spPr>
          <a:xfrm>
            <a:off x="408378" y="5354035"/>
            <a:ext cx="4471545" cy="83099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dirty="0"/>
              <a:t>Roughly 70 People Assigned to F130 Today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Work Backlog Runs Thru Q4 2027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1D78C02-749F-62BE-324B-8DCE58A9586F}"/>
              </a:ext>
            </a:extLst>
          </p:cNvPr>
          <p:cNvSpPr/>
          <p:nvPr/>
        </p:nvSpPr>
        <p:spPr>
          <a:xfrm>
            <a:off x="7315200" y="4442246"/>
            <a:ext cx="4524864" cy="136854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7030A0"/>
                </a:solidFill>
              </a:rPr>
              <a:t>PROBLEM TO SOLVE</a:t>
            </a:r>
          </a:p>
          <a:p>
            <a:pPr algn="ctr"/>
            <a:endParaRPr lang="en-US" sz="1200" b="1" dirty="0">
              <a:solidFill>
                <a:srgbClr val="7030A0"/>
              </a:solidFill>
            </a:endParaRPr>
          </a:p>
          <a:p>
            <a:pPr algn="ctr"/>
            <a:r>
              <a:rPr lang="en-US" sz="1200" dirty="0">
                <a:solidFill>
                  <a:srgbClr val="7030A0"/>
                </a:solidFill>
              </a:rPr>
              <a:t>How can we enable RR </a:t>
            </a:r>
            <a:r>
              <a:rPr lang="en-US" sz="1200" dirty="0" err="1">
                <a:solidFill>
                  <a:srgbClr val="7030A0"/>
                </a:solidFill>
              </a:rPr>
              <a:t>ACaMS</a:t>
            </a:r>
            <a:r>
              <a:rPr lang="en-US" sz="1200" dirty="0">
                <a:solidFill>
                  <a:srgbClr val="7030A0"/>
                </a:solidFill>
              </a:rPr>
              <a:t> to adopt the F130 team members at the right time – in software and/or systems?</a:t>
            </a:r>
          </a:p>
          <a:p>
            <a:pPr algn="ctr"/>
            <a:endParaRPr lang="en-US" sz="1200" dirty="0">
              <a:solidFill>
                <a:srgbClr val="7030A0"/>
              </a:solidFill>
            </a:endParaRPr>
          </a:p>
          <a:p>
            <a:pPr algn="ctr"/>
            <a:r>
              <a:rPr lang="en-US" sz="1200" dirty="0">
                <a:solidFill>
                  <a:srgbClr val="7030A0"/>
                </a:solidFill>
              </a:rPr>
              <a:t>Aka – SW Tools Gap Closure Plan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C11552-7E03-C3D6-0B9A-1DEF946FD24D}"/>
              </a:ext>
            </a:extLst>
          </p:cNvPr>
          <p:cNvSpPr txBox="1"/>
          <p:nvPr/>
        </p:nvSpPr>
        <p:spPr>
          <a:xfrm>
            <a:off x="7194185" y="2659098"/>
            <a:ext cx="1040349" cy="160043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highlight>
                  <a:srgbClr val="FF0000"/>
                </a:highlight>
              </a:rPr>
              <a:t>Big Gap:</a:t>
            </a:r>
          </a:p>
          <a:p>
            <a:pPr algn="ctr"/>
            <a:endParaRPr lang="en-US" sz="1600" dirty="0">
              <a:highlight>
                <a:srgbClr val="FF0000"/>
              </a:highlight>
            </a:endParaRPr>
          </a:p>
          <a:p>
            <a:pPr algn="ctr"/>
            <a:r>
              <a:rPr lang="en-US" sz="1200" u="sng" dirty="0">
                <a:highlight>
                  <a:srgbClr val="FF0000"/>
                </a:highlight>
              </a:rPr>
              <a:t>Application SW</a:t>
            </a:r>
          </a:p>
          <a:p>
            <a:pPr algn="ctr"/>
            <a:r>
              <a:rPr lang="en-US" sz="1200" dirty="0">
                <a:highlight>
                  <a:srgbClr val="FF0000"/>
                </a:highlight>
              </a:rPr>
              <a:t>MBD</a:t>
            </a:r>
          </a:p>
          <a:p>
            <a:pPr algn="ctr"/>
            <a:r>
              <a:rPr lang="en-US" sz="1200" dirty="0">
                <a:highlight>
                  <a:srgbClr val="FF0000"/>
                </a:highlight>
              </a:rPr>
              <a:t>Simulink</a:t>
            </a:r>
          </a:p>
          <a:p>
            <a:pPr algn="ctr"/>
            <a:endParaRPr lang="en-US" sz="1200" dirty="0">
              <a:highlight>
                <a:srgbClr val="FF0000"/>
              </a:highlight>
            </a:endParaRPr>
          </a:p>
          <a:p>
            <a:pPr algn="ctr"/>
            <a:r>
              <a:rPr lang="en-US" sz="1200" u="sng" dirty="0">
                <a:highlight>
                  <a:srgbClr val="FF0000"/>
                </a:highlight>
              </a:rPr>
              <a:t>Systems</a:t>
            </a:r>
          </a:p>
          <a:p>
            <a:pPr algn="ctr"/>
            <a:r>
              <a:rPr lang="en-US" sz="1200" dirty="0">
                <a:highlight>
                  <a:srgbClr val="FF0000"/>
                </a:highlight>
              </a:rPr>
              <a:t>CAMEO </a:t>
            </a:r>
          </a:p>
        </p:txBody>
      </p:sp>
    </p:spTree>
    <p:extLst>
      <p:ext uri="{BB962C8B-B14F-4D97-AF65-F5344CB8AC3E}">
        <p14:creationId xmlns:p14="http://schemas.microsoft.com/office/powerpoint/2010/main" val="39408372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B3608-4B31-01F8-0EB2-14F7E7386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D7BD952-6A55-F1D4-FA9D-95E230E8B8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43027" y="142431"/>
            <a:ext cx="10043158" cy="368300"/>
          </a:xfrm>
        </p:spPr>
        <p:txBody>
          <a:bodyPr/>
          <a:lstStyle/>
          <a:p>
            <a:r>
              <a:rPr lang="en-US" dirty="0"/>
              <a:t>Scenario in 2027….</a:t>
            </a:r>
          </a:p>
          <a:p>
            <a:r>
              <a:rPr lang="en-US" dirty="0"/>
              <a:t>Problem:  Many F130 people don’t have the Simulink pedigree desired by </a:t>
            </a:r>
            <a:r>
              <a:rPr lang="en-US" dirty="0" err="1"/>
              <a:t>ACaMS</a:t>
            </a:r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B59279D-8340-6C0A-6C00-34C7271D851B}"/>
              </a:ext>
            </a:extLst>
          </p:cNvPr>
          <p:cNvSpPr/>
          <p:nvPr/>
        </p:nvSpPr>
        <p:spPr>
          <a:xfrm>
            <a:off x="3041715" y="1611380"/>
            <a:ext cx="6108569" cy="4204355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Conrad </a:t>
            </a:r>
            <a:r>
              <a:rPr lang="en-US" dirty="0" err="1"/>
              <a:t>Golbav</a:t>
            </a:r>
            <a:r>
              <a:rPr lang="en-US" dirty="0"/>
              <a:t> and / or Jason Thompson need Application Software help for </a:t>
            </a:r>
            <a:r>
              <a:rPr lang="en-US" dirty="0" err="1"/>
              <a:t>ACaMS</a:t>
            </a:r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They hear Belcan has people rolling off F130….but know F130 is “hand coded” and borderline archaic software development practices….</a:t>
            </a:r>
          </a:p>
          <a:p>
            <a:pPr algn="ctr"/>
            <a:endParaRPr lang="en-US" dirty="0"/>
          </a:p>
          <a:p>
            <a:pPr algn="ctr"/>
            <a:r>
              <a:rPr lang="en-US" b="1" u="sng" dirty="0"/>
              <a:t>“No Simulink, No Interest”</a:t>
            </a:r>
          </a:p>
        </p:txBody>
      </p:sp>
    </p:spTree>
    <p:extLst>
      <p:ext uri="{BB962C8B-B14F-4D97-AF65-F5344CB8AC3E}">
        <p14:creationId xmlns:p14="http://schemas.microsoft.com/office/powerpoint/2010/main" val="5608158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F8BD21A-82E6-D5A6-138A-78D750F035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08915" y="158812"/>
            <a:ext cx="10043158" cy="368300"/>
          </a:xfrm>
        </p:spPr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Welcome to Q3/Q4 2026</a:t>
            </a:r>
          </a:p>
          <a:p>
            <a:r>
              <a:rPr lang="en-US" dirty="0">
                <a:sym typeface="Wingdings" panose="05000000000000000000" pitchFamily="2" charset="2"/>
              </a:rPr>
              <a:t>We have two months to mitigate – can we productively do anything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A9F596F-04F3-9EAD-7F15-7B902D601691}"/>
              </a:ext>
            </a:extLst>
          </p:cNvPr>
          <p:cNvSpPr/>
          <p:nvPr/>
        </p:nvSpPr>
        <p:spPr>
          <a:xfrm>
            <a:off x="8135174" y="1648827"/>
            <a:ext cx="3933219" cy="3683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November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7328566-E34C-DCC7-DD12-D2813765EDCC}"/>
              </a:ext>
            </a:extLst>
          </p:cNvPr>
          <p:cNvSpPr/>
          <p:nvPr/>
        </p:nvSpPr>
        <p:spPr>
          <a:xfrm>
            <a:off x="98981" y="1646750"/>
            <a:ext cx="3933219" cy="3683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September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22D2DC-13AA-25D6-CB19-22A21CD04E32}"/>
              </a:ext>
            </a:extLst>
          </p:cNvPr>
          <p:cNvSpPr/>
          <p:nvPr/>
        </p:nvSpPr>
        <p:spPr>
          <a:xfrm>
            <a:off x="4093968" y="1645206"/>
            <a:ext cx="3933219" cy="36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October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E954298-1979-2750-A392-559E9E2146CE}"/>
              </a:ext>
            </a:extLst>
          </p:cNvPr>
          <p:cNvCxnSpPr>
            <a:cxnSpLocks/>
          </p:cNvCxnSpPr>
          <p:nvPr/>
        </p:nvCxnSpPr>
        <p:spPr>
          <a:xfrm>
            <a:off x="55689" y="1667583"/>
            <a:ext cx="0" cy="4496788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EBC35EE-E2E8-B972-BCAC-6C63030F5F95}"/>
              </a:ext>
            </a:extLst>
          </p:cNvPr>
          <p:cNvCxnSpPr>
            <a:cxnSpLocks/>
          </p:cNvCxnSpPr>
          <p:nvPr/>
        </p:nvCxnSpPr>
        <p:spPr>
          <a:xfrm>
            <a:off x="4055986" y="1677108"/>
            <a:ext cx="0" cy="4496788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0" name="Picture 69">
            <a:extLst>
              <a:ext uri="{FF2B5EF4-FFF2-40B4-BE49-F238E27FC236}">
                <a16:creationId xmlns:a16="http://schemas.microsoft.com/office/drawing/2014/main" id="{E53E6892-B84D-8AE4-2146-CC5C460A55C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716" y="870469"/>
            <a:ext cx="412927" cy="70541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BA6BF91-5A15-5BE8-C964-D40D1725B0E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6479" y="1541808"/>
            <a:ext cx="851144" cy="59518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A413277-635B-5B8C-686C-FD5F03949E12}"/>
              </a:ext>
            </a:extLst>
          </p:cNvPr>
          <p:cNvSpPr txBox="1"/>
          <p:nvPr/>
        </p:nvSpPr>
        <p:spPr>
          <a:xfrm>
            <a:off x="131964" y="3488857"/>
            <a:ext cx="1948077" cy="22159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/>
              <a:t>Nate Tyler</a:t>
            </a:r>
          </a:p>
          <a:p>
            <a:r>
              <a:rPr lang="en-US" sz="1600" dirty="0"/>
              <a:t>Andrew Williamson</a:t>
            </a:r>
          </a:p>
          <a:p>
            <a:r>
              <a:rPr lang="en-US" sz="1600" dirty="0"/>
              <a:t>Alex Johnson (PT)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 err="1"/>
              <a:t>Mireina</a:t>
            </a:r>
            <a:r>
              <a:rPr lang="en-US" sz="1600" dirty="0"/>
              <a:t> Keith</a:t>
            </a:r>
          </a:p>
          <a:p>
            <a:r>
              <a:rPr lang="en-US" sz="1600" dirty="0"/>
              <a:t>Linda Herman</a:t>
            </a:r>
          </a:p>
          <a:p>
            <a:r>
              <a:rPr lang="en-US" sz="1600" dirty="0"/>
              <a:t>Dominic Basciano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072B832-A579-32D0-1D3B-8C4FA8E0F4BB}"/>
              </a:ext>
            </a:extLst>
          </p:cNvPr>
          <p:cNvSpPr/>
          <p:nvPr/>
        </p:nvSpPr>
        <p:spPr>
          <a:xfrm>
            <a:off x="117972" y="2818863"/>
            <a:ext cx="1962073" cy="595185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People that can get the solution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1FE2EED-5CD0-A680-E8F5-73B8E907084B}"/>
              </a:ext>
            </a:extLst>
          </p:cNvPr>
          <p:cNvSpPr/>
          <p:nvPr/>
        </p:nvSpPr>
        <p:spPr>
          <a:xfrm>
            <a:off x="119542" y="4291016"/>
            <a:ext cx="1962073" cy="595185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People that be “users group”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D776DF7-9CBB-F3CE-7BF8-09DF28600E1B}"/>
              </a:ext>
            </a:extLst>
          </p:cNvPr>
          <p:cNvCxnSpPr>
            <a:cxnSpLocks/>
          </p:cNvCxnSpPr>
          <p:nvPr/>
        </p:nvCxnSpPr>
        <p:spPr>
          <a:xfrm>
            <a:off x="8082804" y="1688105"/>
            <a:ext cx="0" cy="4496788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46BF6F2-FCE3-7B27-C695-1B887C6CCAC3}"/>
              </a:ext>
            </a:extLst>
          </p:cNvPr>
          <p:cNvSpPr/>
          <p:nvPr/>
        </p:nvSpPr>
        <p:spPr>
          <a:xfrm>
            <a:off x="6550041" y="2739570"/>
            <a:ext cx="2272945" cy="2944791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ACaMS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Resumes</a:t>
            </a:r>
          </a:p>
          <a:p>
            <a:pPr algn="ctr"/>
            <a:r>
              <a:rPr lang="en-US" sz="1400" dirty="0"/>
              <a:t>(Tyler)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Next Project Starts</a:t>
            </a:r>
          </a:p>
          <a:p>
            <a:pPr algn="ctr"/>
            <a:r>
              <a:rPr lang="en-US" sz="1400" dirty="0"/>
              <a:t>(Williamson)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FTAI picks up</a:t>
            </a:r>
          </a:p>
          <a:p>
            <a:pPr algn="ctr"/>
            <a:r>
              <a:rPr lang="en-US" sz="1400" dirty="0"/>
              <a:t>(Johnson)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5E8BDD9A-53C5-14DA-7452-47B930F013CB}"/>
              </a:ext>
            </a:extLst>
          </p:cNvPr>
          <p:cNvSpPr/>
          <p:nvPr/>
        </p:nvSpPr>
        <p:spPr>
          <a:xfrm>
            <a:off x="2343803" y="3414048"/>
            <a:ext cx="4020848" cy="1344197"/>
          </a:xfrm>
          <a:prstGeom prst="rightArrow">
            <a:avLst>
              <a:gd name="adj1" fmla="val 50000"/>
              <a:gd name="adj2" fmla="val 840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B3D896-FB1E-4ADA-703A-4A067FED361F}"/>
              </a:ext>
            </a:extLst>
          </p:cNvPr>
          <p:cNvSpPr txBox="1"/>
          <p:nvPr/>
        </p:nvSpPr>
        <p:spPr>
          <a:xfrm>
            <a:off x="2870757" y="3828270"/>
            <a:ext cx="2370842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highlight>
                  <a:srgbClr val="C0C0C0"/>
                </a:highlight>
              </a:rPr>
              <a:t>There is some time to </a:t>
            </a:r>
          </a:p>
          <a:p>
            <a:pPr algn="ctr"/>
            <a:r>
              <a:rPr lang="en-US" sz="1600" dirty="0">
                <a:highlight>
                  <a:srgbClr val="C0C0C0"/>
                </a:highlight>
              </a:rPr>
              <a:t>assemble a plan / solution</a:t>
            </a:r>
          </a:p>
        </p:txBody>
      </p:sp>
    </p:spTree>
    <p:extLst>
      <p:ext uri="{BB962C8B-B14F-4D97-AF65-F5344CB8AC3E}">
        <p14:creationId xmlns:p14="http://schemas.microsoft.com/office/powerpoint/2010/main" val="18321036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A1625-85EA-F73C-AA5E-34855B77E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88C72C6-C153-AC6F-0F3D-2C995529E5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43027" y="142431"/>
            <a:ext cx="10043158" cy="368300"/>
          </a:xfrm>
        </p:spPr>
        <p:txBody>
          <a:bodyPr/>
          <a:lstStyle/>
          <a:p>
            <a:r>
              <a:rPr lang="en-US" dirty="0"/>
              <a:t>What is Definition of Done – Scenario in 2027….</a:t>
            </a:r>
          </a:p>
          <a:p>
            <a:r>
              <a:rPr lang="en-US" dirty="0"/>
              <a:t>(Solution to the Problem)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AE371F8-7FDE-300B-B711-72EBB1C9F6F4}"/>
              </a:ext>
            </a:extLst>
          </p:cNvPr>
          <p:cNvSpPr/>
          <p:nvPr/>
        </p:nvSpPr>
        <p:spPr>
          <a:xfrm>
            <a:off x="45589" y="1611380"/>
            <a:ext cx="6108569" cy="4332220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Conrad </a:t>
            </a:r>
            <a:r>
              <a:rPr lang="en-US" dirty="0" err="1"/>
              <a:t>Golbav</a:t>
            </a:r>
            <a:r>
              <a:rPr lang="en-US" dirty="0"/>
              <a:t> and / or Jason Thompson need Application Software help for </a:t>
            </a:r>
            <a:r>
              <a:rPr lang="en-US" dirty="0" err="1"/>
              <a:t>ACaMS</a:t>
            </a:r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They hear Belcan has people rolling off F130….but know F130 is “hand coded” and borderline archaic software development practices….</a:t>
            </a:r>
          </a:p>
          <a:p>
            <a:pPr algn="ctr"/>
            <a:endParaRPr lang="en-US" dirty="0"/>
          </a:p>
          <a:p>
            <a:pPr algn="ctr"/>
            <a:r>
              <a:rPr lang="en-US" b="1" u="sng" dirty="0"/>
              <a:t>“No Simulink, No Interest”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CCAB7B-AA6B-63AE-482D-8812C900970A}"/>
              </a:ext>
            </a:extLst>
          </p:cNvPr>
          <p:cNvSpPr/>
          <p:nvPr/>
        </p:nvSpPr>
        <p:spPr>
          <a:xfrm>
            <a:off x="6274337" y="1611380"/>
            <a:ext cx="2636196" cy="433222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Jason and / or Conrad inquire about each person’s MBD capacity and proficiency….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So they ask people like Nate or Linda…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“Can they step into App SW and help quickly”???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5AD89E8-D49C-F4BE-ACDD-E6BEA9DDD3C4}"/>
              </a:ext>
            </a:extLst>
          </p:cNvPr>
          <p:cNvSpPr/>
          <p:nvPr/>
        </p:nvSpPr>
        <p:spPr>
          <a:xfrm>
            <a:off x="8994846" y="1627592"/>
            <a:ext cx="2999358" cy="4332220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Nate and / or Linda say 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“yes, they have been trained and/or done pilot projects and I am confident they can help us”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Then Conrad and / or Jason say “good for me, they know how we do things and can adapt quickly to the technology”</a:t>
            </a:r>
          </a:p>
        </p:txBody>
      </p:sp>
    </p:spTree>
    <p:extLst>
      <p:ext uri="{BB962C8B-B14F-4D97-AF65-F5344CB8AC3E}">
        <p14:creationId xmlns:p14="http://schemas.microsoft.com/office/powerpoint/2010/main" val="107825963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EExdrrT4J0C1fnz5aAV6XQ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uB4lW1kl025PsSgEWBrJg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3kfiwG_mkuGI2Bt.8obmQ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2_Office Theme">
  <a:themeElements>
    <a:clrScheme name="Custom 9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32741"/>
      </a:accent1>
      <a:accent2>
        <a:srgbClr val="003B5D"/>
      </a:accent2>
      <a:accent3>
        <a:srgbClr val="7487A7"/>
      </a:accent3>
      <a:accent4>
        <a:srgbClr val="0254A1"/>
      </a:accent4>
      <a:accent5>
        <a:srgbClr val="007FC1"/>
      </a:accent5>
      <a:accent6>
        <a:srgbClr val="F36C38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titus xmlns="http://schemas.titus.com/TitusProperties/">
  <TitusGUID xmlns="">9becc2c3-2c36-43f0-a9c1-7e62f07c4846</TitusGUID>
  <TitusMetadata xmlns="">eyJucyI6Imh0dHA6XC9cL3d3dy50aXR1cy5jb21cL25zXC9OQVJBQ1VJIiwicHJvcHMiOlt7Im4iOiJEZXNpZ25hdGlvbiIsInZhbHMiOlt7InZhbHVlIjoiTlRETkNVSSJ9XX1dfQ==</TitusMetadata>
</titu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0BF5D2CCC9BE4EBBD35A8004C48EA3" ma:contentTypeVersion="9" ma:contentTypeDescription="Create a new document." ma:contentTypeScope="" ma:versionID="9eada2b7c4bdaa665e90d0121b8e42d2">
  <xsd:schema xmlns:xsd="http://www.w3.org/2001/XMLSchema" xmlns:xs="http://www.w3.org/2001/XMLSchema" xmlns:p="http://schemas.microsoft.com/office/2006/metadata/properties" xmlns:ns2="2d6c60d3-f5d7-4053-bda5-60231931954e" xmlns:ns3="0873cd69-40f1-433c-bf93-e1d73619fdb5" targetNamespace="http://schemas.microsoft.com/office/2006/metadata/properties" ma:root="true" ma:fieldsID="993ddfcb2f17b45b1238621a2ab33d08" ns2:_="" ns3:_="">
    <xsd:import namespace="2d6c60d3-f5d7-4053-bda5-60231931954e"/>
    <xsd:import namespace="0873cd69-40f1-433c-bf93-e1d73619fdb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60d3-f5d7-4053-bda5-6023193195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73cd69-40f1-433c-bf93-e1d73619fdb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EE2F036-3CB6-498C-987A-D68D448BB16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1506775-A450-4DA8-B0A8-D0F0CE449F59}">
  <ds:schemaRefs>
    <ds:schemaRef ds:uri="http://schemas.titus.com/TitusProperties/"/>
    <ds:schemaRef ds:uri=""/>
  </ds:schemaRefs>
</ds:datastoreItem>
</file>

<file path=customXml/itemProps3.xml><?xml version="1.0" encoding="utf-8"?>
<ds:datastoreItem xmlns:ds="http://schemas.openxmlformats.org/officeDocument/2006/customXml" ds:itemID="{4B2EC94B-890F-4F06-B798-4B4DED8D1AEE}">
  <ds:schemaRefs>
    <ds:schemaRef ds:uri="http://www.w3.org/XML/1998/namespace"/>
    <ds:schemaRef ds:uri="http://schemas.openxmlformats.org/package/2006/metadata/core-properties"/>
    <ds:schemaRef ds:uri="http://schemas.microsoft.com/office/2006/metadata/properties"/>
    <ds:schemaRef ds:uri="0873cd69-40f1-433c-bf93-e1d73619fdb5"/>
    <ds:schemaRef ds:uri="http://purl.org/dc/dcmitype/"/>
    <ds:schemaRef ds:uri="http://schemas.microsoft.com/office/2006/documentManagement/types"/>
    <ds:schemaRef ds:uri="2d6c60d3-f5d7-4053-bda5-60231931954e"/>
    <ds:schemaRef ds:uri="http://purl.org/dc/elements/1.1/"/>
    <ds:schemaRef ds:uri="http://schemas.microsoft.com/office/infopath/2007/PartnerControls"/>
    <ds:schemaRef ds:uri="http://purl.org/dc/terms/"/>
  </ds:schemaRefs>
</ds:datastoreItem>
</file>

<file path=customXml/itemProps4.xml><?xml version="1.0" encoding="utf-8"?>
<ds:datastoreItem xmlns:ds="http://schemas.openxmlformats.org/officeDocument/2006/customXml" ds:itemID="{AEFACC39-F032-45A3-9C45-73967BBFF6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6c60d3-f5d7-4053-bda5-60231931954e"/>
    <ds:schemaRef ds:uri="0873cd69-40f1-433c-bf93-e1d73619fd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118192</TotalTime>
  <Words>854</Words>
  <Application>Microsoft Office PowerPoint</Application>
  <PresentationFormat>Widescreen</PresentationFormat>
  <Paragraphs>163</Paragraphs>
  <Slides>29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9" baseType="lpstr">
      <vt:lpstr>.AppleSystemUIFont</vt:lpstr>
      <vt:lpstr>Aptos</vt:lpstr>
      <vt:lpstr>Arial</vt:lpstr>
      <vt:lpstr>Arial Black</vt:lpstr>
      <vt:lpstr>Barlow ExtraBold</vt:lpstr>
      <vt:lpstr>Calibri</vt:lpstr>
      <vt:lpstr>Microsoft Sans Serif</vt:lpstr>
      <vt:lpstr>Wingdings</vt:lpstr>
      <vt:lpstr>2_Office Theme</vt:lpstr>
      <vt:lpstr>think-cell Slide</vt:lpstr>
      <vt:lpstr>Chapter 1 The Basics</vt:lpstr>
      <vt:lpstr>PowerPoint Presentation</vt:lpstr>
      <vt:lpstr>PowerPoint Presentation</vt:lpstr>
      <vt:lpstr>PowerPoint Presentation</vt:lpstr>
      <vt:lpstr>How to Open MATLAB &amp; SIMULINK</vt:lpstr>
      <vt:lpstr>PowerPoint Presentation</vt:lpstr>
      <vt:lpstr>PowerPoint Presentation</vt:lpstr>
      <vt:lpstr>PowerPoint Presentation</vt:lpstr>
      <vt:lpstr>How to Create a new Simulink Model</vt:lpstr>
      <vt:lpstr>PowerPoint Presentation</vt:lpstr>
      <vt:lpstr>PowerPoint Presentation</vt:lpstr>
      <vt:lpstr>PowerPoint Presentation</vt:lpstr>
      <vt:lpstr>How to Use blocks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to Run a simulation</vt:lpstr>
      <vt:lpstr>How to Use Data inspector</vt:lpstr>
      <vt:lpstr>How to Use Model Explorer</vt:lpstr>
      <vt:lpstr>How to Use Requirements editor</vt:lpstr>
      <vt:lpstr>PowerPoint Presentation</vt:lpstr>
      <vt:lpstr>PowerPoint Presentation</vt:lpstr>
      <vt:lpstr>PowerPoint Presentation</vt:lpstr>
      <vt:lpstr>PowerPoint Presentation</vt:lpstr>
    </vt:vector>
  </TitlesOfParts>
  <Company>Belcan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Aircraft Capabilities for Spirit Aerosystems Defense Group 1-15-21</dc:title>
  <dc:creator>Juraco, Devra D.</dc:creator>
  <cp:keywords/>
  <dc:description>Structural Analysis Capabilities</dc:description>
  <cp:lastModifiedBy>Tyler, Nathaniel</cp:lastModifiedBy>
  <cp:revision>1725</cp:revision>
  <cp:lastPrinted>2026-03-04T20:38:48Z</cp:lastPrinted>
  <dcterms:created xsi:type="dcterms:W3CDTF">2017-05-22T13:23:52Z</dcterms:created>
  <dcterms:modified xsi:type="dcterms:W3CDTF">2026-09-01T21:31:39Z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0x010100280BF5D2CCC9BE4EBBD35A8004C48EA3</vt:lpwstr>
  </property>
  <property fmtid="{D5CDD505-2E9C-101B-9397-08002B2CF9AE}" pid="3" name="docIndexRef">
    <vt:lpwstr>35f620e0-3dd2-4867-83d5-d9af9c72e9e3</vt:lpwstr>
  </property>
  <property fmtid="{D5CDD505-2E9C-101B-9397-08002B2CF9AE}" pid="4" name="bjDocumentSecurityLabel">
    <vt:lpwstr>No Marking</vt:lpwstr>
  </property>
  <property fmtid="{D5CDD505-2E9C-101B-9397-08002B2CF9AE}" pid="5" name="bjSaver">
    <vt:lpwstr>iVCgZez7e+NedMZW8m0dhRZDBR035PuE</vt:lpwstr>
  </property>
  <property fmtid="{D5CDD505-2E9C-101B-9397-08002B2CF9AE}" pid="6" name="Presentation">
    <vt:lpwstr>Aircraft Capabilities for Spirit Aerosystems Defense Group 1-15-21</vt:lpwstr>
  </property>
  <property fmtid="{D5CDD505-2E9C-101B-9397-08002B2CF9AE}" pid="7" name="SlideDescription">
    <vt:lpwstr>Structural Analysis Capabilities</vt:lpwstr>
  </property>
  <property fmtid="{D5CDD505-2E9C-101B-9397-08002B2CF9AE}" pid="8" name="bjClsUserRVM">
    <vt:lpwstr>[]</vt:lpwstr>
  </property>
  <property fmtid="{D5CDD505-2E9C-101B-9397-08002B2CF9AE}" pid="9" name="bjLabelHistoryID">
    <vt:lpwstr>{46014CD1-4077-46EA-8F24-7482198939F9}</vt:lpwstr>
  </property>
  <property fmtid="{D5CDD505-2E9C-101B-9397-08002B2CF9AE}" pid="10" name="TitusGUID">
    <vt:lpwstr>9becc2c3-2c36-43f0-a9c1-7e62f07c4846</vt:lpwstr>
  </property>
  <property fmtid="{D5CDD505-2E9C-101B-9397-08002B2CF9AE}" pid="11" name="TitusDesignation">
    <vt:lpwstr>NTDNCUI</vt:lpwstr>
  </property>
</Properties>
</file>