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3" r:id="rId5"/>
  </p:sldMasterIdLst>
  <p:notesMasterIdLst>
    <p:notesMasterId r:id="rId70"/>
  </p:notesMasterIdLst>
  <p:handoutMasterIdLst>
    <p:handoutMasterId r:id="rId71"/>
  </p:handoutMasterIdLst>
  <p:sldIdLst>
    <p:sldId id="256" r:id="rId6"/>
    <p:sldId id="3714" r:id="rId7"/>
    <p:sldId id="3764" r:id="rId8"/>
    <p:sldId id="3715" r:id="rId9"/>
    <p:sldId id="3763" r:id="rId10"/>
    <p:sldId id="3717" r:id="rId11"/>
    <p:sldId id="3633" r:id="rId12"/>
    <p:sldId id="3718" r:id="rId13"/>
    <p:sldId id="3719" r:id="rId14"/>
    <p:sldId id="3720" r:id="rId15"/>
    <p:sldId id="3634" r:id="rId16"/>
    <p:sldId id="3721" r:id="rId17"/>
    <p:sldId id="3722" r:id="rId18"/>
    <p:sldId id="3723" r:id="rId19"/>
    <p:sldId id="3724" r:id="rId20"/>
    <p:sldId id="3635" r:id="rId21"/>
    <p:sldId id="3725" r:id="rId22"/>
    <p:sldId id="3726" r:id="rId23"/>
    <p:sldId id="3727" r:id="rId24"/>
    <p:sldId id="3728" r:id="rId25"/>
    <p:sldId id="3729" r:id="rId26"/>
    <p:sldId id="3730" r:id="rId27"/>
    <p:sldId id="3731" r:id="rId28"/>
    <p:sldId id="3732" r:id="rId29"/>
    <p:sldId id="3733" r:id="rId30"/>
    <p:sldId id="3734" r:id="rId31"/>
    <p:sldId id="3735" r:id="rId32"/>
    <p:sldId id="3736" r:id="rId33"/>
    <p:sldId id="3737" r:id="rId34"/>
    <p:sldId id="3738" r:id="rId35"/>
    <p:sldId id="3739" r:id="rId36"/>
    <p:sldId id="3740" r:id="rId37"/>
    <p:sldId id="3741" r:id="rId38"/>
    <p:sldId id="3742" r:id="rId39"/>
    <p:sldId id="3743" r:id="rId40"/>
    <p:sldId id="3744" r:id="rId41"/>
    <p:sldId id="3745" r:id="rId42"/>
    <p:sldId id="3746" r:id="rId43"/>
    <p:sldId id="3636" r:id="rId44"/>
    <p:sldId id="3747" r:id="rId45"/>
    <p:sldId id="3748" r:id="rId46"/>
    <p:sldId id="3637" r:id="rId47"/>
    <p:sldId id="3749" r:id="rId48"/>
    <p:sldId id="3750" r:id="rId49"/>
    <p:sldId id="3751" r:id="rId50"/>
    <p:sldId id="3752" r:id="rId51"/>
    <p:sldId id="3753" r:id="rId52"/>
    <p:sldId id="3695" r:id="rId53"/>
    <p:sldId id="3754" r:id="rId54"/>
    <p:sldId id="3755" r:id="rId55"/>
    <p:sldId id="3756" r:id="rId56"/>
    <p:sldId id="3757" r:id="rId57"/>
    <p:sldId id="3758" r:id="rId58"/>
    <p:sldId id="3759" r:id="rId59"/>
    <p:sldId id="3760" r:id="rId60"/>
    <p:sldId id="3638" r:id="rId61"/>
    <p:sldId id="3761" r:id="rId62"/>
    <p:sldId id="3762" r:id="rId63"/>
    <p:sldId id="3639" r:id="rId64"/>
    <p:sldId id="3710" r:id="rId65"/>
    <p:sldId id="3626" r:id="rId66"/>
    <p:sldId id="3625" r:id="rId67"/>
    <p:sldId id="3567" r:id="rId68"/>
    <p:sldId id="3582" r:id="rId69"/>
  </p:sldIdLst>
  <p:sldSz cx="12192000" cy="6858000"/>
  <p:notesSz cx="6950075" cy="9236075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EC01A4A7-E4B7-46E5-93DE-A146A072A09E}">
          <p14:sldIdLst>
            <p14:sldId id="256"/>
          </p14:sldIdLst>
        </p14:section>
        <p14:section name="What is MATLAB and Simulink?" id="{08094596-2F79-407D-957C-27286169ABE8}">
          <p14:sldIdLst>
            <p14:sldId id="3714"/>
            <p14:sldId id="3764"/>
          </p14:sldIdLst>
        </p14:section>
        <p14:section name="What does success look like?" id="{2184ACB6-BC5A-45A7-AA08-0CFF90079FF3}">
          <p14:sldIdLst>
            <p14:sldId id="3715"/>
            <p14:sldId id="3763"/>
          </p14:sldIdLst>
        </p14:section>
        <p14:section name="Final Model(s)" id="{DD7E7087-D4C1-49C4-90BA-FD121933CBC3}">
          <p14:sldIdLst>
            <p14:sldId id="3717"/>
          </p14:sldIdLst>
        </p14:section>
        <p14:section name="How to Open MATLAB &amp; SIMULINK" id="{C8DF2CCC-DF37-4452-A9BD-12549E5D36D1}">
          <p14:sldIdLst>
            <p14:sldId id="3633"/>
            <p14:sldId id="3718"/>
            <p14:sldId id="3719"/>
            <p14:sldId id="3720"/>
          </p14:sldIdLst>
        </p14:section>
        <p14:section name="How to Create a new Simulink Model" id="{82C3D226-D794-4489-92A1-E620DEDFB2A5}">
          <p14:sldIdLst>
            <p14:sldId id="3634"/>
            <p14:sldId id="3721"/>
            <p14:sldId id="3722"/>
            <p14:sldId id="3723"/>
            <p14:sldId id="3724"/>
          </p14:sldIdLst>
        </p14:section>
        <p14:section name="How to Use blocks" id="{000E4B64-D857-4ECD-81C8-90C1508B930D}">
          <p14:sldIdLst>
            <p14:sldId id="3635"/>
            <p14:sldId id="3725"/>
            <p14:sldId id="3726"/>
            <p14:sldId id="3727"/>
            <p14:sldId id="3728"/>
            <p14:sldId id="3729"/>
            <p14:sldId id="3730"/>
            <p14:sldId id="3731"/>
            <p14:sldId id="3732"/>
            <p14:sldId id="3733"/>
            <p14:sldId id="3734"/>
            <p14:sldId id="3735"/>
            <p14:sldId id="3736"/>
            <p14:sldId id="3737"/>
            <p14:sldId id="3738"/>
            <p14:sldId id="3739"/>
            <p14:sldId id="3740"/>
            <p14:sldId id="3741"/>
            <p14:sldId id="3742"/>
            <p14:sldId id="3743"/>
            <p14:sldId id="3744"/>
            <p14:sldId id="3745"/>
            <p14:sldId id="3746"/>
          </p14:sldIdLst>
        </p14:section>
        <p14:section name="How to Run a simulation" id="{3F1A5FEB-EFB7-4B88-A875-0798919095F3}">
          <p14:sldIdLst>
            <p14:sldId id="3636"/>
            <p14:sldId id="3747"/>
            <p14:sldId id="3748"/>
          </p14:sldIdLst>
        </p14:section>
        <p14:section name="How to Use Data inspector" id="{62385923-6401-41CB-84E6-D309E1EB289F}">
          <p14:sldIdLst>
            <p14:sldId id="3637"/>
            <p14:sldId id="3749"/>
            <p14:sldId id="3750"/>
            <p14:sldId id="3751"/>
            <p14:sldId id="3752"/>
            <p14:sldId id="3753"/>
            <p14:sldId id="3695"/>
            <p14:sldId id="3754"/>
            <p14:sldId id="3755"/>
            <p14:sldId id="3756"/>
            <p14:sldId id="3757"/>
            <p14:sldId id="3758"/>
            <p14:sldId id="3759"/>
            <p14:sldId id="3760"/>
          </p14:sldIdLst>
        </p14:section>
        <p14:section name="How to Use Model Explorer" id="{84EACC95-D6FF-4E20-90C5-FE2F477BB695}">
          <p14:sldIdLst>
            <p14:sldId id="3638"/>
            <p14:sldId id="3761"/>
            <p14:sldId id="3762"/>
          </p14:sldIdLst>
        </p14:section>
        <p14:section name="How to Use Requirements editor" id="{04F53C19-E036-40F5-A4EF-E2AEF7972486}">
          <p14:sldIdLst>
            <p14:sldId id="3639"/>
            <p14:sldId id="3710"/>
            <p14:sldId id="3626"/>
            <p14:sldId id="3625"/>
            <p14:sldId id="3567"/>
            <p14:sldId id="3582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348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548" autoAdjust="0"/>
  </p:normalViewPr>
  <p:slideViewPr>
    <p:cSldViewPr snapToGrid="0">
      <p:cViewPr varScale="1">
        <p:scale>
          <a:sx n="102" d="100"/>
          <a:sy n="102" d="100"/>
        </p:scale>
        <p:origin x="954" y="114"/>
      </p:cViewPr>
      <p:guideLst>
        <p:guide orient="horz" pos="348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77" d="100"/>
          <a:sy n="77" d="100"/>
        </p:scale>
        <p:origin x="4044" y="10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1.xml"/><Relationship Id="rId21" Type="http://schemas.openxmlformats.org/officeDocument/2006/relationships/slide" Target="slides/slide16.xml"/><Relationship Id="rId42" Type="http://schemas.openxmlformats.org/officeDocument/2006/relationships/slide" Target="slides/slide37.xml"/><Relationship Id="rId47" Type="http://schemas.openxmlformats.org/officeDocument/2006/relationships/slide" Target="slides/slide42.xml"/><Relationship Id="rId63" Type="http://schemas.openxmlformats.org/officeDocument/2006/relationships/slide" Target="slides/slide58.xml"/><Relationship Id="rId68" Type="http://schemas.openxmlformats.org/officeDocument/2006/relationships/slide" Target="slides/slide63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9" Type="http://schemas.openxmlformats.org/officeDocument/2006/relationships/slide" Target="slides/slide24.xml"/><Relationship Id="rId11" Type="http://schemas.openxmlformats.org/officeDocument/2006/relationships/slide" Target="slides/slide6.xml"/><Relationship Id="rId24" Type="http://schemas.openxmlformats.org/officeDocument/2006/relationships/slide" Target="slides/slide19.xml"/><Relationship Id="rId32" Type="http://schemas.openxmlformats.org/officeDocument/2006/relationships/slide" Target="slides/slide27.xml"/><Relationship Id="rId37" Type="http://schemas.openxmlformats.org/officeDocument/2006/relationships/slide" Target="slides/slide32.xml"/><Relationship Id="rId40" Type="http://schemas.openxmlformats.org/officeDocument/2006/relationships/slide" Target="slides/slide35.xml"/><Relationship Id="rId45" Type="http://schemas.openxmlformats.org/officeDocument/2006/relationships/slide" Target="slides/slide40.xml"/><Relationship Id="rId53" Type="http://schemas.openxmlformats.org/officeDocument/2006/relationships/slide" Target="slides/slide48.xml"/><Relationship Id="rId58" Type="http://schemas.openxmlformats.org/officeDocument/2006/relationships/slide" Target="slides/slide53.xml"/><Relationship Id="rId66" Type="http://schemas.openxmlformats.org/officeDocument/2006/relationships/slide" Target="slides/slide61.xml"/><Relationship Id="rId74" Type="http://schemas.openxmlformats.org/officeDocument/2006/relationships/theme" Target="theme/theme1.xml"/><Relationship Id="rId5" Type="http://schemas.openxmlformats.org/officeDocument/2006/relationships/slideMaster" Target="slideMasters/slideMaster1.xml"/><Relationship Id="rId61" Type="http://schemas.openxmlformats.org/officeDocument/2006/relationships/slide" Target="slides/slide56.xml"/><Relationship Id="rId19" Type="http://schemas.openxmlformats.org/officeDocument/2006/relationships/slide" Target="slides/slide1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30" Type="http://schemas.openxmlformats.org/officeDocument/2006/relationships/slide" Target="slides/slide25.xml"/><Relationship Id="rId35" Type="http://schemas.openxmlformats.org/officeDocument/2006/relationships/slide" Target="slides/slide30.xml"/><Relationship Id="rId43" Type="http://schemas.openxmlformats.org/officeDocument/2006/relationships/slide" Target="slides/slide38.xml"/><Relationship Id="rId48" Type="http://schemas.openxmlformats.org/officeDocument/2006/relationships/slide" Target="slides/slide43.xml"/><Relationship Id="rId56" Type="http://schemas.openxmlformats.org/officeDocument/2006/relationships/slide" Target="slides/slide51.xml"/><Relationship Id="rId64" Type="http://schemas.openxmlformats.org/officeDocument/2006/relationships/slide" Target="slides/slide59.xml"/><Relationship Id="rId69" Type="http://schemas.openxmlformats.org/officeDocument/2006/relationships/slide" Target="slides/slide64.xml"/><Relationship Id="rId8" Type="http://schemas.openxmlformats.org/officeDocument/2006/relationships/slide" Target="slides/slide3.xml"/><Relationship Id="rId51" Type="http://schemas.openxmlformats.org/officeDocument/2006/relationships/slide" Target="slides/slide46.xml"/><Relationship Id="rId72" Type="http://schemas.openxmlformats.org/officeDocument/2006/relationships/presProps" Target="presProps.xml"/><Relationship Id="rId3" Type="http://schemas.openxmlformats.org/officeDocument/2006/relationships/customXml" Target="../customXml/item3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openxmlformats.org/officeDocument/2006/relationships/slide" Target="slides/slide28.xml"/><Relationship Id="rId38" Type="http://schemas.openxmlformats.org/officeDocument/2006/relationships/slide" Target="slides/slide33.xml"/><Relationship Id="rId46" Type="http://schemas.openxmlformats.org/officeDocument/2006/relationships/slide" Target="slides/slide41.xml"/><Relationship Id="rId59" Type="http://schemas.openxmlformats.org/officeDocument/2006/relationships/slide" Target="slides/slide54.xml"/><Relationship Id="rId67" Type="http://schemas.openxmlformats.org/officeDocument/2006/relationships/slide" Target="slides/slide62.xml"/><Relationship Id="rId20" Type="http://schemas.openxmlformats.org/officeDocument/2006/relationships/slide" Target="slides/slide15.xml"/><Relationship Id="rId41" Type="http://schemas.openxmlformats.org/officeDocument/2006/relationships/slide" Target="slides/slide36.xml"/><Relationship Id="rId54" Type="http://schemas.openxmlformats.org/officeDocument/2006/relationships/slide" Target="slides/slide49.xml"/><Relationship Id="rId62" Type="http://schemas.openxmlformats.org/officeDocument/2006/relationships/slide" Target="slides/slide57.xml"/><Relationship Id="rId70" Type="http://schemas.openxmlformats.org/officeDocument/2006/relationships/notesMaster" Target="notesMasters/notesMaster1.xml"/><Relationship Id="rId75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36" Type="http://schemas.openxmlformats.org/officeDocument/2006/relationships/slide" Target="slides/slide31.xml"/><Relationship Id="rId49" Type="http://schemas.openxmlformats.org/officeDocument/2006/relationships/slide" Target="slides/slide44.xml"/><Relationship Id="rId57" Type="http://schemas.openxmlformats.org/officeDocument/2006/relationships/slide" Target="slides/slide52.xml"/><Relationship Id="rId10" Type="http://schemas.openxmlformats.org/officeDocument/2006/relationships/slide" Target="slides/slide5.xml"/><Relationship Id="rId31" Type="http://schemas.openxmlformats.org/officeDocument/2006/relationships/slide" Target="slides/slide26.xml"/><Relationship Id="rId44" Type="http://schemas.openxmlformats.org/officeDocument/2006/relationships/slide" Target="slides/slide39.xml"/><Relationship Id="rId52" Type="http://schemas.openxmlformats.org/officeDocument/2006/relationships/slide" Target="slides/slide47.xml"/><Relationship Id="rId60" Type="http://schemas.openxmlformats.org/officeDocument/2006/relationships/slide" Target="slides/slide55.xml"/><Relationship Id="rId65" Type="http://schemas.openxmlformats.org/officeDocument/2006/relationships/slide" Target="slides/slide60.xml"/><Relationship Id="rId73" Type="http://schemas.openxmlformats.org/officeDocument/2006/relationships/viewProps" Target="viewProps.xml"/><Relationship Id="rId4" Type="http://schemas.openxmlformats.org/officeDocument/2006/relationships/customXml" Target="../customXml/item4.xml"/><Relationship Id="rId9" Type="http://schemas.openxmlformats.org/officeDocument/2006/relationships/slide" Target="slides/slide4.xml"/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39" Type="http://schemas.openxmlformats.org/officeDocument/2006/relationships/slide" Target="slides/slide34.xml"/><Relationship Id="rId34" Type="http://schemas.openxmlformats.org/officeDocument/2006/relationships/slide" Target="slides/slide29.xml"/><Relationship Id="rId50" Type="http://schemas.openxmlformats.org/officeDocument/2006/relationships/slide" Target="slides/slide45.xml"/><Relationship Id="rId55" Type="http://schemas.openxmlformats.org/officeDocument/2006/relationships/slide" Target="slides/slide50.xml"/><Relationship Id="rId7" Type="http://schemas.openxmlformats.org/officeDocument/2006/relationships/slide" Target="slides/slide2.xml"/><Relationship Id="rId71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4098D98F-175E-78A3-B8F6-CC7AB773523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11699" cy="463408"/>
          </a:xfrm>
          <a:prstGeom prst="rect">
            <a:avLst/>
          </a:prstGeom>
        </p:spPr>
        <p:txBody>
          <a:bodyPr vert="horz" lIns="92492" tIns="46246" rIns="92492" bIns="46246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ED1D7EE-CF92-23B0-51BA-B4DDAA57D6A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936768" y="0"/>
            <a:ext cx="3011699" cy="463408"/>
          </a:xfrm>
          <a:prstGeom prst="rect">
            <a:avLst/>
          </a:prstGeom>
        </p:spPr>
        <p:txBody>
          <a:bodyPr vert="horz" lIns="92492" tIns="46246" rIns="92492" bIns="46246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DA40AAD2-F4DE-46BB-9F99-83A578C04AFF}" type="datetimeFigureOut">
              <a:rPr lang="en-US"/>
              <a:pPr>
                <a:defRPr/>
              </a:pPr>
              <a:t>9/1/2026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58C0E3-C851-CE37-FD1B-A70FC4954E7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772669"/>
            <a:ext cx="3011699" cy="463407"/>
          </a:xfrm>
          <a:prstGeom prst="rect">
            <a:avLst/>
          </a:prstGeom>
        </p:spPr>
        <p:txBody>
          <a:bodyPr vert="horz" lIns="92492" tIns="46246" rIns="92492" bIns="46246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023D36C-A4BC-55F4-6B23-3774811418CD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936768" y="8772669"/>
            <a:ext cx="3011699" cy="463407"/>
          </a:xfrm>
          <a:prstGeom prst="rect">
            <a:avLst/>
          </a:prstGeom>
        </p:spPr>
        <p:txBody>
          <a:bodyPr vert="horz" wrap="square" lIns="92492" tIns="46246" rIns="92492" bIns="46246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F3CA2B0F-1A0A-4562-9947-C246A40584F7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D4087F94-3C40-5DB6-5E60-B61FB53A378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11699" cy="463408"/>
          </a:xfrm>
          <a:prstGeom prst="rect">
            <a:avLst/>
          </a:prstGeom>
        </p:spPr>
        <p:txBody>
          <a:bodyPr vert="horz" lIns="92492" tIns="46246" rIns="92492" bIns="46246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417044B-4DF8-C000-1661-91CAF8D24A84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936768" y="0"/>
            <a:ext cx="3011699" cy="463408"/>
          </a:xfrm>
          <a:prstGeom prst="rect">
            <a:avLst/>
          </a:prstGeom>
        </p:spPr>
        <p:txBody>
          <a:bodyPr vert="horz" lIns="92492" tIns="46246" rIns="92492" bIns="46246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56D71FA5-8285-4D80-ACF0-ECBE044B5E2B}" type="datetimeFigureOut">
              <a:rPr lang="en-US"/>
              <a:pPr>
                <a:defRPr/>
              </a:pPr>
              <a:t>9/1/2026</a:t>
            </a:fld>
            <a:endParaRPr lang="en-US"/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DA6DFA5B-B99B-0C95-58EF-202B53A6DC3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703263" y="1154113"/>
            <a:ext cx="5543550" cy="31178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492" tIns="46246" rIns="92492" bIns="46246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B771CE75-06FE-FE26-DCC2-2C570D11B5B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95008" y="4444861"/>
            <a:ext cx="5560060" cy="3636705"/>
          </a:xfrm>
          <a:prstGeom prst="rect">
            <a:avLst/>
          </a:prstGeom>
        </p:spPr>
        <p:txBody>
          <a:bodyPr vert="horz" lIns="92492" tIns="46246" rIns="92492" bIns="46246" rtlCol="0"/>
          <a:lstStyle/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6278A4-2710-CFD8-CEF4-4DA98B66B49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772669"/>
            <a:ext cx="3011699" cy="463407"/>
          </a:xfrm>
          <a:prstGeom prst="rect">
            <a:avLst/>
          </a:prstGeom>
        </p:spPr>
        <p:txBody>
          <a:bodyPr vert="horz" lIns="92492" tIns="46246" rIns="92492" bIns="46246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555B7C4-2ABE-6434-8EA6-9A0B3F4343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936768" y="8772669"/>
            <a:ext cx="3011699" cy="463407"/>
          </a:xfrm>
          <a:prstGeom prst="rect">
            <a:avLst/>
          </a:prstGeom>
        </p:spPr>
        <p:txBody>
          <a:bodyPr vert="horz" wrap="square" lIns="92492" tIns="46246" rIns="92492" bIns="46246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58A04150-874A-42E2-8795-B6E7E159182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Slide Image Placeholder 1">
            <a:extLst>
              <a:ext uri="{FF2B5EF4-FFF2-40B4-BE49-F238E27FC236}">
                <a16:creationId xmlns:a16="http://schemas.microsoft.com/office/drawing/2014/main" id="{2F4B7EE4-2ED7-D686-41CF-29D23845D1F6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5363" name="Notes Placeholder 2">
            <a:extLst>
              <a:ext uri="{FF2B5EF4-FFF2-40B4-BE49-F238E27FC236}">
                <a16:creationId xmlns:a16="http://schemas.microsoft.com/office/drawing/2014/main" id="{AA4ED621-05FA-44A0-34EE-D9D763AA738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en-US" altLang="en-US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4C449068-0203-BD64-465A-32FB5765F33F}"/>
              </a:ext>
            </a:extLst>
          </p:cNvPr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DCD74A-8049-1673-A412-BC69A5A45263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5366" name="Slide Number Placeholder 5">
            <a:extLst>
              <a:ext uri="{FF2B5EF4-FFF2-40B4-BE49-F238E27FC236}">
                <a16:creationId xmlns:a16="http://schemas.microsoft.com/office/drawing/2014/main" id="{26FCB2B9-C5D1-C952-5E9B-F3FCF35F80FC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51494" indent="-289036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56145" indent="-231229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18602" indent="-231229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81060" indent="-231229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43518" indent="-231229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005976" indent="-231229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68434" indent="-231229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930891" indent="-231229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C5B3D759-A5EF-4211-AF68-8970C468B8A9}" type="slidenum">
              <a:rPr lang="en-US" altLang="en-US" smtClean="0">
                <a:latin typeface="Calibri" panose="020F0502020204030204" pitchFamily="34" charset="0"/>
              </a:rPr>
              <a:pPr/>
              <a:t>1</a:t>
            </a:fld>
            <a:endParaRPr lang="en-US" altLang="en-US">
              <a:latin typeface="Calibri" panose="020F0502020204030204" pitchFamily="34" charset="0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EED21D-21EF-7E6D-5B72-0560D6AF3B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3BA173E-2807-4794-7F23-EF60F5398D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F702A5-FC84-A5F6-B60C-2DF5CCC5DA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F2D3525D-9FC3-483D-45F9-81BAD2AEE419}"/>
              </a:ext>
            </a:extLst>
          </p:cNvPr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FE917A-7EE9-EF91-DB3F-4574ACA16631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AB1F2F-FE3A-2B46-3567-35A4C2CCCB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8A04150-874A-42E2-8795-B6E7E159182C}" type="slidenum">
              <a:rPr lang="en-US" altLang="en-US" smtClean="0"/>
              <a:pPr>
                <a:defRPr/>
              </a:pPr>
              <a:t>62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80283148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8A04150-874A-42E2-8795-B6E7E159182C}" type="slidenum">
              <a:rPr lang="en-US" altLang="en-US" smtClean="0"/>
              <a:pPr>
                <a:defRPr/>
              </a:pPr>
              <a:t>64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2856393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5.xml"/><Relationship Id="rId1" Type="http://schemas.openxmlformats.org/officeDocument/2006/relationships/tags" Target="../tags/tag4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7.xml"/><Relationship Id="rId1" Type="http://schemas.openxmlformats.org/officeDocument/2006/relationships/tags" Target="../tags/tag6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9.xml"/><Relationship Id="rId1" Type="http://schemas.openxmlformats.org/officeDocument/2006/relationships/tags" Target="../tags/tag8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11.xml"/><Relationship Id="rId1" Type="http://schemas.openxmlformats.org/officeDocument/2006/relationships/tags" Target="../tags/tag10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13.xml"/><Relationship Id="rId1" Type="http://schemas.openxmlformats.org/officeDocument/2006/relationships/tags" Target="../tags/tag12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15.xml"/><Relationship Id="rId1" Type="http://schemas.openxmlformats.org/officeDocument/2006/relationships/tags" Target="../tags/tag14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17.xml"/><Relationship Id="rId1" Type="http://schemas.openxmlformats.org/officeDocument/2006/relationships/tags" Target="../tags/tag16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9.xml"/><Relationship Id="rId1" Type="http://schemas.openxmlformats.org/officeDocument/2006/relationships/tags" Target="../tags/tag18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21.xml"/><Relationship Id="rId1" Type="http://schemas.openxmlformats.org/officeDocument/2006/relationships/tags" Target="../tags/tag20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23.xml"/><Relationship Id="rId1" Type="http://schemas.openxmlformats.org/officeDocument/2006/relationships/tags" Target="../tags/tag22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tags" Target="../tags/tag26.xml"/><Relationship Id="rId7" Type="http://schemas.openxmlformats.org/officeDocument/2006/relationships/image" Target="../media/image2.emf"/><Relationship Id="rId2" Type="http://schemas.openxmlformats.org/officeDocument/2006/relationships/tags" Target="../tags/tag25.xml"/><Relationship Id="rId1" Type="http://schemas.openxmlformats.org/officeDocument/2006/relationships/tags" Target="../tags/tag24.xml"/><Relationship Id="rId6" Type="http://schemas.openxmlformats.org/officeDocument/2006/relationships/oleObject" Target="../embeddings/oleObject3.bin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27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8.png"/><Relationship Id="rId2" Type="http://schemas.openxmlformats.org/officeDocument/2006/relationships/tags" Target="../tags/tag29.xml"/><Relationship Id="rId1" Type="http://schemas.openxmlformats.org/officeDocument/2006/relationships/tags" Target="../tags/tag28.xml"/><Relationship Id="rId6" Type="http://schemas.openxmlformats.org/officeDocument/2006/relationships/image" Target="../media/image7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11.png"/><Relationship Id="rId2" Type="http://schemas.openxmlformats.org/officeDocument/2006/relationships/tags" Target="../tags/tag31.xml"/><Relationship Id="rId1" Type="http://schemas.openxmlformats.org/officeDocument/2006/relationships/tags" Target="../tags/tag30.xml"/><Relationship Id="rId6" Type="http://schemas.openxmlformats.org/officeDocument/2006/relationships/image" Target="../media/image10.emf"/><Relationship Id="rId5" Type="http://schemas.openxmlformats.org/officeDocument/2006/relationships/oleObject" Target="../embeddings/oleObject4.bin"/><Relationship Id="rId4" Type="http://schemas.openxmlformats.org/officeDocument/2006/relationships/image" Target="../media/image9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Layout 1 - Title, Sub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79C1A729-D5B7-CA1C-AF00-7DFA55FDD3F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051" name="Object 2" hidden="1">
                        <a:extLst>
                          <a:ext uri="{FF2B5EF4-FFF2-40B4-BE49-F238E27FC236}">
                            <a16:creationId xmlns:a16="http://schemas.microsoft.com/office/drawing/2014/main" id="{5136F095-8153-4125-4D5B-2AFDD07C3204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72BBA21-8225-20C1-5BDF-C71464D2B24F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84D9CA5D-BC3B-E8C1-603F-390C5EFC2740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395288" y="6584950"/>
            <a:ext cx="8240712" cy="2159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pic>
        <p:nvPicPr>
          <p:cNvPr id="7" name="Picture 5" descr="Purpose &amp; principles PPT 2.png">
            <a:extLst>
              <a:ext uri="{FF2B5EF4-FFF2-40B4-BE49-F238E27FC236}">
                <a16:creationId xmlns:a16="http://schemas.microsoft.com/office/drawing/2014/main" id="{7B4C6C15-5B35-83EE-4D10-265906990F7A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Picture 6" descr="Purpose &amp; principles PPT.png">
            <a:extLst>
              <a:ext uri="{FF2B5EF4-FFF2-40B4-BE49-F238E27FC236}">
                <a16:creationId xmlns:a16="http://schemas.microsoft.com/office/drawing/2014/main" id="{492F9D93-D16B-9D12-9F50-8CC0D724526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A3537E1-CF04-9648-0FD9-4F21DA1FFB2A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27ABA1CE-7F1E-4C0A-AB66-66670BD6FC9C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5"/>
          </p:nvPr>
        </p:nvSpPr>
        <p:spPr>
          <a:xfrm>
            <a:off x="2226001" y="398463"/>
            <a:ext cx="9635800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5816" y="1134000"/>
            <a:ext cx="11341101" cy="522076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hcSlideMaster.1_Layout 1 - Title, Subtitle and ContentHeader" descr=" ">
            <a:extLst>
              <a:ext uri="{FF2B5EF4-FFF2-40B4-BE49-F238E27FC236}">
                <a16:creationId xmlns:a16="http://schemas.microsoft.com/office/drawing/2014/main" id="{C72B11F0-4474-8A6E-7B76-99B15B2E189B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1" name="fcSlideMaster.1_Layout 1 - Title, Subtitle and ContentFooter" descr=" ">
            <a:extLst>
              <a:ext uri="{FF2B5EF4-FFF2-40B4-BE49-F238E27FC236}">
                <a16:creationId xmlns:a16="http://schemas.microsoft.com/office/drawing/2014/main" id="{AAEECE00-2F49-7A8D-181F-BB579B75B4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63351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1 -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3075" name="Object 2" hidden="1">
                        <a:extLst>
                          <a:ext uri="{FF2B5EF4-FFF2-40B4-BE49-F238E27FC236}">
                            <a16:creationId xmlns:a16="http://schemas.microsoft.com/office/drawing/2014/main" id="{FCB7C648-B77C-442A-E153-A1351F8DB28F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158948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mparison B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4" name="hcSlideMaster.3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3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B333C370-613B-3E3D-3647-7A8D70B2A6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6" y="1531941"/>
            <a:ext cx="11341101" cy="4822823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hcSlideMaster.1_3 Comparison BHeader" descr=" ">
            <a:extLst>
              <a:ext uri="{FF2B5EF4-FFF2-40B4-BE49-F238E27FC236}">
                <a16:creationId xmlns:a16="http://schemas.microsoft.com/office/drawing/2014/main" id="{5A4E2B12-F16F-38C1-2B27-18CE64A2DB40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4" name="fcSlideMaster.1_3 Comparison BFooter" descr=" ">
            <a:extLst>
              <a:ext uri="{FF2B5EF4-FFF2-40B4-BE49-F238E27FC236}">
                <a16:creationId xmlns:a16="http://schemas.microsoft.com/office/drawing/2014/main" id="{D2AC2636-7C2F-5D6C-3C99-E10D815BEED0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5" name="hcSlideMaster.1 Comparison B1Header" descr=" ">
            <a:extLst>
              <a:ext uri="{FF2B5EF4-FFF2-40B4-BE49-F238E27FC236}">
                <a16:creationId xmlns:a16="http://schemas.microsoft.com/office/drawing/2014/main" id="{4243B30D-2C9E-680B-88D2-B3936D67E911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6" name="fcSlideMaster.1 Comparison B1Footer" descr=" ">
            <a:extLst>
              <a:ext uri="{FF2B5EF4-FFF2-40B4-BE49-F238E27FC236}">
                <a16:creationId xmlns:a16="http://schemas.microsoft.com/office/drawing/2014/main" id="{9C11A4BE-A09A-9074-C1B9-73CC72597C3E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263855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mparison B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64008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4" name="hcSlideMaster.3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3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B333C370-613B-3E3D-3647-7A8D70B2A6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6" y="1838484"/>
            <a:ext cx="11341101" cy="45162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hcSlideMaster.1_1 Comparison BHeader" descr=" ">
            <a:extLst>
              <a:ext uri="{FF2B5EF4-FFF2-40B4-BE49-F238E27FC236}">
                <a16:creationId xmlns:a16="http://schemas.microsoft.com/office/drawing/2014/main" id="{5A4E2B12-F16F-38C1-2B27-18CE64A2DB40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4" name="fcSlideMaster.1_1 Comparison BFooter" descr=" ">
            <a:extLst>
              <a:ext uri="{FF2B5EF4-FFF2-40B4-BE49-F238E27FC236}">
                <a16:creationId xmlns:a16="http://schemas.microsoft.com/office/drawing/2014/main" id="{D2AC2636-7C2F-5D6C-3C99-E10D815BEED0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5" name="hcSlideMaster.1 Comparison B2Header" descr=" ">
            <a:extLst>
              <a:ext uri="{FF2B5EF4-FFF2-40B4-BE49-F238E27FC236}">
                <a16:creationId xmlns:a16="http://schemas.microsoft.com/office/drawing/2014/main" id="{4243B30D-2C9E-680B-88D2-B3936D67E911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6" name="fcSlideMaster.1 Comparison B2Footer" descr=" ">
            <a:extLst>
              <a:ext uri="{FF2B5EF4-FFF2-40B4-BE49-F238E27FC236}">
                <a16:creationId xmlns:a16="http://schemas.microsoft.com/office/drawing/2014/main" id="{9C11A4BE-A09A-9074-C1B9-73CC72597C3E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229577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mparison B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Text Placeholder 7">
            <a:extLst>
              <a:ext uri="{FF2B5EF4-FFF2-40B4-BE49-F238E27FC236}">
                <a16:creationId xmlns:a16="http://schemas.microsoft.com/office/drawing/2014/main" id="{9A239EB5-949D-5EBB-9621-73B95F84492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818" y="1992254"/>
            <a:ext cx="11338560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2758381"/>
            <a:ext cx="11338560" cy="365217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4" name="hcSlideMaster.2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2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1" name="hcSlideMaster.1 Comparison B3Header" descr=" ">
            <a:extLst>
              <a:ext uri="{FF2B5EF4-FFF2-40B4-BE49-F238E27FC236}">
                <a16:creationId xmlns:a16="http://schemas.microsoft.com/office/drawing/2014/main" id="{C00971FF-2044-F9AA-4CBF-5B2FC02F8D5B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2" name="fcSlideMaster.1 Comparison B3Footer" descr=" ">
            <a:extLst>
              <a:ext uri="{FF2B5EF4-FFF2-40B4-BE49-F238E27FC236}">
                <a16:creationId xmlns:a16="http://schemas.microsoft.com/office/drawing/2014/main" id="{517EE859-1AB9-EBE9-B093-415917A3A9BC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241023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mparison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 Placeholder 7">
            <a:extLst>
              <a:ext uri="{FF2B5EF4-FFF2-40B4-BE49-F238E27FC236}">
                <a16:creationId xmlns:a16="http://schemas.microsoft.com/office/drawing/2014/main" id="{9FB5145F-8251-5402-0898-33957D81D0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13356" y="1992254"/>
            <a:ext cx="5623560" cy="360712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6" name="Text Placeholder 7">
            <a:extLst>
              <a:ext uri="{FF2B5EF4-FFF2-40B4-BE49-F238E27FC236}">
                <a16:creationId xmlns:a16="http://schemas.microsoft.com/office/drawing/2014/main" id="{9A239EB5-949D-5EBB-9621-73B95F84492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818" y="1992254"/>
            <a:ext cx="5623560" cy="360712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3192313"/>
            <a:ext cx="5623560" cy="3218243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9" name="Content Placeholder 2">
            <a:extLst>
              <a:ext uri="{FF2B5EF4-FFF2-40B4-BE49-F238E27FC236}">
                <a16:creationId xmlns:a16="http://schemas.microsoft.com/office/drawing/2014/main" id="{B6165CC7-E92A-4D80-4ABF-ACB94BA97DCB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113356" y="3192313"/>
            <a:ext cx="5623560" cy="3218243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4" name="hcSlideMaster.1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1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65" name="Text Placeholder 7">
            <a:extLst>
              <a:ext uri="{FF2B5EF4-FFF2-40B4-BE49-F238E27FC236}">
                <a16:creationId xmlns:a16="http://schemas.microsoft.com/office/drawing/2014/main" id="{72DFA65D-B2CE-3E05-BE20-8537C69FFD5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95818" y="2420888"/>
            <a:ext cx="5623560" cy="64922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 i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66" name="Text Placeholder 7">
            <a:extLst>
              <a:ext uri="{FF2B5EF4-FFF2-40B4-BE49-F238E27FC236}">
                <a16:creationId xmlns:a16="http://schemas.microsoft.com/office/drawing/2014/main" id="{82DB8494-3814-E0E3-27A9-B12017EEF9F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113356" y="2420888"/>
            <a:ext cx="5623560" cy="64922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 i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63" name="hcSlideMaster.2 Comparison AHeader" descr=" ">
            <a:extLst>
              <a:ext uri="{FF2B5EF4-FFF2-40B4-BE49-F238E27FC236}">
                <a16:creationId xmlns:a16="http://schemas.microsoft.com/office/drawing/2014/main" id="{F1F89A26-CD57-2053-40B7-B51CDAB9FC31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64" name="fcSlideMaster.2 Comparison AFooter" descr=" ">
            <a:extLst>
              <a:ext uri="{FF2B5EF4-FFF2-40B4-BE49-F238E27FC236}">
                <a16:creationId xmlns:a16="http://schemas.microsoft.com/office/drawing/2014/main" id="{06CEAAAD-DA45-4350-D5CA-363F379592A1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466939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mparison 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 Placeholder 7">
            <a:extLst>
              <a:ext uri="{FF2B5EF4-FFF2-40B4-BE49-F238E27FC236}">
                <a16:creationId xmlns:a16="http://schemas.microsoft.com/office/drawing/2014/main" id="{9FB5145F-8251-5402-0898-33957D81D0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13356" y="1992254"/>
            <a:ext cx="5623560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6" name="Text Placeholder 7">
            <a:extLst>
              <a:ext uri="{FF2B5EF4-FFF2-40B4-BE49-F238E27FC236}">
                <a16:creationId xmlns:a16="http://schemas.microsoft.com/office/drawing/2014/main" id="{9A239EB5-949D-5EBB-9621-73B95F84492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818" y="1992254"/>
            <a:ext cx="5623560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2758381"/>
            <a:ext cx="5623560" cy="365217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9" name="Content Placeholder 2">
            <a:extLst>
              <a:ext uri="{FF2B5EF4-FFF2-40B4-BE49-F238E27FC236}">
                <a16:creationId xmlns:a16="http://schemas.microsoft.com/office/drawing/2014/main" id="{B6165CC7-E92A-4D80-4ABF-ACB94BA97DCB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113356" y="2758381"/>
            <a:ext cx="5623560" cy="365217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4" name="hcSlideMaster.2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2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1" name="hcSlideMaster.2 Comparison BHeader" descr=" ">
            <a:extLst>
              <a:ext uri="{FF2B5EF4-FFF2-40B4-BE49-F238E27FC236}">
                <a16:creationId xmlns:a16="http://schemas.microsoft.com/office/drawing/2014/main" id="{C00971FF-2044-F9AA-4CBF-5B2FC02F8D5B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2" name="fcSlideMaster.2 Comparison BFooter" descr=" ">
            <a:extLst>
              <a:ext uri="{FF2B5EF4-FFF2-40B4-BE49-F238E27FC236}">
                <a16:creationId xmlns:a16="http://schemas.microsoft.com/office/drawing/2014/main" id="{517EE859-1AB9-EBE9-B093-415917A3A9BC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679877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mparison 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 Placeholder 7">
            <a:extLst>
              <a:ext uri="{FF2B5EF4-FFF2-40B4-BE49-F238E27FC236}">
                <a16:creationId xmlns:a16="http://schemas.microsoft.com/office/drawing/2014/main" id="{9FB5145F-8251-5402-0898-33957D81D0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13356" y="1563046"/>
            <a:ext cx="5623560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6" name="Text Placeholder 7">
            <a:extLst>
              <a:ext uri="{FF2B5EF4-FFF2-40B4-BE49-F238E27FC236}">
                <a16:creationId xmlns:a16="http://schemas.microsoft.com/office/drawing/2014/main" id="{9A239EB5-949D-5EBB-9621-73B95F84492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818" y="1563046"/>
            <a:ext cx="5623560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2042465"/>
            <a:ext cx="5623560" cy="436809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9" name="Content Placeholder 2">
            <a:extLst>
              <a:ext uri="{FF2B5EF4-FFF2-40B4-BE49-F238E27FC236}">
                <a16:creationId xmlns:a16="http://schemas.microsoft.com/office/drawing/2014/main" id="{B6165CC7-E92A-4D80-4ABF-ACB94BA97DCB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113356" y="2042465"/>
            <a:ext cx="5623560" cy="436809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4" name="hcSlideMaster.2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2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1" name="hcSlideMaster.2 Comparison BHeader" descr=" ">
            <a:extLst>
              <a:ext uri="{FF2B5EF4-FFF2-40B4-BE49-F238E27FC236}">
                <a16:creationId xmlns:a16="http://schemas.microsoft.com/office/drawing/2014/main" id="{C00971FF-2044-F9AA-4CBF-5B2FC02F8D5B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2" name="fcSlideMaster.2 Comparison BFooter" descr=" ">
            <a:extLst>
              <a:ext uri="{FF2B5EF4-FFF2-40B4-BE49-F238E27FC236}">
                <a16:creationId xmlns:a16="http://schemas.microsoft.com/office/drawing/2014/main" id="{517EE859-1AB9-EBE9-B093-415917A3A9BC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3" name="hcSlideMaster.2 Comparison CHeader" descr=" ">
            <a:extLst>
              <a:ext uri="{FF2B5EF4-FFF2-40B4-BE49-F238E27FC236}">
                <a16:creationId xmlns:a16="http://schemas.microsoft.com/office/drawing/2014/main" id="{508F0E3E-452A-401E-E954-91090E28AE5A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4" name="fcSlideMaster.2 Comparison CFooter" descr=" ">
            <a:extLst>
              <a:ext uri="{FF2B5EF4-FFF2-40B4-BE49-F238E27FC236}">
                <a16:creationId xmlns:a16="http://schemas.microsoft.com/office/drawing/2014/main" id="{DDC17D0F-3F44-4B9C-2CD1-64DE756AF4C5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977508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mparison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Text Placeholder 7">
            <a:extLst>
              <a:ext uri="{FF2B5EF4-FFF2-40B4-BE49-F238E27FC236}">
                <a16:creationId xmlns:a16="http://schemas.microsoft.com/office/drawing/2014/main" id="{51FD2A61-A021-DDFD-0B3D-2758D5276CA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395817" y="2420888"/>
            <a:ext cx="3776472" cy="64922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 i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3138034"/>
            <a:ext cx="3776472" cy="327252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4" name="hcSlideMaster.3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3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3CAE348C-CA9B-6DA5-85C0-6EA00EA90EF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95818" y="1992254"/>
            <a:ext cx="3776472" cy="360712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24" name="Text Placeholder 7">
            <a:extLst>
              <a:ext uri="{FF2B5EF4-FFF2-40B4-BE49-F238E27FC236}">
                <a16:creationId xmlns:a16="http://schemas.microsoft.com/office/drawing/2014/main" id="{FA6ABB32-3570-2D77-6ACA-8DA3FA3849C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228569" y="1992254"/>
            <a:ext cx="3776472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25" name="Content Placeholder 2">
            <a:extLst>
              <a:ext uri="{FF2B5EF4-FFF2-40B4-BE49-F238E27FC236}">
                <a16:creationId xmlns:a16="http://schemas.microsoft.com/office/drawing/2014/main" id="{8049E229-D6A4-F87E-AB12-4C2B517E7374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4228569" y="3137004"/>
            <a:ext cx="3776472" cy="327355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6" name="Text Placeholder 7">
            <a:extLst>
              <a:ext uri="{FF2B5EF4-FFF2-40B4-BE49-F238E27FC236}">
                <a16:creationId xmlns:a16="http://schemas.microsoft.com/office/drawing/2014/main" id="{064FEF03-992E-3B70-A2B4-51080444E67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062555" y="1992254"/>
            <a:ext cx="3776472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27" name="Content Placeholder 2">
            <a:extLst>
              <a:ext uri="{FF2B5EF4-FFF2-40B4-BE49-F238E27FC236}">
                <a16:creationId xmlns:a16="http://schemas.microsoft.com/office/drawing/2014/main" id="{A037C432-8FB9-320B-3A82-ECDB6E29C130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8062555" y="3137004"/>
            <a:ext cx="3776472" cy="327355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0" name="hcSlideMaster.3 Comparison BHeader" descr=" ">
            <a:extLst>
              <a:ext uri="{FF2B5EF4-FFF2-40B4-BE49-F238E27FC236}">
                <a16:creationId xmlns:a16="http://schemas.microsoft.com/office/drawing/2014/main" id="{9BC8C6B8-4E01-9ECA-E6B8-4C91558F0286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31" name="fcSlideMaster.3 Comparison BFooter" descr=" ">
            <a:extLst>
              <a:ext uri="{FF2B5EF4-FFF2-40B4-BE49-F238E27FC236}">
                <a16:creationId xmlns:a16="http://schemas.microsoft.com/office/drawing/2014/main" id="{B211ACB9-3DF6-7317-BC04-482FCC5ED1C2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35" name="Text Placeholder 7">
            <a:extLst>
              <a:ext uri="{FF2B5EF4-FFF2-40B4-BE49-F238E27FC236}">
                <a16:creationId xmlns:a16="http://schemas.microsoft.com/office/drawing/2014/main" id="{7B9245E7-4718-498D-130B-89CF21FC2382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228569" y="2420888"/>
            <a:ext cx="3776472" cy="64922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 i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36" name="Text Placeholder 7">
            <a:extLst>
              <a:ext uri="{FF2B5EF4-FFF2-40B4-BE49-F238E27FC236}">
                <a16:creationId xmlns:a16="http://schemas.microsoft.com/office/drawing/2014/main" id="{4F32C694-8B96-B9CD-8392-C42EBEE5E247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062555" y="2420888"/>
            <a:ext cx="3776472" cy="64922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 i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32" name="hcSlideMaster.3 Comparison AHeader" descr=" ">
            <a:extLst>
              <a:ext uri="{FF2B5EF4-FFF2-40B4-BE49-F238E27FC236}">
                <a16:creationId xmlns:a16="http://schemas.microsoft.com/office/drawing/2014/main" id="{F7626623-CDA9-2F4D-A611-475B9A1A7A16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33" name="fcSlideMaster.3 Comparison AFooter" descr=" ">
            <a:extLst>
              <a:ext uri="{FF2B5EF4-FFF2-40B4-BE49-F238E27FC236}">
                <a16:creationId xmlns:a16="http://schemas.microsoft.com/office/drawing/2014/main" id="{F2F70BF1-CED2-7175-F3A4-BAD6CF4704CB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311501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mparison 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 Placeholder 7">
            <a:extLst>
              <a:ext uri="{FF2B5EF4-FFF2-40B4-BE49-F238E27FC236}">
                <a16:creationId xmlns:a16="http://schemas.microsoft.com/office/drawing/2014/main" id="{9FB5145F-8251-5402-0898-33957D81D0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228569" y="1992254"/>
            <a:ext cx="3776472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6" name="Text Placeholder 7">
            <a:extLst>
              <a:ext uri="{FF2B5EF4-FFF2-40B4-BE49-F238E27FC236}">
                <a16:creationId xmlns:a16="http://schemas.microsoft.com/office/drawing/2014/main" id="{9A239EB5-949D-5EBB-9621-73B95F84492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818" y="1992254"/>
            <a:ext cx="3776472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2758381"/>
            <a:ext cx="3776472" cy="365217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9" name="Content Placeholder 2">
            <a:extLst>
              <a:ext uri="{FF2B5EF4-FFF2-40B4-BE49-F238E27FC236}">
                <a16:creationId xmlns:a16="http://schemas.microsoft.com/office/drawing/2014/main" id="{B6165CC7-E92A-4D80-4ABF-ACB94BA97DCB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4228569" y="2758381"/>
            <a:ext cx="3776472" cy="365217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D43F772C-E4D1-DD5B-2BFB-769C4F9F2F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062555" y="1992254"/>
            <a:ext cx="3776472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CF9773B9-3F0D-5222-F270-22C325B35BFB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8062555" y="2758381"/>
            <a:ext cx="3776472" cy="365217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4" name="hcSlideMaster.3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3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3" name="hcSlideMaster.1_3 Comparison BHeader" descr=" ">
            <a:extLst>
              <a:ext uri="{FF2B5EF4-FFF2-40B4-BE49-F238E27FC236}">
                <a16:creationId xmlns:a16="http://schemas.microsoft.com/office/drawing/2014/main" id="{5A4E2B12-F16F-38C1-2B27-18CE64A2DB40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4" name="fcSlideMaster.1_3 Comparison BFooter" descr=" ">
            <a:extLst>
              <a:ext uri="{FF2B5EF4-FFF2-40B4-BE49-F238E27FC236}">
                <a16:creationId xmlns:a16="http://schemas.microsoft.com/office/drawing/2014/main" id="{D2AC2636-7C2F-5D6C-3C99-E10D815BEED0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5" name="hcSlideMaster.3 Comparison BHeader" descr=" ">
            <a:extLst>
              <a:ext uri="{FF2B5EF4-FFF2-40B4-BE49-F238E27FC236}">
                <a16:creationId xmlns:a16="http://schemas.microsoft.com/office/drawing/2014/main" id="{4243B30D-2C9E-680B-88D2-B3936D67E911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6" name="fcSlideMaster.3 Comparison BFooter" descr=" ">
            <a:extLst>
              <a:ext uri="{FF2B5EF4-FFF2-40B4-BE49-F238E27FC236}">
                <a16:creationId xmlns:a16="http://schemas.microsoft.com/office/drawing/2014/main" id="{9C11A4BE-A09A-9074-C1B9-73CC72597C3E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861259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mparison 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 Placeholder 7">
            <a:extLst>
              <a:ext uri="{FF2B5EF4-FFF2-40B4-BE49-F238E27FC236}">
                <a16:creationId xmlns:a16="http://schemas.microsoft.com/office/drawing/2014/main" id="{9FB5145F-8251-5402-0898-33957D81D0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228569" y="1563046"/>
            <a:ext cx="3776472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6" name="Text Placeholder 7">
            <a:extLst>
              <a:ext uri="{FF2B5EF4-FFF2-40B4-BE49-F238E27FC236}">
                <a16:creationId xmlns:a16="http://schemas.microsoft.com/office/drawing/2014/main" id="{9A239EB5-949D-5EBB-9621-73B95F84492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818" y="1563046"/>
            <a:ext cx="3776472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2042465"/>
            <a:ext cx="3776472" cy="436809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9" name="Content Placeholder 2">
            <a:extLst>
              <a:ext uri="{FF2B5EF4-FFF2-40B4-BE49-F238E27FC236}">
                <a16:creationId xmlns:a16="http://schemas.microsoft.com/office/drawing/2014/main" id="{B6165CC7-E92A-4D80-4ABF-ACB94BA97DCB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4228569" y="2042465"/>
            <a:ext cx="3776472" cy="436809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D43F772C-E4D1-DD5B-2BFB-769C4F9F2F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062555" y="1563046"/>
            <a:ext cx="3776472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CF9773B9-3F0D-5222-F270-22C325B35BFB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8062555" y="2042465"/>
            <a:ext cx="3776472" cy="436809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4" name="hcSlideMaster.3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3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5" name="hcSlideMaster.3 Comparison BHeader" descr=" ">
            <a:extLst>
              <a:ext uri="{FF2B5EF4-FFF2-40B4-BE49-F238E27FC236}">
                <a16:creationId xmlns:a16="http://schemas.microsoft.com/office/drawing/2014/main" id="{4243B30D-2C9E-680B-88D2-B3936D67E911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6" name="fcSlideMaster.3 Comparison BFooter" descr=" ">
            <a:extLst>
              <a:ext uri="{FF2B5EF4-FFF2-40B4-BE49-F238E27FC236}">
                <a16:creationId xmlns:a16="http://schemas.microsoft.com/office/drawing/2014/main" id="{9C11A4BE-A09A-9074-C1B9-73CC72597C3E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3" name="hcSlideMaster.1_3 Comparison BHeader" descr=" ">
            <a:extLst>
              <a:ext uri="{FF2B5EF4-FFF2-40B4-BE49-F238E27FC236}">
                <a16:creationId xmlns:a16="http://schemas.microsoft.com/office/drawing/2014/main" id="{5A4E2B12-F16F-38C1-2B27-18CE64A2DB40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4" name="fcSlideMaster.1_3 Comparison BFooter" descr=" ">
            <a:extLst>
              <a:ext uri="{FF2B5EF4-FFF2-40B4-BE49-F238E27FC236}">
                <a16:creationId xmlns:a16="http://schemas.microsoft.com/office/drawing/2014/main" id="{D2AC2636-7C2F-5D6C-3C99-E10D815BEED0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8" name="hcSlideMaster.3 Comparison CHeader" descr=" ">
            <a:extLst>
              <a:ext uri="{FF2B5EF4-FFF2-40B4-BE49-F238E27FC236}">
                <a16:creationId xmlns:a16="http://schemas.microsoft.com/office/drawing/2014/main" id="{023C4D99-3769-1404-CB20-C1B6E0FF34DF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9" name="fcSlideMaster.3 Comparison CFooter" descr=" ">
            <a:extLst>
              <a:ext uri="{FF2B5EF4-FFF2-40B4-BE49-F238E27FC236}">
                <a16:creationId xmlns:a16="http://schemas.microsoft.com/office/drawing/2014/main" id="{71634C75-08A0-7D05-C922-CF82463F608D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448576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8576433-AA70-59B8-4D99-440E2D803904}"/>
              </a:ext>
            </a:extLst>
          </p:cNvPr>
          <p:cNvSpPr/>
          <p:nvPr userDrawn="1"/>
        </p:nvSpPr>
        <p:spPr>
          <a:xfrm>
            <a:off x="0" y="4803775"/>
            <a:ext cx="12192000" cy="10556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828000" anchor="ctr"/>
          <a:lstStyle/>
          <a:p>
            <a:pPr algn="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AR" sz="2400" b="1" dirty="0">
                <a:solidFill>
                  <a:schemeClr val="bg1"/>
                </a:solidFill>
              </a:rPr>
              <a:t>Belcan.com</a:t>
            </a:r>
            <a:endParaRPr lang="en-US" sz="2400" b="1" dirty="0"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2F5667-CE5B-120C-380F-678C096FAD4D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95325" y="3709988"/>
            <a:ext cx="3787775" cy="67786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s-AR" altLang="en-US" sz="4400" b="1">
                <a:solidFill>
                  <a:schemeClr val="accent1"/>
                </a:solidFill>
                <a:latin typeface="Arial Black" panose="020B0A04020102020204" pitchFamily="34" charset="0"/>
              </a:rPr>
              <a:t>THANK YOU</a:t>
            </a:r>
            <a:endParaRPr lang="en-US" altLang="en-US" sz="4400" b="1">
              <a:solidFill>
                <a:schemeClr val="accent1"/>
              </a:solidFill>
              <a:latin typeface="Arial Black" panose="020B0A04020102020204" pitchFamily="34" charset="0"/>
            </a:endParaRPr>
          </a:p>
        </p:txBody>
      </p:sp>
      <p:pic>
        <p:nvPicPr>
          <p:cNvPr id="4" name="Picture 4" descr="Purpose &amp; principles PPT 2.png">
            <a:extLst>
              <a:ext uri="{FF2B5EF4-FFF2-40B4-BE49-F238E27FC236}">
                <a16:creationId xmlns:a16="http://schemas.microsoft.com/office/drawing/2014/main" id="{46D4E8BB-AD1C-A1E8-223D-24B86B990B3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648700" y="3276600"/>
            <a:ext cx="3087688" cy="1212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hcSlideMaster.Thank You SlideHeader" descr=" ">
            <a:extLst>
              <a:ext uri="{FF2B5EF4-FFF2-40B4-BE49-F238E27FC236}">
                <a16:creationId xmlns:a16="http://schemas.microsoft.com/office/drawing/2014/main" id="{0BA0FA88-0FE3-196E-FEF7-C1256271ABF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6" name="fcSlideMaster.Thank You SlideFooter" descr=" ">
            <a:extLst>
              <a:ext uri="{FF2B5EF4-FFF2-40B4-BE49-F238E27FC236}">
                <a16:creationId xmlns:a16="http://schemas.microsoft.com/office/drawing/2014/main" id="{E40DC28D-0777-5350-09F1-18E83F9E760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910036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2" hidden="1">
            <a:extLst>
              <a:ext uri="{FF2B5EF4-FFF2-40B4-BE49-F238E27FC236}">
                <a16:creationId xmlns:a16="http://schemas.microsoft.com/office/drawing/2014/main" id="{920A949A-9641-2D5F-E932-01EC50A583E5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6" imgW="360" imgH="360" progId="TCLayout.ActiveDocument.1">
                  <p:embed/>
                </p:oleObj>
              </mc:Choice>
              <mc:Fallback>
                <p:oleObj name="think-cell Slide" r:id="rId6" imgW="360" imgH="360" progId="TCLayout.ActiveDocument.1">
                  <p:embed/>
                  <p:pic>
                    <p:nvPicPr>
                      <p:cNvPr id="5123" name="Object 2" hidden="1">
                        <a:extLst>
                          <a:ext uri="{FF2B5EF4-FFF2-40B4-BE49-F238E27FC236}">
                            <a16:creationId xmlns:a16="http://schemas.microsoft.com/office/drawing/2014/main" id="{FD3C687B-20BB-B94B-C3D8-30BAC96F2504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9FC0342D-A2E8-D410-05B0-8135E3CC221E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11342688" y="6513513"/>
            <a:ext cx="542925" cy="35083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cs typeface="Arial"/>
            </a:endParaRPr>
          </a:p>
        </p:txBody>
      </p:sp>
      <p:pic>
        <p:nvPicPr>
          <p:cNvPr id="6" name="Picture 4">
            <a:extLst>
              <a:ext uri="{FF2B5EF4-FFF2-40B4-BE49-F238E27FC236}">
                <a16:creationId xmlns:a16="http://schemas.microsoft.com/office/drawing/2014/main" id="{507EAE52-ED7C-039E-F134-7453006A005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201275" y="6513513"/>
            <a:ext cx="1141413" cy="3524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l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3"/>
          </p:nvPr>
        </p:nvSpPr>
        <p:spPr>
          <a:xfrm>
            <a:off x="508000" y="1219200"/>
            <a:ext cx="11379200" cy="452438"/>
          </a:xfrm>
        </p:spPr>
        <p:txBody>
          <a:bodyPr lIns="0">
            <a:normAutofit/>
          </a:bodyPr>
          <a:lstStyle>
            <a:lvl1pPr marL="0" indent="0">
              <a:buNone/>
              <a:defRPr sz="1800">
                <a:solidFill>
                  <a:schemeClr val="accent4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2DE81475-0E4A-A3CD-15F2-7CBFCBD8C58F}"/>
              </a:ext>
            </a:extLst>
          </p:cNvPr>
          <p:cNvSpPr>
            <a:spLocks noGrp="1"/>
          </p:cNvSpPr>
          <p:nvPr>
            <p:ph type="ftr" sz="quarter" idx="14"/>
            <p:custDataLst>
              <p:tags r:id="rId3"/>
            </p:custDataLst>
          </p:nvPr>
        </p:nvSpPr>
        <p:spPr>
          <a:xfrm>
            <a:off x="0" y="0"/>
            <a:ext cx="0" cy="0"/>
          </a:xfr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3A9157AA-27E1-5C1C-6CB4-6CD176EB7815}"/>
              </a:ext>
            </a:extLst>
          </p:cNvPr>
          <p:cNvSpPr>
            <a:spLocks noGrp="1"/>
          </p:cNvSpPr>
          <p:nvPr>
            <p:ph type="sldNum" sz="quarter" idx="15"/>
            <p:custDataLst>
              <p:tags r:id="rId4"/>
            </p:custDataLst>
          </p:nvPr>
        </p:nvSpPr>
        <p:spPr>
          <a:xfrm>
            <a:off x="11342688" y="6626225"/>
            <a:ext cx="542925" cy="131763"/>
          </a:xfr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89E7ACC-C495-45C7-BB8A-D2912D09B9D9}" type="slidenum">
              <a:rPr lang="es-AR" altLang="en-US"/>
              <a:pPr>
                <a:defRPr/>
              </a:pPr>
              <a:t>‹#›</a:t>
            </a:fld>
            <a:endParaRPr lang="es-AR" altLang="en-US"/>
          </a:p>
        </p:txBody>
      </p:sp>
      <p:sp>
        <p:nvSpPr>
          <p:cNvPr id="7" name="hcSlideMaster.1_Title and ContentHeader" descr=" ">
            <a:extLst>
              <a:ext uri="{FF2B5EF4-FFF2-40B4-BE49-F238E27FC236}">
                <a16:creationId xmlns:a16="http://schemas.microsoft.com/office/drawing/2014/main" id="{1915600B-5545-1EF0-E6A9-56A36431466B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9" name="fcSlideMaster.1_Title and ContentFooter" descr=" ">
            <a:extLst>
              <a:ext uri="{FF2B5EF4-FFF2-40B4-BE49-F238E27FC236}">
                <a16:creationId xmlns:a16="http://schemas.microsoft.com/office/drawing/2014/main" id="{24377476-82F4-ADCE-8376-8A58D6FAAB61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8795110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6030" y="457201"/>
            <a:ext cx="11199941" cy="675066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11"/>
          <p:cNvSpPr>
            <a:spLocks noGrp="1"/>
          </p:cNvSpPr>
          <p:nvPr>
            <p:ph type="body" sz="quarter" idx="18"/>
          </p:nvPr>
        </p:nvSpPr>
        <p:spPr>
          <a:xfrm>
            <a:off x="496029" y="1183066"/>
            <a:ext cx="11204664" cy="495066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cap="all" baseline="0">
                <a:solidFill>
                  <a:schemeClr val="bg1">
                    <a:lumMod val="50000"/>
                  </a:schemeClr>
                </a:solidFill>
                <a:latin typeface="Barlow ExtraBold" pitchFamily="2" charset="77"/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10"/>
          <p:cNvSpPr>
            <a:spLocks noGrp="1"/>
          </p:cNvSpPr>
          <p:nvPr>
            <p:ph type="body" sz="quarter" idx="19"/>
          </p:nvPr>
        </p:nvSpPr>
        <p:spPr>
          <a:xfrm>
            <a:off x="496030" y="1728931"/>
            <a:ext cx="11199941" cy="4443270"/>
          </a:xfrm>
        </p:spPr>
        <p:txBody>
          <a:bodyPr lIns="0" tIns="0" rIns="0" bIns="0"/>
          <a:lstStyle>
            <a:lvl1pPr>
              <a:defRPr sz="2400"/>
            </a:lvl1pPr>
            <a:lvl2pPr marL="685663" marR="0" indent="-228554" algn="l" defTabSz="91421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Pct val="80000"/>
              <a:buFont typeface=".AppleSystemUIFont"/>
              <a:buChar char="-"/>
              <a:tabLst/>
              <a:defRPr/>
            </a:lvl2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BA4B855-6D8E-4F4E-2B27-FB8DF8EEBEF3}"/>
              </a:ext>
            </a:extLst>
          </p:cNvPr>
          <p:cNvSpPr>
            <a:spLocks noGrp="1"/>
          </p:cNvSpPr>
          <p:nvPr>
            <p:ph type="dt" sz="half" idx="20"/>
          </p:nvPr>
        </p:nvSpPr>
        <p:spPr>
          <a:xfrm>
            <a:off x="0" y="0"/>
            <a:ext cx="0" cy="0"/>
          </a:xfr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fld id="{F4A2603D-B5BA-45A7-8ADE-B68B0FC5AE6C}" type="datetime3">
              <a:rPr lang="en-US"/>
              <a:pPr>
                <a:defRPr/>
              </a:pPr>
              <a:t>1 September 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C7E28E-5579-CAD5-6F6F-876A35EBCA61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>
          <a:xfrm>
            <a:off x="0" y="0"/>
            <a:ext cx="0" cy="0"/>
          </a:xfr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r>
              <a:rPr lang="en-US"/>
              <a:t>Proprietary &amp; Confidential | Customize footer text under Home &gt; Insert &gt; Header and Footer</a:t>
            </a:r>
            <a:endParaRPr lang="en-US" dirty="0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FF557EBB-7561-A327-2E0E-318AFE9ABA72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>
          <a:xfrm>
            <a:off x="11228388" y="6356350"/>
            <a:ext cx="468312" cy="365125"/>
          </a:xfrm>
          <a:prstGeom prst="rect">
            <a:avLst/>
          </a:prstGeom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eaLnBrk="1" hangingPunct="1">
              <a:defRPr/>
            </a:lvl1pPr>
          </a:lstStyle>
          <a:p>
            <a:pPr>
              <a:defRPr/>
            </a:pPr>
            <a:fld id="{DB8DF716-EA0E-4412-80E4-FDA1B3962B87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3" name="hcSlideMaster.1 ColumnHeader" descr=" ">
            <a:extLst>
              <a:ext uri="{FF2B5EF4-FFF2-40B4-BE49-F238E27FC236}">
                <a16:creationId xmlns:a16="http://schemas.microsoft.com/office/drawing/2014/main" id="{B228FA16-0987-3567-2B38-C145F35271EE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4" name="fcSlideMaster.1 ColumnFooter" descr=" ">
            <a:extLst>
              <a:ext uri="{FF2B5EF4-FFF2-40B4-BE49-F238E27FC236}">
                <a16:creationId xmlns:a16="http://schemas.microsoft.com/office/drawing/2014/main" id="{43DE6FB4-96AE-3A8B-CFDD-F17C516E4F64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727599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Layout 1 - Title, Sub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2" hidden="1">
            <a:extLst>
              <a:ext uri="{FF2B5EF4-FFF2-40B4-BE49-F238E27FC236}">
                <a16:creationId xmlns:a16="http://schemas.microsoft.com/office/drawing/2014/main" id="{D53A8410-8A7D-2046-830B-9C9A397FDA0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8195" name="Object 2" hidden="1">
                        <a:extLst>
                          <a:ext uri="{FF2B5EF4-FFF2-40B4-BE49-F238E27FC236}">
                            <a16:creationId xmlns:a16="http://schemas.microsoft.com/office/drawing/2014/main" id="{4EFECE96-FB42-7C76-1BC4-F04D47A5EEB2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96F5FFF-9DCB-F57A-144E-9C5CFA22034E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0C179704-AC9F-B5B4-7A2B-54F1CBDE24C5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395288" y="6584950"/>
            <a:ext cx="8240712" cy="2159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pic>
        <p:nvPicPr>
          <p:cNvPr id="9" name="Picture 5" descr="Purpose &amp; principles PPT 2.png">
            <a:extLst>
              <a:ext uri="{FF2B5EF4-FFF2-40B4-BE49-F238E27FC236}">
                <a16:creationId xmlns:a16="http://schemas.microsoft.com/office/drawing/2014/main" id="{51BB7C9D-805C-A9E3-7F29-75437C0BB7F0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Picture 6" descr="Purpose &amp; principles PPT.png">
            <a:extLst>
              <a:ext uri="{FF2B5EF4-FFF2-40B4-BE49-F238E27FC236}">
                <a16:creationId xmlns:a16="http://schemas.microsoft.com/office/drawing/2014/main" id="{4A549EA2-D760-58AA-3107-A35416BAC1D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1455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5816" y="1989138"/>
            <a:ext cx="11341101" cy="436562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3"/>
          </p:nvPr>
        </p:nvSpPr>
        <p:spPr>
          <a:xfrm>
            <a:off x="395818" y="1538289"/>
            <a:ext cx="11339925" cy="360712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>
                <a:solidFill>
                  <a:schemeClr val="accent4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4"/>
          </p:nvPr>
        </p:nvSpPr>
        <p:spPr>
          <a:xfrm>
            <a:off x="395817" y="6440102"/>
            <a:ext cx="11341099" cy="138499"/>
          </a:xfrm>
          <a:prstGeom prst="rect">
            <a:avLst/>
          </a:prstGeom>
        </p:spPr>
        <p:txBody>
          <a:bodyPr wrap="square" lIns="0" tIns="0" rIns="0" bIns="0" anchor="b">
            <a:spAutoFit/>
          </a:bodyPr>
          <a:lstStyle>
            <a:lvl1pPr marL="0" indent="0">
              <a:buNone/>
              <a:defRPr sz="900">
                <a:solidFill>
                  <a:schemeClr val="bg1">
                    <a:lumMod val="50000"/>
                  </a:schemeClr>
                </a:solidFill>
              </a:defRPr>
            </a:lvl1pPr>
            <a:lvl2pPr>
              <a:defRPr sz="8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4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5013855" y="398463"/>
            <a:ext cx="6722533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 marL="0" indent="0" algn="r" defTabSz="914400" rtl="0" eaLnBrk="1" latinLnBrk="0" hangingPunct="1">
              <a:buNone/>
              <a:defRPr lang="en-US" sz="1800" kern="1200" dirty="0">
                <a:solidFill>
                  <a:srgbClr val="011C32"/>
                </a:solidFill>
                <a:latin typeface="Arial"/>
                <a:ea typeface="+mn-ea"/>
                <a:cs typeface="Arial"/>
              </a:defRPr>
            </a:lvl1pPr>
          </a:lstStyle>
          <a:p>
            <a:pPr lvl="0"/>
            <a:r>
              <a:rPr lang="en-US" dirty="0"/>
              <a:t>Click to edit Master</a:t>
            </a:r>
          </a:p>
        </p:txBody>
      </p:sp>
      <p:sp>
        <p:nvSpPr>
          <p:cNvPr id="13" name="Slide Number Placeholder 1">
            <a:extLst>
              <a:ext uri="{FF2B5EF4-FFF2-40B4-BE49-F238E27FC236}">
                <a16:creationId xmlns:a16="http://schemas.microsoft.com/office/drawing/2014/main" id="{EF6118B1-6479-5C3A-1BDD-18614384E39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520488" y="6492875"/>
            <a:ext cx="671512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solidFill>
                  <a:srgbClr val="898989"/>
                </a:solidFill>
              </a:defRPr>
            </a:lvl1pPr>
          </a:lstStyle>
          <a:p>
            <a:pPr>
              <a:defRPr/>
            </a:pPr>
            <a:fld id="{E6F9664B-027D-4AEE-9671-4928BEA61568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1" name="hcSlideMaster.3_Layout 1 - Title, Subtitle and ContentHeader" descr=" ">
            <a:extLst>
              <a:ext uri="{FF2B5EF4-FFF2-40B4-BE49-F238E27FC236}">
                <a16:creationId xmlns:a16="http://schemas.microsoft.com/office/drawing/2014/main" id="{94E5FAC6-9A0A-44F8-B9B3-D4501D93AD7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2" name="fcSlideMaster.3_Layout 1 - Title, Subtitle and ContentFooter" descr=" ">
            <a:extLst>
              <a:ext uri="{FF2B5EF4-FFF2-40B4-BE49-F238E27FC236}">
                <a16:creationId xmlns:a16="http://schemas.microsoft.com/office/drawing/2014/main" id="{A97D2C51-3152-88B0-1B22-941262CECD81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8838530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Divider 1">
    <p:bg>
      <p:bgPr>
        <a:solidFill>
          <a:schemeClr val="bg1">
            <a:alpha val="90195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 descr="aerospace engineering reviewing specifications on laptop">
            <a:extLst>
              <a:ext uri="{FF2B5EF4-FFF2-40B4-BE49-F238E27FC236}">
                <a16:creationId xmlns:a16="http://schemas.microsoft.com/office/drawing/2014/main" id="{6CF2200A-7965-A251-2FC7-3DB369B6FBAC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5029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831013A9-9FBD-7644-61FF-9DDB201427EA}"/>
              </a:ext>
            </a:extLst>
          </p:cNvPr>
          <p:cNvSpPr/>
          <p:nvPr userDrawn="1"/>
        </p:nvSpPr>
        <p:spPr>
          <a:xfrm>
            <a:off x="0" y="4714875"/>
            <a:ext cx="12192000" cy="128587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A7C041D6-A600-9DE5-86C4-03E906F6836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3175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360" imgH="360" progId="TCLayout.ActiveDocument.1">
                  <p:embed/>
                </p:oleObj>
              </mc:Choice>
              <mc:Fallback>
                <p:oleObj name="think-cell Slide" r:id="rId5" imgW="360" imgH="360" progId="TCLayout.ActiveDocument.1">
                  <p:embed/>
                  <p:pic>
                    <p:nvPicPr>
                      <p:cNvPr id="10244" name="Object 3" hidden="1">
                        <a:extLst>
                          <a:ext uri="{FF2B5EF4-FFF2-40B4-BE49-F238E27FC236}">
                            <a16:creationId xmlns:a16="http://schemas.microsoft.com/office/drawing/2014/main" id="{19D95245-B891-C7CD-1861-1B8BA77DB572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8" y="1588"/>
                        <a:ext cx="3175" cy="15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Do not remove" hidden="1">
            <a:extLst>
              <a:ext uri="{FF2B5EF4-FFF2-40B4-BE49-F238E27FC236}">
                <a16:creationId xmlns:a16="http://schemas.microsoft.com/office/drawing/2014/main" id="{8B2067C8-39F1-F65C-8D0E-5A7657CB6BCA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7463" cy="12700"/>
          </a:xfrm>
          <a:prstGeom prst="octagon">
            <a:avLst/>
          </a:prstGeom>
          <a:noFill/>
          <a:ln w="25400" cap="flat" cmpd="sng" algn="ctr">
            <a:noFill/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 sz="195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18A159E-64D9-393E-C348-B4CE33A50B31}"/>
              </a:ext>
            </a:extLst>
          </p:cNvPr>
          <p:cNvSpPr/>
          <p:nvPr userDrawn="1"/>
        </p:nvSpPr>
        <p:spPr>
          <a:xfrm>
            <a:off x="0" y="4711700"/>
            <a:ext cx="12192000" cy="84138"/>
          </a:xfrm>
          <a:prstGeom prst="rect">
            <a:avLst/>
          </a:prstGeom>
          <a:solidFill>
            <a:srgbClr val="186B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235CF18-49A8-8E1A-2AEC-9E1217ACA9C6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0" y="1981200"/>
            <a:ext cx="2379663" cy="936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A9398C1-6466-6836-4718-870188C345F9}"/>
              </a:ext>
            </a:extLst>
          </p:cNvPr>
          <p:cNvCxnSpPr/>
          <p:nvPr userDrawn="1"/>
        </p:nvCxnSpPr>
        <p:spPr>
          <a:xfrm>
            <a:off x="1695450" y="5445125"/>
            <a:ext cx="6604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itle 8"/>
          <p:cNvSpPr>
            <a:spLocks noGrp="1"/>
          </p:cNvSpPr>
          <p:nvPr>
            <p:ph type="title"/>
          </p:nvPr>
        </p:nvSpPr>
        <p:spPr>
          <a:xfrm>
            <a:off x="2356222" y="5014045"/>
            <a:ext cx="9394363" cy="8713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0" rIns="91440" bIns="0" anchor="ctr">
            <a:noAutofit/>
          </a:bodyPr>
          <a:lstStyle>
            <a:lvl1pPr marL="0" algn="l" defTabSz="914377" rtl="0" eaLnBrk="1" latinLnBrk="0" hangingPunct="1">
              <a:lnSpc>
                <a:spcPct val="100000"/>
              </a:lnSpc>
              <a:defRPr lang="en-US" sz="1600" b="1" kern="1200" cap="all" baseline="0" dirty="0">
                <a:solidFill>
                  <a:schemeClr val="bg1"/>
                </a:solidFill>
                <a:latin typeface="+mj-lt"/>
                <a:ea typeface="+mn-ea"/>
                <a:cs typeface="Dreaming Outloud Script Pro" panose="020B0604020202020204" pitchFamily="66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hcSlideMaster.Divider 1Header" descr=" ">
            <a:extLst>
              <a:ext uri="{FF2B5EF4-FFF2-40B4-BE49-F238E27FC236}">
                <a16:creationId xmlns:a16="http://schemas.microsoft.com/office/drawing/2014/main" id="{2C1E635C-C015-3BA3-32CF-77754B0010BF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Divider 1Footer" descr=" ">
            <a:extLst>
              <a:ext uri="{FF2B5EF4-FFF2-40B4-BE49-F238E27FC236}">
                <a16:creationId xmlns:a16="http://schemas.microsoft.com/office/drawing/2014/main" id="{D07816B1-6DE0-6C9C-157C-B661009C5397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5110805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ags" Target="../tags/tag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1.emf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oleObject" Target="../embeddings/oleObject1.bin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26" name="Object 9" hidden="1">
            <a:extLst>
              <a:ext uri="{FF2B5EF4-FFF2-40B4-BE49-F238E27FC236}">
                <a16:creationId xmlns:a16="http://schemas.microsoft.com/office/drawing/2014/main" id="{7208E0D4-98E9-DD31-1ADD-B670E23C418E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8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9" imgW="360" imgH="360" progId="TCLayout.ActiveDocument.1">
                  <p:embed/>
                </p:oleObj>
              </mc:Choice>
              <mc:Fallback>
                <p:oleObj name="think-cell Slide" r:id="rId19" imgW="360" imgH="360" progId="TCLayout.ActiveDocument.1">
                  <p:embed/>
                  <p:pic>
                    <p:nvPicPr>
                      <p:cNvPr id="0" name="Object 9" hidden="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 bg1="lt1" tx1="dk1" bg2="lt2" tx2="dk2" accent1="accent1" accent2="accent2" accent3="accent3" accent4="accent4" accent5="accent5" accent6="accent6" hlink="hlink" folHlink="folHlink"/>
  <p:sldLayoutIdLst>
    <p:sldLayoutId id="2147484792" r:id="rId1"/>
    <p:sldLayoutId id="2147484793" r:id="rId2"/>
    <p:sldLayoutId id="2147484806" r:id="rId3"/>
    <p:sldLayoutId id="2147484807" r:id="rId4"/>
    <p:sldLayoutId id="2147484808" r:id="rId5"/>
    <p:sldLayoutId id="2147484801" r:id="rId6"/>
    <p:sldLayoutId id="2147484802" r:id="rId7"/>
    <p:sldLayoutId id="2147484809" r:id="rId8"/>
    <p:sldLayoutId id="2147484803" r:id="rId9"/>
    <p:sldLayoutId id="2147484804" r:id="rId10"/>
    <p:sldLayoutId id="2147484810" r:id="rId11"/>
    <p:sldLayoutId id="2147484794" r:id="rId12"/>
    <p:sldLayoutId id="2147484795" r:id="rId13"/>
    <p:sldLayoutId id="2147484796" r:id="rId14"/>
    <p:sldLayoutId id="2147484798" r:id="rId15"/>
    <p:sldLayoutId id="2147484800" r:id="rId16"/>
  </p:sldLayoutIdLst>
  <p:hf sldNum="0" hdr="0" ft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lang="en-US" sz="20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1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1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6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6.jpeg"/><Relationship Id="rId4" Type="http://schemas.openxmlformats.org/officeDocument/2006/relationships/image" Target="../media/image1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35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39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51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10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55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58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5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5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73.png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5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8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80.png"/><Relationship Id="rId4" Type="http://schemas.openxmlformats.org/officeDocument/2006/relationships/image" Target="../media/image79.png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83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8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8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6.png"/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8.png"/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3594AB9-2C9A-954E-9F92-62EFB7D09B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84130" y="4947338"/>
            <a:ext cx="9394825" cy="871538"/>
          </a:xfrm>
        </p:spPr>
        <p:txBody>
          <a:bodyPr/>
          <a:lstStyle/>
          <a:p>
            <a:pPr>
              <a:defRPr/>
            </a:pPr>
            <a:r>
              <a:rPr dirty="0"/>
              <a:t>Chapter 1 </a:t>
            </a:r>
            <a:r>
              <a:rPr lang="en-US" altLang="en-US" dirty="0"/>
              <a:t>The Basics</a:t>
            </a:r>
            <a:endParaRPr dirty="0"/>
          </a:p>
        </p:txBody>
      </p:sp>
      <p:sp>
        <p:nvSpPr>
          <p:cNvPr id="14339" name="TextBox 3">
            <a:extLst>
              <a:ext uri="{FF2B5EF4-FFF2-40B4-BE49-F238E27FC236}">
                <a16:creationId xmlns:a16="http://schemas.microsoft.com/office/drawing/2014/main" id="{5987A8B9-2167-D53B-8086-29D2671D85C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917342" y="5310188"/>
            <a:ext cx="2684517" cy="430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/>
            <a:r>
              <a:rPr lang="en-US" altLang="en-US" sz="1400" b="1" dirty="0">
                <a:solidFill>
                  <a:schemeClr val="bg1"/>
                </a:solidFill>
              </a:rPr>
              <a:t>How to Use MATLAB/SIMULINK</a:t>
            </a:r>
          </a:p>
          <a:p>
            <a:pPr algn="ctr"/>
            <a:r>
              <a:rPr lang="en-US" altLang="en-US" sz="1400" b="1" dirty="0">
                <a:solidFill>
                  <a:schemeClr val="bg1"/>
                </a:solidFill>
              </a:rPr>
              <a:t>09 September 2026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08D16E5-FC70-4956-3DB3-2BE8C99241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65" y="2019503"/>
            <a:ext cx="4637020" cy="8715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978E31C-38C2-F6ED-D037-C3E408D0FD4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Simulink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9EA7C0-0E57-D7BE-A136-2E1865F80C7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MATLAB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B021B32-8A88-1517-3AA4-EBB431004AF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What is MATLAB and Simulink?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F7FE4CC-3FAC-FA81-E419-C9CF594452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649223"/>
          </a:xfrm>
        </p:spPr>
        <p:txBody>
          <a:bodyPr/>
          <a:lstStyle/>
          <a:p>
            <a:r>
              <a:rPr lang="en-US" dirty="0"/>
              <a:t>What is MATLAB and Simulink?</a:t>
            </a:r>
            <a:br>
              <a:rPr lang="en-US" sz="3600" b="0" i="1" dirty="0">
                <a:solidFill>
                  <a:srgbClr val="0B1F33"/>
                </a:solidFill>
                <a:latin typeface="Aptos"/>
                <a:ea typeface="Aptos"/>
                <a:cs typeface="Aptos"/>
              </a:rPr>
            </a:br>
            <a:r>
              <a:rPr lang="en-US" sz="1400" b="0" i="1" dirty="0">
                <a:solidFill>
                  <a:srgbClr val="17324A"/>
                </a:solidFill>
                <a:latin typeface="Aptos"/>
                <a:ea typeface="Aptos"/>
                <a:cs typeface="Aptos"/>
              </a:rPr>
              <a:t>MATLAB and Simulink provide a unified environment for model-based development, simulation, and verification of complex engineering systems.</a:t>
            </a:r>
            <a:endParaRPr lang="en-US" sz="1400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4392E0B-4393-7176-D5FA-886403E421C6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r>
              <a:rPr lang="en-US" dirty="0"/>
              <a:t>Numerical computing, analysis, and algorithm development.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FE23897C-2DAD-DF99-DD6F-0B5E873A695E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en-US" dirty="0"/>
              <a:t>Graphical modeling and simulation of dynamic systems.</a:t>
            </a:r>
          </a:p>
        </p:txBody>
      </p:sp>
      <p:pic>
        <p:nvPicPr>
          <p:cNvPr id="11" name="Content Placeholder 9">
            <a:extLst>
              <a:ext uri="{FF2B5EF4-FFF2-40B4-BE49-F238E27FC236}">
                <a16:creationId xmlns:a16="http://schemas.microsoft.com/office/drawing/2014/main" id="{DC21BC19-A3FF-ADEF-AC92-2B1A01941D1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8957" y="3192463"/>
            <a:ext cx="5157174" cy="3217862"/>
          </a:xfrm>
          <a:prstGeom prst="rect">
            <a:avLst/>
          </a:prstGeom>
        </p:spPr>
      </p:pic>
      <p:pic>
        <p:nvPicPr>
          <p:cNvPr id="13" name="Content Placeholder 11">
            <a:extLst>
              <a:ext uri="{FF2B5EF4-FFF2-40B4-BE49-F238E27FC236}">
                <a16:creationId xmlns:a16="http://schemas.microsoft.com/office/drawing/2014/main" id="{6CB1E81D-46BC-7BB7-55D7-6307B0DA6175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tretch>
            <a:fillRect/>
          </a:stretch>
        </p:blipFill>
        <p:spPr>
          <a:xfrm>
            <a:off x="6113463" y="3192463"/>
            <a:ext cx="5622925" cy="3217862"/>
          </a:xfrm>
          <a:prstGeom prst="rect">
            <a:avLst/>
          </a:prstGeom>
        </p:spPr>
      </p:pic>
      <p:pic>
        <p:nvPicPr>
          <p:cNvPr id="15" name="Picture 14" descr="MATLAB Logo, symbol, meaning, history, PNG, brand">
            <a:extLst>
              <a:ext uri="{FF2B5EF4-FFF2-40B4-BE49-F238E27FC236}">
                <a16:creationId xmlns:a16="http://schemas.microsoft.com/office/drawing/2014/main" id="{9747FE6E-CA9C-F29C-CB51-C3F96B2C1C3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27097" r="65520" b="27886"/>
          <a:stretch>
            <a:fillRect/>
          </a:stretch>
        </p:blipFill>
        <p:spPr>
          <a:xfrm>
            <a:off x="1695657" y="1848159"/>
            <a:ext cx="779850" cy="572729"/>
          </a:xfrm>
          <a:prstGeom prst="rect">
            <a:avLst/>
          </a:prstGeom>
        </p:spPr>
      </p:pic>
      <p:pic>
        <p:nvPicPr>
          <p:cNvPr id="17" name="Picture 16" descr="Logotipo De Simulink De Matlab MATLAB® And Simulink® | Microchip">
            <a:extLst>
              <a:ext uri="{FF2B5EF4-FFF2-40B4-BE49-F238E27FC236}">
                <a16:creationId xmlns:a16="http://schemas.microsoft.com/office/drawing/2014/main" id="{78B1D84A-992E-6675-1A93-9DE876134A5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10126" y="1871893"/>
            <a:ext cx="525259" cy="525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38699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375A9C-B21F-B38B-3502-4636ED670B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A7B20CA-58FF-AEB0-87F6-A37AEEE1289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Simulink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EE1638-BF47-BE36-C601-85E440C65F2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MATLAB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8351350-A8BF-681B-53F2-80727248E90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What are some useful commands for MATLAB and Simulink?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F518CF53-993E-CFE4-39CA-1E28C731BB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649223"/>
          </a:xfrm>
        </p:spPr>
        <p:txBody>
          <a:bodyPr/>
          <a:lstStyle/>
          <a:p>
            <a:r>
              <a:rPr lang="en-US" dirty="0"/>
              <a:t>What are some useful commands for MATLAB and Simulink?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AFA8D9D-0A3E-C11D-0DC6-608DD322454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r>
              <a:rPr lang="en-US" dirty="0"/>
              <a:t>What are some useful commands?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76EAB3D3-D37C-6958-5669-E969D46C5CA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en-US" dirty="0"/>
              <a:t>What are some useful shortcuts?</a:t>
            </a:r>
          </a:p>
        </p:txBody>
      </p:sp>
      <p:pic>
        <p:nvPicPr>
          <p:cNvPr id="15" name="Picture 14" descr="MATLAB Logo, symbol, meaning, history, PNG, brand">
            <a:extLst>
              <a:ext uri="{FF2B5EF4-FFF2-40B4-BE49-F238E27FC236}">
                <a16:creationId xmlns:a16="http://schemas.microsoft.com/office/drawing/2014/main" id="{39EFD516-368B-342D-3536-58C10602E3F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7097" r="65520" b="27886"/>
          <a:stretch>
            <a:fillRect/>
          </a:stretch>
        </p:blipFill>
        <p:spPr>
          <a:xfrm>
            <a:off x="1695657" y="1848159"/>
            <a:ext cx="779850" cy="572729"/>
          </a:xfrm>
          <a:prstGeom prst="rect">
            <a:avLst/>
          </a:prstGeom>
        </p:spPr>
      </p:pic>
      <p:pic>
        <p:nvPicPr>
          <p:cNvPr id="17" name="Picture 16" descr="Logotipo De Simulink De Matlab MATLAB® And Simulink® | Microchip">
            <a:extLst>
              <a:ext uri="{FF2B5EF4-FFF2-40B4-BE49-F238E27FC236}">
                <a16:creationId xmlns:a16="http://schemas.microsoft.com/office/drawing/2014/main" id="{D196EAA9-D59B-F616-4735-805961161A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0126" y="1871893"/>
            <a:ext cx="525259" cy="525259"/>
          </a:xfrm>
          <a:prstGeom prst="rect">
            <a:avLst/>
          </a:prstGeom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25AD302-DF14-EADF-F91A-A5FECCDC2690}"/>
              </a:ext>
            </a:extLst>
          </p:cNvPr>
          <p:cNvSpPr>
            <a:spLocks noGrp="1"/>
          </p:cNvSpPr>
          <p:nvPr>
            <p:ph idx="15"/>
          </p:nvPr>
        </p:nvSpPr>
        <p:spPr/>
        <p:txBody>
          <a:bodyPr/>
          <a:lstStyle/>
          <a:p>
            <a:r>
              <a:rPr lang="en-US" dirty="0"/>
              <a:t>Save			CTRL + S</a:t>
            </a:r>
          </a:p>
          <a:p>
            <a:r>
              <a:rPr lang="en-US" dirty="0"/>
              <a:t>Cancel Action 		CTRL + C	</a:t>
            </a:r>
          </a:p>
          <a:p>
            <a:r>
              <a:rPr lang="en-US" dirty="0"/>
              <a:t>Compile		CTRL + D</a:t>
            </a:r>
          </a:p>
          <a:p>
            <a:r>
              <a:rPr lang="en-US" dirty="0"/>
              <a:t>Build			CTRL + B</a:t>
            </a:r>
          </a:p>
          <a:p>
            <a:r>
              <a:rPr lang="en-US" dirty="0"/>
              <a:t>Run Sim		CTRL + T</a:t>
            </a:r>
          </a:p>
          <a:p>
            <a:endParaRPr lang="en-US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24DC3BBA-95F9-FAE3-9F55-055808976A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Clear workspace	clear</a:t>
            </a:r>
          </a:p>
          <a:p>
            <a:r>
              <a:rPr lang="en-US" dirty="0"/>
              <a:t>Clean window		</a:t>
            </a:r>
            <a:r>
              <a:rPr lang="en-US" dirty="0" err="1"/>
              <a:t>clc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44267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7886766-355D-FAB3-7FBD-0DD4D63364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What does success look like?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2608F93-F47F-FA51-3F4B-69DE4430E3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Success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21B8FD5-671E-7696-712F-662D72BB1F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Open MATLAB &amp; SIMULINK</a:t>
            </a:r>
          </a:p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Create a new Simulink Model</a:t>
            </a:r>
          </a:p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blocks</a:t>
            </a:r>
          </a:p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Run a simulation</a:t>
            </a:r>
          </a:p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Data inspector</a:t>
            </a:r>
          </a:p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Model Explorer</a:t>
            </a:r>
          </a:p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Requirements editor</a:t>
            </a:r>
          </a:p>
        </p:txBody>
      </p:sp>
    </p:spTree>
    <p:extLst>
      <p:ext uri="{BB962C8B-B14F-4D97-AF65-F5344CB8AC3E}">
        <p14:creationId xmlns:p14="http://schemas.microsoft.com/office/powerpoint/2010/main" val="34274412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4963B64-B630-E99F-CACB-4FF0530A36C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What are some useful Simulink shortcuts?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EC295D0-F612-E2FB-F8C0-E2EB3218A0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Simulink Shortcuts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828FB22-ECB0-39B1-1204-0770D16223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Save			CTRL + S</a:t>
            </a:r>
          </a:p>
          <a:p>
            <a:r>
              <a:rPr lang="en-US" dirty="0"/>
              <a:t>Cancel Action 		CTRL + C	</a:t>
            </a:r>
          </a:p>
          <a:p>
            <a:r>
              <a:rPr lang="en-US" dirty="0"/>
              <a:t>Compile		CTRL + D</a:t>
            </a:r>
          </a:p>
          <a:p>
            <a:r>
              <a:rPr lang="en-US" dirty="0"/>
              <a:t>Build			CTRL + B</a:t>
            </a:r>
          </a:p>
          <a:p>
            <a:r>
              <a:rPr lang="en-US" dirty="0"/>
              <a:t>Run Sim		CTRL + T</a:t>
            </a:r>
          </a:p>
        </p:txBody>
      </p:sp>
    </p:spTree>
    <p:extLst>
      <p:ext uri="{BB962C8B-B14F-4D97-AF65-F5344CB8AC3E}">
        <p14:creationId xmlns:p14="http://schemas.microsoft.com/office/powerpoint/2010/main" val="3563659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69C3D62-E170-20C9-A762-81F86C91261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Final Model(s)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8B440D6-4257-B20F-9554-6BCBB4FA7A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solidFill>
                  <a:srgbClr val="0B1F33"/>
                </a:solidFill>
                <a:latin typeface="Aptos"/>
                <a:ea typeface="Aptos"/>
                <a:cs typeface="Aptos"/>
              </a:rPr>
              <a:t>simpleDemo.slx</a:t>
            </a:r>
            <a:br>
              <a:rPr lang="en-US" dirty="0">
                <a:solidFill>
                  <a:srgbClr val="0B1F33"/>
                </a:solidFill>
                <a:latin typeface="Aptos"/>
                <a:ea typeface="Aptos"/>
                <a:cs typeface="Aptos"/>
              </a:rPr>
            </a:br>
            <a:r>
              <a:rPr lang="en-US" sz="1400" b="0" i="1" dirty="0">
                <a:solidFill>
                  <a:srgbClr val="FF0000"/>
                </a:solidFill>
                <a:latin typeface="Aptos"/>
              </a:rPr>
              <a:t>Note: Scopes are not used in Rolls Royce models. I ONLY used a scope because it was the first sink I thought of for this Chapter 1 walkthrough.</a:t>
            </a:r>
            <a:endParaRPr lang="en-US" sz="1400" dirty="0">
              <a:solidFill>
                <a:srgbClr val="FF0000"/>
              </a:solidFill>
            </a:endParaRPr>
          </a:p>
        </p:txBody>
      </p:sp>
      <p:pic>
        <p:nvPicPr>
          <p:cNvPr id="8" name="Content Placeholder 4">
            <a:extLst>
              <a:ext uri="{FF2B5EF4-FFF2-40B4-BE49-F238E27FC236}">
                <a16:creationId xmlns:a16="http://schemas.microsoft.com/office/drawing/2014/main" id="{0C400D79-1803-58F5-C997-28612DF7077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64500" y="1838325"/>
            <a:ext cx="8402675" cy="45164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70935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525BDFB-94C2-A959-29C1-318ED12D82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Open MATLAB &amp; SIMULINK</a:t>
            </a:r>
          </a:p>
        </p:txBody>
      </p:sp>
    </p:spTree>
    <p:extLst>
      <p:ext uri="{BB962C8B-B14F-4D97-AF65-F5344CB8AC3E}">
        <p14:creationId xmlns:p14="http://schemas.microsoft.com/office/powerpoint/2010/main" val="2009856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B402783-68BA-C9C0-1AC5-61F64EFA968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Open MATLAB &amp; SIMULINK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F6A2E9F-D28F-AE5F-E71B-CCD9CD8448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MATLAB</a:t>
            </a:r>
          </a:p>
        </p:txBody>
      </p:sp>
      <p:pic>
        <p:nvPicPr>
          <p:cNvPr id="7" name="Content Placeholder 7">
            <a:extLst>
              <a:ext uri="{FF2B5EF4-FFF2-40B4-BE49-F238E27FC236}">
                <a16:creationId xmlns:a16="http://schemas.microsoft.com/office/drawing/2014/main" id="{68E633BC-D912-875C-0557-4C3E80DAEAE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65414" y="3186007"/>
            <a:ext cx="3200847" cy="1514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05397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F9490F-4813-44BC-B6D3-A250E71524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E002A99-A321-FE5D-D57A-865F7F7A5AB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Open MATLAB &amp; SIMULINK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104A3B1-04A3-5A6B-8091-AFEFD494A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Review the MATLAB Window Layout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48983052-63F9-5116-2FF5-7171F5374A7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9489" y="1531938"/>
            <a:ext cx="8972697" cy="4822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53429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D559982-691B-FA14-9CB8-071C504544C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b="0" dirty="0"/>
              <a:t>Step 2. Navigate to Chapter 1 folder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CD61AAE-F74F-9488-E10F-A925F709EF8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b="0" dirty="0"/>
              <a:t>Step 1. Navigate to training folder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E1F6A0C-64C0-D84B-4383-4BE4E3A4CCF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Open MATLAB &amp; SIMULINK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CA6CEE0-422F-9D95-D87E-FD915189CD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Navigate to training folder</a:t>
            </a:r>
          </a:p>
        </p:txBody>
      </p:sp>
      <p:pic>
        <p:nvPicPr>
          <p:cNvPr id="14" name="Content Placeholder 4">
            <a:extLst>
              <a:ext uri="{FF2B5EF4-FFF2-40B4-BE49-F238E27FC236}">
                <a16:creationId xmlns:a16="http://schemas.microsoft.com/office/drawing/2014/main" id="{EBC2390E-A214-51AE-1C7F-7F1B3B157B7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8140" b="53247"/>
          <a:stretch>
            <a:fillRect/>
          </a:stretch>
        </p:blipFill>
        <p:spPr>
          <a:xfrm>
            <a:off x="395288" y="2896423"/>
            <a:ext cx="5624512" cy="3376553"/>
          </a:xfrm>
          <a:prstGeom prst="rect">
            <a:avLst/>
          </a:prstGeom>
        </p:spPr>
      </p:pic>
      <p:pic>
        <p:nvPicPr>
          <p:cNvPr id="16" name="Content Placeholder 13">
            <a:extLst>
              <a:ext uri="{FF2B5EF4-FFF2-40B4-BE49-F238E27FC236}">
                <a16:creationId xmlns:a16="http://schemas.microsoft.com/office/drawing/2014/main" id="{F6057ABE-AB24-A50B-CCFC-69C0534643D9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2393" b="59936"/>
          <a:stretch>
            <a:fillRect/>
          </a:stretch>
        </p:blipFill>
        <p:spPr>
          <a:xfrm>
            <a:off x="6113463" y="2896423"/>
            <a:ext cx="5622925" cy="32197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22997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9DFB6-62FA-C697-2982-FEA9648454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2D27DD5-B0EE-7BCF-19AD-3A8BF72665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Create a new Simulink Model</a:t>
            </a:r>
          </a:p>
        </p:txBody>
      </p:sp>
    </p:spTree>
    <p:extLst>
      <p:ext uri="{BB962C8B-B14F-4D97-AF65-F5344CB8AC3E}">
        <p14:creationId xmlns:p14="http://schemas.microsoft.com/office/powerpoint/2010/main" val="158697345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1EB3153-E9D3-6B78-8C05-BA55FE0D0EB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Create a new Simulink Model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27EDF59-33EB-340F-6A8D-BA6AD96A24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Success in this section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61C9318-A0AB-00FD-A7EA-8A4E31D282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Create a new Simulink Model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Creating File (</a:t>
            </a:r>
            <a:r>
              <a:rPr lang="en-US" sz="1800" i="1" dirty="0" err="1"/>
              <a:t>slx</a:t>
            </a:r>
            <a:r>
              <a:rPr lang="en-US" sz="1800" i="1" dirty="0"/>
              <a:t>) 		Create / Rename / Open</a:t>
            </a:r>
            <a:endParaRPr lang="en-US" sz="1800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587977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A5396D6-CC26-F8ED-A396-D7179DEE3D9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Create a new Simulink Model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F82484C-C605-D0D9-B234-DE13CCD086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Navigate to training folder &amp; create Simulink Model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399307E3-EEFC-62FC-9EC2-F27B00ED600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6940" b="34476"/>
          <a:stretch>
            <a:fillRect/>
          </a:stretch>
        </p:blipFill>
        <p:spPr>
          <a:xfrm>
            <a:off x="2022490" y="1838325"/>
            <a:ext cx="8086696" cy="45164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56441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BF90732C-8F19-7D5A-04A0-713EEEF62C9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Rename and Press Enter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CD784B39-4DE4-69EC-DC0A-99F7AE52679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Right click new file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0B8A5A09-C90E-1B70-99CA-B2652252D36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Create a new Simulink Model</a:t>
            </a:r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1FF07215-7511-E884-21CA-FBB31BEA9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Rename Simulink File</a:t>
            </a:r>
          </a:p>
        </p:txBody>
      </p:sp>
      <p:pic>
        <p:nvPicPr>
          <p:cNvPr id="24" name="Content Placeholder 14">
            <a:extLst>
              <a:ext uri="{FF2B5EF4-FFF2-40B4-BE49-F238E27FC236}">
                <a16:creationId xmlns:a16="http://schemas.microsoft.com/office/drawing/2014/main" id="{19A907B0-69B1-B00B-6313-79186CD31940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1592" b="56296"/>
          <a:stretch>
            <a:fillRect/>
          </a:stretch>
        </p:blipFill>
        <p:spPr>
          <a:xfrm>
            <a:off x="6113463" y="2759075"/>
            <a:ext cx="5622925" cy="3439064"/>
          </a:xfrm>
          <a:prstGeom prst="rect">
            <a:avLst/>
          </a:prstGeom>
        </p:spPr>
      </p:pic>
      <p:pic>
        <p:nvPicPr>
          <p:cNvPr id="28" name="Content Placeholder 9">
            <a:extLst>
              <a:ext uri="{FF2B5EF4-FFF2-40B4-BE49-F238E27FC236}">
                <a16:creationId xmlns:a16="http://schemas.microsoft.com/office/drawing/2014/main" id="{19BDE33F-21DA-8478-32B8-11853452885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3650" b="54953"/>
          <a:stretch>
            <a:fillRect/>
          </a:stretch>
        </p:blipFill>
        <p:spPr>
          <a:xfrm>
            <a:off x="466780" y="2759075"/>
            <a:ext cx="5481527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99286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73CC6610-DB27-620B-5279-432E077CBEE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Create a new Simulink Model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76C924A2-8621-7A2A-7218-2D882261C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Simulink Model</a:t>
            </a:r>
          </a:p>
        </p:txBody>
      </p:sp>
      <p:pic>
        <p:nvPicPr>
          <p:cNvPr id="12" name="Content Placeholder 9">
            <a:extLst>
              <a:ext uri="{FF2B5EF4-FFF2-40B4-BE49-F238E27FC236}">
                <a16:creationId xmlns:a16="http://schemas.microsoft.com/office/drawing/2014/main" id="{DE7EA072-5C3F-B609-32D5-E2433F8C9D0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6504" b="38118"/>
          <a:stretch>
            <a:fillRect/>
          </a:stretch>
        </p:blipFill>
        <p:spPr>
          <a:xfrm>
            <a:off x="1754922" y="1838325"/>
            <a:ext cx="8621832" cy="45164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11896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DFC9AB-A703-9E2F-F787-CC1A03948C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969A52B-51AC-CFB6-0C11-D2DE4A77B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</p:spTree>
    <p:extLst>
      <p:ext uri="{BB962C8B-B14F-4D97-AF65-F5344CB8AC3E}">
        <p14:creationId xmlns:p14="http://schemas.microsoft.com/office/powerpoint/2010/main" val="108808610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78678B9-02E4-3024-860C-85FA9DFC7CF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01A3B32-66DF-E323-60A9-773FDB8614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Success in this section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86C70C1-2543-6C35-7A94-35DAD45254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blocks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Accessing Library Browser	Open / Find Blocks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Blocks 			Add / Edit / Label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Model 			Fit Contents to Window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Lines 			Create / Edit / Format / Label / Data log</a:t>
            </a:r>
          </a:p>
        </p:txBody>
      </p:sp>
    </p:spTree>
    <p:extLst>
      <p:ext uri="{BB962C8B-B14F-4D97-AF65-F5344CB8AC3E}">
        <p14:creationId xmlns:p14="http://schemas.microsoft.com/office/powerpoint/2010/main" val="331379756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731B6F5F-575D-949C-A66C-5BB1E5EEC1A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loaded library browser window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FF17D507-7614-3899-90A9-632807472D2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Library Browser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3168C9EE-58A3-F7A9-D12D-30DBF2E7230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C8ABBCE7-E126-689C-9AF6-8124D1EF5F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Library Browser (Part 1)</a:t>
            </a:r>
          </a:p>
        </p:txBody>
      </p:sp>
      <p:pic>
        <p:nvPicPr>
          <p:cNvPr id="23" name="Content Placeholder 11">
            <a:extLst>
              <a:ext uri="{FF2B5EF4-FFF2-40B4-BE49-F238E27FC236}">
                <a16:creationId xmlns:a16="http://schemas.microsoft.com/office/drawing/2014/main" id="{9C0CDFBC-BCB5-BAAA-52CC-4B97A7A9F15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912" t="21270" r="48545" b="42963"/>
          <a:stretch>
            <a:fillRect/>
          </a:stretch>
        </p:blipFill>
        <p:spPr>
          <a:xfrm>
            <a:off x="596516" y="2759075"/>
            <a:ext cx="5222055" cy="3517246"/>
          </a:xfrm>
          <a:prstGeom prst="rect">
            <a:avLst/>
          </a:prstGeom>
        </p:spPr>
      </p:pic>
      <p:pic>
        <p:nvPicPr>
          <p:cNvPr id="25" name="Content Placeholder 9">
            <a:extLst>
              <a:ext uri="{FF2B5EF4-FFF2-40B4-BE49-F238E27FC236}">
                <a16:creationId xmlns:a16="http://schemas.microsoft.com/office/drawing/2014/main" id="{0E0F5B02-AEED-5A52-ED05-758A27E2250E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21504" t="20872" r="27351"/>
          <a:stretch>
            <a:fillRect/>
          </a:stretch>
        </p:blipFill>
        <p:spPr>
          <a:xfrm>
            <a:off x="6729564" y="2759075"/>
            <a:ext cx="4390723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797443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0263DB-06DD-88DA-57C3-6F2EA6D41B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3872A8F4-5DFA-0D94-7D59-2FC3E83EE34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4. Review Common Blocks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EA89AF18-E7AB-5274-67A1-5F4A1959CF1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3. Click Icon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A2049CAD-D3C0-A500-7344-6C9F23A995E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02632320-A4E2-1B43-387F-DB796045EE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Library Browser (Part 2)</a:t>
            </a:r>
            <a:endParaRPr lang="en-US" sz="1800" b="0" i="1" dirty="0"/>
          </a:p>
        </p:txBody>
      </p:sp>
      <p:pic>
        <p:nvPicPr>
          <p:cNvPr id="5" name="Content Placeholder 9">
            <a:extLst>
              <a:ext uri="{FF2B5EF4-FFF2-40B4-BE49-F238E27FC236}">
                <a16:creationId xmlns:a16="http://schemas.microsoft.com/office/drawing/2014/main" id="{DCB515E8-BD35-9965-F1F9-0A8F623EDF1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22130" t="21125" r="42413" b="46364"/>
          <a:stretch>
            <a:fillRect/>
          </a:stretch>
        </p:blipFill>
        <p:spPr>
          <a:xfrm>
            <a:off x="395288" y="2759075"/>
            <a:ext cx="5624512" cy="2771990"/>
          </a:xfrm>
          <a:prstGeom prst="rect">
            <a:avLst/>
          </a:prstGeom>
        </p:spPr>
      </p:pic>
      <p:pic>
        <p:nvPicPr>
          <p:cNvPr id="9" name="Content Placeholder 14">
            <a:extLst>
              <a:ext uri="{FF2B5EF4-FFF2-40B4-BE49-F238E27FC236}">
                <a16:creationId xmlns:a16="http://schemas.microsoft.com/office/drawing/2014/main" id="{2AA708EE-9471-F303-5177-661DA51B3C26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43737" t="32614" r="10967" b="7647"/>
          <a:stretch>
            <a:fillRect/>
          </a:stretch>
        </p:blipFill>
        <p:spPr>
          <a:xfrm>
            <a:off x="6349583" y="2759075"/>
            <a:ext cx="5150684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59064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87999F-1EB3-A96F-0293-A61908B706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FEFE84A3-AAAD-EF20-D8C7-D5BEFA12965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5. Review Common Blocks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C7BAFB52-8A92-8640-F163-F20CC242DCE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2C121021-E7B6-9A07-8FDA-2C72139F97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Library Browser (Part 3)</a:t>
            </a:r>
            <a:endParaRPr lang="en-US" sz="1800" b="0" i="1" dirty="0"/>
          </a:p>
        </p:txBody>
      </p:sp>
      <p:pic>
        <p:nvPicPr>
          <p:cNvPr id="6" name="Content Placeholder 9">
            <a:extLst>
              <a:ext uri="{FF2B5EF4-FFF2-40B4-BE49-F238E27FC236}">
                <a16:creationId xmlns:a16="http://schemas.microsoft.com/office/drawing/2014/main" id="{F6BDC311-6751-29C8-E62E-C9AECC55FD8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42622" t="33987" r="10062" b="6076"/>
          <a:stretch>
            <a:fillRect/>
          </a:stretch>
        </p:blipFill>
        <p:spPr>
          <a:xfrm>
            <a:off x="526240" y="2759075"/>
            <a:ext cx="5362608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023021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1FBABC-0E85-ADCE-CA56-ADB59443EB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E183E520-C3FC-3EF4-CF3C-6847EA96BB6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the Simulink model after Drag and Drop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9804ED92-DD1B-6A3C-E6FD-365B2BAEDD0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Drag Blocks from Library to Simulink model window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17BFA3F6-11EC-CC30-7953-D2188578AA2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A2ED09F0-02F7-EDA0-636E-3B7897189F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Blocks to Simulink Model (Method 1)</a:t>
            </a:r>
            <a:endParaRPr lang="en-US" sz="1800" b="0" i="1" dirty="0"/>
          </a:p>
        </p:txBody>
      </p:sp>
      <p:pic>
        <p:nvPicPr>
          <p:cNvPr id="6" name="Content Placeholder 20">
            <a:extLst>
              <a:ext uri="{FF2B5EF4-FFF2-40B4-BE49-F238E27FC236}">
                <a16:creationId xmlns:a16="http://schemas.microsoft.com/office/drawing/2014/main" id="{23ECAA17-91EF-319D-C929-AB1621FC096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41211" t="10771" r="7128" b="20227"/>
          <a:stretch>
            <a:fillRect/>
          </a:stretch>
        </p:blipFill>
        <p:spPr>
          <a:xfrm>
            <a:off x="664615" y="2759075"/>
            <a:ext cx="5085858" cy="3651250"/>
          </a:xfrm>
          <a:prstGeom prst="rect">
            <a:avLst/>
          </a:prstGeom>
        </p:spPr>
      </p:pic>
      <p:pic>
        <p:nvPicPr>
          <p:cNvPr id="11" name="Content Placeholder 6">
            <a:extLst>
              <a:ext uri="{FF2B5EF4-FFF2-40B4-BE49-F238E27FC236}">
                <a16:creationId xmlns:a16="http://schemas.microsoft.com/office/drawing/2014/main" id="{0091E88F-F055-68D9-76C6-AA475F65A9D8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41289" t="35662" r="24433" b="6431"/>
          <a:stretch>
            <a:fillRect/>
          </a:stretch>
        </p:blipFill>
        <p:spPr>
          <a:xfrm>
            <a:off x="6914363" y="2759075"/>
            <a:ext cx="4021124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893307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353C4A7-45AC-703F-9672-575D3AAE293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Type “step” and press enter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9AB57E3E-D271-6D5E-FB8E-6C4B478EA23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Double Click on Empty Space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57FE4CB4-4EEA-2F76-3DD7-121F40D4054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1EAC9A14-C8AB-D5A5-A255-5483B087EF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Blocks to Simulink Model (Method 2)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39623424-8908-581D-D533-BEE5BFFA458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3. Observe Newly added block</a:t>
            </a:r>
          </a:p>
        </p:txBody>
      </p: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14B2854F-963B-E1D2-B31D-6D78B4AAC16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912" t="38815" r="26160" b="3887"/>
          <a:stretch>
            <a:fillRect/>
          </a:stretch>
        </p:blipFill>
        <p:spPr>
          <a:xfrm>
            <a:off x="450269" y="2759075"/>
            <a:ext cx="3666700" cy="3651250"/>
          </a:xfrm>
          <a:prstGeom prst="rect">
            <a:avLst/>
          </a:prstGeom>
        </p:spPr>
      </p:pic>
      <p:pic>
        <p:nvPicPr>
          <p:cNvPr id="19" name="Content Placeholder 18">
            <a:extLst>
              <a:ext uri="{FF2B5EF4-FFF2-40B4-BE49-F238E27FC236}">
                <a16:creationId xmlns:a16="http://schemas.microsoft.com/office/drawing/2014/main" id="{9A1E397E-6A23-CD69-DCB1-9B1756D6EA98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443" t="36202" r="26701" b="6501"/>
          <a:stretch>
            <a:fillRect/>
          </a:stretch>
        </p:blipFill>
        <p:spPr>
          <a:xfrm>
            <a:off x="4228569" y="2758381"/>
            <a:ext cx="3776472" cy="3652175"/>
          </a:xfrm>
          <a:prstGeom prst="rect">
            <a:avLst/>
          </a:prstGeom>
        </p:spPr>
      </p:pic>
      <p:pic>
        <p:nvPicPr>
          <p:cNvPr id="21" name="Content Placeholder 20">
            <a:extLst>
              <a:ext uri="{FF2B5EF4-FFF2-40B4-BE49-F238E27FC236}">
                <a16:creationId xmlns:a16="http://schemas.microsoft.com/office/drawing/2014/main" id="{00AC16AC-BD2E-224D-DCA7-617FEC9B774D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288" t="35939" r="26856" b="36154"/>
          <a:stretch>
            <a:fillRect/>
          </a:stretch>
        </p:blipFill>
        <p:spPr>
          <a:xfrm>
            <a:off x="8062913" y="2758381"/>
            <a:ext cx="3776662" cy="1778314"/>
          </a:xfrm>
          <a:prstGeom prst="rect">
            <a:avLst/>
          </a:prstGeom>
        </p:spPr>
      </p:pic>
      <p:sp>
        <p:nvSpPr>
          <p:cNvPr id="23" name="Rectangle 22">
            <a:extLst>
              <a:ext uri="{FF2B5EF4-FFF2-40B4-BE49-F238E27FC236}">
                <a16:creationId xmlns:a16="http://schemas.microsoft.com/office/drawing/2014/main" id="{A2CFD86C-04C9-73FA-B647-1B8F88834383}"/>
              </a:ext>
            </a:extLst>
          </p:cNvPr>
          <p:cNvSpPr/>
          <p:nvPr/>
        </p:nvSpPr>
        <p:spPr>
          <a:xfrm>
            <a:off x="8531256" y="4110086"/>
            <a:ext cx="499621" cy="35821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Arrow: Up 24">
            <a:extLst>
              <a:ext uri="{FF2B5EF4-FFF2-40B4-BE49-F238E27FC236}">
                <a16:creationId xmlns:a16="http://schemas.microsoft.com/office/drawing/2014/main" id="{452C10BE-E1E2-E059-6952-87DE0FEDA33B}"/>
              </a:ext>
            </a:extLst>
          </p:cNvPr>
          <p:cNvSpPr/>
          <p:nvPr/>
        </p:nvSpPr>
        <p:spPr>
          <a:xfrm>
            <a:off x="8531256" y="4468305"/>
            <a:ext cx="499621" cy="533414"/>
          </a:xfrm>
          <a:prstGeom prst="up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620647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8C71F0-DC01-1FA7-14F3-B374ACBA4F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382E0B13-6AC5-60B4-C5AA-1FCBECF00A0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the content has been fit to the screen.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A38390B0-76D9-66EF-8FF2-C1955058D9E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Simulink Model and press spacebar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FB05FBB4-2E66-27EC-84E7-7EAA61787F5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4F113060-8142-E5C8-845B-5DF664BF91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Fit Contents to Window</a:t>
            </a:r>
            <a:endParaRPr lang="en-US" sz="1600" b="0" i="1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7B50195-2E25-5B6B-5139-958DB758FB7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520" t="36202" r="26160" b="4532"/>
          <a:stretch>
            <a:fillRect/>
          </a:stretch>
        </p:blipFill>
        <p:spPr>
          <a:xfrm>
            <a:off x="1355297" y="2759075"/>
            <a:ext cx="3704493" cy="3651250"/>
          </a:xfrm>
          <a:prstGeom prst="rect">
            <a:avLst/>
          </a:prstGeom>
        </p:spPr>
      </p:pic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6E584719-3547-BA36-195E-467A8B1987C0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266" t="35938" r="26425" b="4796"/>
          <a:stretch>
            <a:fillRect/>
          </a:stretch>
        </p:blipFill>
        <p:spPr>
          <a:xfrm>
            <a:off x="7187928" y="2759075"/>
            <a:ext cx="3473994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84147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AB94F1-5B6A-8250-773A-16B0D68CED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C4F7A0A3-AA10-AB7D-20DA-DAE7E4F55C8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Rename Block and then press enter or click off the block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9F60671-6188-FF21-84B8-323A695FB34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the block &amp; then click the blue text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201CBCA-A7FB-AE9F-6844-1EF3841C026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770C29AF-8344-2E08-0C38-DD9F79C413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Rename Blocks</a:t>
            </a:r>
            <a:endParaRPr lang="en-US" sz="1800" b="0" i="1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80085EA7-651F-6227-63C3-F925D3974D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3. Observe Newly added block</a:t>
            </a:r>
          </a:p>
        </p:txBody>
      </p:sp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E83AAF4D-1D2D-E3F6-9170-8C716DF6B72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366" t="36202" r="26314" b="4532"/>
          <a:stretch>
            <a:fillRect/>
          </a:stretch>
        </p:blipFill>
        <p:spPr>
          <a:xfrm>
            <a:off x="431372" y="2759075"/>
            <a:ext cx="3704493" cy="3651250"/>
          </a:xfrm>
          <a:prstGeom prst="rect">
            <a:avLst/>
          </a:prstGeom>
        </p:spPr>
      </p:pic>
      <p:pic>
        <p:nvPicPr>
          <p:cNvPr id="20" name="Content Placeholder 19">
            <a:extLst>
              <a:ext uri="{FF2B5EF4-FFF2-40B4-BE49-F238E27FC236}">
                <a16:creationId xmlns:a16="http://schemas.microsoft.com/office/drawing/2014/main" id="{58610AF5-296A-9B5E-3C69-D4C4E647C3B8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167" t="35651" r="26513" b="5083"/>
          <a:stretch>
            <a:fillRect/>
          </a:stretch>
        </p:blipFill>
        <p:spPr>
          <a:xfrm>
            <a:off x="4265185" y="2759075"/>
            <a:ext cx="3704493" cy="3651250"/>
          </a:xfrm>
          <a:prstGeom prst="rect">
            <a:avLst/>
          </a:prstGeom>
        </p:spPr>
      </p:pic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D27D0166-BE2A-0EBF-4A7B-098B8A3ABCA7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314" t="36202" r="26366" b="4532"/>
          <a:stretch>
            <a:fillRect/>
          </a:stretch>
        </p:blipFill>
        <p:spPr>
          <a:xfrm>
            <a:off x="8098997" y="2759075"/>
            <a:ext cx="3704493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397127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C20288-992C-7B36-5B59-43395D540F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CE951EBA-7925-1722-2408-34203CAC340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Press Save Or CTRL+S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51A94179-DD9B-46E9-550C-E44562E136E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Notice the File is unsaved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0EC374A5-7DF0-E0D4-8FCC-C4D8671A4A1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380C7C3F-DD62-EE74-2576-0C150BD2C5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Save Simulink Model File</a:t>
            </a:r>
            <a:endParaRPr lang="en-US" sz="1800" b="0" i="1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C624A7A4-FE16-EB8E-4B1A-F326A2035C1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3. Observe Blocks have been renamed</a:t>
            </a:r>
          </a:p>
        </p:txBody>
      </p:sp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D71D435C-B471-7FF2-980E-9380F9AEBB3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498" r="67680" b="50000"/>
          <a:stretch>
            <a:fillRect/>
          </a:stretch>
        </p:blipFill>
        <p:spPr>
          <a:xfrm>
            <a:off x="395288" y="2759075"/>
            <a:ext cx="3776662" cy="2292619"/>
          </a:xfrm>
          <a:prstGeom prst="rect">
            <a:avLst/>
          </a:prstGeom>
        </p:spPr>
      </p:pic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5E220B36-F99D-65BF-1BC1-D72592E85F9F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116" r="69382" b="56725"/>
          <a:stretch>
            <a:fillRect/>
          </a:stretch>
        </p:blipFill>
        <p:spPr>
          <a:xfrm>
            <a:off x="4229100" y="2759075"/>
            <a:ext cx="3776663" cy="1933225"/>
          </a:xfrm>
          <a:prstGeom prst="rect">
            <a:avLst/>
          </a:prstGeom>
        </p:spPr>
      </p:pic>
      <p:pic>
        <p:nvPicPr>
          <p:cNvPr id="22" name="Content Placeholder 21">
            <a:extLst>
              <a:ext uri="{FF2B5EF4-FFF2-40B4-BE49-F238E27FC236}">
                <a16:creationId xmlns:a16="http://schemas.microsoft.com/office/drawing/2014/main" id="{0DB9AD10-0729-DF04-333F-EAA686FD450A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" t="13642" r="67377" b="67945"/>
          <a:stretch>
            <a:fillRect/>
          </a:stretch>
        </p:blipFill>
        <p:spPr>
          <a:xfrm>
            <a:off x="8062913" y="2759075"/>
            <a:ext cx="3776662" cy="1145778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9F34EAF4-0283-8B00-E44C-791A10CA7AB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437" t="21078" r="69382" b="75587"/>
          <a:stretch>
            <a:fillRect/>
          </a:stretch>
        </p:blipFill>
        <p:spPr>
          <a:xfrm>
            <a:off x="395288" y="5340224"/>
            <a:ext cx="3564511" cy="889725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3D656EEC-10FF-F665-540E-19C7E2D0D6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437" t="21078" r="69382" b="75587"/>
          <a:stretch>
            <a:fillRect/>
          </a:stretch>
        </p:blipFill>
        <p:spPr>
          <a:xfrm>
            <a:off x="4229100" y="5340224"/>
            <a:ext cx="3564511" cy="889725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6EC94F7E-2321-EF23-42E4-9D81091B44F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531" t="21554" r="68118" b="75807"/>
          <a:stretch>
            <a:fillRect/>
          </a:stretch>
        </p:blipFill>
        <p:spPr>
          <a:xfrm>
            <a:off x="8062913" y="5338467"/>
            <a:ext cx="3763650" cy="639447"/>
          </a:xfrm>
          <a:prstGeom prst="rect">
            <a:avLst/>
          </a:prstGeom>
        </p:spPr>
      </p:pic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27BABF72-04A0-ACA4-72C2-72D2A5E143DB}"/>
              </a:ext>
            </a:extLst>
          </p:cNvPr>
          <p:cNvCxnSpPr>
            <a:cxnSpLocks/>
          </p:cNvCxnSpPr>
          <p:nvPr/>
        </p:nvCxnSpPr>
        <p:spPr>
          <a:xfrm>
            <a:off x="1951351" y="4949073"/>
            <a:ext cx="1055802" cy="71643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BEDDAAEE-F9D9-53F0-82E8-54ECCEC10F1B}"/>
              </a:ext>
            </a:extLst>
          </p:cNvPr>
          <p:cNvCxnSpPr>
            <a:cxnSpLocks/>
          </p:cNvCxnSpPr>
          <p:nvPr/>
        </p:nvCxnSpPr>
        <p:spPr>
          <a:xfrm>
            <a:off x="1951351" y="4949073"/>
            <a:ext cx="4817094" cy="71643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7303808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F5C410-814D-5DD1-618C-23EB95D041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F8F87390-97E0-E899-055E-9A6341CF527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Blocks have been connected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1F183C2D-F2E7-E2BD-40B5-C0CED825D57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Connect Line </a:t>
            </a:r>
          </a:p>
          <a:p>
            <a:r>
              <a:rPr lang="en-US" dirty="0"/>
              <a:t>From source block to destination block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E4FC811C-8D10-C020-12E5-B20FA70A963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ADB09051-1ED9-084D-4B52-F6DED4102D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Connect Lines / Drag Line (Part 1)</a:t>
            </a:r>
            <a:endParaRPr lang="en-US" b="0" i="1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028F7450-539C-6E4B-AEC7-2B6942B83BC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067" t="36130" r="26314" b="4603"/>
          <a:stretch>
            <a:fillRect/>
          </a:stretch>
        </p:blipFill>
        <p:spPr>
          <a:xfrm>
            <a:off x="1452810" y="2759075"/>
            <a:ext cx="3509467" cy="3651250"/>
          </a:xfrm>
          <a:prstGeom prst="rect">
            <a:avLst/>
          </a:prstGeom>
        </p:spPr>
      </p:pic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A5D17D27-53A3-3394-CDAA-7A5D85F233C9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893" t="36130" r="26237" b="4603"/>
          <a:stretch>
            <a:fillRect/>
          </a:stretch>
        </p:blipFill>
        <p:spPr>
          <a:xfrm>
            <a:off x="7155808" y="2759075"/>
            <a:ext cx="3538235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281281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B00031-1B4E-FB20-2CC7-7A12B95463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323F4388-061A-8D40-6F09-7DC8DE38244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Blocks have been connected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BA88729B-B679-6F90-38C9-2AB9A743828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Connect Line </a:t>
            </a:r>
          </a:p>
          <a:p>
            <a:r>
              <a:rPr lang="en-US" dirty="0"/>
              <a:t>From destination block to source block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E507BF30-4BC1-3623-F653-AAA479AB6B0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77289EF9-B290-A81A-E03A-0DC0406B4B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Connect Lines / Drag Line (Part 2)</a:t>
            </a:r>
            <a:endParaRPr lang="en-US" b="0" i="1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EE34D2EF-4D57-652A-8C23-C68F40DE119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893" t="36130" r="26238" b="4603"/>
          <a:stretch>
            <a:fillRect/>
          </a:stretch>
        </p:blipFill>
        <p:spPr>
          <a:xfrm>
            <a:off x="1438483" y="2759075"/>
            <a:ext cx="3538121" cy="3651250"/>
          </a:xfrm>
          <a:prstGeom prst="rect">
            <a:avLst/>
          </a:prstGeom>
        </p:spPr>
      </p:pic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5325A987-8051-5586-B109-103D3AB04812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970" t="36130" r="26160" b="4603"/>
          <a:stretch>
            <a:fillRect/>
          </a:stretch>
        </p:blipFill>
        <p:spPr>
          <a:xfrm>
            <a:off x="7155807" y="2759075"/>
            <a:ext cx="3538236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062171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589024-9160-6159-3E4E-997EE6690A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8009BB24-0B37-2076-B42E-FCFB67DCB14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Blocks have been connected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99A49AE3-AA07-5C40-2C4D-27B7C9E7EF7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Connect Line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A186E23E-A317-1693-ABC1-375735B9FB2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A2937986-1676-ADF5-507C-CE35E4E87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Connect Lines / Auto Routing</a:t>
            </a:r>
            <a:endParaRPr lang="en-US" b="0" i="1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3D2BB063-7256-D441-04DD-DFAACA38DA1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222" t="36204" r="8531" b="5603"/>
          <a:stretch>
            <a:fillRect/>
          </a:stretch>
        </p:blipFill>
        <p:spPr>
          <a:xfrm>
            <a:off x="395288" y="2761503"/>
            <a:ext cx="5624512" cy="364639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FB1A95C6-046B-74CD-23C6-1D34B89BC9AB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661" t="36011" r="26469" b="4723"/>
          <a:stretch>
            <a:fillRect/>
          </a:stretch>
        </p:blipFill>
        <p:spPr>
          <a:xfrm>
            <a:off x="7155778" y="2759075"/>
            <a:ext cx="3538295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86949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A5C9B5-ED2B-A868-531B-37802D4C5E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E4E25BDB-1144-37B2-DE29-5634CCE1669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Create New </a:t>
            </a:r>
            <a:r>
              <a:rPr lang="en-US" dirty="0" err="1"/>
              <a:t>Inport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49F16CF-A15F-01BB-98DD-BCD98383416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Step 1. Connect Line </a:t>
            </a:r>
          </a:p>
          <a:p>
            <a:r>
              <a:rPr lang="en-US" dirty="0"/>
              <a:t>From destination block to source block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36F017B9-8919-0FC8-530A-2BCE43462B4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49CC3727-EC80-B572-1BCC-BD9D1368C7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Connect Lines / Drag Line / Create </a:t>
            </a:r>
            <a:r>
              <a:rPr lang="en-US" dirty="0" err="1"/>
              <a:t>Inport</a:t>
            </a:r>
            <a:endParaRPr lang="en-US" b="0" i="1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1576F680-F5CE-0315-B415-C1CB821A366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3. Observe Blocks have been connected</a:t>
            </a:r>
          </a:p>
        </p:txBody>
      </p:sp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8EFACE0F-15A2-DE13-814A-CB2A599AECCF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2"/>
          <a:srcRect l="42758" t="36130" r="26546" b="4603"/>
          <a:stretch>
            <a:fillRect/>
          </a:stretch>
        </p:blipFill>
        <p:spPr>
          <a:xfrm>
            <a:off x="8192098" y="2759075"/>
            <a:ext cx="3518292" cy="3651250"/>
          </a:xfrm>
          <a:prstGeom prst="rect">
            <a:avLst/>
          </a:prstGeom>
        </p:spPr>
      </p:pic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01B722D4-51AB-7338-AAFA-F9E6D859CA85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990" t="36130" r="26315" b="4603"/>
          <a:stretch>
            <a:fillRect/>
          </a:stretch>
        </p:blipFill>
        <p:spPr>
          <a:xfrm>
            <a:off x="4358343" y="2759075"/>
            <a:ext cx="3518177" cy="3651250"/>
          </a:xfrm>
          <a:prstGeom prst="rect">
            <a:avLst/>
          </a:prstGeom>
        </p:spPr>
      </p:pic>
      <p:pic>
        <p:nvPicPr>
          <p:cNvPr id="19" name="Content Placeholder 18">
            <a:extLst>
              <a:ext uri="{FF2B5EF4-FFF2-40B4-BE49-F238E27FC236}">
                <a16:creationId xmlns:a16="http://schemas.microsoft.com/office/drawing/2014/main" id="{CC51C61C-F3B2-34AC-CDB4-8B4053FAE09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835" t="36131" r="26469" b="4363"/>
          <a:stretch>
            <a:fillRect/>
          </a:stretch>
        </p:blipFill>
        <p:spPr>
          <a:xfrm>
            <a:off x="531538" y="2759075"/>
            <a:ext cx="3504161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134514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7984BD-C113-6740-5339-B41B4B77EF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A131EAB6-5B08-7627-2542-766FC033972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1. Create New </a:t>
            </a:r>
            <a:r>
              <a:rPr lang="en-US" dirty="0" err="1"/>
              <a:t>Inport</a:t>
            </a: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EB5ACC7C-B6B5-4069-B752-F87BA2F35C8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E47435C9-0486-159E-C068-3A7402A321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Connect Lines / Drag Line / Create </a:t>
            </a:r>
            <a:r>
              <a:rPr lang="en-US" dirty="0" err="1"/>
              <a:t>Inport</a:t>
            </a:r>
            <a:endParaRPr lang="en-US" b="0" i="1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C4E5AC-4345-F76B-57A8-09F0A95865F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2. Observe Blocks have been connected</a:t>
            </a:r>
          </a:p>
        </p:txBody>
      </p:sp>
      <p:pic>
        <p:nvPicPr>
          <p:cNvPr id="15" name="Content Placeholder 14">
            <a:extLst>
              <a:ext uri="{FF2B5EF4-FFF2-40B4-BE49-F238E27FC236}">
                <a16:creationId xmlns:a16="http://schemas.microsoft.com/office/drawing/2014/main" id="{CC568CA6-974F-D313-14A7-7847C1DF1C9A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816" t="36202" r="26315" b="4532"/>
          <a:stretch>
            <a:fillRect/>
          </a:stretch>
        </p:blipFill>
        <p:spPr>
          <a:xfrm>
            <a:off x="4348341" y="2759075"/>
            <a:ext cx="3538180" cy="3651250"/>
          </a:xfrm>
          <a:prstGeom prst="rect">
            <a:avLst/>
          </a:prstGeom>
        </p:spPr>
      </p:pic>
      <p:pic>
        <p:nvPicPr>
          <p:cNvPr id="18" name="Content Placeholder 17">
            <a:extLst>
              <a:ext uri="{FF2B5EF4-FFF2-40B4-BE49-F238E27FC236}">
                <a16:creationId xmlns:a16="http://schemas.microsoft.com/office/drawing/2014/main" id="{26106DE6-EC2C-1292-0478-F6F21E274651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913" t="36130" r="26392" b="4603"/>
          <a:stretch>
            <a:fillRect/>
          </a:stretch>
        </p:blipFill>
        <p:spPr>
          <a:xfrm>
            <a:off x="8192155" y="2759075"/>
            <a:ext cx="3518177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587602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D5A484-D3BB-DB37-74B0-64253A74C1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14339A10-CDA5-9821-AF89-799692CEB4A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Double Click Line and Rename the Signal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2E22BBF-9CB1-5EC7-D312-8EF9CBCFC58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Step 1. Before Renaming Signals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0196126E-00B5-EE0C-6AB5-097C735BC19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7BE25709-A2D5-DF8B-15F5-A951488C53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Rename Signals</a:t>
            </a:r>
            <a:endParaRPr lang="en-US" sz="1800" b="0" i="1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72D16130-15FE-DAD4-2B98-0C1894ECD66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3. Rename all other Signals</a:t>
            </a:r>
          </a:p>
        </p:txBody>
      </p:sp>
      <p:pic>
        <p:nvPicPr>
          <p:cNvPr id="15" name="Content Placeholder 14">
            <a:extLst>
              <a:ext uri="{FF2B5EF4-FFF2-40B4-BE49-F238E27FC236}">
                <a16:creationId xmlns:a16="http://schemas.microsoft.com/office/drawing/2014/main" id="{62E1D363-39CC-1C2D-6BB3-66A56295EFF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067" t="36130" r="26392" b="4603"/>
          <a:stretch>
            <a:fillRect/>
          </a:stretch>
        </p:blipFill>
        <p:spPr>
          <a:xfrm>
            <a:off x="533355" y="2759075"/>
            <a:ext cx="3500527" cy="3651250"/>
          </a:xfrm>
          <a:prstGeom prst="rect">
            <a:avLst/>
          </a:prstGeom>
        </p:spPr>
      </p:pic>
      <p:pic>
        <p:nvPicPr>
          <p:cNvPr id="18" name="Content Placeholder 17">
            <a:extLst>
              <a:ext uri="{FF2B5EF4-FFF2-40B4-BE49-F238E27FC236}">
                <a16:creationId xmlns:a16="http://schemas.microsoft.com/office/drawing/2014/main" id="{2813DDC7-EDD7-2718-57F7-7EC542D99571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143" t="36130" r="26315" b="4603"/>
          <a:stretch>
            <a:fillRect/>
          </a:stretch>
        </p:blipFill>
        <p:spPr>
          <a:xfrm>
            <a:off x="4367111" y="2759075"/>
            <a:ext cx="3500641" cy="3651250"/>
          </a:xfrm>
          <a:prstGeom prst="rect">
            <a:avLst/>
          </a:prstGeom>
        </p:spPr>
      </p:pic>
      <p:pic>
        <p:nvPicPr>
          <p:cNvPr id="21" name="Content Placeholder 20">
            <a:extLst>
              <a:ext uri="{FF2B5EF4-FFF2-40B4-BE49-F238E27FC236}">
                <a16:creationId xmlns:a16="http://schemas.microsoft.com/office/drawing/2014/main" id="{EFEEC6BB-CEBC-ED33-1638-F0CBAA7F2867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143" t="36202" r="26315" b="4532"/>
          <a:stretch>
            <a:fillRect/>
          </a:stretch>
        </p:blipFill>
        <p:spPr>
          <a:xfrm>
            <a:off x="8200894" y="2759075"/>
            <a:ext cx="3500700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545971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8F73685-B026-648D-4515-C3157D71A78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signal name was moved next to source block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3325E4-FA2B-8DA0-C776-0A0554FBDF2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Drag and drop the signal name next to the source block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1E2F985-BEA8-7CA7-AFC7-46EB9B4EB43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169DB835-1E0C-110B-653C-E016FAEC04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Move Signals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955BD705-0A6A-B626-1361-7833EB7EE4B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3. Move other signal names towards their source blocks</a:t>
            </a:r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31782483-E488-5635-9C13-A6DDE7E2B87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989" t="76346" r="26141" b="4532"/>
          <a:stretch>
            <a:fillRect/>
          </a:stretch>
        </p:blipFill>
        <p:spPr>
          <a:xfrm>
            <a:off x="395288" y="5152897"/>
            <a:ext cx="3776662" cy="1257428"/>
          </a:xfrm>
          <a:prstGeom prst="rect">
            <a:avLst/>
          </a:prstGeom>
        </p:spPr>
      </p:pic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F36FCB97-7D37-74A8-2744-C32D0F65407D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067" t="76083" r="26063" b="4794"/>
          <a:stretch>
            <a:fillRect/>
          </a:stretch>
        </p:blipFill>
        <p:spPr>
          <a:xfrm>
            <a:off x="4229100" y="5152831"/>
            <a:ext cx="3776663" cy="1257494"/>
          </a:xfrm>
          <a:prstGeom prst="rect">
            <a:avLst/>
          </a:prstGeom>
        </p:spPr>
      </p:pic>
      <p:pic>
        <p:nvPicPr>
          <p:cNvPr id="15" name="Content Placeholder 14">
            <a:extLst>
              <a:ext uri="{FF2B5EF4-FFF2-40B4-BE49-F238E27FC236}">
                <a16:creationId xmlns:a16="http://schemas.microsoft.com/office/drawing/2014/main" id="{E45A5745-C798-7913-A372-DE8C12968940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144" t="35940" r="26701" b="4794"/>
          <a:stretch>
            <a:fillRect/>
          </a:stretch>
        </p:blipFill>
        <p:spPr>
          <a:xfrm>
            <a:off x="8223073" y="2759075"/>
            <a:ext cx="3456342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106880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41145FD7-ED3F-B7B2-D4B5-85D1B79B216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072102" y="1992254"/>
            <a:ext cx="4664813" cy="731520"/>
          </a:xfrm>
        </p:spPr>
        <p:txBody>
          <a:bodyPr/>
          <a:lstStyle/>
          <a:p>
            <a:r>
              <a:rPr lang="en-US" dirty="0"/>
              <a:t>Step 2. Observe cleaned up window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D0C29A74-3058-F333-4F9E-C6EC33390B3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992254"/>
            <a:ext cx="6570590" cy="731520"/>
          </a:xfrm>
        </p:spPr>
        <p:txBody>
          <a:bodyPr/>
          <a:lstStyle/>
          <a:p>
            <a:r>
              <a:rPr lang="en-US" dirty="0"/>
              <a:t>Step 1. Clean up the window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C739428-D983-FA1E-DC6E-6278D8BEEBD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B6FE35CD-E676-2CEE-05D7-C908E40927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Clean up Window</a:t>
            </a:r>
          </a:p>
        </p:txBody>
      </p: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1BC69F5E-7653-1AC7-39F0-970C50BD1F7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423" t="1" r="3107" b="22907"/>
          <a:stretch>
            <a:fillRect/>
          </a:stretch>
        </p:blipFill>
        <p:spPr>
          <a:xfrm>
            <a:off x="395288" y="2759075"/>
            <a:ext cx="6571120" cy="3656333"/>
          </a:xfrm>
          <a:prstGeom prst="rect">
            <a:avLst/>
          </a:prstGeom>
        </p:spPr>
      </p:pic>
      <p:pic>
        <p:nvPicPr>
          <p:cNvPr id="19" name="Content Placeholder 18">
            <a:extLst>
              <a:ext uri="{FF2B5EF4-FFF2-40B4-BE49-F238E27FC236}">
                <a16:creationId xmlns:a16="http://schemas.microsoft.com/office/drawing/2014/main" id="{E4EAEFC3-38E4-671B-6CF4-9B8CA3A0BC1B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0646" b="27858"/>
          <a:stretch>
            <a:fillRect/>
          </a:stretch>
        </p:blipFill>
        <p:spPr>
          <a:xfrm>
            <a:off x="7072103" y="2759075"/>
            <a:ext cx="3705644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454146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74445B2-5D44-8737-FA93-DD4D11043DA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the content has been fit to the screen.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0C8151-98CE-FB58-C406-FE86C673D2E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Simulink Model and press space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F0D5C92-F5E6-C67E-F298-7845F706707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352E27C-BE0D-72EA-D678-489F261A5E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Fit Contents to Window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4BE752F6-675E-B4D0-6E51-B3A94DFA316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549" r="62123" b="31983"/>
          <a:stretch>
            <a:fillRect/>
          </a:stretch>
        </p:blipFill>
        <p:spPr>
          <a:xfrm>
            <a:off x="845612" y="2759075"/>
            <a:ext cx="4723863" cy="3651250"/>
          </a:xfrm>
          <a:prstGeom prst="rect">
            <a:avLst/>
          </a:prstGeom>
        </p:spPr>
      </p:pic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06FF370F-A61C-2D20-3A77-DA943B25E2C4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13463" y="2759075"/>
            <a:ext cx="5622925" cy="3022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090210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BA9DC90-F4F4-BD7D-CEBD-9B4B5439AA9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yellow bar has been removed.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A71EEC-DBEA-9F3C-DB4B-D1747964180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the down arrow and remove bar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1C00130-9554-A409-7AA2-FDAF7D0BBF6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FC1C8C68-2A56-AFA5-D904-E19A452D4B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Remove Yellow Bar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7126AAFE-DF7E-6037-1436-526714BA674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959" t="16950" b="61760"/>
          <a:stretch>
            <a:fillRect/>
          </a:stretch>
        </p:blipFill>
        <p:spPr>
          <a:xfrm>
            <a:off x="1557208" y="2852309"/>
            <a:ext cx="3300672" cy="2093611"/>
          </a:xfrm>
          <a:prstGeom prst="rect">
            <a:avLst/>
          </a:prstGeom>
        </p:spPr>
      </p:pic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30C0C113-644E-87B3-6601-69C2235BA352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13463" y="2852309"/>
            <a:ext cx="5622925" cy="3022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471300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878DCEE-31FC-0878-7A64-9BDBCC35B16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Select other Lines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BEC55E-D6A9-F83F-45D4-72277EEAC87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Hold SHIFT &amp; drag cursor to select lines. </a:t>
            </a:r>
            <a:endParaRPr lang="en-US" i="1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A601918-891B-20B0-E067-6174555F734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63BBB1A3-7232-E33A-59AA-28ED4C50DB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731520"/>
          </a:xfrm>
        </p:spPr>
        <p:txBody>
          <a:bodyPr/>
          <a:lstStyle/>
          <a:p>
            <a:r>
              <a:rPr lang="en-US" dirty="0"/>
              <a:t>Select Lines</a:t>
            </a:r>
            <a:br>
              <a:rPr lang="en-US" dirty="0"/>
            </a:br>
            <a:r>
              <a:rPr lang="en-US" sz="1400" b="0" i="1" dirty="0">
                <a:solidFill>
                  <a:srgbClr val="FF0000"/>
                </a:solidFill>
                <a:latin typeface="Aptos"/>
              </a:rPr>
              <a:t>Note: Do Not Select any blocks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EE835C57-FB6D-7C2F-F6DA-F2C0E2CD098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340" t="20402" r="13015" b="4364"/>
          <a:stretch>
            <a:fillRect/>
          </a:stretch>
        </p:blipFill>
        <p:spPr>
          <a:xfrm>
            <a:off x="395288" y="2852309"/>
            <a:ext cx="5624512" cy="3464781"/>
          </a:xfrm>
          <a:prstGeom prst="rect">
            <a:avLst/>
          </a:prstGeom>
        </p:spPr>
      </p:pic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10E53AE7-EABE-B63E-71E6-2395E4F857FC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650" t="19539" r="11082" b="3501"/>
          <a:stretch>
            <a:fillRect/>
          </a:stretch>
        </p:blipFill>
        <p:spPr>
          <a:xfrm>
            <a:off x="6113463" y="2855810"/>
            <a:ext cx="5622925" cy="34577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390977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C7D0D213-A3B7-267C-1593-E5AE6A3A522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“Signal” Tab</a:t>
            </a:r>
            <a:endParaRPr lang="en-US" i="1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51774855-20BF-6002-45E2-D26DEDCC1D9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9718DB36-30D3-686D-7702-1E1A4DFB77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Signal Logging (Part 1)</a:t>
            </a:r>
          </a:p>
        </p:txBody>
      </p:sp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17180FBB-784A-D356-170A-18DC57082FC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9768" b="85783"/>
          <a:stretch>
            <a:fillRect/>
          </a:stretch>
        </p:blipFill>
        <p:spPr>
          <a:xfrm>
            <a:off x="555203" y="2852309"/>
            <a:ext cx="11019682" cy="1398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8095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58BCC7-BBB6-00AC-AB99-63813CAB0B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F45BFE2-5093-48B9-8979-2CF6425F839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Click Log Signals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A45FC2-70FB-4520-6DA1-9B75B03E44E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Test Point</a:t>
            </a:r>
            <a:endParaRPr lang="en-US" i="1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A532397-7B47-F846-4E0C-18739714BDC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03FD5E2C-7DFC-1BCA-11BD-E904A89532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Signal Logging (Part 2)</a:t>
            </a:r>
          </a:p>
        </p:txBody>
      </p:sp>
      <p:pic>
        <p:nvPicPr>
          <p:cNvPr id="25" name="Content Placeholder 24">
            <a:extLst>
              <a:ext uri="{FF2B5EF4-FFF2-40B4-BE49-F238E27FC236}">
                <a16:creationId xmlns:a16="http://schemas.microsoft.com/office/drawing/2014/main" id="{FE675B39-AC92-13DE-465F-E46DAEB940F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804" r="19665" b="4075"/>
          <a:stretch>
            <a:fillRect/>
          </a:stretch>
        </p:blipFill>
        <p:spPr>
          <a:xfrm>
            <a:off x="728696" y="2043113"/>
            <a:ext cx="4957696" cy="4367212"/>
          </a:xfrm>
          <a:prstGeom prst="rect">
            <a:avLst/>
          </a:prstGeom>
        </p:spPr>
      </p:pic>
      <p:pic>
        <p:nvPicPr>
          <p:cNvPr id="27" name="Content Placeholder 26">
            <a:extLst>
              <a:ext uri="{FF2B5EF4-FFF2-40B4-BE49-F238E27FC236}">
                <a16:creationId xmlns:a16="http://schemas.microsoft.com/office/drawing/2014/main" id="{5D6BCCCD-E46B-EBBA-E46F-BCAD2CC33797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797" r="20078" b="4361"/>
          <a:stretch>
            <a:fillRect/>
          </a:stretch>
        </p:blipFill>
        <p:spPr>
          <a:xfrm>
            <a:off x="6455910" y="2043113"/>
            <a:ext cx="4938030" cy="4367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690059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737386-0D8C-4646-E970-73A935B7C2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B43CAA9-0F9B-F905-B9DA-D24FF41242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Run a simulation</a:t>
            </a:r>
          </a:p>
        </p:txBody>
      </p:sp>
    </p:spTree>
    <p:extLst>
      <p:ext uri="{BB962C8B-B14F-4D97-AF65-F5344CB8AC3E}">
        <p14:creationId xmlns:p14="http://schemas.microsoft.com/office/powerpoint/2010/main" val="194279175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B83389C-A617-C504-AE55-1468D7D7345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Run a simulation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122A067-03DF-2C1B-8C59-87F9DE5F05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Success in this section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E003E58-98B9-3985-D9CB-87E98C9619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Run a simulation 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Run		Shortcut (CTRL+T)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Stop Time		Default Value is 10 sec</a:t>
            </a:r>
          </a:p>
        </p:txBody>
      </p:sp>
    </p:spTree>
    <p:extLst>
      <p:ext uri="{BB962C8B-B14F-4D97-AF65-F5344CB8AC3E}">
        <p14:creationId xmlns:p14="http://schemas.microsoft.com/office/powerpoint/2010/main" val="198604631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42F79FBF-04B9-780E-A94E-E0754A023B4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Run</a:t>
            </a:r>
          </a:p>
          <a:p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03E285AC-BB46-4A15-1E33-44F2FE15184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Run a simulation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7114D054-45D3-2C6B-D004-1ED1395D65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 Simulation</a:t>
            </a:r>
          </a:p>
        </p:txBody>
      </p:sp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C5245F31-9D8A-6008-2201-5E72AF08590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9375" b="67733"/>
          <a:stretch>
            <a:fillRect/>
          </a:stretch>
        </p:blipFill>
        <p:spPr>
          <a:xfrm>
            <a:off x="1434022" y="2852309"/>
            <a:ext cx="9262044" cy="3173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171496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B61615-0473-6AF2-6A66-0254DA519C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37A326D-AF3E-2ABD-F88A-B055C80E8F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Use Data inspector</a:t>
            </a:r>
          </a:p>
        </p:txBody>
      </p:sp>
    </p:spTree>
    <p:extLst>
      <p:ext uri="{BB962C8B-B14F-4D97-AF65-F5344CB8AC3E}">
        <p14:creationId xmlns:p14="http://schemas.microsoft.com/office/powerpoint/2010/main" val="306081255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4ACF9B-7E7E-7CCE-4617-016B4525DA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BC0EB84-73BF-1E5D-89F5-1BE34CBB1E8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Data inspector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366F613-CCB4-ABE2-D716-C7974F21A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Success in this section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BA06BDD-F972-1020-18E1-375EC0A79F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Data inspector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Graph 		Graph Data / Edit Grid / Use Cursors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Stop Time		Default Value is 10 sec</a:t>
            </a:r>
          </a:p>
        </p:txBody>
      </p:sp>
    </p:spTree>
    <p:extLst>
      <p:ext uri="{BB962C8B-B14F-4D97-AF65-F5344CB8AC3E}">
        <p14:creationId xmlns:p14="http://schemas.microsoft.com/office/powerpoint/2010/main" val="48241497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97EE104F-2DA7-99DB-CF27-E2A5376F20B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Click “Data Inspector”</a:t>
            </a:r>
            <a:endParaRPr lang="en-US" i="1" dirty="0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29192630-2AE5-C722-F707-666B0B39315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Observe Logged Signals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059F69C1-5FE3-618F-72F4-38A4F922C90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Data inspector</a:t>
            </a:r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F3B75B73-4226-76CF-31CA-4B707AA7B6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589204"/>
          </a:xfrm>
        </p:spPr>
        <p:txBody>
          <a:bodyPr/>
          <a:lstStyle/>
          <a:p>
            <a:r>
              <a:rPr lang="en-US" dirty="0"/>
              <a:t>Open Data Inspector</a:t>
            </a:r>
            <a:br>
              <a:rPr lang="en-US" dirty="0"/>
            </a:br>
            <a:r>
              <a:rPr lang="en-US" sz="1400" b="0" i="1" dirty="0">
                <a:solidFill>
                  <a:srgbClr val="FF0000"/>
                </a:solidFill>
              </a:rPr>
              <a:t>Note: Simulation must be run prior to opening Data inspector to observe raw values.</a:t>
            </a:r>
            <a:endParaRPr lang="en-US" sz="1400" b="0" dirty="0"/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DBE1FBE1-00A5-3E65-469B-86D800141C1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>
            <a:normAutofit/>
          </a:bodyPr>
          <a:lstStyle/>
          <a:p>
            <a:r>
              <a:rPr lang="en-US" dirty="0"/>
              <a:t>Step 3. Observe the Data Inspector</a:t>
            </a:r>
          </a:p>
        </p:txBody>
      </p:sp>
      <p:pic>
        <p:nvPicPr>
          <p:cNvPr id="22" name="Content Placeholder 21">
            <a:extLst>
              <a:ext uri="{FF2B5EF4-FFF2-40B4-BE49-F238E27FC236}">
                <a16:creationId xmlns:a16="http://schemas.microsoft.com/office/drawing/2014/main" id="{1C4E0DA0-2125-1361-734B-AF56BB55C3F9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829" t="10464" r="54505" b="35929"/>
          <a:stretch>
            <a:fillRect/>
          </a:stretch>
        </p:blipFill>
        <p:spPr>
          <a:xfrm>
            <a:off x="8261700" y="2759075"/>
            <a:ext cx="3379087" cy="3651250"/>
          </a:xfrm>
          <a:prstGeom prst="rect">
            <a:avLst/>
          </a:prstGeom>
        </p:spPr>
      </p:pic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3FAAFDBB-DB32-5501-2A9B-6EA8019B75D7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167" r="34585" b="73692"/>
          <a:stretch>
            <a:fillRect/>
          </a:stretch>
        </p:blipFill>
        <p:spPr>
          <a:xfrm>
            <a:off x="4229100" y="2759075"/>
            <a:ext cx="3776663" cy="2513370"/>
          </a:xfrm>
          <a:prstGeom prst="rect">
            <a:avLst/>
          </a:prstGeom>
        </p:spPr>
      </p:pic>
      <p:pic>
        <p:nvPicPr>
          <p:cNvPr id="26" name="Content Placeholder 25">
            <a:extLst>
              <a:ext uri="{FF2B5EF4-FFF2-40B4-BE49-F238E27FC236}">
                <a16:creationId xmlns:a16="http://schemas.microsoft.com/office/drawing/2014/main" id="{1682C7BE-BFCB-10CB-E203-E0B12EFF406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250" t="19913" r="34142" b="3262"/>
          <a:stretch>
            <a:fillRect/>
          </a:stretch>
        </p:blipFill>
        <p:spPr>
          <a:xfrm>
            <a:off x="395288" y="2759075"/>
            <a:ext cx="3776662" cy="3496040"/>
          </a:xfrm>
          <a:prstGeom prst="rect">
            <a:avLst/>
          </a:prstGeom>
        </p:spPr>
      </p:pic>
      <p:sp>
        <p:nvSpPr>
          <p:cNvPr id="28" name="Arrow: Up 27">
            <a:extLst>
              <a:ext uri="{FF2B5EF4-FFF2-40B4-BE49-F238E27FC236}">
                <a16:creationId xmlns:a16="http://schemas.microsoft.com/office/drawing/2014/main" id="{64A0BB2C-1ADD-D2E0-F8F3-B9265A944580}"/>
              </a:ext>
            </a:extLst>
          </p:cNvPr>
          <p:cNvSpPr/>
          <p:nvPr/>
        </p:nvSpPr>
        <p:spPr>
          <a:xfrm rot="10800000">
            <a:off x="2114655" y="5086024"/>
            <a:ext cx="165853" cy="314828"/>
          </a:xfrm>
          <a:prstGeom prst="up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Arrow: Up 29">
            <a:extLst>
              <a:ext uri="{FF2B5EF4-FFF2-40B4-BE49-F238E27FC236}">
                <a16:creationId xmlns:a16="http://schemas.microsoft.com/office/drawing/2014/main" id="{75FC103F-2B20-5911-44B7-8EF74D9F3BE5}"/>
              </a:ext>
            </a:extLst>
          </p:cNvPr>
          <p:cNvSpPr/>
          <p:nvPr/>
        </p:nvSpPr>
        <p:spPr>
          <a:xfrm rot="10800000">
            <a:off x="1171680" y="4033511"/>
            <a:ext cx="165853" cy="314828"/>
          </a:xfrm>
          <a:prstGeom prst="up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Arrow: Up 31">
            <a:extLst>
              <a:ext uri="{FF2B5EF4-FFF2-40B4-BE49-F238E27FC236}">
                <a16:creationId xmlns:a16="http://schemas.microsoft.com/office/drawing/2014/main" id="{BE5D6EF7-A576-9C2D-22FC-E82CFA6A4DEA}"/>
              </a:ext>
            </a:extLst>
          </p:cNvPr>
          <p:cNvSpPr/>
          <p:nvPr/>
        </p:nvSpPr>
        <p:spPr>
          <a:xfrm rot="10800000">
            <a:off x="1376467" y="2609850"/>
            <a:ext cx="165853" cy="314828"/>
          </a:xfrm>
          <a:prstGeom prst="up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Arrow: Up 33">
            <a:extLst>
              <a:ext uri="{FF2B5EF4-FFF2-40B4-BE49-F238E27FC236}">
                <a16:creationId xmlns:a16="http://schemas.microsoft.com/office/drawing/2014/main" id="{7F9C2BCE-E3A3-BE06-4C97-822DE3F728DE}"/>
              </a:ext>
            </a:extLst>
          </p:cNvPr>
          <p:cNvSpPr/>
          <p:nvPr/>
        </p:nvSpPr>
        <p:spPr>
          <a:xfrm rot="10800000">
            <a:off x="3362429" y="3429000"/>
            <a:ext cx="165853" cy="314828"/>
          </a:xfrm>
          <a:prstGeom prst="up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7" name="Content Placeholder 25">
            <a:extLst>
              <a:ext uri="{FF2B5EF4-FFF2-40B4-BE49-F238E27FC236}">
                <a16:creationId xmlns:a16="http://schemas.microsoft.com/office/drawing/2014/main" id="{971FA5EB-4F1F-42A8-D018-9A323FB9BB4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547" t="24844" r="65276" b="72451"/>
          <a:stretch>
            <a:fillRect/>
          </a:stretch>
        </p:blipFill>
        <p:spPr>
          <a:xfrm>
            <a:off x="3684676" y="1956953"/>
            <a:ext cx="343424" cy="424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563178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Content Placeholder 20">
            <a:extLst>
              <a:ext uri="{FF2B5EF4-FFF2-40B4-BE49-F238E27FC236}">
                <a16:creationId xmlns:a16="http://schemas.microsoft.com/office/drawing/2014/main" id="{E9421D79-56A8-8AE1-C42C-A5DF8EC542D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2133" r="14330" b="6952"/>
          <a:stretch>
            <a:fillRect/>
          </a:stretch>
        </p:blipFill>
        <p:spPr>
          <a:xfrm>
            <a:off x="2864481" y="1349421"/>
            <a:ext cx="8872435" cy="5060904"/>
          </a:xfrm>
          <a:prstGeom prst="rect">
            <a:avLst/>
          </a:prstGeom>
        </p:spPr>
      </p:pic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7CA5CC42-9589-0D6C-386D-EDEDA0BAA40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992254"/>
            <a:ext cx="2366236" cy="4088035"/>
          </a:xfrm>
        </p:spPr>
        <p:txBody>
          <a:bodyPr>
            <a:normAutofit/>
          </a:bodyPr>
          <a:lstStyle/>
          <a:p>
            <a:r>
              <a:rPr lang="en-US" dirty="0"/>
              <a:t>Step 1. Check box to add signal to data inspector chart </a:t>
            </a:r>
          </a:p>
          <a:p>
            <a:endParaRPr lang="en-US" i="1" dirty="0"/>
          </a:p>
          <a:p>
            <a:r>
              <a:rPr lang="en-US" sz="1200" i="1" dirty="0">
                <a:solidFill>
                  <a:schemeClr val="tx1"/>
                </a:solidFill>
              </a:rPr>
              <a:t>Note: The only reason we have 10 seconds of data is because the stop time is currently set for 10 seconds.</a:t>
            </a:r>
          </a:p>
          <a:p>
            <a:endParaRPr lang="en-US" sz="1200" i="1" dirty="0">
              <a:solidFill>
                <a:schemeClr val="tx1"/>
              </a:solidFill>
            </a:endParaRPr>
          </a:p>
          <a:p>
            <a:r>
              <a:rPr lang="en-US" sz="1200" i="1" dirty="0">
                <a:solidFill>
                  <a:schemeClr val="tx1"/>
                </a:solidFill>
              </a:rPr>
              <a:t>Increase the stop time to obtain more data.</a:t>
            </a:r>
            <a:endParaRPr lang="en-US" sz="1400" i="1" dirty="0">
              <a:solidFill>
                <a:schemeClr val="tx1"/>
              </a:solidFill>
            </a:endParaRP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D51971D1-CFA1-D67E-3B67-78D9701C4B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Data inspector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5B10F40B-B978-ED84-AB39-07D2956406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1 Signal to Chart + Stop Time Overview</a:t>
            </a:r>
          </a:p>
        </p:txBody>
      </p:sp>
    </p:spTree>
    <p:extLst>
      <p:ext uri="{BB962C8B-B14F-4D97-AF65-F5344CB8AC3E}">
        <p14:creationId xmlns:p14="http://schemas.microsoft.com/office/powerpoint/2010/main" val="244786396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108E35E9-3847-D824-FC46-4675A290B7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Grid Icon &amp; update Row value to 4</a:t>
            </a:r>
            <a:endParaRPr lang="en-US" i="1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66757DAC-9DF4-E10D-D87B-0EDDC48B43C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Data inspector</a:t>
            </a:r>
          </a:p>
        </p:txBody>
      </p:sp>
      <p:sp>
        <p:nvSpPr>
          <p:cNvPr id="12" name="Title 11">
            <a:extLst>
              <a:ext uri="{FF2B5EF4-FFF2-40B4-BE49-F238E27FC236}">
                <a16:creationId xmlns:a16="http://schemas.microsoft.com/office/drawing/2014/main" id="{7582E8E0-E787-A901-EBFD-6DD375D132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Edit Grid Layout</a:t>
            </a:r>
          </a:p>
        </p:txBody>
      </p:sp>
      <p:pic>
        <p:nvPicPr>
          <p:cNvPr id="19" name="Content Placeholder 18">
            <a:extLst>
              <a:ext uri="{FF2B5EF4-FFF2-40B4-BE49-F238E27FC236}">
                <a16:creationId xmlns:a16="http://schemas.microsoft.com/office/drawing/2014/main" id="{287E60C7-A43A-E9FE-E5D0-D740FDF90F9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668" t="8608" r="24269" b="33833"/>
          <a:stretch>
            <a:fillRect/>
          </a:stretch>
        </p:blipFill>
        <p:spPr>
          <a:xfrm>
            <a:off x="450472" y="2043113"/>
            <a:ext cx="5514144" cy="4367212"/>
          </a:xfrm>
          <a:prstGeom prst="rect">
            <a:avLst/>
          </a:prstGeom>
        </p:spPr>
      </p:pic>
      <p:pic>
        <p:nvPicPr>
          <p:cNvPr id="21" name="Content Placeholder 20">
            <a:extLst>
              <a:ext uri="{FF2B5EF4-FFF2-40B4-BE49-F238E27FC236}">
                <a16:creationId xmlns:a16="http://schemas.microsoft.com/office/drawing/2014/main" id="{685F1D4A-CC56-CC3F-1A85-CA77EDC2880A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4" t="9255" r="18737" b="8247"/>
          <a:stretch>
            <a:fillRect/>
          </a:stretch>
        </p:blipFill>
        <p:spPr>
          <a:xfrm>
            <a:off x="6096000" y="914400"/>
            <a:ext cx="5654115" cy="5495925"/>
          </a:xfrm>
          <a:prstGeom prst="rect">
            <a:avLst/>
          </a:prstGeom>
        </p:spPr>
      </p:pic>
      <p:sp>
        <p:nvSpPr>
          <p:cNvPr id="25" name="Rectangle 24">
            <a:extLst>
              <a:ext uri="{FF2B5EF4-FFF2-40B4-BE49-F238E27FC236}">
                <a16:creationId xmlns:a16="http://schemas.microsoft.com/office/drawing/2014/main" id="{230CD35B-E580-D8AE-0092-9A854BA668F7}"/>
              </a:ext>
            </a:extLst>
          </p:cNvPr>
          <p:cNvSpPr/>
          <p:nvPr/>
        </p:nvSpPr>
        <p:spPr>
          <a:xfrm>
            <a:off x="3610466" y="4288120"/>
            <a:ext cx="650448" cy="39700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C606E9E-C73B-7DCD-925B-451504E66CF4}"/>
              </a:ext>
            </a:extLst>
          </p:cNvPr>
          <p:cNvSpPr/>
          <p:nvPr/>
        </p:nvSpPr>
        <p:spPr>
          <a:xfrm>
            <a:off x="8923056" y="2819109"/>
            <a:ext cx="692283" cy="42423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07504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BAD649D-5E2F-FD62-8D72-FA01A29573E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Add Cursors to Chart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5BE762F-78CE-B201-8A27-8B2D8F2DD7D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Add Signals to Chart</a:t>
            </a:r>
            <a:endParaRPr lang="en-US" i="1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7BEB303-DDBB-BF3F-2DD1-67F4E28D1D7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Data inspector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90709B06-2524-004A-A52D-E15A87A03D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Signal(s) to Chart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4059FC8D-7C7C-B678-E0F8-DAA040418B5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36609" y="1563046"/>
            <a:ext cx="2843287" cy="365760"/>
          </a:xfrm>
        </p:spPr>
        <p:txBody>
          <a:bodyPr>
            <a:normAutofit fontScale="92500"/>
          </a:bodyPr>
          <a:lstStyle/>
          <a:p>
            <a:r>
              <a:rPr lang="en-US" dirty="0"/>
              <a:t>Step 3. Close Data inspector</a:t>
            </a:r>
          </a:p>
        </p:txBody>
      </p: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7EE9FA9D-ACD6-1B98-9561-17FC698AC03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635" t="10477" r="47894" b="8391"/>
          <a:stretch>
            <a:fillRect/>
          </a:stretch>
        </p:blipFill>
        <p:spPr>
          <a:xfrm>
            <a:off x="607625" y="2043113"/>
            <a:ext cx="3351987" cy="4367212"/>
          </a:xfrm>
          <a:prstGeom prst="rect">
            <a:avLst/>
          </a:prstGeom>
        </p:spPr>
      </p:pic>
      <p:pic>
        <p:nvPicPr>
          <p:cNvPr id="19" name="Content Placeholder 18">
            <a:extLst>
              <a:ext uri="{FF2B5EF4-FFF2-40B4-BE49-F238E27FC236}">
                <a16:creationId xmlns:a16="http://schemas.microsoft.com/office/drawing/2014/main" id="{6F7852DC-0858-2AD8-73BC-37B1AA7D4133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969" t="10547" r="15104" b="8321"/>
          <a:stretch>
            <a:fillRect/>
          </a:stretch>
        </p:blipFill>
        <p:spPr>
          <a:xfrm>
            <a:off x="4229100" y="2043113"/>
            <a:ext cx="4899844" cy="4367212"/>
          </a:xfrm>
          <a:prstGeom prst="rect">
            <a:avLst/>
          </a:prstGeom>
        </p:spPr>
      </p:pic>
      <p:pic>
        <p:nvPicPr>
          <p:cNvPr id="21" name="Content Placeholder 20">
            <a:extLst>
              <a:ext uri="{FF2B5EF4-FFF2-40B4-BE49-F238E27FC236}">
                <a16:creationId xmlns:a16="http://schemas.microsoft.com/office/drawing/2014/main" id="{64366120-FC18-DD2E-EC02-95B219EB5834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479" t="6018" r="5980" b="84119"/>
          <a:stretch>
            <a:fillRect/>
          </a:stretch>
        </p:blipFill>
        <p:spPr>
          <a:xfrm>
            <a:off x="9236610" y="2042464"/>
            <a:ext cx="2843287" cy="969905"/>
          </a:xfrm>
          <a:prstGeom prst="rect">
            <a:avLst/>
          </a:prstGeom>
          <a:ln>
            <a:noFill/>
          </a:ln>
        </p:spPr>
      </p:pic>
      <p:sp>
        <p:nvSpPr>
          <p:cNvPr id="25" name="Text Placeholder 13">
            <a:extLst>
              <a:ext uri="{FF2B5EF4-FFF2-40B4-BE49-F238E27FC236}">
                <a16:creationId xmlns:a16="http://schemas.microsoft.com/office/drawing/2014/main" id="{953B5473-9950-9F1C-9AD0-2C7404A1BC32}"/>
              </a:ext>
            </a:extLst>
          </p:cNvPr>
          <p:cNvSpPr txBox="1">
            <a:spLocks/>
          </p:cNvSpPr>
          <p:nvPr/>
        </p:nvSpPr>
        <p:spPr>
          <a:xfrm>
            <a:off x="9236609" y="3366214"/>
            <a:ext cx="2843287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800" b="0" kern="1200">
                <a:solidFill>
                  <a:sysClr val="windowText" lastClr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Step 4. Save</a:t>
            </a: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E97AEE18-7BE7-3D8E-5260-9F9DAEC2C90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4304" b="70391"/>
          <a:stretch>
            <a:fillRect/>
          </a:stretch>
        </p:blipFill>
        <p:spPr>
          <a:xfrm>
            <a:off x="9257475" y="3731973"/>
            <a:ext cx="2604326" cy="2640676"/>
          </a:xfrm>
          <a:prstGeom prst="rect">
            <a:avLst/>
          </a:prstGeom>
          <a:ln>
            <a:noFill/>
          </a:ln>
        </p:spPr>
      </p:pic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3AEE1396-34E1-49B0-4F0E-A24782589976}"/>
              </a:ext>
            </a:extLst>
          </p:cNvPr>
          <p:cNvCxnSpPr>
            <a:cxnSpLocks/>
          </p:cNvCxnSpPr>
          <p:nvPr/>
        </p:nvCxnSpPr>
        <p:spPr>
          <a:xfrm>
            <a:off x="9189474" y="914401"/>
            <a:ext cx="0" cy="565608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CFAD188-84D2-DEC8-C1DA-07D79F5F2880}"/>
              </a:ext>
            </a:extLst>
          </p:cNvPr>
          <p:cNvCxnSpPr>
            <a:cxnSpLocks/>
          </p:cNvCxnSpPr>
          <p:nvPr/>
        </p:nvCxnSpPr>
        <p:spPr>
          <a:xfrm>
            <a:off x="4100571" y="903933"/>
            <a:ext cx="0" cy="565608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9852004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ACA0A6-8D67-5C93-57A4-86163CA747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2AB0A80-7C1F-704F-E43A-5187837B34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Use blocks (Part 2)</a:t>
            </a:r>
          </a:p>
        </p:txBody>
      </p:sp>
    </p:spTree>
    <p:extLst>
      <p:ext uri="{BB962C8B-B14F-4D97-AF65-F5344CB8AC3E}">
        <p14:creationId xmlns:p14="http://schemas.microsoft.com/office/powerpoint/2010/main" val="16667754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B13D96-71C8-50E9-2282-AAB67D3EDE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886D792-7C3F-BD3F-873A-DA1F508E2BA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2)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1B33F52-6CEB-82FE-A393-5BC253FA98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Success in this section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F6720D3-C0E7-D971-97FF-100015D2BC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blocks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Blocks 			Format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Signal Attributes 		View / Edit / Property Inspector</a:t>
            </a:r>
          </a:p>
        </p:txBody>
      </p:sp>
    </p:spTree>
    <p:extLst>
      <p:ext uri="{BB962C8B-B14F-4D97-AF65-F5344CB8AC3E}">
        <p14:creationId xmlns:p14="http://schemas.microsoft.com/office/powerpoint/2010/main" val="303183402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1E5F58EB-AB12-9F10-0CD7-41A8C7023AA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Click Align Right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9F949557-61D8-DF69-3287-F2F872416CF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Select blocks &amp; then click “Format” tab</a:t>
            </a:r>
            <a:endParaRPr lang="en-US" i="1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143B67F1-CFF5-45D0-9160-5E34AA7DAE8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2)</a:t>
            </a:r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C85B7DFF-9252-4408-BA01-62BCA9A60E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731520"/>
          </a:xfrm>
        </p:spPr>
        <p:txBody>
          <a:bodyPr/>
          <a:lstStyle/>
          <a:p>
            <a:r>
              <a:rPr lang="en-US" dirty="0"/>
              <a:t>Formatting Blocks – Align Left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both lines and blocks may be selected for this section </a:t>
            </a:r>
            <a:br>
              <a:rPr lang="en-US" sz="1200" b="0" i="1" dirty="0">
                <a:solidFill>
                  <a:srgbClr val="FF0000"/>
                </a:solidFill>
              </a:rPr>
            </a:br>
            <a:r>
              <a:rPr lang="en-US" sz="1200" b="0" i="1" dirty="0">
                <a:solidFill>
                  <a:srgbClr val="FF0000"/>
                </a:solidFill>
              </a:rPr>
              <a:t>Note: align commands will only affect the placement of the blocks</a:t>
            </a:r>
            <a:endParaRPr lang="en-US" sz="1400" dirty="0"/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F167C471-CD75-287D-0AC0-4F96967B9AD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3. Observe the blocks have been aligned</a:t>
            </a:r>
          </a:p>
        </p:txBody>
      </p:sp>
      <p:pic>
        <p:nvPicPr>
          <p:cNvPr id="22" name="Content Placeholder 21">
            <a:extLst>
              <a:ext uri="{FF2B5EF4-FFF2-40B4-BE49-F238E27FC236}">
                <a16:creationId xmlns:a16="http://schemas.microsoft.com/office/drawing/2014/main" id="{081C0998-356F-3DF4-08E1-67B50615DD0B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42" r="41889" b="4045"/>
          <a:stretch>
            <a:fillRect/>
          </a:stretch>
        </p:blipFill>
        <p:spPr>
          <a:xfrm>
            <a:off x="8068518" y="2655378"/>
            <a:ext cx="4072022" cy="3877056"/>
          </a:xfrm>
          <a:prstGeom prst="rect">
            <a:avLst/>
          </a:prstGeom>
        </p:spPr>
      </p:pic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B1E1A176-6BA8-AA9F-86E1-7000DB265D30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928" t="839" r="40728" b="4364"/>
          <a:stretch>
            <a:fillRect/>
          </a:stretch>
        </p:blipFill>
        <p:spPr>
          <a:xfrm>
            <a:off x="4564445" y="2655378"/>
            <a:ext cx="3336948" cy="3922776"/>
          </a:xfrm>
          <a:prstGeom prst="rect">
            <a:avLst/>
          </a:prstGeom>
        </p:spPr>
      </p:pic>
      <p:pic>
        <p:nvPicPr>
          <p:cNvPr id="26" name="Content Placeholder 25">
            <a:extLst>
              <a:ext uri="{FF2B5EF4-FFF2-40B4-BE49-F238E27FC236}">
                <a16:creationId xmlns:a16="http://schemas.microsoft.com/office/drawing/2014/main" id="{8396C6B5-FE57-AAA0-983B-5567F8C8BE4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52" r="50242" b="4069"/>
          <a:stretch>
            <a:fillRect/>
          </a:stretch>
        </p:blipFill>
        <p:spPr>
          <a:xfrm>
            <a:off x="679525" y="2655378"/>
            <a:ext cx="3406594" cy="3877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786325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1F00FB1B-4E63-02CC-FC29-E59865ACE65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Click Property Inspector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862FEE59-A398-103E-7E00-61CE71AEE8D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“MODELING” Tab and expand options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83E49E70-C9FD-BD56-AFBA-B3EBE13D37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2)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084CDC20-538F-C970-46CF-5F310B2CC1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731520"/>
          </a:xfrm>
        </p:spPr>
        <p:txBody>
          <a:bodyPr/>
          <a:lstStyle/>
          <a:p>
            <a:r>
              <a:rPr lang="en-US" dirty="0"/>
              <a:t>Show Property Inspector (Method 1)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This method will force property Inspector to activate</a:t>
            </a:r>
            <a:endParaRPr lang="en-US" dirty="0"/>
          </a:p>
        </p:txBody>
      </p:sp>
      <p:pic>
        <p:nvPicPr>
          <p:cNvPr id="23" name="Content Placeholder 22">
            <a:extLst>
              <a:ext uri="{FF2B5EF4-FFF2-40B4-BE49-F238E27FC236}">
                <a16:creationId xmlns:a16="http://schemas.microsoft.com/office/drawing/2014/main" id="{DD528E1A-0AA4-441E-B8DC-13E867724A8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9100" y="2759075"/>
            <a:ext cx="4916887" cy="2267867"/>
          </a:xfrm>
          <a:prstGeom prst="rect">
            <a:avLst/>
          </a:prstGeom>
        </p:spPr>
      </p:pic>
      <p:pic>
        <p:nvPicPr>
          <p:cNvPr id="25" name="Content Placeholder 24">
            <a:extLst>
              <a:ext uri="{FF2B5EF4-FFF2-40B4-BE49-F238E27FC236}">
                <a16:creationId xmlns:a16="http://schemas.microsoft.com/office/drawing/2014/main" id="{636B2735-0B73-43A1-22A1-49C75DA97B14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500" t="1" r="64820" b="61920"/>
          <a:stretch>
            <a:fillRect/>
          </a:stretch>
        </p:blipFill>
        <p:spPr>
          <a:xfrm>
            <a:off x="6455968" y="2759075"/>
            <a:ext cx="4937915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167756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4AB9AF-CC67-52CB-7E38-F80373ABE8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2638C17E-BE06-F0F7-F917-434733910C8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Click Down Arrow and then Click Restore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4777210E-CF19-3957-6812-FF4A42AD1EB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Step 1. Click Property Inspector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F189C1E1-96EC-04C8-8C70-69C1C957DBA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2)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9E6E70D0-E693-76E2-0392-EC9260477F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731520"/>
          </a:xfrm>
        </p:spPr>
        <p:txBody>
          <a:bodyPr/>
          <a:lstStyle/>
          <a:p>
            <a:r>
              <a:rPr lang="en-US" dirty="0"/>
              <a:t>Show Property Inspector (Method 2)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This is my preferred method</a:t>
            </a:r>
            <a:br>
              <a:rPr lang="en-US" sz="1200" b="0" i="1" dirty="0">
                <a:solidFill>
                  <a:srgbClr val="FF0000"/>
                </a:solidFill>
              </a:rPr>
            </a:b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1DEB9B9-BE26-7FF6-347C-A415EC5CEED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1830" b="69098"/>
          <a:stretch>
            <a:fillRect/>
          </a:stretch>
        </p:blipFill>
        <p:spPr>
          <a:xfrm>
            <a:off x="630637" y="2759075"/>
            <a:ext cx="5153813" cy="3038833"/>
          </a:xfrm>
          <a:prstGeom prst="rect">
            <a:avLst/>
          </a:prstGeom>
        </p:spPr>
      </p:pic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F43850D8-51CA-1F34-6A99-1178AD7DF3E2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871" b="57588"/>
          <a:stretch>
            <a:fillRect/>
          </a:stretch>
        </p:blipFill>
        <p:spPr>
          <a:xfrm>
            <a:off x="7312920" y="2759075"/>
            <a:ext cx="3224010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679516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5225B62C-43D3-BE32-A57C-A0316060A8C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288888" y="1563046"/>
            <a:ext cx="3739714" cy="365760"/>
          </a:xfrm>
        </p:spPr>
        <p:txBody>
          <a:bodyPr>
            <a:normAutofit/>
          </a:bodyPr>
          <a:lstStyle/>
          <a:p>
            <a:r>
              <a:rPr lang="en-US" dirty="0"/>
              <a:t>Step 2. Observe updated Attributes</a:t>
            </a:r>
          </a:p>
          <a:p>
            <a:endParaRPr lang="en-US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55E1930E-FFE5-C94C-301B-4CC8B6F025E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7777220" cy="365760"/>
          </a:xfrm>
        </p:spPr>
        <p:txBody>
          <a:bodyPr/>
          <a:lstStyle/>
          <a:p>
            <a:r>
              <a:rPr lang="en-US" dirty="0"/>
              <a:t>Step 1. Click Block + Expand &amp; Edit Signal Attributes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A4FAAE48-27B7-B2CC-67D0-A3EB60AFED9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2)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32983A16-4B67-810F-60D6-F83A5492B1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Signal Attributes (P1)</a:t>
            </a:r>
          </a:p>
        </p:txBody>
      </p:sp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BC7398C2-2C1A-0FDE-4968-9FABEC8176E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40" t="13930" r="1" b="3788"/>
          <a:stretch>
            <a:fillRect/>
          </a:stretch>
        </p:blipFill>
        <p:spPr>
          <a:xfrm>
            <a:off x="394865" y="2042464"/>
            <a:ext cx="7778173" cy="4406948"/>
          </a:xfrm>
          <a:prstGeom prst="rect">
            <a:avLst/>
          </a:prstGeom>
        </p:spPr>
      </p:pic>
      <p:pic>
        <p:nvPicPr>
          <p:cNvPr id="30" name="Content Placeholder 25">
            <a:extLst>
              <a:ext uri="{FF2B5EF4-FFF2-40B4-BE49-F238E27FC236}">
                <a16:creationId xmlns:a16="http://schemas.microsoft.com/office/drawing/2014/main" id="{2DD8CD07-1A75-9C83-51ED-745ED0A8B4A2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2948" t="14389" b="53182"/>
          <a:stretch>
            <a:fillRect/>
          </a:stretch>
        </p:blipFill>
        <p:spPr>
          <a:xfrm>
            <a:off x="8598879" y="2042464"/>
            <a:ext cx="3119731" cy="31889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568087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FC9B73-8186-77CA-2C4F-3E6C10487B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D2070818-07A7-946A-6F88-1A4FE92E6D5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288888" y="1563046"/>
            <a:ext cx="3739714" cy="365760"/>
          </a:xfrm>
        </p:spPr>
        <p:txBody>
          <a:bodyPr>
            <a:normAutofit/>
          </a:bodyPr>
          <a:lstStyle/>
          <a:p>
            <a:r>
              <a:rPr lang="en-US" dirty="0"/>
              <a:t>Step 2. Observe updated Attributes</a:t>
            </a:r>
          </a:p>
          <a:p>
            <a:endParaRPr lang="en-US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46C54C42-B7A2-9814-A803-0251269B708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7777220" cy="365760"/>
          </a:xfrm>
        </p:spPr>
        <p:txBody>
          <a:bodyPr/>
          <a:lstStyle/>
          <a:p>
            <a:r>
              <a:rPr lang="en-US" dirty="0"/>
              <a:t>Step 1. Click Block + Expand &amp; Edit Signal Attributes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8B17D0E-AB1B-D2C6-2051-3D70A4A2565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2)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977ACF53-4432-9C3A-CC4B-1B60B20494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Signal Attributes (P1)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7F8A62B2-5094-CF10-6D9C-CC2D3F4B13A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283" t="13958" r="162" b="3760"/>
          <a:stretch>
            <a:fillRect/>
          </a:stretch>
        </p:blipFill>
        <p:spPr>
          <a:xfrm>
            <a:off x="536691" y="2042465"/>
            <a:ext cx="7629106" cy="4407408"/>
          </a:xfrm>
          <a:prstGeom prst="rect">
            <a:avLst/>
          </a:prstGeom>
        </p:spPr>
      </p:pic>
      <p:sp>
        <p:nvSpPr>
          <p:cNvPr id="11" name="Arrow: Up 10">
            <a:extLst>
              <a:ext uri="{FF2B5EF4-FFF2-40B4-BE49-F238E27FC236}">
                <a16:creationId xmlns:a16="http://schemas.microsoft.com/office/drawing/2014/main" id="{9D24418D-DE40-B2A6-5B14-6F22B59EB127}"/>
              </a:ext>
            </a:extLst>
          </p:cNvPr>
          <p:cNvSpPr/>
          <p:nvPr/>
        </p:nvSpPr>
        <p:spPr>
          <a:xfrm rot="5400000">
            <a:off x="249256" y="3896310"/>
            <a:ext cx="365761" cy="395289"/>
          </a:xfrm>
          <a:prstGeom prst="up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755CBB7F-160B-7C48-1523-93FBFEC72AD6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595" t="14417" b="54423"/>
          <a:stretch>
            <a:fillRect/>
          </a:stretch>
        </p:blipFill>
        <p:spPr>
          <a:xfrm>
            <a:off x="8717250" y="2042464"/>
            <a:ext cx="3001360" cy="30642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427407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258E1EFD-0830-6482-723B-E22687849FB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document has been saved. 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37BE9EC8-6906-DFCF-3B91-F4F690793B2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Save</a:t>
            </a:r>
          </a:p>
        </p:txBody>
      </p:sp>
      <p:sp>
        <p:nvSpPr>
          <p:cNvPr id="27" name="Text Placeholder 26">
            <a:extLst>
              <a:ext uri="{FF2B5EF4-FFF2-40B4-BE49-F238E27FC236}">
                <a16:creationId xmlns:a16="http://schemas.microsoft.com/office/drawing/2014/main" id="{E1860D15-2307-2325-D36F-0EB7B798878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2)</a:t>
            </a:r>
          </a:p>
        </p:txBody>
      </p:sp>
      <p:sp>
        <p:nvSpPr>
          <p:cNvPr id="14" name="Title 13">
            <a:extLst>
              <a:ext uri="{FF2B5EF4-FFF2-40B4-BE49-F238E27FC236}">
                <a16:creationId xmlns:a16="http://schemas.microsoft.com/office/drawing/2014/main" id="{8C4F58E8-8969-BEF8-8A55-F052968270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618605"/>
          </a:xfrm>
        </p:spPr>
        <p:txBody>
          <a:bodyPr/>
          <a:lstStyle/>
          <a:p>
            <a:r>
              <a:rPr lang="en-US" dirty="0"/>
              <a:t>Save Changes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The star * was removed after the save took place</a:t>
            </a:r>
          </a:p>
        </p:txBody>
      </p:sp>
      <p:sp>
        <p:nvSpPr>
          <p:cNvPr id="34" name="Text Placeholder 26">
            <a:extLst>
              <a:ext uri="{FF2B5EF4-FFF2-40B4-BE49-F238E27FC236}">
                <a16:creationId xmlns:a16="http://schemas.microsoft.com/office/drawing/2014/main" id="{DF5A7799-20EA-66CC-EE94-07F38FF3B6B2}"/>
              </a:ext>
            </a:extLst>
          </p:cNvPr>
          <p:cNvSpPr txBox="1">
            <a:spLocks/>
          </p:cNvSpPr>
          <p:nvPr/>
        </p:nvSpPr>
        <p:spPr>
          <a:xfrm>
            <a:off x="1693758" y="392566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pic>
        <p:nvPicPr>
          <p:cNvPr id="46" name="Content Placeholder 32">
            <a:extLst>
              <a:ext uri="{FF2B5EF4-FFF2-40B4-BE49-F238E27FC236}">
                <a16:creationId xmlns:a16="http://schemas.microsoft.com/office/drawing/2014/main" id="{F9C9106B-3752-3A01-83B6-4D3319C5086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2629" b="69240"/>
          <a:stretch>
            <a:fillRect/>
          </a:stretch>
        </p:blipFill>
        <p:spPr>
          <a:xfrm>
            <a:off x="1618497" y="3072265"/>
            <a:ext cx="3178093" cy="3024869"/>
          </a:xfrm>
          <a:prstGeom prst="rect">
            <a:avLst/>
          </a:prstGeom>
        </p:spPr>
      </p:pic>
      <p:pic>
        <p:nvPicPr>
          <p:cNvPr id="51" name="Content Placeholder 47">
            <a:extLst>
              <a:ext uri="{FF2B5EF4-FFF2-40B4-BE49-F238E27FC236}">
                <a16:creationId xmlns:a16="http://schemas.microsoft.com/office/drawing/2014/main" id="{61792BC4-858F-1D94-711A-94CE5A955E3F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1050" b="94745"/>
          <a:stretch>
            <a:fillRect/>
          </a:stretch>
        </p:blipFill>
        <p:spPr>
          <a:xfrm>
            <a:off x="8106206" y="3072265"/>
            <a:ext cx="1637438" cy="5167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645473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2B210-3699-7A48-73F7-F337EAEFB8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D6C3D40-CE56-0FF6-13D1-C7987DA8D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</p:spTree>
    <p:extLst>
      <p:ext uri="{BB962C8B-B14F-4D97-AF65-F5344CB8AC3E}">
        <p14:creationId xmlns:p14="http://schemas.microsoft.com/office/powerpoint/2010/main" val="1884409901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283411-7D46-E6DA-3EE2-CC6ADE9B29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A0DE9EE-2708-DCC2-921D-49F84701C25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615A4A6-FF83-CD51-D3D0-0CC913D5DD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Success in this section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AD4A697-C136-48DF-BFCF-12AE5B9F8B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Model Explorer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Data Dictionary (</a:t>
            </a:r>
            <a:r>
              <a:rPr lang="en-US" sz="1800" i="1" dirty="0" err="1"/>
              <a:t>sldd</a:t>
            </a:r>
            <a:r>
              <a:rPr lang="en-US" sz="1800" i="1" dirty="0"/>
              <a:t>)	Create / Edit</a:t>
            </a:r>
          </a:p>
        </p:txBody>
      </p:sp>
    </p:spTree>
    <p:extLst>
      <p:ext uri="{BB962C8B-B14F-4D97-AF65-F5344CB8AC3E}">
        <p14:creationId xmlns:p14="http://schemas.microsoft.com/office/powerpoint/2010/main" val="386513959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0E0D61F4-83A6-87DD-F4CC-1B0FFD6EFFD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Model Explorer Window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2A5AAB5-9C59-CB32-8394-48F4C2C0B69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Step 1. Click “MODELING” Tab and Click “Model Explorer”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72AA4820-D472-79CC-7585-DE0AEE4496A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870EFA85-C487-33F7-D82E-267779C80C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Model Explorer</a:t>
            </a:r>
          </a:p>
        </p:txBody>
      </p:sp>
      <p:pic>
        <p:nvPicPr>
          <p:cNvPr id="18" name="Content Placeholder 17">
            <a:extLst>
              <a:ext uri="{FF2B5EF4-FFF2-40B4-BE49-F238E27FC236}">
                <a16:creationId xmlns:a16="http://schemas.microsoft.com/office/drawing/2014/main" id="{1E9CF2AC-E5E7-5C67-B475-73826DB927C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8814" b="62199"/>
          <a:stretch>
            <a:fillRect/>
          </a:stretch>
        </p:blipFill>
        <p:spPr>
          <a:xfrm>
            <a:off x="1303931" y="2759075"/>
            <a:ext cx="3807226" cy="3651250"/>
          </a:xfrm>
          <a:prstGeom prst="rect">
            <a:avLst/>
          </a:prstGeom>
        </p:spPr>
      </p:pic>
      <p:pic>
        <p:nvPicPr>
          <p:cNvPr id="22" name="Content Placeholder 21">
            <a:extLst>
              <a:ext uri="{FF2B5EF4-FFF2-40B4-BE49-F238E27FC236}">
                <a16:creationId xmlns:a16="http://schemas.microsoft.com/office/drawing/2014/main" id="{A1C7ED89-3B42-2426-31E1-FD16BA6E6BC9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2990" b="59170"/>
          <a:stretch>
            <a:fillRect/>
          </a:stretch>
        </p:blipFill>
        <p:spPr>
          <a:xfrm>
            <a:off x="5519828" y="2759075"/>
            <a:ext cx="6584206" cy="30737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032343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DCC330-69EE-DC99-DCFC-7FD70D540B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572BC1A-DB9B-68D8-3A6B-F142B1BE3D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</p:spTree>
    <p:extLst>
      <p:ext uri="{BB962C8B-B14F-4D97-AF65-F5344CB8AC3E}">
        <p14:creationId xmlns:p14="http://schemas.microsoft.com/office/powerpoint/2010/main" val="32560601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1112ED-AF24-BC4E-8FB5-39FC512C88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DF73587-5A62-1943-E355-4370B4CD578E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What does success look like?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CCFE975-6361-ACAC-BCFC-A5D235208E73}"/>
              </a:ext>
            </a:extLst>
          </p:cNvPr>
          <p:cNvSpPr txBox="1">
            <a:spLocks/>
          </p:cNvSpPr>
          <p:nvPr/>
        </p:nvSpPr>
        <p:spPr>
          <a:xfrm>
            <a:off x="839788" y="1376313"/>
            <a:ext cx="10515600" cy="4901938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marL="228600" indent="-228600" algn="l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b="0" dirty="0">
                <a:latin typeface="+mn-lt"/>
                <a:ea typeface="+mn-ea"/>
                <a:cs typeface="+mn-cs"/>
              </a:rPr>
              <a:t>Use Data inspector</a:t>
            </a:r>
          </a:p>
          <a:p>
            <a:pPr marL="685800" lvl="1" indent="-228600" algn="l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000" b="0" i="1" dirty="0">
                <a:solidFill>
                  <a:srgbClr val="FF0000"/>
                </a:solidFill>
                <a:latin typeface="+mn-lt"/>
                <a:cs typeface="+mn-cs"/>
              </a:rPr>
              <a:t>Graph 		Graph Data / Edit Grid / Use Cursors</a:t>
            </a:r>
            <a:endParaRPr lang="en-US" sz="1000" b="0" i="1" dirty="0">
              <a:solidFill>
                <a:srgbClr val="FF0000"/>
              </a:solidFill>
              <a:latin typeface="+mn-lt"/>
              <a:ea typeface="+mn-ea"/>
              <a:cs typeface="+mn-cs"/>
            </a:endParaRPr>
          </a:p>
          <a:p>
            <a:pPr marL="228600" indent="-228600" algn="l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b="0" dirty="0">
                <a:latin typeface="+mn-lt"/>
                <a:ea typeface="+mn-ea"/>
                <a:cs typeface="+mn-cs"/>
              </a:rPr>
              <a:t>Use Requirements editor</a:t>
            </a:r>
          </a:p>
          <a:p>
            <a:pPr marL="685800" lvl="1" indent="-228600" algn="l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100" b="0" i="1" dirty="0">
                <a:solidFill>
                  <a:srgbClr val="FF0000"/>
                </a:solidFill>
              </a:rPr>
              <a:t>Editor (</a:t>
            </a:r>
            <a:r>
              <a:rPr lang="en-US" sz="1100" b="0" i="1" dirty="0" err="1">
                <a:solidFill>
                  <a:srgbClr val="FF0000"/>
                </a:solidFill>
              </a:rPr>
              <a:t>slreqx</a:t>
            </a:r>
            <a:r>
              <a:rPr lang="en-US" sz="1100" b="0" i="1" dirty="0">
                <a:solidFill>
                  <a:srgbClr val="FF0000"/>
                </a:solidFill>
              </a:rPr>
              <a:t>)		Create / Edit / Link</a:t>
            </a:r>
          </a:p>
        </p:txBody>
      </p:sp>
      <p:sp>
        <p:nvSpPr>
          <p:cNvPr id="20" name="Title 3">
            <a:extLst>
              <a:ext uri="{FF2B5EF4-FFF2-40B4-BE49-F238E27FC236}">
                <a16:creationId xmlns:a16="http://schemas.microsoft.com/office/drawing/2014/main" id="{35F4C767-C4A9-2993-DE50-764933B85423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396416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Detailed Success in this section looks like knowing how to …</a:t>
            </a:r>
          </a:p>
        </p:txBody>
      </p:sp>
    </p:spTree>
    <p:extLst>
      <p:ext uri="{BB962C8B-B14F-4D97-AF65-F5344CB8AC3E}">
        <p14:creationId xmlns:p14="http://schemas.microsoft.com/office/powerpoint/2010/main" val="388388488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D55548-FEEA-2086-399A-428AB7BD8E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AB4BA837-3DD9-FAEF-B923-6FBB6C8D95D0}"/>
              </a:ext>
            </a:extLst>
          </p:cNvPr>
          <p:cNvSpPr/>
          <p:nvPr/>
        </p:nvSpPr>
        <p:spPr>
          <a:xfrm>
            <a:off x="152400" y="1038225"/>
            <a:ext cx="4962525" cy="5219700"/>
          </a:xfrm>
          <a:prstGeom prst="round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5409900-F523-9E97-6149-55392B7E1565}"/>
              </a:ext>
            </a:extLst>
          </p:cNvPr>
          <p:cNvSpPr txBox="1"/>
          <p:nvPr/>
        </p:nvSpPr>
        <p:spPr>
          <a:xfrm>
            <a:off x="8392249" y="207390"/>
            <a:ext cx="3447815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Problem to Solve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EFF7601-BA2A-880D-C704-363CC3A887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336" y="1555981"/>
            <a:ext cx="4313686" cy="153137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5161B12-EF82-C9F1-1F7D-46DC7AB915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9079" y="3187588"/>
            <a:ext cx="4313686" cy="2027094"/>
          </a:xfrm>
          <a:prstGeom prst="rect">
            <a:avLst/>
          </a:prstGeom>
        </p:spPr>
      </p:pic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349B1D5D-777C-3B27-DCA3-0CB11691EDDA}"/>
              </a:ext>
            </a:extLst>
          </p:cNvPr>
          <p:cNvSpPr/>
          <p:nvPr/>
        </p:nvSpPr>
        <p:spPr>
          <a:xfrm>
            <a:off x="7082673" y="1038225"/>
            <a:ext cx="4962525" cy="5219700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56C44C2-9FD0-E25E-3B4D-9FF660A2C19D}"/>
              </a:ext>
            </a:extLst>
          </p:cNvPr>
          <p:cNvSpPr/>
          <p:nvPr/>
        </p:nvSpPr>
        <p:spPr>
          <a:xfrm>
            <a:off x="7315200" y="1391933"/>
            <a:ext cx="4524864" cy="579879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 err="1">
                <a:solidFill>
                  <a:schemeClr val="tx1"/>
                </a:solidFill>
              </a:rPr>
              <a:t>ACaMS</a:t>
            </a:r>
            <a:r>
              <a:rPr lang="en-US" sz="1200" b="1" dirty="0">
                <a:solidFill>
                  <a:schemeClr val="tx1"/>
                </a:solidFill>
              </a:rPr>
              <a:t> is the “Next Big Thing”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58B69E25-A407-4B60-0EB8-5340BA41D391}"/>
              </a:ext>
            </a:extLst>
          </p:cNvPr>
          <p:cNvSpPr/>
          <p:nvPr/>
        </p:nvSpPr>
        <p:spPr>
          <a:xfrm>
            <a:off x="8392514" y="2581283"/>
            <a:ext cx="3105311" cy="1368548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 err="1">
                <a:solidFill>
                  <a:schemeClr val="tx1"/>
                </a:solidFill>
              </a:rPr>
              <a:t>ACaMS</a:t>
            </a:r>
            <a:r>
              <a:rPr lang="en-US" sz="1200" b="1" dirty="0">
                <a:solidFill>
                  <a:schemeClr val="tx1"/>
                </a:solidFill>
              </a:rPr>
              <a:t> Today is </a:t>
            </a:r>
          </a:p>
          <a:p>
            <a:pPr algn="ctr"/>
            <a:endParaRPr lang="en-US" sz="1200" b="1" dirty="0">
              <a:solidFill>
                <a:schemeClr val="tx1"/>
              </a:solidFill>
            </a:endParaRPr>
          </a:p>
          <a:p>
            <a:pPr algn="ctr"/>
            <a:r>
              <a:rPr lang="en-US" sz="1200" dirty="0" err="1">
                <a:solidFill>
                  <a:schemeClr val="tx1"/>
                </a:solidFill>
              </a:rPr>
              <a:t>Mireina</a:t>
            </a:r>
            <a:r>
              <a:rPr lang="en-US" sz="1200" dirty="0">
                <a:solidFill>
                  <a:schemeClr val="tx1"/>
                </a:solidFill>
              </a:rPr>
              <a:t> Keith</a:t>
            </a:r>
          </a:p>
          <a:p>
            <a:pPr algn="ctr"/>
            <a:r>
              <a:rPr lang="en-US" sz="1200" dirty="0">
                <a:solidFill>
                  <a:schemeClr val="tx1"/>
                </a:solidFill>
              </a:rPr>
              <a:t>Richard Dalton</a:t>
            </a:r>
          </a:p>
          <a:p>
            <a:pPr algn="ctr"/>
            <a:endParaRPr lang="en-US" sz="1200" dirty="0">
              <a:solidFill>
                <a:schemeClr val="tx1"/>
              </a:solidFill>
            </a:endParaRPr>
          </a:p>
          <a:p>
            <a:pPr algn="ctr"/>
            <a:r>
              <a:rPr lang="en-US" sz="1200" dirty="0">
                <a:solidFill>
                  <a:schemeClr val="tx1"/>
                </a:solidFill>
              </a:rPr>
              <a:t>Nate Tyler</a:t>
            </a:r>
          </a:p>
          <a:p>
            <a:pPr algn="ctr"/>
            <a:r>
              <a:rPr lang="en-US" sz="1200" dirty="0">
                <a:solidFill>
                  <a:schemeClr val="tx1"/>
                </a:solidFill>
              </a:rPr>
              <a:t>Linda Herman</a:t>
            </a:r>
          </a:p>
        </p:txBody>
      </p:sp>
      <p:sp>
        <p:nvSpPr>
          <p:cNvPr id="13" name="Trapezoid 12">
            <a:extLst>
              <a:ext uri="{FF2B5EF4-FFF2-40B4-BE49-F238E27FC236}">
                <a16:creationId xmlns:a16="http://schemas.microsoft.com/office/drawing/2014/main" id="{877C5770-DD2A-9583-C9A7-838D7B6A98DB}"/>
              </a:ext>
            </a:extLst>
          </p:cNvPr>
          <p:cNvSpPr/>
          <p:nvPr/>
        </p:nvSpPr>
        <p:spPr>
          <a:xfrm rot="5400000">
            <a:off x="2738889" y="3035909"/>
            <a:ext cx="5044393" cy="1216152"/>
          </a:xfrm>
          <a:prstGeom prst="trapezoid">
            <a:avLst>
              <a:gd name="adj" fmla="val 109489"/>
            </a:avLst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Arrow: Notched Right 13">
            <a:extLst>
              <a:ext uri="{FF2B5EF4-FFF2-40B4-BE49-F238E27FC236}">
                <a16:creationId xmlns:a16="http://schemas.microsoft.com/office/drawing/2014/main" id="{BD311A8A-C8AF-D8D2-75AC-3656CC11366E}"/>
              </a:ext>
            </a:extLst>
          </p:cNvPr>
          <p:cNvSpPr/>
          <p:nvPr/>
        </p:nvSpPr>
        <p:spPr>
          <a:xfrm>
            <a:off x="4845376" y="3255169"/>
            <a:ext cx="901236" cy="758778"/>
          </a:xfrm>
          <a:prstGeom prst="notchedRightArrow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B2C14EE-64C9-845B-8154-8B138BF09042}"/>
              </a:ext>
            </a:extLst>
          </p:cNvPr>
          <p:cNvSpPr txBox="1"/>
          <p:nvPr/>
        </p:nvSpPr>
        <p:spPr>
          <a:xfrm>
            <a:off x="6036583" y="2997652"/>
            <a:ext cx="897232" cy="129266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US" sz="1200" b="1" u="sng" dirty="0"/>
              <a:t>OBJECTIVE</a:t>
            </a:r>
          </a:p>
          <a:p>
            <a:pPr algn="ctr"/>
            <a:endParaRPr lang="en-US" sz="1200" dirty="0"/>
          </a:p>
          <a:p>
            <a:pPr algn="ctr"/>
            <a:r>
              <a:rPr lang="en-US" sz="1200" dirty="0"/>
              <a:t>Allow </a:t>
            </a:r>
          </a:p>
          <a:p>
            <a:pPr algn="ctr"/>
            <a:r>
              <a:rPr lang="en-US" sz="1200" dirty="0"/>
              <a:t>F130 Team </a:t>
            </a:r>
          </a:p>
          <a:p>
            <a:pPr algn="ctr"/>
            <a:r>
              <a:rPr lang="en-US" sz="1200" dirty="0"/>
              <a:t>Members to</a:t>
            </a:r>
          </a:p>
          <a:p>
            <a:pPr algn="ctr"/>
            <a:r>
              <a:rPr lang="en-US" sz="1200" dirty="0"/>
              <a:t>Roll</a:t>
            </a:r>
          </a:p>
          <a:p>
            <a:pPr algn="ctr"/>
            <a:r>
              <a:rPr lang="en-US" sz="1200" dirty="0"/>
              <a:t>Onto </a:t>
            </a:r>
            <a:r>
              <a:rPr lang="en-US" sz="1200" dirty="0" err="1"/>
              <a:t>ACaMS</a:t>
            </a:r>
            <a:endParaRPr lang="en-US" sz="1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46606B8-A21A-A1F5-2682-E5551518BAFC}"/>
              </a:ext>
            </a:extLst>
          </p:cNvPr>
          <p:cNvSpPr txBox="1"/>
          <p:nvPr/>
        </p:nvSpPr>
        <p:spPr>
          <a:xfrm>
            <a:off x="408378" y="5354035"/>
            <a:ext cx="4471545" cy="83099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US" dirty="0"/>
              <a:t>Roughly 70 People Assigned to F130 Today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Work Backlog Runs Thru Q4 2027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E1D78C02-749F-62BE-324B-8DCE58A9586F}"/>
              </a:ext>
            </a:extLst>
          </p:cNvPr>
          <p:cNvSpPr/>
          <p:nvPr/>
        </p:nvSpPr>
        <p:spPr>
          <a:xfrm>
            <a:off x="7315200" y="4442246"/>
            <a:ext cx="4524864" cy="1368548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solidFill>
                  <a:srgbClr val="7030A0"/>
                </a:solidFill>
              </a:rPr>
              <a:t>PROBLEM TO SOLVE</a:t>
            </a:r>
          </a:p>
          <a:p>
            <a:pPr algn="ctr"/>
            <a:endParaRPr lang="en-US" sz="1200" b="1" dirty="0">
              <a:solidFill>
                <a:srgbClr val="7030A0"/>
              </a:solidFill>
            </a:endParaRPr>
          </a:p>
          <a:p>
            <a:pPr algn="ctr"/>
            <a:r>
              <a:rPr lang="en-US" sz="1200" dirty="0">
                <a:solidFill>
                  <a:srgbClr val="7030A0"/>
                </a:solidFill>
              </a:rPr>
              <a:t>How can we enable RR </a:t>
            </a:r>
            <a:r>
              <a:rPr lang="en-US" sz="1200" dirty="0" err="1">
                <a:solidFill>
                  <a:srgbClr val="7030A0"/>
                </a:solidFill>
              </a:rPr>
              <a:t>ACaMS</a:t>
            </a:r>
            <a:r>
              <a:rPr lang="en-US" sz="1200" dirty="0">
                <a:solidFill>
                  <a:srgbClr val="7030A0"/>
                </a:solidFill>
              </a:rPr>
              <a:t> to adopt the F130 team members at the right time – in software and/or systems?</a:t>
            </a:r>
          </a:p>
          <a:p>
            <a:pPr algn="ctr"/>
            <a:endParaRPr lang="en-US" sz="1200" dirty="0">
              <a:solidFill>
                <a:srgbClr val="7030A0"/>
              </a:solidFill>
            </a:endParaRPr>
          </a:p>
          <a:p>
            <a:pPr algn="ctr"/>
            <a:r>
              <a:rPr lang="en-US" sz="1200" dirty="0">
                <a:solidFill>
                  <a:srgbClr val="7030A0"/>
                </a:solidFill>
              </a:rPr>
              <a:t>Aka – SW Tools Gap Closure Plan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4C11552-7E03-C3D6-0B9A-1DEF946FD24D}"/>
              </a:ext>
            </a:extLst>
          </p:cNvPr>
          <p:cNvSpPr txBox="1"/>
          <p:nvPr/>
        </p:nvSpPr>
        <p:spPr>
          <a:xfrm>
            <a:off x="7194185" y="2659098"/>
            <a:ext cx="1040349" cy="160043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US" sz="1600" dirty="0">
                <a:highlight>
                  <a:srgbClr val="FF0000"/>
                </a:highlight>
              </a:rPr>
              <a:t>Big Gap:</a:t>
            </a:r>
          </a:p>
          <a:p>
            <a:pPr algn="ctr"/>
            <a:endParaRPr lang="en-US" sz="1600" dirty="0">
              <a:highlight>
                <a:srgbClr val="FF0000"/>
              </a:highlight>
            </a:endParaRPr>
          </a:p>
          <a:p>
            <a:pPr algn="ctr"/>
            <a:r>
              <a:rPr lang="en-US" sz="1200" u="sng" dirty="0">
                <a:highlight>
                  <a:srgbClr val="FF0000"/>
                </a:highlight>
              </a:rPr>
              <a:t>Application SW</a:t>
            </a:r>
          </a:p>
          <a:p>
            <a:pPr algn="ctr"/>
            <a:r>
              <a:rPr lang="en-US" sz="1200" dirty="0">
                <a:highlight>
                  <a:srgbClr val="FF0000"/>
                </a:highlight>
              </a:rPr>
              <a:t>MBD</a:t>
            </a:r>
          </a:p>
          <a:p>
            <a:pPr algn="ctr"/>
            <a:r>
              <a:rPr lang="en-US" sz="1200" dirty="0">
                <a:highlight>
                  <a:srgbClr val="FF0000"/>
                </a:highlight>
              </a:rPr>
              <a:t>Simulink</a:t>
            </a:r>
          </a:p>
          <a:p>
            <a:pPr algn="ctr"/>
            <a:endParaRPr lang="en-US" sz="1200" dirty="0">
              <a:highlight>
                <a:srgbClr val="FF0000"/>
              </a:highlight>
            </a:endParaRPr>
          </a:p>
          <a:p>
            <a:pPr algn="ctr"/>
            <a:r>
              <a:rPr lang="en-US" sz="1200" u="sng" dirty="0">
                <a:highlight>
                  <a:srgbClr val="FF0000"/>
                </a:highlight>
              </a:rPr>
              <a:t>Systems</a:t>
            </a:r>
          </a:p>
          <a:p>
            <a:pPr algn="ctr"/>
            <a:r>
              <a:rPr lang="en-US" sz="1200" dirty="0">
                <a:highlight>
                  <a:srgbClr val="FF0000"/>
                </a:highlight>
              </a:rPr>
              <a:t>CAMEO </a:t>
            </a:r>
          </a:p>
        </p:txBody>
      </p:sp>
    </p:spTree>
    <p:extLst>
      <p:ext uri="{BB962C8B-B14F-4D97-AF65-F5344CB8AC3E}">
        <p14:creationId xmlns:p14="http://schemas.microsoft.com/office/powerpoint/2010/main" val="3940837242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4B3608-4B31-01F8-0EB2-14F7E73865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D7BD952-6A55-F1D4-FA9D-95E230E8B81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843027" y="142431"/>
            <a:ext cx="10043158" cy="368300"/>
          </a:xfrm>
        </p:spPr>
        <p:txBody>
          <a:bodyPr/>
          <a:lstStyle/>
          <a:p>
            <a:r>
              <a:rPr lang="en-US" dirty="0"/>
              <a:t>Scenario in 2027….</a:t>
            </a:r>
          </a:p>
          <a:p>
            <a:r>
              <a:rPr lang="en-US" dirty="0"/>
              <a:t>Problem:  Many F130 people don’t have the Simulink pedigree desired by </a:t>
            </a:r>
            <a:r>
              <a:rPr lang="en-US" dirty="0" err="1"/>
              <a:t>ACaMS</a:t>
            </a:r>
            <a:endParaRPr lang="en-US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B59279D-8340-6C0A-6C00-34C7271D851B}"/>
              </a:ext>
            </a:extLst>
          </p:cNvPr>
          <p:cNvSpPr/>
          <p:nvPr/>
        </p:nvSpPr>
        <p:spPr>
          <a:xfrm>
            <a:off x="3041715" y="1611380"/>
            <a:ext cx="6108569" cy="4204355"/>
          </a:xfrm>
          <a:prstGeom prst="round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Conrad </a:t>
            </a:r>
            <a:r>
              <a:rPr lang="en-US" dirty="0" err="1"/>
              <a:t>Golbav</a:t>
            </a:r>
            <a:r>
              <a:rPr lang="en-US" dirty="0"/>
              <a:t> and / or Jason Thompson need Application Software help for </a:t>
            </a:r>
            <a:r>
              <a:rPr lang="en-US" dirty="0" err="1"/>
              <a:t>ACaMS</a:t>
            </a:r>
            <a:endParaRPr lang="en-US" dirty="0"/>
          </a:p>
          <a:p>
            <a:pPr algn="ctr"/>
            <a:endParaRPr lang="en-US" dirty="0"/>
          </a:p>
          <a:p>
            <a:pPr algn="ctr"/>
            <a:r>
              <a:rPr lang="en-US" dirty="0"/>
              <a:t>They hear Belcan has people rolling off F130….but know F130 is “hand coded” and borderline archaic software development practices….</a:t>
            </a:r>
          </a:p>
          <a:p>
            <a:pPr algn="ctr"/>
            <a:endParaRPr lang="en-US" dirty="0"/>
          </a:p>
          <a:p>
            <a:pPr algn="ctr"/>
            <a:r>
              <a:rPr lang="en-US" b="1" u="sng" dirty="0"/>
              <a:t>“No Simulink, No Interest”</a:t>
            </a:r>
          </a:p>
        </p:txBody>
      </p:sp>
    </p:spTree>
    <p:extLst>
      <p:ext uri="{BB962C8B-B14F-4D97-AF65-F5344CB8AC3E}">
        <p14:creationId xmlns:p14="http://schemas.microsoft.com/office/powerpoint/2010/main" val="560815858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F8BD21A-82E6-D5A6-138A-78D750F0359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808915" y="158812"/>
            <a:ext cx="10043158" cy="368300"/>
          </a:xfrm>
        </p:spPr>
        <p:txBody>
          <a:bodyPr/>
          <a:lstStyle/>
          <a:p>
            <a:r>
              <a:rPr lang="en-US" dirty="0">
                <a:sym typeface="Wingdings" panose="05000000000000000000" pitchFamily="2" charset="2"/>
              </a:rPr>
              <a:t>Welcome to Q3/Q4 2026</a:t>
            </a:r>
          </a:p>
          <a:p>
            <a:r>
              <a:rPr lang="en-US" dirty="0">
                <a:sym typeface="Wingdings" panose="05000000000000000000" pitchFamily="2" charset="2"/>
              </a:rPr>
              <a:t>We have two months to mitigate – can we productively do anything</a:t>
            </a:r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A9F596F-04F3-9EAD-7F15-7B902D601691}"/>
              </a:ext>
            </a:extLst>
          </p:cNvPr>
          <p:cNvSpPr/>
          <p:nvPr/>
        </p:nvSpPr>
        <p:spPr>
          <a:xfrm>
            <a:off x="8135174" y="1648827"/>
            <a:ext cx="3933219" cy="3683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November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7328566-E34C-DCC7-DD12-D2813765EDCC}"/>
              </a:ext>
            </a:extLst>
          </p:cNvPr>
          <p:cNvSpPr/>
          <p:nvPr/>
        </p:nvSpPr>
        <p:spPr>
          <a:xfrm>
            <a:off x="98981" y="1646750"/>
            <a:ext cx="3933219" cy="3683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September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422D2DC-13AA-25D6-CB19-22A21CD04E32}"/>
              </a:ext>
            </a:extLst>
          </p:cNvPr>
          <p:cNvSpPr/>
          <p:nvPr/>
        </p:nvSpPr>
        <p:spPr>
          <a:xfrm>
            <a:off x="4093968" y="1645206"/>
            <a:ext cx="3933219" cy="3683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October</a:t>
            </a:r>
          </a:p>
        </p:txBody>
      </p: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7E954298-1979-2750-A392-559E9E2146CE}"/>
              </a:ext>
            </a:extLst>
          </p:cNvPr>
          <p:cNvCxnSpPr>
            <a:cxnSpLocks/>
          </p:cNvCxnSpPr>
          <p:nvPr/>
        </p:nvCxnSpPr>
        <p:spPr>
          <a:xfrm>
            <a:off x="55689" y="1667583"/>
            <a:ext cx="0" cy="4496788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4EBC35EE-E2E8-B972-BCAC-6C63030F5F95}"/>
              </a:ext>
            </a:extLst>
          </p:cNvPr>
          <p:cNvCxnSpPr>
            <a:cxnSpLocks/>
          </p:cNvCxnSpPr>
          <p:nvPr/>
        </p:nvCxnSpPr>
        <p:spPr>
          <a:xfrm>
            <a:off x="4055986" y="1677108"/>
            <a:ext cx="0" cy="4496788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0" name="Picture 69">
            <a:extLst>
              <a:ext uri="{FF2B5EF4-FFF2-40B4-BE49-F238E27FC236}">
                <a16:creationId xmlns:a16="http://schemas.microsoft.com/office/drawing/2014/main" id="{E53E6892-B84D-8AE4-2146-CC5C460A55C9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95716" y="870469"/>
            <a:ext cx="412927" cy="705417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BA6BF91-5A15-5BE8-C964-D40D1725B0E1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46479" y="1541808"/>
            <a:ext cx="851144" cy="59518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A413277-635B-5B8C-686C-FD5F03949E12}"/>
              </a:ext>
            </a:extLst>
          </p:cNvPr>
          <p:cNvSpPr txBox="1"/>
          <p:nvPr/>
        </p:nvSpPr>
        <p:spPr>
          <a:xfrm>
            <a:off x="131964" y="3488857"/>
            <a:ext cx="1948077" cy="22159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/>
              <a:t>Nate Tyler</a:t>
            </a:r>
          </a:p>
          <a:p>
            <a:r>
              <a:rPr lang="en-US" sz="1600" dirty="0"/>
              <a:t>Andrew Williamson</a:t>
            </a:r>
          </a:p>
          <a:p>
            <a:r>
              <a:rPr lang="en-US" sz="1600" dirty="0"/>
              <a:t>Alex Johnson (PT)</a:t>
            </a:r>
          </a:p>
          <a:p>
            <a:endParaRPr lang="en-US" sz="1600" dirty="0"/>
          </a:p>
          <a:p>
            <a:endParaRPr lang="en-US" sz="1600" dirty="0"/>
          </a:p>
          <a:p>
            <a:endParaRPr lang="en-US" sz="1600" dirty="0"/>
          </a:p>
          <a:p>
            <a:r>
              <a:rPr lang="en-US" sz="1600" dirty="0" err="1"/>
              <a:t>Mireina</a:t>
            </a:r>
            <a:r>
              <a:rPr lang="en-US" sz="1600" dirty="0"/>
              <a:t> Keith</a:t>
            </a:r>
          </a:p>
          <a:p>
            <a:r>
              <a:rPr lang="en-US" sz="1600" dirty="0"/>
              <a:t>Linda Herman</a:t>
            </a:r>
          </a:p>
          <a:p>
            <a:r>
              <a:rPr lang="en-US" sz="1600" dirty="0"/>
              <a:t>Dominic Basciano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9072B832-A579-32D0-1D3B-8C4FA8E0F4BB}"/>
              </a:ext>
            </a:extLst>
          </p:cNvPr>
          <p:cNvSpPr/>
          <p:nvPr/>
        </p:nvSpPr>
        <p:spPr>
          <a:xfrm>
            <a:off x="117972" y="2818863"/>
            <a:ext cx="1962073" cy="595185"/>
          </a:xfrm>
          <a:prstGeom prst="round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People that can get the solution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1FE2EED-5CD0-A680-E8F5-73B8E907084B}"/>
              </a:ext>
            </a:extLst>
          </p:cNvPr>
          <p:cNvSpPr/>
          <p:nvPr/>
        </p:nvSpPr>
        <p:spPr>
          <a:xfrm>
            <a:off x="119542" y="4291016"/>
            <a:ext cx="1962073" cy="595185"/>
          </a:xfrm>
          <a:prstGeom prst="round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People that be “users group”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D776DF7-9CBB-F3CE-7BF8-09DF28600E1B}"/>
              </a:ext>
            </a:extLst>
          </p:cNvPr>
          <p:cNvCxnSpPr>
            <a:cxnSpLocks/>
          </p:cNvCxnSpPr>
          <p:nvPr/>
        </p:nvCxnSpPr>
        <p:spPr>
          <a:xfrm>
            <a:off x="8082804" y="1688105"/>
            <a:ext cx="0" cy="4496788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046BF6F2-FCE3-7B27-C695-1B887C6CCAC3}"/>
              </a:ext>
            </a:extLst>
          </p:cNvPr>
          <p:cNvSpPr/>
          <p:nvPr/>
        </p:nvSpPr>
        <p:spPr>
          <a:xfrm>
            <a:off x="6550041" y="2739570"/>
            <a:ext cx="2272945" cy="2944791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ACaMS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Resumes</a:t>
            </a:r>
          </a:p>
          <a:p>
            <a:pPr algn="ctr"/>
            <a:r>
              <a:rPr lang="en-US" sz="1400" dirty="0"/>
              <a:t>(Tyler)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Next Project Starts</a:t>
            </a:r>
          </a:p>
          <a:p>
            <a:pPr algn="ctr"/>
            <a:r>
              <a:rPr lang="en-US" sz="1400" dirty="0"/>
              <a:t>(Williamson)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FTAI picks up</a:t>
            </a:r>
          </a:p>
          <a:p>
            <a:pPr algn="ctr"/>
            <a:r>
              <a:rPr lang="en-US" sz="1400" dirty="0"/>
              <a:t>(Johnson)</a:t>
            </a: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5E8BDD9A-53C5-14DA-7452-47B930F013CB}"/>
              </a:ext>
            </a:extLst>
          </p:cNvPr>
          <p:cNvSpPr/>
          <p:nvPr/>
        </p:nvSpPr>
        <p:spPr>
          <a:xfrm>
            <a:off x="2343803" y="3414048"/>
            <a:ext cx="4020848" cy="1344197"/>
          </a:xfrm>
          <a:prstGeom prst="rightArrow">
            <a:avLst>
              <a:gd name="adj1" fmla="val 50000"/>
              <a:gd name="adj2" fmla="val 84013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DB3D896-FB1E-4ADA-703A-4A067FED361F}"/>
              </a:ext>
            </a:extLst>
          </p:cNvPr>
          <p:cNvSpPr txBox="1"/>
          <p:nvPr/>
        </p:nvSpPr>
        <p:spPr>
          <a:xfrm>
            <a:off x="2870757" y="3828270"/>
            <a:ext cx="2370842" cy="49244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US" sz="1600" dirty="0">
                <a:highlight>
                  <a:srgbClr val="C0C0C0"/>
                </a:highlight>
              </a:rPr>
              <a:t>There is some time to </a:t>
            </a:r>
          </a:p>
          <a:p>
            <a:pPr algn="ctr"/>
            <a:r>
              <a:rPr lang="en-US" sz="1600" dirty="0">
                <a:highlight>
                  <a:srgbClr val="C0C0C0"/>
                </a:highlight>
              </a:rPr>
              <a:t>assemble a plan / solution</a:t>
            </a:r>
          </a:p>
        </p:txBody>
      </p:sp>
    </p:spTree>
    <p:extLst>
      <p:ext uri="{BB962C8B-B14F-4D97-AF65-F5344CB8AC3E}">
        <p14:creationId xmlns:p14="http://schemas.microsoft.com/office/powerpoint/2010/main" val="183210362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BA1625-85EA-F73C-AA5E-34855B77E3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88C72C6-C153-AC6F-0F3D-2C995529E54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843027" y="142431"/>
            <a:ext cx="10043158" cy="368300"/>
          </a:xfrm>
        </p:spPr>
        <p:txBody>
          <a:bodyPr/>
          <a:lstStyle/>
          <a:p>
            <a:r>
              <a:rPr lang="en-US" dirty="0"/>
              <a:t>What is Definition of Done – Scenario in 2027….</a:t>
            </a:r>
          </a:p>
          <a:p>
            <a:r>
              <a:rPr lang="en-US" dirty="0"/>
              <a:t>(Solution to the Problem)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5AE371F8-7FDE-300B-B711-72EBB1C9F6F4}"/>
              </a:ext>
            </a:extLst>
          </p:cNvPr>
          <p:cNvSpPr/>
          <p:nvPr/>
        </p:nvSpPr>
        <p:spPr>
          <a:xfrm>
            <a:off x="45589" y="1611380"/>
            <a:ext cx="6108569" cy="4332220"/>
          </a:xfrm>
          <a:prstGeom prst="round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Conrad </a:t>
            </a:r>
            <a:r>
              <a:rPr lang="en-US" dirty="0" err="1"/>
              <a:t>Golbav</a:t>
            </a:r>
            <a:r>
              <a:rPr lang="en-US" dirty="0"/>
              <a:t> and / or Jason Thompson need Application Software help for </a:t>
            </a:r>
            <a:r>
              <a:rPr lang="en-US" dirty="0" err="1"/>
              <a:t>ACaMS</a:t>
            </a:r>
            <a:endParaRPr lang="en-US" dirty="0"/>
          </a:p>
          <a:p>
            <a:pPr algn="ctr"/>
            <a:endParaRPr lang="en-US" dirty="0"/>
          </a:p>
          <a:p>
            <a:pPr algn="ctr"/>
            <a:r>
              <a:rPr lang="en-US" dirty="0"/>
              <a:t>They hear Belcan has people rolling off F130….but know F130 is “hand coded” and borderline archaic software development practices….</a:t>
            </a:r>
          </a:p>
          <a:p>
            <a:pPr algn="ctr"/>
            <a:endParaRPr lang="en-US" dirty="0"/>
          </a:p>
          <a:p>
            <a:pPr algn="ctr"/>
            <a:r>
              <a:rPr lang="en-US" b="1" u="sng" dirty="0"/>
              <a:t>“No Simulink, No Interest”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0CCAB7B-AA6B-63AE-482D-8812C900970A}"/>
              </a:ext>
            </a:extLst>
          </p:cNvPr>
          <p:cNvSpPr/>
          <p:nvPr/>
        </p:nvSpPr>
        <p:spPr>
          <a:xfrm>
            <a:off x="6274337" y="1611380"/>
            <a:ext cx="2636196" cy="4332220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Jason and / or Conrad inquire about each person’s MBD capacity and proficiency….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So they ask people like Nate or Linda…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“Can they step into App SW and help quickly”???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5AD89E8-D49C-F4BE-ACDD-E6BEA9DDD3C4}"/>
              </a:ext>
            </a:extLst>
          </p:cNvPr>
          <p:cNvSpPr/>
          <p:nvPr/>
        </p:nvSpPr>
        <p:spPr>
          <a:xfrm>
            <a:off x="8994846" y="1627592"/>
            <a:ext cx="2999358" cy="4332220"/>
          </a:xfrm>
          <a:prstGeom prst="round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Nate and / or Linda say 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“yes, they have been trained and/or done pilot projects and I am confident they can help us”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Then Conrad and / or Jason say “good for me, they know how we do things and can adapt quickly to the technology”</a:t>
            </a:r>
          </a:p>
        </p:txBody>
      </p:sp>
    </p:spTree>
    <p:extLst>
      <p:ext uri="{BB962C8B-B14F-4D97-AF65-F5344CB8AC3E}">
        <p14:creationId xmlns:p14="http://schemas.microsoft.com/office/powerpoint/2010/main" val="1078259639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EExdrrT4J0C1fnz5aAV6XQ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iuB4lW1kl025PsSgEWBrJg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I3kfiwG_mkuGI2Bt.8obmQ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heme/theme1.xml><?xml version="1.0" encoding="utf-8"?>
<a:theme xmlns:a="http://schemas.openxmlformats.org/drawingml/2006/main" name="2_Office Theme">
  <a:themeElements>
    <a:clrScheme name="Custom 9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032741"/>
      </a:accent1>
      <a:accent2>
        <a:srgbClr val="003B5D"/>
      </a:accent2>
      <a:accent3>
        <a:srgbClr val="7487A7"/>
      </a:accent3>
      <a:accent4>
        <a:srgbClr val="0254A1"/>
      </a:accent4>
      <a:accent5>
        <a:srgbClr val="007FC1"/>
      </a:accent5>
      <a:accent6>
        <a:srgbClr val="F36C38"/>
      </a:accent6>
      <a:hlink>
        <a:srgbClr val="0000FF"/>
      </a:hlink>
      <a:folHlink>
        <a:srgbClr val="800080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lIns="0" tIns="0" rIns="0" bIns="0" rtlCol="0">
        <a:spAutoFit/>
      </a:bodyPr>
      <a:lstStyle>
        <a:defPPr>
          <a:defRPr dirty="0" err="1" smtClean="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titus xmlns="http://schemas.titus.com/TitusProperties/">
  <TitusGUID xmlns="">9becc2c3-2c36-43f0-a9c1-7e62f07c4846</TitusGUID>
  <TitusMetadata xmlns="">eyJucyI6Imh0dHA6XC9cL3d3dy50aXR1cy5jb21cL25zXC9OQVJBQ1VJIiwicHJvcHMiOlt7Im4iOiJEZXNpZ25hdGlvbiIsInZhbHMiOlt7InZhbHVlIjoiTlRETkNVSSJ9XX1dfQ==</TitusMetadata>
</titu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4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280BF5D2CCC9BE4EBBD35A8004C48EA3" ma:contentTypeVersion="9" ma:contentTypeDescription="Create a new document." ma:contentTypeScope="" ma:versionID="9eada2b7c4bdaa665e90d0121b8e42d2">
  <xsd:schema xmlns:xsd="http://www.w3.org/2001/XMLSchema" xmlns:xs="http://www.w3.org/2001/XMLSchema" xmlns:p="http://schemas.microsoft.com/office/2006/metadata/properties" xmlns:ns2="2d6c60d3-f5d7-4053-bda5-60231931954e" xmlns:ns3="0873cd69-40f1-433c-bf93-e1d73619fdb5" targetNamespace="http://schemas.microsoft.com/office/2006/metadata/properties" ma:root="true" ma:fieldsID="993ddfcb2f17b45b1238621a2ab33d08" ns2:_="" ns3:_="">
    <xsd:import namespace="2d6c60d3-f5d7-4053-bda5-60231931954e"/>
    <xsd:import namespace="0873cd69-40f1-433c-bf93-e1d73619fdb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AutoTags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d6c60d3-f5d7-4053-bda5-60231931954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5" nillable="true" ma:displayName="Tags" ma:internalName="MediaServiceAutoTags" ma:readOnly="true">
      <xsd:simpleType>
        <xsd:restriction base="dms:Text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873cd69-40f1-433c-bf93-e1d73619fdb5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8EE2F036-3CB6-498C-987A-D68D448BB166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51506775-A450-4DA8-B0A8-D0F0CE449F59}">
  <ds:schemaRefs>
    <ds:schemaRef ds:uri="http://schemas.titus.com/TitusProperties/"/>
    <ds:schemaRef ds:uri=""/>
  </ds:schemaRefs>
</ds:datastoreItem>
</file>

<file path=customXml/itemProps3.xml><?xml version="1.0" encoding="utf-8"?>
<ds:datastoreItem xmlns:ds="http://schemas.openxmlformats.org/officeDocument/2006/customXml" ds:itemID="{4B2EC94B-890F-4F06-B798-4B4DED8D1AEE}">
  <ds:schemaRefs>
    <ds:schemaRef ds:uri="http://www.w3.org/XML/1998/namespace"/>
    <ds:schemaRef ds:uri="http://schemas.openxmlformats.org/package/2006/metadata/core-properties"/>
    <ds:schemaRef ds:uri="http://schemas.microsoft.com/office/2006/metadata/properties"/>
    <ds:schemaRef ds:uri="0873cd69-40f1-433c-bf93-e1d73619fdb5"/>
    <ds:schemaRef ds:uri="http://purl.org/dc/dcmitype/"/>
    <ds:schemaRef ds:uri="http://schemas.microsoft.com/office/2006/documentManagement/types"/>
    <ds:schemaRef ds:uri="2d6c60d3-f5d7-4053-bda5-60231931954e"/>
    <ds:schemaRef ds:uri="http://purl.org/dc/elements/1.1/"/>
    <ds:schemaRef ds:uri="http://schemas.microsoft.com/office/infopath/2007/PartnerControls"/>
    <ds:schemaRef ds:uri="http://purl.org/dc/terms/"/>
  </ds:schemaRefs>
</ds:datastoreItem>
</file>

<file path=customXml/itemProps4.xml><?xml version="1.0" encoding="utf-8"?>
<ds:datastoreItem xmlns:ds="http://schemas.openxmlformats.org/officeDocument/2006/customXml" ds:itemID="{AEFACC39-F032-45A3-9C45-73967BBFF67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d6c60d3-f5d7-4053-bda5-60231931954e"/>
    <ds:schemaRef ds:uri="0873cd69-40f1-433c-bf93-e1d73619fdb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120769</TotalTime>
  <Words>2203</Words>
  <Application>Microsoft Office PowerPoint</Application>
  <PresentationFormat>Widescreen</PresentationFormat>
  <Paragraphs>330</Paragraphs>
  <Slides>64</Slides>
  <Notes>3</Notes>
  <HiddenSlides>0</HiddenSlides>
  <MMClips>0</MMClips>
  <ScaleCrop>false</ScaleCrop>
  <HeadingPairs>
    <vt:vector size="8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64</vt:i4>
      </vt:variant>
    </vt:vector>
  </HeadingPairs>
  <TitlesOfParts>
    <vt:vector size="74" baseType="lpstr">
      <vt:lpstr>.AppleSystemUIFont</vt:lpstr>
      <vt:lpstr>Aptos</vt:lpstr>
      <vt:lpstr>Arial</vt:lpstr>
      <vt:lpstr>Arial Black</vt:lpstr>
      <vt:lpstr>Barlow ExtraBold</vt:lpstr>
      <vt:lpstr>Calibri</vt:lpstr>
      <vt:lpstr>Microsoft Sans Serif</vt:lpstr>
      <vt:lpstr>Wingdings</vt:lpstr>
      <vt:lpstr>2_Office Theme</vt:lpstr>
      <vt:lpstr>think-cell Slide</vt:lpstr>
      <vt:lpstr>Chapter 1 The Basics</vt:lpstr>
      <vt:lpstr>What is MATLAB and Simulink? MATLAB and Simulink provide a unified environment for model-based development, simulation, and verification of complex engineering systems.</vt:lpstr>
      <vt:lpstr>What are some useful commands for MATLAB and Simulink?</vt:lpstr>
      <vt:lpstr>Success looks like knowing how to …</vt:lpstr>
      <vt:lpstr>Simulink Shortcuts</vt:lpstr>
      <vt:lpstr>simpleDemo.slx Note: Scopes are not used in Rolls Royce models. I ONLY used a scope because it was the first sink I thought of for this Chapter 1 walkthrough.</vt:lpstr>
      <vt:lpstr>How to Open MATLAB &amp; SIMULINK</vt:lpstr>
      <vt:lpstr>Open MATLAB</vt:lpstr>
      <vt:lpstr>Review the MATLAB Window Layout</vt:lpstr>
      <vt:lpstr>Navigate to training folder</vt:lpstr>
      <vt:lpstr>How to Create a new Simulink Model</vt:lpstr>
      <vt:lpstr>Detailed Success in this section looks like knowing how to …</vt:lpstr>
      <vt:lpstr>Navigate to training folder &amp; create Simulink Model</vt:lpstr>
      <vt:lpstr>Rename Simulink File</vt:lpstr>
      <vt:lpstr>Open Simulink Model</vt:lpstr>
      <vt:lpstr>How to Use blocks (Part 1)</vt:lpstr>
      <vt:lpstr>Detailed Success in this section looks like knowing how to …</vt:lpstr>
      <vt:lpstr>Open Library Browser (Part 1)</vt:lpstr>
      <vt:lpstr>Open Library Browser (Part 2)</vt:lpstr>
      <vt:lpstr>Open Library Browser (Part 3)</vt:lpstr>
      <vt:lpstr>Add Blocks to Simulink Model (Method 1)</vt:lpstr>
      <vt:lpstr>Add Blocks to Simulink Model (Method 2)</vt:lpstr>
      <vt:lpstr>Fit Contents to Window</vt:lpstr>
      <vt:lpstr>Rename Blocks</vt:lpstr>
      <vt:lpstr>Save Simulink Model File</vt:lpstr>
      <vt:lpstr>Connect Lines / Drag Line (Part 1)</vt:lpstr>
      <vt:lpstr>Connect Lines / Drag Line (Part 2)</vt:lpstr>
      <vt:lpstr>Connect Lines / Auto Routing</vt:lpstr>
      <vt:lpstr>Connect Lines / Drag Line / Create Inport</vt:lpstr>
      <vt:lpstr>Connect Lines / Drag Line / Create Inport</vt:lpstr>
      <vt:lpstr>Rename Signals</vt:lpstr>
      <vt:lpstr>Move Signals</vt:lpstr>
      <vt:lpstr>Clean up Window</vt:lpstr>
      <vt:lpstr>Fit Contents to Window</vt:lpstr>
      <vt:lpstr>Remove Yellow Bar</vt:lpstr>
      <vt:lpstr>Select Lines Note: Do Not Select any blocks</vt:lpstr>
      <vt:lpstr>Signal Logging (Part 1)</vt:lpstr>
      <vt:lpstr>Signal Logging (Part 2)</vt:lpstr>
      <vt:lpstr>How to Run a simulation</vt:lpstr>
      <vt:lpstr>Detailed Success in this section looks like knowing how to …</vt:lpstr>
      <vt:lpstr>Run Simulation</vt:lpstr>
      <vt:lpstr>How to Use Data inspector</vt:lpstr>
      <vt:lpstr>Detailed Success in this section looks like knowing how to …</vt:lpstr>
      <vt:lpstr>Open Data Inspector Note: Simulation must be run prior to opening Data inspector to observe raw values.</vt:lpstr>
      <vt:lpstr>Add 1 Signal to Chart + Stop Time Overview</vt:lpstr>
      <vt:lpstr>Edit Grid Layout</vt:lpstr>
      <vt:lpstr>Add Signal(s) to Chart</vt:lpstr>
      <vt:lpstr>How to Use blocks (Part 2)</vt:lpstr>
      <vt:lpstr>Detailed Success in this section looks like knowing how to …</vt:lpstr>
      <vt:lpstr>Formatting Blocks – Align Left Note: both lines and blocks may be selected for this section  Note: align commands will only affect the placement of the blocks</vt:lpstr>
      <vt:lpstr>Show Property Inspector (Method 1) Note: This method will force property Inspector to activate</vt:lpstr>
      <vt:lpstr>Show Property Inspector (Method 2) Note: This is my preferred method </vt:lpstr>
      <vt:lpstr>Update Signal Attributes (P1)</vt:lpstr>
      <vt:lpstr>Update Signal Attributes (P1)</vt:lpstr>
      <vt:lpstr>Save Changes Note: The star * was removed after the save took place</vt:lpstr>
      <vt:lpstr>How to Use Model Explorer</vt:lpstr>
      <vt:lpstr>Detailed Success in this section looks like knowing how to …</vt:lpstr>
      <vt:lpstr>Open Model Explorer</vt:lpstr>
      <vt:lpstr>How to Use Requirements editor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Belcan Corporation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Aircraft Capabilities for Spirit Aerosystems Defense Group 1-15-21</dc:title>
  <dc:creator>Juraco, Devra D.</dc:creator>
  <cp:keywords/>
  <dc:description>Structural Analysis Capabilities</dc:description>
  <cp:lastModifiedBy>Tyler, Nathaniel</cp:lastModifiedBy>
  <cp:revision>2044</cp:revision>
  <cp:lastPrinted>2026-03-04T20:38:48Z</cp:lastPrinted>
  <dcterms:created xsi:type="dcterms:W3CDTF">2017-05-22T13:23:52Z</dcterms:created>
  <dcterms:modified xsi:type="dcterms:W3CDTF">2026-09-03T16:28:05Z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0x010100280BF5D2CCC9BE4EBBD35A8004C48EA3</vt:lpwstr>
  </property>
  <property fmtid="{D5CDD505-2E9C-101B-9397-08002B2CF9AE}" pid="3" name="docIndexRef">
    <vt:lpwstr>35f620e0-3dd2-4867-83d5-d9af9c72e9e3</vt:lpwstr>
  </property>
  <property fmtid="{D5CDD505-2E9C-101B-9397-08002B2CF9AE}" pid="4" name="bjDocumentSecurityLabel">
    <vt:lpwstr>No Marking</vt:lpwstr>
  </property>
  <property fmtid="{D5CDD505-2E9C-101B-9397-08002B2CF9AE}" pid="5" name="bjSaver">
    <vt:lpwstr>iVCgZez7e+NedMZW8m0dhRZDBR035PuE</vt:lpwstr>
  </property>
  <property fmtid="{D5CDD505-2E9C-101B-9397-08002B2CF9AE}" pid="6" name="Presentation">
    <vt:lpwstr>Aircraft Capabilities for Spirit Aerosystems Defense Group 1-15-21</vt:lpwstr>
  </property>
  <property fmtid="{D5CDD505-2E9C-101B-9397-08002B2CF9AE}" pid="7" name="SlideDescription">
    <vt:lpwstr>Structural Analysis Capabilities</vt:lpwstr>
  </property>
  <property fmtid="{D5CDD505-2E9C-101B-9397-08002B2CF9AE}" pid="8" name="bjClsUserRVM">
    <vt:lpwstr>[]</vt:lpwstr>
  </property>
  <property fmtid="{D5CDD505-2E9C-101B-9397-08002B2CF9AE}" pid="9" name="bjLabelHistoryID">
    <vt:lpwstr>{46014CD1-4077-46EA-8F24-7482198939F9}</vt:lpwstr>
  </property>
  <property fmtid="{D5CDD505-2E9C-101B-9397-08002B2CF9AE}" pid="10" name="TitusGUID">
    <vt:lpwstr>9becc2c3-2c36-43f0-a9c1-7e62f07c4846</vt:lpwstr>
  </property>
  <property fmtid="{D5CDD505-2E9C-101B-9397-08002B2CF9AE}" pid="11" name="TitusDesignation">
    <vt:lpwstr>NTDNCUI</vt:lpwstr>
  </property>
</Properties>
</file>