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51"/>
  </p:notesMasterIdLst>
  <p:handoutMasterIdLst>
    <p:handoutMasterId r:id="rId52"/>
  </p:handoutMasterIdLst>
  <p:sldIdLst>
    <p:sldId id="256" r:id="rId6"/>
    <p:sldId id="3628" r:id="rId7"/>
    <p:sldId id="3631" r:id="rId8"/>
    <p:sldId id="3632" r:id="rId9"/>
    <p:sldId id="3633" r:id="rId10"/>
    <p:sldId id="3640" r:id="rId11"/>
    <p:sldId id="3641" r:id="rId12"/>
    <p:sldId id="3642" r:id="rId13"/>
    <p:sldId id="3634" r:id="rId14"/>
    <p:sldId id="3643" r:id="rId15"/>
    <p:sldId id="3644" r:id="rId16"/>
    <p:sldId id="3645" r:id="rId17"/>
    <p:sldId id="3635" r:id="rId18"/>
    <p:sldId id="3646" r:id="rId19"/>
    <p:sldId id="3647" r:id="rId20"/>
    <p:sldId id="3648" r:id="rId21"/>
    <p:sldId id="3650" r:id="rId22"/>
    <p:sldId id="3651" r:id="rId23"/>
    <p:sldId id="3652" r:id="rId24"/>
    <p:sldId id="3654" r:id="rId25"/>
    <p:sldId id="3657" r:id="rId26"/>
    <p:sldId id="3661" r:id="rId27"/>
    <p:sldId id="3662" r:id="rId28"/>
    <p:sldId id="3663" r:id="rId29"/>
    <p:sldId id="3664" r:id="rId30"/>
    <p:sldId id="3666" r:id="rId31"/>
    <p:sldId id="3669" r:id="rId32"/>
    <p:sldId id="3672" r:id="rId33"/>
    <p:sldId id="3677" r:id="rId34"/>
    <p:sldId id="3674" r:id="rId35"/>
    <p:sldId id="3678" r:id="rId36"/>
    <p:sldId id="3681" r:id="rId37"/>
    <p:sldId id="3685" r:id="rId38"/>
    <p:sldId id="3682" r:id="rId39"/>
    <p:sldId id="3636" r:id="rId40"/>
    <p:sldId id="3684" r:id="rId41"/>
    <p:sldId id="3637" r:id="rId42"/>
    <p:sldId id="3691" r:id="rId43"/>
    <p:sldId id="3692" r:id="rId44"/>
    <p:sldId id="3638" r:id="rId45"/>
    <p:sldId id="3639" r:id="rId46"/>
    <p:sldId id="3626" r:id="rId47"/>
    <p:sldId id="3625" r:id="rId48"/>
    <p:sldId id="3567" r:id="rId49"/>
    <p:sldId id="3582" r:id="rId50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628"/>
          </p14:sldIdLst>
        </p14:section>
        <p14:section name="What does success look like?" id="{2184ACB6-BC5A-45A7-AA08-0CFF90079FF3}">
          <p14:sldIdLst>
            <p14:sldId id="3631"/>
          </p14:sldIdLst>
        </p14:section>
        <p14:section name="Final Model(s)" id="{DD7E7087-D4C1-49C4-90BA-FD121933CBC3}">
          <p14:sldIdLst>
            <p14:sldId id="3632"/>
          </p14:sldIdLst>
        </p14:section>
        <p14:section name="How to Open MATLAB &amp; SIMULINK" id="{C8DF2CCC-DF37-4452-A9BD-12549E5D36D1}">
          <p14:sldIdLst>
            <p14:sldId id="3633"/>
            <p14:sldId id="3640"/>
            <p14:sldId id="3641"/>
            <p14:sldId id="3642"/>
          </p14:sldIdLst>
        </p14:section>
        <p14:section name="How to Create a new Simulink Model" id="{82C3D226-D794-4489-92A1-E620DEDFB2A5}">
          <p14:sldIdLst>
            <p14:sldId id="3634"/>
            <p14:sldId id="3643"/>
            <p14:sldId id="3644"/>
            <p14:sldId id="3645"/>
          </p14:sldIdLst>
        </p14:section>
        <p14:section name="How to Use blocks" id="{000E4B64-D857-4ECD-81C8-90C1508B930D}">
          <p14:sldIdLst>
            <p14:sldId id="3635"/>
            <p14:sldId id="3646"/>
            <p14:sldId id="3647"/>
            <p14:sldId id="3648"/>
            <p14:sldId id="3650"/>
            <p14:sldId id="3651"/>
            <p14:sldId id="3652"/>
            <p14:sldId id="3654"/>
            <p14:sldId id="3657"/>
            <p14:sldId id="3661"/>
            <p14:sldId id="3662"/>
            <p14:sldId id="3663"/>
            <p14:sldId id="3664"/>
            <p14:sldId id="3666"/>
            <p14:sldId id="3669"/>
            <p14:sldId id="3672"/>
            <p14:sldId id="3677"/>
            <p14:sldId id="3674"/>
            <p14:sldId id="3678"/>
            <p14:sldId id="3681"/>
            <p14:sldId id="3685"/>
            <p14:sldId id="3682"/>
          </p14:sldIdLst>
        </p14:section>
        <p14:section name="How to Run a simulation" id="{3F1A5FEB-EFB7-4B88-A875-0798919095F3}">
          <p14:sldIdLst>
            <p14:sldId id="3636"/>
            <p14:sldId id="3684"/>
          </p14:sldIdLst>
        </p14:section>
        <p14:section name="How to Use Data inspector" id="{62385923-6401-41CB-84E6-D309E1EB289F}">
          <p14:sldIdLst>
            <p14:sldId id="3637"/>
            <p14:sldId id="3691"/>
            <p14:sldId id="3692"/>
          </p14:sldIdLst>
        </p14:section>
        <p14:section name="How to Use Model Explorer" id="{84EACC95-D6FF-4E20-90C5-FE2F477BB695}">
          <p14:sldIdLst>
            <p14:sldId id="3638"/>
          </p14:sldIdLst>
        </p14:section>
        <p14:section name="How to Use Requirements editor" id="{04F53C19-E036-40F5-A4EF-E2AEF7972486}">
          <p14:sldIdLst>
            <p14:sldId id="3639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312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theme" Target="theme/theme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43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45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8.xml"/><Relationship Id="rId7" Type="http://schemas.openxmlformats.org/officeDocument/2006/relationships/image" Target="../media/image2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360" imgH="360" progId="TCLayout.ActiveDocument.1">
                  <p:embed/>
                </p:oleObj>
              </mc:Choice>
              <mc:Fallback>
                <p:oleObj name="think-cell Slide" r:id="rId1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8" r:id="rId6"/>
    <p:sldLayoutId id="2147484800" r:id="rId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62CD-A924-D5BC-DA59-150364047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FB752-1763-93D5-228F-EEC9C9997F5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is MATLAB and Simulink?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D141CB-8FCA-D812-4969-CD2764BC26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What is MATLAB and Simulink?</a:t>
            </a:r>
            <a:br>
              <a:rPr lang="en-US" sz="21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b="0" i="1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589D463-8449-016D-2E65-1AA063023CF2}"/>
              </a:ext>
            </a:extLst>
          </p:cNvPr>
          <p:cNvSpPr txBox="1">
            <a:spLocks/>
          </p:cNvSpPr>
          <p:nvPr/>
        </p:nvSpPr>
        <p:spPr>
          <a:xfrm>
            <a:off x="839788" y="1992254"/>
            <a:ext cx="5157787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MATLAB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A56A49-BF59-B749-4A18-293A0E3D768C}"/>
              </a:ext>
            </a:extLst>
          </p:cNvPr>
          <p:cNvSpPr txBox="1">
            <a:spLocks/>
          </p:cNvSpPr>
          <p:nvPr/>
        </p:nvSpPr>
        <p:spPr>
          <a:xfrm>
            <a:off x="6172200" y="1992254"/>
            <a:ext cx="5183188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Simulink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78655114-1A25-EB6E-7E81-5C8BFD242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3195299"/>
            <a:ext cx="5157787" cy="3218244"/>
          </a:xfrm>
          <a:prstGeom prst="rect">
            <a:avLst/>
          </a:prstGeom>
        </p:spPr>
      </p:pic>
      <p:pic>
        <p:nvPicPr>
          <p:cNvPr id="9" name="Picture 8" descr="MATLAB Logo, symbol, meaning, history, PNG, brand">
            <a:extLst>
              <a:ext uri="{FF2B5EF4-FFF2-40B4-BE49-F238E27FC236}">
                <a16:creationId xmlns:a16="http://schemas.microsoft.com/office/drawing/2014/main" id="{8D4DDF90-6388-C1EF-C402-CB15E3678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097" r="65520" b="27886"/>
          <a:stretch>
            <a:fillRect/>
          </a:stretch>
        </p:blipFill>
        <p:spPr>
          <a:xfrm>
            <a:off x="2287815" y="1839021"/>
            <a:ext cx="779850" cy="572729"/>
          </a:xfrm>
          <a:prstGeom prst="rect">
            <a:avLst/>
          </a:prstGeom>
        </p:spPr>
      </p:pic>
      <p:pic>
        <p:nvPicPr>
          <p:cNvPr id="11" name="Picture 10" descr="Logotipo De Simulink De Matlab MATLAB® And Simulink® | Microchip">
            <a:extLst>
              <a:ext uri="{FF2B5EF4-FFF2-40B4-BE49-F238E27FC236}">
                <a16:creationId xmlns:a16="http://schemas.microsoft.com/office/drawing/2014/main" id="{EC3FC2F0-0943-0DFE-F6CA-79EC7067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664" y="1866697"/>
            <a:ext cx="525259" cy="525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29F6E-9268-30B6-2456-B8B453CD23F6}"/>
              </a:ext>
            </a:extLst>
          </p:cNvPr>
          <p:cNvSpPr txBox="1"/>
          <p:nvPr/>
        </p:nvSpPr>
        <p:spPr>
          <a:xfrm>
            <a:off x="6172200" y="2420888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modeling and simulation of dynamic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BD052-9C8C-D19B-7EA6-20AFDD901847}"/>
              </a:ext>
            </a:extLst>
          </p:cNvPr>
          <p:cNvSpPr txBox="1"/>
          <p:nvPr/>
        </p:nvSpPr>
        <p:spPr>
          <a:xfrm>
            <a:off x="839788" y="2420888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computing, analysis, and algorithm development.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6E6E7B14-B25C-A7EC-F416-D7F565330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195299"/>
            <a:ext cx="5987432" cy="32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9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04B2E-4295-3478-AD48-D4CAD1D2D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313CD5-D119-CC16-E8F4-FF12AC3EB99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EB54A0-F271-C250-EA99-C3135011174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Open MATLAB &amp; SIMULINK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blocks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C679F78-73FB-AB93-7A81-46381BF375E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Success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57576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7AB5-A5D4-3944-0F7D-C85DD1D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A4E279-D21E-F0CF-6F4E-5EDBA1D4ED8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Final Model(s)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535CB43-462B-508E-D728-E34C163B190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7A09FCA9-ED12-9807-290C-BC0C63D5F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44" y="1815793"/>
            <a:ext cx="80955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6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53D0-4FBD-B36F-C004-E1787F85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4C7E8-4A6B-AAEB-FBB6-2D79D11796F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6D197DC7-0F06-7AAB-B469-F83EE5911FA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MATLAB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C80C3C2-02B5-DA99-33EC-289ACEFC5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86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9EF8-636C-4CAF-F65E-9AF03140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CC11EE-5225-5881-50F5-0D1E55CC9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44" y="1815793"/>
            <a:ext cx="8095513" cy="4351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1DA2C2-5F82-34DB-D47B-FBE23CD76BC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34F7BC0-64DE-976C-A707-103AD80B70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Review the MATLAB Window Layout</a:t>
            </a:r>
          </a:p>
        </p:txBody>
      </p:sp>
    </p:spTree>
    <p:extLst>
      <p:ext uri="{BB962C8B-B14F-4D97-AF65-F5344CB8AC3E}">
        <p14:creationId xmlns:p14="http://schemas.microsoft.com/office/powerpoint/2010/main" val="4226231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00D5-9A5A-76D4-BA0B-BD1B8DEF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4">
            <a:extLst>
              <a:ext uri="{FF2B5EF4-FFF2-40B4-BE49-F238E27FC236}">
                <a16:creationId xmlns:a16="http://schemas.microsoft.com/office/drawing/2014/main" id="{B8CFFBC4-0B5F-0238-F7ED-DD8B8CB1B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839788" y="2582556"/>
            <a:ext cx="5157787" cy="3096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45F4EC-DA9A-3328-622F-0FAE00B1D72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4E1001-1584-6807-5B3F-3D6CF604977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4DF38-FE80-6524-8A1B-5CBCD13A55D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Navigate to Chapter 1 folder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A3146-0F3B-E712-2ED5-941608DE96A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Navigate to training folder</a:t>
            </a:r>
          </a:p>
        </p:txBody>
      </p:sp>
      <p:pic>
        <p:nvPicPr>
          <p:cNvPr id="3" name="Content Placeholder 13">
            <a:extLst>
              <a:ext uri="{FF2B5EF4-FFF2-40B4-BE49-F238E27FC236}">
                <a16:creationId xmlns:a16="http://schemas.microsoft.com/office/drawing/2014/main" id="{DD768DE8-0749-81F6-121F-09496A2A4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096000" y="2582556"/>
            <a:ext cx="5183188" cy="29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A03E9-A88C-BB1D-75DB-3B44A6A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786F9-09BE-EFD8-32F5-2E7FA20A5D7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1F6C991-6AEE-5FC6-2009-F4DEB0A2238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 &amp; create Simulink Model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44FBDD96-9C1E-0F94-653F-2BC0980A8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200458" y="1825625"/>
            <a:ext cx="779108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126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913E2-DD61-05C8-3AA2-2D168C16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3A08736A-7D47-0596-839D-1E01C9667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096000" y="2582556"/>
            <a:ext cx="5183188" cy="3170114"/>
          </a:xfrm>
          <a:prstGeom prst="rect">
            <a:avLst/>
          </a:prstGeom>
        </p:spPr>
      </p:pic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0876F7C8-834E-FAA9-2257-D9C872CE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839788" y="2629566"/>
            <a:ext cx="5157787" cy="3435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CB322-5B34-F9F9-DBFB-D83DE915971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00A42B-31D3-AC19-8D33-C7F85C8C03C5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Simulink File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F27C5-5353-9989-556A-84FEA15EEA5C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1B84A3-9271-6043-3389-47F73AC8962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Right click new file</a:t>
            </a:r>
          </a:p>
        </p:txBody>
      </p:sp>
    </p:spTree>
    <p:extLst>
      <p:ext uri="{BB962C8B-B14F-4D97-AF65-F5344CB8AC3E}">
        <p14:creationId xmlns:p14="http://schemas.microsoft.com/office/powerpoint/2010/main" val="25631570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ACA5-37C6-C9B0-99BC-AB5DF0ED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876321-6A34-A610-3DFA-B18E86863DD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7C2A0B45-8E7D-5D8E-8327-E9D8C95C9B8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Simulink Model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B149CBB3-0BBC-CAE7-DAD7-2ED8EFA82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942671" y="1825625"/>
            <a:ext cx="8306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41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FED5-83BC-A155-523D-913EE098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1">
            <a:extLst>
              <a:ext uri="{FF2B5EF4-FFF2-40B4-BE49-F238E27FC236}">
                <a16:creationId xmlns:a16="http://schemas.microsoft.com/office/drawing/2014/main" id="{DF491675-074E-645D-B7A0-44B949A7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839788" y="2610389"/>
            <a:ext cx="5157787" cy="34739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8205A1-9992-0CB4-5F12-6D5F9BCFC7A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390349-D6E7-C020-1F52-03E244E12B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1)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81EED9-F0E1-C875-88A0-81DEEFA8316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3BB10-E127-78D4-BD28-01C5D0FA36A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Library Browser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7BCED9DC-FFB4-E772-140C-C298D12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096000" y="2582556"/>
            <a:ext cx="443081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02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972FE-AFC5-4321-CA64-F554920D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14">
            <a:extLst>
              <a:ext uri="{FF2B5EF4-FFF2-40B4-BE49-F238E27FC236}">
                <a16:creationId xmlns:a16="http://schemas.microsoft.com/office/drawing/2014/main" id="{6102F780-A36B-AEA4-851A-84734384DF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37" t="32614" r="10967" b="7647"/>
          <a:stretch>
            <a:fillRect/>
          </a:stretch>
        </p:blipFill>
        <p:spPr>
          <a:xfrm>
            <a:off x="6134493" y="2620686"/>
            <a:ext cx="5183188" cy="36742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C930-9B4C-ADC9-74B2-3B6F13AD39D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F33B6F-6A0D-5C68-6029-414B3480C30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A13CB-8F99-5999-94A1-D7656C7DB0B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E893E-C0A3-25AF-6D4D-9A046BCE5DF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Click Icon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4401BFD6-3D40-4475-96A8-B479E284D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0" t="21125" r="42413" b="46364"/>
          <a:stretch>
            <a:fillRect/>
          </a:stretch>
        </p:blipFill>
        <p:spPr>
          <a:xfrm>
            <a:off x="839787" y="2610389"/>
            <a:ext cx="5157787" cy="254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3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28C5-5A4A-0F1D-10B2-9B9D0512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EABA8152-C163-118D-3E9A-792BD25C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839788" y="2591473"/>
            <a:ext cx="5157787" cy="3511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1B1E27-B819-746C-EC55-F556BA12DA2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A8130E-2AFF-DAED-148E-11A7BCBA708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3)</a:t>
            </a:r>
            <a:endParaRPr lang="en-US" sz="1600" b="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6370F-DDEB-489B-9552-EB7F572A121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5. Review Common Blocks</a:t>
            </a:r>
          </a:p>
        </p:txBody>
      </p:sp>
    </p:spTree>
    <p:extLst>
      <p:ext uri="{BB962C8B-B14F-4D97-AF65-F5344CB8AC3E}">
        <p14:creationId xmlns:p14="http://schemas.microsoft.com/office/powerpoint/2010/main" val="3596953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5A8C-D972-689D-1642-874B83DD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0">
            <a:extLst>
              <a:ext uri="{FF2B5EF4-FFF2-40B4-BE49-F238E27FC236}">
                <a16:creationId xmlns:a16="http://schemas.microsoft.com/office/drawing/2014/main" id="{FFD636E9-31C3-1389-00AB-4D991EC65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839787" y="2610389"/>
            <a:ext cx="5132295" cy="36845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DF0A6D-CC6B-270F-861E-2672D978713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2CA7A-19A2-C8F5-48B6-E12E2ADEA4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1)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18B99A-D17F-FDBA-C645-9A0B274DC86E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30777-70AD-89C7-AF1C-A68EA0F2D55C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Blocks from Library to Simulink model window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E0E51410-5063-0792-97AE-2216C07FB5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134493" y="2610389"/>
            <a:ext cx="4057840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7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741B-DA75-BEAE-43FA-E74CB2B8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79677-C762-C00E-2830-A995268950A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0F7556-EB38-462E-89B4-40B016253C9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C4AF4D-FA36-AE61-662E-6B1AD8CC9B7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C2579-AC88-D429-E5E1-C54D5BDE9670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Double Click on Empty Space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2D7B56-A81B-1416-F85E-97E111444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170483" y="2608032"/>
            <a:ext cx="3770722" cy="3754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8AA5D-E61B-894B-2EA5-A96724686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192570" y="2608032"/>
            <a:ext cx="3883844" cy="37548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162FD5F-764A-D7D4-0FE5-7E40A43839F2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540618-A2DD-8FB4-2A68-F058229EA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137672" y="2608032"/>
            <a:ext cx="3883844" cy="18288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1EA5BF4-3366-D553-555F-68866DF2EEA4}"/>
              </a:ext>
            </a:extLst>
          </p:cNvPr>
          <p:cNvSpPr/>
          <p:nvPr/>
        </p:nvSpPr>
        <p:spPr>
          <a:xfrm>
            <a:off x="8606672" y="3978111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77338183-D1EB-1FA7-826C-609DFD6A5231}"/>
              </a:ext>
            </a:extLst>
          </p:cNvPr>
          <p:cNvSpPr/>
          <p:nvPr/>
        </p:nvSpPr>
        <p:spPr>
          <a:xfrm>
            <a:off x="8606672" y="4336330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2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A2F7-74B0-396F-45DC-E782BF40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1582F82-2B72-B5A1-67A8-740A4250E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839786" y="2582555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F1BDB1-0B89-FDB2-D271-D516CAB019F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BAC2B7-DE47-4107-4079-90778C0F6F5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C6AF6-0CC4-DFA2-D8F6-392727749B8B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92009-BE56-F3DE-CC46-CC5A9BDC5F8D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AC7A6B-C8CE-DE60-DD58-B0C1DA56BE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6096000" y="2582556"/>
            <a:ext cx="369530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624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85DA-73BB-6304-AF3C-98C3B688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C702DB-F0AA-6BAB-379D-C5149C9AF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190907" y="2608032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FFF30C-04DC-0344-9C3E-085FF4E50EF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DE34C2-CEC5-3ECD-4184-ACF10C9B45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Blocks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AA9F6-AE57-4776-6607-24078FEB96B1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Block and then press enter or click off the block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A4C5E-EABA-71E1-163F-94C18AFCC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192570" y="2608032"/>
            <a:ext cx="3940405" cy="38838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0468B3-717C-3493-D31B-545736F576D2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859F8-D17E-297F-192F-030959A30670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0398B-EABD-D510-DF1E-73DED2BB2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161256" y="2608032"/>
            <a:ext cx="3940406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51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F2ECD-6BE3-5E7A-DBA5-C91C619A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E233-5A76-F861-9C10-171AD6ED463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FC361C-F3CE-62DE-7E19-C48EFFBB7A3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Save Simulink Model File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605F21-6F19-445B-CBA5-CF893A20E2F2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BC97-0E8F-4A56-3385-3CC3CAD80D7A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6807C-F615-9180-58BD-E931918ACEFB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9B5F7-AC88-7F38-A9DB-CA79A207A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190907" y="2608032"/>
            <a:ext cx="3940405" cy="2392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1DFFDC-0565-1775-4A08-97AB62563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493" y="2608032"/>
            <a:ext cx="3733014" cy="19108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208D0D-1F32-C0EB-7E7B-6D8F9DE118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161256" y="2608032"/>
            <a:ext cx="3977309" cy="12066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1111B1-4EA1-FBB1-CC77-ECFDB6208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190907" y="5302516"/>
            <a:ext cx="3564511" cy="8897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B43FFA-EEC2-362A-1F23-0D629D473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493" y="5302516"/>
            <a:ext cx="3564511" cy="889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464DEE-93A0-9917-D484-BE70AE2EE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76415" y="5300759"/>
            <a:ext cx="3763650" cy="63944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C5BB27-CF0F-B340-A315-5D220C695EA6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E75EE4-75FB-49B6-5096-4184D760F88E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5071621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904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F1912-7BB7-E0E3-5B91-A5CABE26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BD9E9B4-475E-454F-67E1-12EC41D7E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F2E182-373E-C2CC-F363-144E73D220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839786" y="2582555"/>
            <a:ext cx="3733014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C499098-1B57-A977-FA18-1D1834A4459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961491-E4AC-2CB8-9C38-80C16D6E6C2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1)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6A237-6636-329A-7D3C-43B8A9DAE9D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E2BCD5-F80A-3BE3-C0CE-F8AD81D7F079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</p:spTree>
    <p:extLst>
      <p:ext uri="{BB962C8B-B14F-4D97-AF65-F5344CB8AC3E}">
        <p14:creationId xmlns:p14="http://schemas.microsoft.com/office/powerpoint/2010/main" val="2606775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5654E-F340-F3D4-F88F-DC8D998C4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450A0B7-28F0-C635-CE2B-2A79C6467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08725-1295-1857-A0A9-5D41476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839786" y="2582555"/>
            <a:ext cx="3763650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6A4D30-F295-A0CB-A6C7-3A684EF53C0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5C6031-8026-D45C-724C-E539A359A83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2)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B6B330-D18D-ED05-3AF8-3E2C18EEE42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5A9E2-46F4-3B7D-18CD-3D5986C86558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</p:spTree>
    <p:extLst>
      <p:ext uri="{BB962C8B-B14F-4D97-AF65-F5344CB8AC3E}">
        <p14:creationId xmlns:p14="http://schemas.microsoft.com/office/powerpoint/2010/main" val="2070013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412A-FEB4-1965-A773-C472E607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CFE45C-E08E-B78D-5AE6-C9F0009E6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236645" y="2582556"/>
            <a:ext cx="3763651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8C16D3-EB74-4B6C-C8D0-58E195E6C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839786" y="2582555"/>
            <a:ext cx="5882325" cy="38135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11B4A0-2C59-E826-BD18-5326AC642DE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376A7E-D891-E6C3-39C8-E8A815164CF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Auto Routing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7F7D5-8045-0042-8B2B-AEE3034D81E4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85CA28-5FF9-C83F-A916-5EFFD692AAB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</a:t>
            </a:r>
          </a:p>
        </p:txBody>
      </p:sp>
    </p:spTree>
    <p:extLst>
      <p:ext uri="{BB962C8B-B14F-4D97-AF65-F5344CB8AC3E}">
        <p14:creationId xmlns:p14="http://schemas.microsoft.com/office/powerpoint/2010/main" val="33541147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A2F1-78AB-51FF-CE30-EC0EB610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7E74FC1-60F5-E92C-207A-87C8E7D00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190907" y="2608032"/>
            <a:ext cx="3742442" cy="38995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07069B-63F4-7168-CEB0-AC8694405AC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1C3FD2-8276-1D40-C53A-14C0C4AC6D4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B5FBB-8C8D-C3FC-7528-60FA63423AD7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9A3AD-0CF6-2CB6-4B1A-5973ADF091EA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F2774A-44E7-F708-5238-C770B8285E86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7ACBD3-41B2-52B4-BBFE-1E6D2CEC9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192570" y="2608032"/>
            <a:ext cx="3742442" cy="38838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FAB7C7-EE1E-1BCF-1B17-2D291D8BC5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758" t="36130" r="26546" b="4603"/>
          <a:stretch>
            <a:fillRect/>
          </a:stretch>
        </p:blipFill>
        <p:spPr>
          <a:xfrm>
            <a:off x="8161256" y="2608032"/>
            <a:ext cx="3742443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A9E3-2F0A-1B3B-5860-C21CC4AF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FEC0A4-E65B-0B5F-8C32-C1D4B663DB5D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B5BF9-DC4D-C14C-E7BB-14B25D39D07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2B32-F166-E921-CBBC-C8E9A82D38C4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60D126-C9D7-CA3A-1C77-29DD3BA810C3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B15DB-81CB-C575-DC21-E2C95F37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192570" y="2608032"/>
            <a:ext cx="3763650" cy="38838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33FBD0-D600-EB7D-35B5-139CB4DEA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61256" y="2608032"/>
            <a:ext cx="3742444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131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80DC6-C813-069D-008C-0CADCA1E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AB8A83-8C77-C153-E232-8B377746D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190907" y="2608032"/>
            <a:ext cx="3723588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B093B8-9772-DE82-7D79-A271571D2216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CEB95-A068-37D0-7B46-5A6E73E6BC2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Signals</a:t>
            </a:r>
            <a:endParaRPr lang="en-US" sz="1600" b="0" i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71E9915-3F90-53BA-98A0-6047FF7DB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161256" y="2608032"/>
            <a:ext cx="3723588" cy="38838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EAF7B6-4DA5-5ED9-7154-AC96860CFCD4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F74990-0403-71FC-DEE7-BF555EE24987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24EA23-FCC0-08AA-C2C6-8FDC97F389B0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63F2A0-EAE5-60AE-17A2-31209D0F57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192570" y="2608032"/>
            <a:ext cx="372358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04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9F454-07D7-C66C-4724-A75E67923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57A93A-0943-6311-C549-AF2EDF64B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161256" y="2608032"/>
            <a:ext cx="3676455" cy="3883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1D0A65-DF00-FDEE-7908-F3A9DDE50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192570" y="5238748"/>
            <a:ext cx="3763650" cy="1253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E8D828-8C78-BB6B-FE98-E99CEA0BAF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190907" y="5238750"/>
            <a:ext cx="3763651" cy="125312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89D0DD-7562-0E76-DD9A-7A1EE48D738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68C70-7CFB-C9CD-6111-A0CCD18E7D4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Move Signals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2BC8D-7841-F511-7EFA-CD17958966D7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195E18-3442-639F-F46A-11F0E99D0D46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B6DCC6-25D7-4B2A-3673-B71F850F8BEC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Move other signal names towards their source blocks</a:t>
            </a:r>
          </a:p>
        </p:txBody>
      </p:sp>
    </p:spTree>
    <p:extLst>
      <p:ext uri="{BB962C8B-B14F-4D97-AF65-F5344CB8AC3E}">
        <p14:creationId xmlns:p14="http://schemas.microsoft.com/office/powerpoint/2010/main" val="7529369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3F55-4620-C434-7249-D9E9FF2D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572B07-FEA7-3993-A8F2-C7D1171FFD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236644" y="2582555"/>
            <a:ext cx="3941765" cy="3883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98AD49-E893-7C7C-D575-98F671891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839786" y="2582556"/>
            <a:ext cx="6177406" cy="34372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D9E120-EE22-7DFD-8B8D-135403B760A9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A8C8D0-511C-3061-BB60-58F4DDC6D7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Clean up Window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144C5E-553D-3531-E8AC-D731FA466C91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cleaned up window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00A9FD-7416-322B-3247-6562AA6ABD19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Clean up the window</a:t>
            </a:r>
          </a:p>
        </p:txBody>
      </p:sp>
    </p:spTree>
    <p:extLst>
      <p:ext uri="{BB962C8B-B14F-4D97-AF65-F5344CB8AC3E}">
        <p14:creationId xmlns:p14="http://schemas.microsoft.com/office/powerpoint/2010/main" val="3357313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E3816-9468-FA9B-A7F3-A70998FB8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C969F1-DCA2-F942-3EC8-D1C2C4E5FE0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4392C8-CD82-1581-CF74-B6FCE4CD87A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9D822-794A-4819-5289-7720A68F7692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B320C1-5C48-2DA9-C89C-647A27409B78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A38BB8-B9CB-1891-7080-37CDF6002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39786" y="2582555"/>
            <a:ext cx="4618039" cy="3569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C1E6E6-2B97-CE24-31C3-F170751CE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4" cy="308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65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CDFCD-3AFB-A02D-2B9C-A4B30A3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5D50FC-9285-7ED3-BBD4-D8984585B56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096BB-6FEC-0F4B-978A-25C021028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3" cy="308743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2F45E48-DFC6-4E33-8B67-2ACB718D4DB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Remove Yellow Bar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C7D517-CEF2-C1B8-0333-43DC5443AC38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59738-3E6E-332B-B7CB-1055C6F3D90B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down arrow and remove bar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9BF55-FFA1-5616-BA89-32B11D6C2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839786" y="2582555"/>
            <a:ext cx="2199588" cy="139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57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DF83-28A3-4A41-95FD-A9D84B961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FEBF43-7278-46A0-A36E-BD60401B0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839786" y="2582555"/>
            <a:ext cx="5011913" cy="3087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14551B-72E7-59DA-EB4B-8CB34960D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096001" y="2582555"/>
            <a:ext cx="5020688" cy="30874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D3578-91FC-A7A6-EAD6-521A784A9F9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EC6DE-F387-9FD1-67BB-4BA05436EBFD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Select Lines</a:t>
            </a:r>
          </a:p>
          <a:p>
            <a:pPr algn="l"/>
            <a:r>
              <a:rPr lang="en-US" sz="1600" b="0" i="1" dirty="0"/>
              <a:t>Note: Do Not Select any blocks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CE1EF-B3BD-0F3F-2203-D4FE27B39000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46DAC9-8057-508D-C768-BE2946C0A2B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122735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9A6F-2754-706F-1A94-D4558D92F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4B3C87-E371-4200-8889-930185273A4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ECB2968-6908-B425-E9A3-99B18159E0D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D55E39-AEAA-65FA-F2A6-0F945A59205C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4CA94-5CA7-A093-C8E8-205E7EFC2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839786" y="2582555"/>
            <a:ext cx="10873069" cy="1379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206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E662F-0598-DFF8-A5A7-D4A100E8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363D9D1-87EF-7219-3943-1F0E77FBF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096001" y="2177477"/>
            <a:ext cx="4922226" cy="43532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FD4F30-C88D-E588-D113-52462563A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839786" y="2182506"/>
            <a:ext cx="4941889" cy="43532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46C7CC-6EED-32E3-29DA-75F676647C0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04548AD-8D67-BB90-0D19-00DE5F707D7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23B97D-CFAE-E0F2-6E6D-B87E9D76FA5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E6C5A-1009-A83A-519A-99E6E58433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6489425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867F8-0CD9-A275-2EF4-726EBF57E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95658F-4296-E444-1B8E-D1C24BF2021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Run a simulation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D4F14B-E866-EE98-53CD-D87448E47607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Run Simulation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77CE18-2454-1BBC-C73B-C52E8740E9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Run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891EDE-BDC9-2BED-33BF-BCB9D22C5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839786" y="2582555"/>
            <a:ext cx="10113964" cy="346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385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6C9A4-63C6-B85C-9121-DE6B3F20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296C8-0D7E-CF5C-1612-B400758D6AF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44C60-346E-A562-854A-C048497A7BB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Data Inspector</a:t>
            </a:r>
            <a:endParaRPr lang="en-US" sz="1600" b="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E8698-AC3B-187B-BC1A-19A580CC6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161257" y="2608032"/>
            <a:ext cx="3678808" cy="39751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7F5DEF-4F46-926F-9987-7D3482D0184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401D3E-DCB5-3546-BA71-BF208B10B7F5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3C49B-BAE8-9502-64C5-AB58FDEC15A1}"/>
              </a:ext>
            </a:extLst>
          </p:cNvPr>
          <p:cNvSpPr txBox="1"/>
          <p:nvPr/>
        </p:nvSpPr>
        <p:spPr>
          <a:xfrm>
            <a:off x="8175379" y="1805788"/>
            <a:ext cx="384613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the Data Inspector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Simulation must be run to see values.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88FDF9-8F60-D57F-A576-3DF623C72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192570" y="2608032"/>
            <a:ext cx="3733801" cy="24848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BB3B4C-310C-8800-A201-8BD38A3585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190907" y="2608032"/>
            <a:ext cx="3839837" cy="3554643"/>
          </a:xfrm>
          <a:prstGeom prst="rect">
            <a:avLst/>
          </a:prstGeom>
        </p:spPr>
      </p:pic>
      <p:sp>
        <p:nvSpPr>
          <p:cNvPr id="18" name="Arrow: Up 17">
            <a:extLst>
              <a:ext uri="{FF2B5EF4-FFF2-40B4-BE49-F238E27FC236}">
                <a16:creationId xmlns:a16="http://schemas.microsoft.com/office/drawing/2014/main" id="{058E69C6-60F5-7FE1-F105-B3A4E9E08CF2}"/>
              </a:ext>
            </a:extLst>
          </p:cNvPr>
          <p:cNvSpPr/>
          <p:nvPr/>
        </p:nvSpPr>
        <p:spPr>
          <a:xfrm rot="10800000">
            <a:off x="1944972" y="4964892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56B94826-907F-6B68-85DF-F5DECA69C5E1}"/>
              </a:ext>
            </a:extLst>
          </p:cNvPr>
          <p:cNvSpPr/>
          <p:nvPr/>
        </p:nvSpPr>
        <p:spPr>
          <a:xfrm rot="10800000">
            <a:off x="1001997" y="3912379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Up 22">
            <a:extLst>
              <a:ext uri="{FF2B5EF4-FFF2-40B4-BE49-F238E27FC236}">
                <a16:creationId xmlns:a16="http://schemas.microsoft.com/office/drawing/2014/main" id="{06EE3E7E-77E7-D44D-C46F-D9CFCCEB9B99}"/>
              </a:ext>
            </a:extLst>
          </p:cNvPr>
          <p:cNvSpPr/>
          <p:nvPr/>
        </p:nvSpPr>
        <p:spPr>
          <a:xfrm rot="10800000">
            <a:off x="1206784" y="248871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1442BA07-D002-B385-D02B-4F38B3ECB9DC}"/>
              </a:ext>
            </a:extLst>
          </p:cNvPr>
          <p:cNvSpPr/>
          <p:nvPr/>
        </p:nvSpPr>
        <p:spPr>
          <a:xfrm rot="10800000">
            <a:off x="3192746" y="330786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7227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77F39-175C-4ECE-0499-96BCC398F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F779B-1CE6-B6B5-E626-2FB4A489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2798" y="1325868"/>
            <a:ext cx="8879665" cy="50649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B9B2E5-7D23-7C4F-A4A8-DA9B81C8A1A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5CE141-1030-31AB-E5CE-6172E9E5B71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Data Inspector (Add Signal to Chart)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C6492-ED00-308C-BAD5-B891B4418905}"/>
              </a:ext>
            </a:extLst>
          </p:cNvPr>
          <p:cNvSpPr txBox="1"/>
          <p:nvPr/>
        </p:nvSpPr>
        <p:spPr>
          <a:xfrm>
            <a:off x="283905" y="1855279"/>
            <a:ext cx="229903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Note: The only reason we have 10 seconds of data is because the stop time is currently set for 10 seconds.</a:t>
            </a:r>
          </a:p>
          <a:p>
            <a:endParaRPr lang="en-US" i="1" dirty="0"/>
          </a:p>
          <a:p>
            <a:r>
              <a:rPr lang="en-US" i="1" dirty="0"/>
              <a:t>Increase the stop time to obtain more data.</a:t>
            </a:r>
          </a:p>
        </p:txBody>
      </p:sp>
    </p:spTree>
    <p:extLst>
      <p:ext uri="{BB962C8B-B14F-4D97-AF65-F5344CB8AC3E}">
        <p14:creationId xmlns:p14="http://schemas.microsoft.com/office/powerpoint/2010/main" val="18056016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119398</TotalTime>
  <Words>1319</Words>
  <Application>Microsoft Office PowerPoint</Application>
  <PresentationFormat>Widescreen</PresentationFormat>
  <Paragraphs>235</Paragraphs>
  <Slides>45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PowerPoint Presentation</vt:lpstr>
      <vt:lpstr>PowerPoint Presentation</vt:lpstr>
      <vt:lpstr>PowerPoint Presentation</vt:lpstr>
      <vt:lpstr>How to Open MATLAB &amp; SIMULINK</vt:lpstr>
      <vt:lpstr>PowerPoint Presentation</vt:lpstr>
      <vt:lpstr>PowerPoint Presentation</vt:lpstr>
      <vt:lpstr>PowerPoint Presentation</vt:lpstr>
      <vt:lpstr>How to Create a new Simulink Model</vt:lpstr>
      <vt:lpstr>PowerPoint Presentation</vt:lpstr>
      <vt:lpstr>PowerPoint Presentation</vt:lpstr>
      <vt:lpstr>PowerPoint Presentation</vt:lpstr>
      <vt:lpstr>How to Use blocks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a simulation</vt:lpstr>
      <vt:lpstr>PowerPoint Presentation</vt:lpstr>
      <vt:lpstr>How to Use Data inspector</vt:lpstr>
      <vt:lpstr>PowerPoint Presentation</vt:lpstr>
      <vt:lpstr>PowerPoint Presentation</vt:lpstr>
      <vt:lpstr>How to Use Model Explorer</vt:lpstr>
      <vt:lpstr>How to Use Requirements editor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1825</cp:revision>
  <cp:lastPrinted>2026-03-04T20:38:48Z</cp:lastPrinted>
  <dcterms:created xsi:type="dcterms:W3CDTF">2017-05-22T13:23:52Z</dcterms:created>
  <dcterms:modified xsi:type="dcterms:W3CDTF">2026-09-02T17:37:01Z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