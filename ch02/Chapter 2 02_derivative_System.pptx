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115"/>
  </p:notesMasterIdLst>
  <p:handoutMasterIdLst>
    <p:handoutMasterId r:id="rId116"/>
  </p:handoutMasterIdLst>
  <p:sldIdLst>
    <p:sldId id="256" r:id="rId6"/>
    <p:sldId id="3810" r:id="rId7"/>
    <p:sldId id="3715" r:id="rId8"/>
    <p:sldId id="3907" r:id="rId9"/>
    <p:sldId id="3895" r:id="rId10"/>
    <p:sldId id="3815" r:id="rId11"/>
    <p:sldId id="3897" r:id="rId12"/>
    <p:sldId id="3717" r:id="rId13"/>
    <p:sldId id="3898" r:id="rId14"/>
    <p:sldId id="3908" r:id="rId15"/>
    <p:sldId id="3900" r:id="rId16"/>
    <p:sldId id="3901" r:id="rId17"/>
    <p:sldId id="3902" r:id="rId18"/>
    <p:sldId id="3905" r:id="rId19"/>
    <p:sldId id="3906" r:id="rId20"/>
    <p:sldId id="3909" r:id="rId21"/>
    <p:sldId id="3633" r:id="rId22"/>
    <p:sldId id="3718" r:id="rId23"/>
    <p:sldId id="3719" r:id="rId24"/>
    <p:sldId id="3822" r:id="rId25"/>
    <p:sldId id="3823" r:id="rId26"/>
    <p:sldId id="3820" r:id="rId27"/>
    <p:sldId id="3816" r:id="rId28"/>
    <p:sldId id="3819" r:id="rId29"/>
    <p:sldId id="3821" r:id="rId30"/>
    <p:sldId id="3634" r:id="rId31"/>
    <p:sldId id="3721" r:id="rId32"/>
    <p:sldId id="3910" r:id="rId33"/>
    <p:sldId id="3813" r:id="rId34"/>
    <p:sldId id="3812" r:id="rId35"/>
    <p:sldId id="3724" r:id="rId36"/>
    <p:sldId id="3635" r:id="rId37"/>
    <p:sldId id="3725" r:id="rId38"/>
    <p:sldId id="3730" r:id="rId39"/>
    <p:sldId id="3824" r:id="rId40"/>
    <p:sldId id="3827" r:id="rId41"/>
    <p:sldId id="3825" r:id="rId42"/>
    <p:sldId id="3828" r:id="rId43"/>
    <p:sldId id="3826" r:id="rId44"/>
    <p:sldId id="3829" r:id="rId45"/>
    <p:sldId id="3831" r:id="rId46"/>
    <p:sldId id="3830" r:id="rId47"/>
    <p:sldId id="3832" r:id="rId48"/>
    <p:sldId id="3833" r:id="rId49"/>
    <p:sldId id="3834" r:id="rId50"/>
    <p:sldId id="3835" r:id="rId51"/>
    <p:sldId id="3838" r:id="rId52"/>
    <p:sldId id="3837" r:id="rId53"/>
    <p:sldId id="3839" r:id="rId54"/>
    <p:sldId id="3840" r:id="rId55"/>
    <p:sldId id="3841" r:id="rId56"/>
    <p:sldId id="3842" r:id="rId57"/>
    <p:sldId id="3862" r:id="rId58"/>
    <p:sldId id="3861" r:id="rId59"/>
    <p:sldId id="3843" r:id="rId60"/>
    <p:sldId id="3844" r:id="rId61"/>
    <p:sldId id="3845" r:id="rId62"/>
    <p:sldId id="3846" r:id="rId63"/>
    <p:sldId id="3847" r:id="rId64"/>
    <p:sldId id="3848" r:id="rId65"/>
    <p:sldId id="3849" r:id="rId66"/>
    <p:sldId id="3850" r:id="rId67"/>
    <p:sldId id="3851" r:id="rId68"/>
    <p:sldId id="3853" r:id="rId69"/>
    <p:sldId id="3854" r:id="rId70"/>
    <p:sldId id="3855" r:id="rId71"/>
    <p:sldId id="3859" r:id="rId72"/>
    <p:sldId id="3860" r:id="rId73"/>
    <p:sldId id="3856" r:id="rId74"/>
    <p:sldId id="3857" r:id="rId75"/>
    <p:sldId id="3858" r:id="rId76"/>
    <p:sldId id="3638" r:id="rId77"/>
    <p:sldId id="3761" r:id="rId78"/>
    <p:sldId id="3762" r:id="rId79"/>
    <p:sldId id="3765" r:id="rId80"/>
    <p:sldId id="3766" r:id="rId81"/>
    <p:sldId id="3769" r:id="rId82"/>
    <p:sldId id="3770" r:id="rId83"/>
    <p:sldId id="3863" r:id="rId84"/>
    <p:sldId id="3864" r:id="rId85"/>
    <p:sldId id="3866" r:id="rId86"/>
    <p:sldId id="3869" r:id="rId87"/>
    <p:sldId id="3870" r:id="rId88"/>
    <p:sldId id="3871" r:id="rId89"/>
    <p:sldId id="3874" r:id="rId90"/>
    <p:sldId id="3875" r:id="rId91"/>
    <p:sldId id="3878" r:id="rId92"/>
    <p:sldId id="3879" r:id="rId93"/>
    <p:sldId id="3880" r:id="rId94"/>
    <p:sldId id="3881" r:id="rId95"/>
    <p:sldId id="3884" r:id="rId96"/>
    <p:sldId id="3885" r:id="rId97"/>
    <p:sldId id="3886" r:id="rId98"/>
    <p:sldId id="3776" r:id="rId99"/>
    <p:sldId id="3887" r:id="rId100"/>
    <p:sldId id="3636" r:id="rId101"/>
    <p:sldId id="3747" r:id="rId102"/>
    <p:sldId id="3889" r:id="rId103"/>
    <p:sldId id="3637" r:id="rId104"/>
    <p:sldId id="3749" r:id="rId105"/>
    <p:sldId id="3890" r:id="rId106"/>
    <p:sldId id="3891" r:id="rId107"/>
    <p:sldId id="3892" r:id="rId108"/>
    <p:sldId id="3893" r:id="rId109"/>
    <p:sldId id="3782" r:id="rId110"/>
    <p:sldId id="3784" r:id="rId111"/>
    <p:sldId id="3899" r:id="rId112"/>
    <p:sldId id="3783" r:id="rId113"/>
    <p:sldId id="3786" r:id="rId114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How to Download the Git Repo" id="{7EF22071-C394-4FF8-964E-6DAB451C2574}">
          <p14:sldIdLst>
            <p14:sldId id="3810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907"/>
            <p14:sldId id="3895"/>
            <p14:sldId id="3815"/>
            <p14:sldId id="3897"/>
            <p14:sldId id="3717"/>
            <p14:sldId id="3898"/>
          </p14:sldIdLst>
        </p14:section>
        <p14:section name="How Engineers Think About Equations" id="{9B0AB3E4-2960-4D0A-A39C-9849653DDDAD}">
          <p14:sldIdLst>
            <p14:sldId id="3908"/>
            <p14:sldId id="3900"/>
            <p14:sldId id="3901"/>
            <p14:sldId id="3902"/>
            <p14:sldId id="3905"/>
            <p14:sldId id="3906"/>
            <p14:sldId id="3909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822"/>
          </p14:sldIdLst>
        </p14:section>
        <p14:section name="How to Add To Project" id="{FC424777-DDA0-480D-8D87-60621CDA5627}">
          <p14:sldIdLst>
            <p14:sldId id="3823"/>
            <p14:sldId id="3820"/>
            <p14:sldId id="3816"/>
            <p14:sldId id="3819"/>
            <p14:sldId id="3821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910"/>
            <p14:sldId id="3813"/>
            <p14:sldId id="3812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30"/>
            <p14:sldId id="3824"/>
            <p14:sldId id="3827"/>
            <p14:sldId id="3825"/>
            <p14:sldId id="3828"/>
            <p14:sldId id="3826"/>
            <p14:sldId id="3829"/>
            <p14:sldId id="3831"/>
            <p14:sldId id="3830"/>
            <p14:sldId id="3832"/>
            <p14:sldId id="3833"/>
            <p14:sldId id="3834"/>
            <p14:sldId id="3835"/>
            <p14:sldId id="3838"/>
            <p14:sldId id="3837"/>
            <p14:sldId id="3839"/>
            <p14:sldId id="3840"/>
            <p14:sldId id="3841"/>
            <p14:sldId id="3842"/>
            <p14:sldId id="3862"/>
            <p14:sldId id="3861"/>
            <p14:sldId id="3843"/>
            <p14:sldId id="3844"/>
            <p14:sldId id="3845"/>
            <p14:sldId id="3846"/>
            <p14:sldId id="3847"/>
            <p14:sldId id="3848"/>
            <p14:sldId id="3849"/>
            <p14:sldId id="3850"/>
            <p14:sldId id="3851"/>
            <p14:sldId id="3853"/>
            <p14:sldId id="3854"/>
            <p14:sldId id="3855"/>
          </p14:sldIdLst>
        </p14:section>
        <p14:section name="How to Use Model Configuration" id="{8357885E-9705-4CB7-9C5B-5D62DAD8AE5C}">
          <p14:sldIdLst>
            <p14:sldId id="3859"/>
            <p14:sldId id="3860"/>
            <p14:sldId id="3856"/>
            <p14:sldId id="3857"/>
            <p14:sldId id="3858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863"/>
            <p14:sldId id="3864"/>
            <p14:sldId id="3866"/>
            <p14:sldId id="3869"/>
            <p14:sldId id="3870"/>
            <p14:sldId id="3871"/>
            <p14:sldId id="3874"/>
            <p14:sldId id="3875"/>
            <p14:sldId id="3878"/>
            <p14:sldId id="3879"/>
            <p14:sldId id="3880"/>
            <p14:sldId id="3881"/>
            <p14:sldId id="3884"/>
            <p14:sldId id="3885"/>
            <p14:sldId id="3886"/>
            <p14:sldId id="3776"/>
            <p14:sldId id="3887"/>
          </p14:sldIdLst>
        </p14:section>
        <p14:section name="How to Run a simulation" id="{3F1A5FEB-EFB7-4B88-A875-0798919095F3}">
          <p14:sldIdLst>
            <p14:sldId id="3636"/>
            <p14:sldId id="3747"/>
            <p14:sldId id="3889"/>
          </p14:sldIdLst>
        </p14:section>
        <p14:section name="How to Use Data inspector" id="{62385923-6401-41CB-84E6-D309E1EB289F}">
          <p14:sldIdLst>
            <p14:sldId id="3637"/>
            <p14:sldId id="3749"/>
            <p14:sldId id="3890"/>
            <p14:sldId id="3891"/>
            <p14:sldId id="3892"/>
            <p14:sldId id="3893"/>
            <p14:sldId id="3782"/>
            <p14:sldId id="3784"/>
            <p14:sldId id="3899"/>
            <p14:sldId id="3783"/>
            <p14:sldId id="37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99" autoAdjust="0"/>
    <p:restoredTop sz="94548" autoAdjust="0"/>
  </p:normalViewPr>
  <p:slideViewPr>
    <p:cSldViewPr snapToGrid="0">
      <p:cViewPr varScale="1">
        <p:scale>
          <a:sx n="104" d="100"/>
          <a:sy n="104" d="100"/>
        </p:scale>
        <p:origin x="864" y="102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117" Type="http://schemas.openxmlformats.org/officeDocument/2006/relationships/presProps" Target="presProps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12" Type="http://schemas.openxmlformats.org/officeDocument/2006/relationships/slide" Target="slides/slide107.xml"/><Relationship Id="rId16" Type="http://schemas.openxmlformats.org/officeDocument/2006/relationships/slide" Target="slides/slide11.xml"/><Relationship Id="rId107" Type="http://schemas.openxmlformats.org/officeDocument/2006/relationships/slide" Target="slides/slide102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slide" Target="slides/slide97.xml"/><Relationship Id="rId5" Type="http://schemas.openxmlformats.org/officeDocument/2006/relationships/slideMaster" Target="slideMasters/slideMaster1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113" Type="http://schemas.openxmlformats.org/officeDocument/2006/relationships/slide" Target="slides/slide108.xml"/><Relationship Id="rId118" Type="http://schemas.openxmlformats.org/officeDocument/2006/relationships/viewProps" Target="viewProps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59" Type="http://schemas.openxmlformats.org/officeDocument/2006/relationships/slide" Target="slides/slide54.xml"/><Relationship Id="rId103" Type="http://schemas.openxmlformats.org/officeDocument/2006/relationships/slide" Target="slides/slide98.xml"/><Relationship Id="rId108" Type="http://schemas.openxmlformats.org/officeDocument/2006/relationships/slide" Target="slides/slide103.xml"/><Relationship Id="rId54" Type="http://schemas.openxmlformats.org/officeDocument/2006/relationships/slide" Target="slides/slide49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49" Type="http://schemas.openxmlformats.org/officeDocument/2006/relationships/slide" Target="slides/slide44.xml"/><Relationship Id="rId114" Type="http://schemas.openxmlformats.org/officeDocument/2006/relationships/slide" Target="slides/slide109.xml"/><Relationship Id="rId119" Type="http://schemas.openxmlformats.org/officeDocument/2006/relationships/theme" Target="theme/theme1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slide" Target="slides/slide94.xml"/><Relationship Id="rId101" Type="http://schemas.openxmlformats.org/officeDocument/2006/relationships/slide" Target="slides/slide96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109" Type="http://schemas.openxmlformats.org/officeDocument/2006/relationships/slide" Target="slides/slide10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slide" Target="slides/slide99.xml"/><Relationship Id="rId120" Type="http://schemas.openxmlformats.org/officeDocument/2006/relationships/tableStyles" Target="tableStyles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110" Type="http://schemas.openxmlformats.org/officeDocument/2006/relationships/slide" Target="slides/slide105.xml"/><Relationship Id="rId115" Type="http://schemas.openxmlformats.org/officeDocument/2006/relationships/notesMaster" Target="notesMasters/notesMaster1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slide" Target="slides/slide95.xml"/><Relationship Id="rId105" Type="http://schemas.openxmlformats.org/officeDocument/2006/relationships/slide" Target="slides/slide100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3" Type="http://schemas.openxmlformats.org/officeDocument/2006/relationships/customXml" Target="../customXml/item3.xml"/><Relationship Id="rId25" Type="http://schemas.openxmlformats.org/officeDocument/2006/relationships/slide" Target="slides/slide20.xml"/><Relationship Id="rId46" Type="http://schemas.openxmlformats.org/officeDocument/2006/relationships/slide" Target="slides/slide41.xml"/><Relationship Id="rId67" Type="http://schemas.openxmlformats.org/officeDocument/2006/relationships/slide" Target="slides/slide62.xml"/><Relationship Id="rId116" Type="http://schemas.openxmlformats.org/officeDocument/2006/relationships/handoutMaster" Target="handoutMasters/handoutMaster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62" Type="http://schemas.openxmlformats.org/officeDocument/2006/relationships/slide" Target="slides/slide57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111" Type="http://schemas.openxmlformats.org/officeDocument/2006/relationships/slide" Target="slides/slide106.xml"/><Relationship Id="rId15" Type="http://schemas.openxmlformats.org/officeDocument/2006/relationships/slide" Target="slides/slide10.xml"/><Relationship Id="rId36" Type="http://schemas.openxmlformats.org/officeDocument/2006/relationships/slide" Target="slides/slide31.xml"/><Relationship Id="rId57" Type="http://schemas.openxmlformats.org/officeDocument/2006/relationships/slide" Target="slides/slide52.xml"/><Relationship Id="rId106" Type="http://schemas.openxmlformats.org/officeDocument/2006/relationships/slide" Target="slides/slide10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9/22/2026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624F4-B119-E681-423A-D8C4ABADC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DA9845-4B19-4ECE-FAD9-AD324DDE1A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2B3F2D-9CCF-3FC7-7484-69B18D082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210F2D43-8724-6446-F583-9797DDD9437A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096B7-9DF0-6C48-8E84-6EDF6D8078F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FF4E8-F272-FD42-D328-F2DCFA49F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72446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Launch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22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tylerbelcan/aviation-controls-simulink-training-Belcan.git" TargetMode="External"/><Relationship Id="rId2" Type="http://schemas.openxmlformats.org/officeDocument/2006/relationships/hyperlink" Target="https://github.com/ntylerbelcan/aviation-controls-simulink-training-Belcan" TargetMode="Externa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6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9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2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9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72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8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8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8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8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8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8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8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3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5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9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9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1.png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5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35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8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5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39.png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cloud.microsoft/r/cFLdXL13Qs" TargetMode="External"/><Relationship Id="rId1" Type="http://schemas.openxmlformats.org/officeDocument/2006/relationships/slideLayout" Target="../slideLayouts/slideLayout1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store.office.com/addinsinstallpage.aspx?rs=en-US&amp;assetid=WA200003233&amp;isWac=True&amp;ui=en-US&amp;ad=US" TargetMode="External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1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hyperlink" Target="https://app.powerbi.com/links/zcu27aJGMI?ctid=64ff49ba-62b0-46de-b74b-cc4d370ce341&amp;pbi_source=linkShare" TargetMode="External"/><Relationship Id="rId3" Type="http://schemas.openxmlformats.org/officeDocument/2006/relationships/hyperlink" Target="https://forms.cloud.microsoft/Pages/DesignPageV2.aspx?origin=NeoPortalPage&amp;subpage=design&amp;collectionid=1poezbja8ui7pddb2eif43&amp;id=ukn_ZLBi3ka3S8xNNwzjQfYqP4xcaORCpJj8zDxV2HpUN0dFN1A3ODVPUFowMDk5VTlGRzgxUUQ5OS4u&amp;tab=0&amp;analysis=true" TargetMode="External"/><Relationship Id="rId7" Type="http://schemas.openxmlformats.org/officeDocument/2006/relationships/hyperlink" Target="https://app.powerbi.com/groups/me/modeling/9b03b459-3eeb-4c13-8cb9-9748bd494699/modelView?ctid=64ff49ba-62b0-46de-b74b-cc4d370ce341&amp;experience=power-bi" TargetMode="External"/><Relationship Id="rId2" Type="http://schemas.openxmlformats.org/officeDocument/2006/relationships/hyperlink" Target="https://forms.cloud.microsoft/Pages/AnalysisPage.aspx?AnalyzerToken=OWhhDZASHcVjemZjN4g9cH0kGyfI8nNX&amp;id=ukn_ZLBi3ka3S8xNNwzjQfYqP4xcaORCpJj8zDxV2HpUN0dFN1A3ODVPUFowMDk5VTlGRzgxUUQ5OS4u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pp.powerbi.com/groups/me/list?ctid=64ff49ba-62b0-46de-b74b-cc4d370ce341&amp;experience=power-bi" TargetMode="External"/><Relationship Id="rId5" Type="http://schemas.openxmlformats.org/officeDocument/2006/relationships/hyperlink" Target="https://belcan-my.sharepoint.com/:f:/p/ntyler/IgDPVjp6qhGeQJlTFpICIVoyAfVmSUvbCNIBKXvafhqxuFM?e=VWnujP" TargetMode="External"/><Relationship Id="rId4" Type="http://schemas.openxmlformats.org/officeDocument/2006/relationships/hyperlink" Target="https://belcan-my.sharepoint.com/:x:/p/ntyler/IQAFIt9bH06JQLj917Ba6-VEAWN0eez1FzDNEjMwCAAkqPY?e=BAB6xb" TargetMode="Externa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2 </a:t>
            </a:r>
            <a:r>
              <a:rPr lang="en-US" altLang="en-US" dirty="0"/>
              <a:t>01 Polynomial System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4904838"/>
            <a:ext cx="268451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Created: 14 September 2026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Updated: 16 September 2026</a:t>
            </a:r>
          </a:p>
          <a:p>
            <a:pPr algn="ctr"/>
            <a:endParaRPr lang="en-US" altLang="en-US" sz="1400" b="1" dirty="0">
              <a:solidFill>
                <a:schemeClr val="bg1"/>
              </a:solidFill>
            </a:endParaRP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By Nathaniel Tyler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314FF-2564-999F-BED9-492F98DB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F0340D-8F5A-6BA5-E23E-F12C8CFC05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Download the Git Repo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332D48-5BEE-725D-1184-2B0774D12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Hub Training Repo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643337-5D2F-AE14-065E-F984C3C15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Hub Webpage</a:t>
            </a:r>
          </a:p>
          <a:p>
            <a:pPr lvl="1"/>
            <a:r>
              <a:rPr lang="en-US" dirty="0" err="1">
                <a:hlinkClick r:id="rId2"/>
              </a:rPr>
              <a:t>ntylerbelcan</a:t>
            </a:r>
            <a:r>
              <a:rPr lang="en-US" dirty="0">
                <a:hlinkClick r:id="rId2"/>
              </a:rPr>
              <a:t>/aviation-controls-</a:t>
            </a:r>
            <a:r>
              <a:rPr lang="en-US" dirty="0" err="1">
                <a:hlinkClick r:id="rId2"/>
              </a:rPr>
              <a:t>simulink</a:t>
            </a:r>
            <a:r>
              <a:rPr lang="en-US" dirty="0">
                <a:hlinkClick r:id="rId2"/>
              </a:rPr>
              <a:t>-training-Belcan</a:t>
            </a:r>
            <a:endParaRPr lang="en-US" dirty="0"/>
          </a:p>
          <a:p>
            <a:endParaRPr lang="en-US" dirty="0"/>
          </a:p>
          <a:p>
            <a:r>
              <a:rPr lang="en-US" dirty="0"/>
              <a:t>Ensure you are in a folder called “GitHub” before your run either of the following commands:</a:t>
            </a:r>
          </a:p>
          <a:p>
            <a:pPr marL="400050" lvl="1" indent="0">
              <a:buNone/>
            </a:pPr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Git Bash </a:t>
            </a:r>
            <a:r>
              <a:rPr lang="en-US" dirty="0"/>
              <a:t>/ Terminal you can run</a:t>
            </a:r>
          </a:p>
          <a:p>
            <a:pPr lvl="2"/>
            <a:r>
              <a:rPr lang="en-US" dirty="0"/>
              <a:t>git clone </a:t>
            </a:r>
            <a:r>
              <a:rPr lang="en-US" dirty="0">
                <a:hlinkClick r:id="rId3"/>
              </a:rPr>
              <a:t>https://github.com/ntylerbelcan/aviation-controls-simulink-training-Belcan.git</a:t>
            </a:r>
            <a:br>
              <a:rPr lang="en-US" dirty="0"/>
            </a:br>
            <a:endParaRPr lang="en-US" dirty="0"/>
          </a:p>
          <a:p>
            <a:pPr lvl="1"/>
            <a:r>
              <a:rPr lang="en-US" b="1" dirty="0"/>
              <a:t>OR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MATLAB</a:t>
            </a:r>
          </a:p>
          <a:p>
            <a:pPr lvl="2"/>
            <a:r>
              <a:rPr lang="en-US" dirty="0"/>
              <a:t>You can clone directly from the MATLAB command </a:t>
            </a:r>
            <a:r>
              <a:rPr lang="en-US" dirty="0" err="1"/>
              <a:t>window:MATLAB</a:t>
            </a:r>
            <a:endParaRPr lang="en-US" dirty="0"/>
          </a:p>
          <a:p>
            <a:pPr lvl="2"/>
            <a:r>
              <a:rPr lang="en-US" dirty="0"/>
              <a:t>system('git clone https://github.com/ntylerbelcan/aviation-controls-simulink-training-Belcan.git')</a:t>
            </a:r>
          </a:p>
        </p:txBody>
      </p:sp>
    </p:spTree>
    <p:extLst>
      <p:ext uri="{BB962C8B-B14F-4D97-AF65-F5344CB8AC3E}">
        <p14:creationId xmlns:p14="http://schemas.microsoft.com/office/powerpoint/2010/main" val="40542418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 from equation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 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Property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endParaRPr lang="en-US" dirty="0"/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Shows a final product of the Example we will be walking thru: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3: Final Thought Process  (shows the thought process I used to get to the Simulink model)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4: Final Simulink Model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5: Final Data Dictionary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6: Final Model Configuration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7: Final Data Inspector</a:t>
            </a:r>
          </a:p>
          <a:p>
            <a:pPr marL="0" indent="0" eaLnBrk="1" hangingPunct="1">
              <a:lnSpc>
                <a:spcPct val="90000"/>
              </a:lnSpc>
              <a:spcBef>
                <a:spcPts val="1000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3A299-DB90-4D27-C326-6BA68BAFA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E199F3E-A2B6-A7C2-AC7B-7A10B307B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Model (This summarizes all work created thru the </a:t>
            </a:r>
            <a:r>
              <a:rPr lang="en-US" dirty="0" err="1"/>
              <a:t>powerpoint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684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010A085A-C2C8-7957-D2B1-B2D76280D1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68940" y="842397"/>
            <a:ext cx="4176858" cy="5930762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2151F1-7EDD-1DDD-1B50-79F00F74FF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fontAlgn="t"/>
            <a:r>
              <a:rPr lang="en-US" dirty="0"/>
              <a:t>Converting an Equation into a Simulink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99C53BD-6D27-E615-9A0A-0AB5A5F0117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</p:spPr>
            <p:txBody>
              <a:bodyPr/>
              <a:lstStyle/>
              <a:p>
                <a:r>
                  <a:rPr lang="en-US" sz="1200" b="0" u="sng" dirty="0">
                    <a:latin typeface="+mj-lt"/>
                  </a:rPr>
                  <a:t>Original Equation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I see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, and I mentally decompose it into terms that become blocks.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What's going on in my head after I see original equation: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200" b="0" dirty="0">
                    <a:latin typeface="+mj-lt"/>
                  </a:rPr>
                  <a:t> 			Original Equation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=1∗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4∗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+21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    		Rearrange the polynomial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−4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	Add Parenthesis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−4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5.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= 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+ 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COEFF_A = 1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COEFF_B = -4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COEFF_C = 21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Model Construction Logic: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1: Calculate t²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2: Calculate -4t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3: Apply Constant Term (21)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4: Sum All Terms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5: Output y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See next page for final Simulink model.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See Slide 11 – 17 for more details</a:t>
                </a:r>
                <a:br>
                  <a:rPr lang="en-US" sz="1200" b="0" dirty="0">
                    <a:latin typeface="+mj-lt"/>
                  </a:rPr>
                </a:br>
                <a:endParaRPr lang="en-US" sz="1200" b="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99C53BD-6D27-E615-9A0A-0AB5A5F011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  <a:blipFill>
                <a:blip r:embed="rId3"/>
                <a:stretch>
                  <a:fillRect l="-1253" t="-9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54459B47-B061-8E55-0BC7-0161605480C7}"/>
              </a:ext>
            </a:extLst>
          </p:cNvPr>
          <p:cNvSpPr txBox="1"/>
          <p:nvPr/>
        </p:nvSpPr>
        <p:spPr>
          <a:xfrm>
            <a:off x="4669411" y="5713360"/>
            <a:ext cx="36191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Important:</a:t>
            </a:r>
          </a:p>
          <a:p>
            <a:r>
              <a:rPr lang="en-US" dirty="0"/>
              <a:t>Gain Block = Multiplication</a:t>
            </a:r>
            <a:br>
              <a:rPr lang="en-US" dirty="0"/>
            </a:br>
            <a:r>
              <a:rPr lang="en-US" dirty="0"/>
              <a:t>Output = Input × Gain</a:t>
            </a:r>
          </a:p>
        </p:txBody>
      </p:sp>
    </p:spTree>
    <p:extLst>
      <p:ext uri="{BB962C8B-B14F-4D97-AF65-F5344CB8AC3E}">
        <p14:creationId xmlns:p14="http://schemas.microsoft.com/office/powerpoint/2010/main" val="2646860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A4371-CE9F-CC6E-AFC4-0B2D6F62A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E440B6C-ADF7-B7AD-FF28-4AFA560284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3622BBB-8889-10C0-7FDF-4008002FF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polynomial_System.slx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(Model File)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How your Model Should look when Finished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11" name="Content Placeholder 15">
            <a:extLst>
              <a:ext uri="{FF2B5EF4-FFF2-40B4-BE49-F238E27FC236}">
                <a16:creationId xmlns:a16="http://schemas.microsoft.com/office/drawing/2014/main" id="{874AB148-8D5B-8E2D-1D8C-E918E6E797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547" t="20668" r="19484" b="5308"/>
          <a:stretch>
            <a:fillRect/>
          </a:stretch>
        </p:blipFill>
        <p:spPr>
          <a:xfrm>
            <a:off x="1697353" y="1838325"/>
            <a:ext cx="8736970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9712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977ED-BB3D-E261-95EF-EC8CCEA84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05F371E-74F6-4B03-BC2A-190AFE5B26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D92EB25-38D4-D4C6-FF08-C98EFC27A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polynomial_System.sldd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(Data Dictionary) 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2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Contains Signals &amp; Parameters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2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Contains Signals &amp; Parameters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90AE5075-5378-B476-076D-296534444E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24474" b="64780"/>
          <a:stretch>
            <a:fillRect/>
          </a:stretch>
        </p:blipFill>
        <p:spPr>
          <a:xfrm>
            <a:off x="395288" y="1525140"/>
            <a:ext cx="11341100" cy="2842670"/>
          </a:xfrm>
          <a:prstGeom prst="rect">
            <a:avLst/>
          </a:prstGeom>
        </p:spPr>
      </p:pic>
      <p:graphicFrame>
        <p:nvGraphicFramePr>
          <p:cNvPr id="11" name="Content Placeholder 4">
            <a:extLst>
              <a:ext uri="{FF2B5EF4-FFF2-40B4-BE49-F238E27FC236}">
                <a16:creationId xmlns:a16="http://schemas.microsoft.com/office/drawing/2014/main" id="{48D44D7E-375E-613E-85C9-B297D5BD0D57}"/>
              </a:ext>
            </a:extLst>
          </p:cNvPr>
          <p:cNvGraphicFramePr>
            <a:graphicFrameLocks/>
          </p:cNvGraphicFramePr>
          <p:nvPr/>
        </p:nvGraphicFramePr>
        <p:xfrm>
          <a:off x="395288" y="4455809"/>
          <a:ext cx="10195339" cy="1905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14658">
                  <a:extLst>
                    <a:ext uri="{9D8B030D-6E8A-4147-A177-3AD203B41FA5}">
                      <a16:colId xmlns:a16="http://schemas.microsoft.com/office/drawing/2014/main" val="4229777910"/>
                    </a:ext>
                  </a:extLst>
                </a:gridCol>
                <a:gridCol w="415925">
                  <a:extLst>
                    <a:ext uri="{9D8B030D-6E8A-4147-A177-3AD203B41FA5}">
                      <a16:colId xmlns:a16="http://schemas.microsoft.com/office/drawing/2014/main" val="2749714080"/>
                    </a:ext>
                  </a:extLst>
                </a:gridCol>
                <a:gridCol w="1561686">
                  <a:extLst>
                    <a:ext uri="{9D8B030D-6E8A-4147-A177-3AD203B41FA5}">
                      <a16:colId xmlns:a16="http://schemas.microsoft.com/office/drawing/2014/main" val="4151209554"/>
                    </a:ext>
                  </a:extLst>
                </a:gridCol>
                <a:gridCol w="794751">
                  <a:extLst>
                    <a:ext uri="{9D8B030D-6E8A-4147-A177-3AD203B41FA5}">
                      <a16:colId xmlns:a16="http://schemas.microsoft.com/office/drawing/2014/main" val="1463850620"/>
                    </a:ext>
                  </a:extLst>
                </a:gridCol>
                <a:gridCol w="969596">
                  <a:extLst>
                    <a:ext uri="{9D8B030D-6E8A-4147-A177-3AD203B41FA5}">
                      <a16:colId xmlns:a16="http://schemas.microsoft.com/office/drawing/2014/main" val="1697874259"/>
                    </a:ext>
                  </a:extLst>
                </a:gridCol>
                <a:gridCol w="381480">
                  <a:extLst>
                    <a:ext uri="{9D8B030D-6E8A-4147-A177-3AD203B41FA5}">
                      <a16:colId xmlns:a16="http://schemas.microsoft.com/office/drawing/2014/main" val="3376427272"/>
                    </a:ext>
                  </a:extLst>
                </a:gridCol>
                <a:gridCol w="413271">
                  <a:extLst>
                    <a:ext uri="{9D8B030D-6E8A-4147-A177-3AD203B41FA5}">
                      <a16:colId xmlns:a16="http://schemas.microsoft.com/office/drawing/2014/main" val="292903287"/>
                    </a:ext>
                  </a:extLst>
                </a:gridCol>
                <a:gridCol w="413271">
                  <a:extLst>
                    <a:ext uri="{9D8B030D-6E8A-4147-A177-3AD203B41FA5}">
                      <a16:colId xmlns:a16="http://schemas.microsoft.com/office/drawing/2014/main" val="230030369"/>
                    </a:ext>
                  </a:extLst>
                </a:gridCol>
                <a:gridCol w="3830701">
                  <a:extLst>
                    <a:ext uri="{9D8B030D-6E8A-4147-A177-3AD203B41FA5}">
                      <a16:colId xmlns:a16="http://schemas.microsoft.com/office/drawing/2014/main" val="24875507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EntryType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DataType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Dimensions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Min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Max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Unit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Description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491874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y_raw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186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Intermediate polynomial result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63598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y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Simulink.Signal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186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Polynomial output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705895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t_squared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225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Square of time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2992857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Simulink.Signal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double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2674745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neg_4t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-60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-4 multiplied by time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616167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coeffA_t_squared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225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s^2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Coefficient A multiplied by the squared time term.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48187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COEFF_C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Simulink.Parameter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double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[1 1]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Constant offset applied to the polynomial equation.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123984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COEFF_B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-4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Simulink.Parameter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[1 1]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Coefficient applied to the time term.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438103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COEFF_A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Simulink.Parameter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[1 1]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Coefficient applied to the squared time term.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29461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944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polynomial_System.slx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(Model Settings)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How you Models Settings should be setup.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3C343365-B3C3-C70A-AE39-8A70FD7489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56588"/>
          <a:stretch>
            <a:fillRect/>
          </a:stretch>
        </p:blipFill>
        <p:spPr>
          <a:xfrm>
            <a:off x="1778990" y="2628416"/>
            <a:ext cx="8573696" cy="2936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AF90B-38AD-6847-41F5-8C2985420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4348CF3-9AC9-FB52-74A6-0296690DE3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3134D1A-9A65-EF7F-E27A-0123FDFC8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Inspector</a:t>
            </a:r>
            <a:endParaRPr lang="en-US" sz="1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5C2B3A2-DAD9-AF68-6B46-98AC724AF3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2571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9FF99-1F90-DD16-0F17-7353F6199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D137F46-970C-6B12-41EC-19E441F3F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</p:spTree>
    <p:extLst>
      <p:ext uri="{BB962C8B-B14F-4D97-AF65-F5344CB8AC3E}">
        <p14:creationId xmlns:p14="http://schemas.microsoft.com/office/powerpoint/2010/main" val="64493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5">
            <a:extLst>
              <a:ext uri="{FF2B5EF4-FFF2-40B4-BE49-F238E27FC236}">
                <a16:creationId xmlns:a16="http://schemas.microsoft.com/office/drawing/2014/main" id="{C5C9C41F-2481-3FF5-3597-8D52E6BB9A43}"/>
              </a:ext>
            </a:extLst>
          </p:cNvPr>
          <p:cNvSpPr/>
          <p:nvPr/>
        </p:nvSpPr>
        <p:spPr>
          <a:xfrm>
            <a:off x="5043628" y="4732259"/>
            <a:ext cx="7041535" cy="1827620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8DF527-6F3C-6897-CD68-690D842FB448}"/>
              </a:ext>
            </a:extLst>
          </p:cNvPr>
          <p:cNvSpPr txBox="1"/>
          <p:nvPr/>
        </p:nvSpPr>
        <p:spPr>
          <a:xfrm>
            <a:off x="5181600" y="4823699"/>
            <a:ext cx="6812124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Important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Do not ask: 	"How do I build this model?“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Ask: 		"What mathematical operations make up this equation?“</a:t>
            </a:r>
          </a:p>
          <a:p>
            <a:pPr marL="0" indent="0">
              <a:buNone/>
            </a:pPr>
            <a:endParaRPr lang="en-US" sz="1400" dirty="0"/>
          </a:p>
          <a:p>
            <a:r>
              <a:rPr lang="en-US" sz="1400" dirty="0"/>
              <a:t>This same process applies to:</a:t>
            </a:r>
          </a:p>
          <a:p>
            <a:r>
              <a:rPr lang="en-US" sz="1400" dirty="0"/>
              <a:t>Algebraic Equations 	Polynomial Equations 	Differential Equations </a:t>
            </a:r>
          </a:p>
          <a:p>
            <a:r>
              <a:rPr lang="en-US" sz="1400" dirty="0"/>
              <a:t>State Space Models 	Control Systems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94A7D17-63AC-227A-B439-7E10ED076B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1AAFE1F-2926-E7DD-56D7-819FC177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</p:spPr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4D4E2F4B-77C0-0A81-A5DB-971836BA7235}"/>
              </a:ext>
            </a:extLst>
          </p:cNvPr>
          <p:cNvSpPr/>
          <p:nvPr/>
        </p:nvSpPr>
        <p:spPr>
          <a:xfrm>
            <a:off x="457200" y="3817856"/>
            <a:ext cx="3200400" cy="2498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9F418B1-0427-0A81-B315-C780C45943B5}"/>
                  </a:ext>
                </a:extLst>
              </p:cNvPr>
              <p:cNvSpPr txBox="1"/>
              <p:nvPr/>
            </p:nvSpPr>
            <p:spPr>
              <a:xfrm>
                <a:off x="395817" y="1487081"/>
                <a:ext cx="4469248" cy="49244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Key Concept</a:t>
                </a:r>
                <a:endParaRPr lang="en-US" sz="1600" dirty="0"/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Simulink models are graphical representations of mathematical operations. Engineers do not build the entire equation at once. They decompose it into smaller operations that can be implemented as blocks.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Example</a:t>
                </a:r>
                <a:endParaRPr lang="en-US" sz="16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− 4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+ 21</m:t>
                    </m:r>
                  </m:oMath>
                </a14:m>
                <a:r>
                  <a:rPr lang="en-US" sz="1600" dirty="0"/>
                  <a:t> 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Identify Terms:</a:t>
                </a: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1600" dirty="0"/>
              </a:p>
              <a:p>
                <a:pPr fontAlgn="t">
                  <a:lnSpc>
                    <a:spcPct val="100000"/>
                  </a:lnSpc>
                  <a:buNone/>
                </a:pPr>
                <a:r>
                  <a:rPr lang="en-US" sz="1600" dirty="0"/>
                  <a:t>These terms will become the individual signal paths and mathematical operations used to construct the Simulink model shown on the next slide.</a:t>
                </a:r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9F418B1-0427-0A81-B315-C780C4594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17" y="1487081"/>
                <a:ext cx="4469248" cy="4924425"/>
              </a:xfrm>
              <a:prstGeom prst="rect">
                <a:avLst/>
              </a:prstGeom>
              <a:blipFill>
                <a:blip r:embed="rId2"/>
                <a:stretch>
                  <a:fillRect l="-2865" t="-1361" r="-2319" b="-1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DEE9E6F1-BC72-441C-0116-49E13254CC82}"/>
              </a:ext>
            </a:extLst>
          </p:cNvPr>
          <p:cNvSpPr txBox="1"/>
          <p:nvPr/>
        </p:nvSpPr>
        <p:spPr>
          <a:xfrm>
            <a:off x="5043628" y="1487081"/>
            <a:ext cx="2104743" cy="33239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Equation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Terms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Operations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algn="ctr"/>
            <a:r>
              <a:rPr lang="en-US" sz="1600" dirty="0"/>
              <a:t>Determine Data Flow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Assign Simulink Blocks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Connect Signals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Generate Output</a:t>
            </a:r>
            <a:endParaRPr 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6170A7-6E19-1DC6-B5D1-7576598E59FC}"/>
              </a:ext>
            </a:extLst>
          </p:cNvPr>
          <p:cNvSpPr txBox="1"/>
          <p:nvPr/>
        </p:nvSpPr>
        <p:spPr>
          <a:xfrm>
            <a:off x="7604603" y="1487081"/>
            <a:ext cx="3177152" cy="32008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Mathematics	Simulink Block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Addition (+) 	Sum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Subtraction (-)	Sum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Multiplication (*)	Gain / Product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Constant Value	Constant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Power (t²)		Math Function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Output (y)		Outport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14267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7A6EB-E60A-88AF-928D-E3C43375D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5">
            <a:extLst>
              <a:ext uri="{FF2B5EF4-FFF2-40B4-BE49-F238E27FC236}">
                <a16:creationId xmlns:a16="http://schemas.microsoft.com/office/drawing/2014/main" id="{4CA249E5-49EE-A2CF-68C5-42DE6B1D8D2E}"/>
              </a:ext>
            </a:extLst>
          </p:cNvPr>
          <p:cNvSpPr/>
          <p:nvPr/>
        </p:nvSpPr>
        <p:spPr>
          <a:xfrm>
            <a:off x="5043628" y="4732259"/>
            <a:ext cx="7041535" cy="1077218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FEACB6-9511-91D0-9A18-20D92EFA0072}"/>
              </a:ext>
            </a:extLst>
          </p:cNvPr>
          <p:cNvSpPr txBox="1"/>
          <p:nvPr/>
        </p:nvSpPr>
        <p:spPr>
          <a:xfrm>
            <a:off x="5181600" y="4823699"/>
            <a:ext cx="6812124" cy="10772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ENGINEERING RULE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Do not model the equation.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Model the mathematical operations that make up this equation.</a:t>
            </a:r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82333C-DEAC-B32B-8F06-273C85BD5C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A812114-575F-37F4-B842-BD29C7F64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</p:spPr>
        <p:txBody>
          <a:bodyPr/>
          <a:lstStyle/>
          <a:p>
            <a:r>
              <a:rPr lang="en-US" dirty="0"/>
              <a:t>Equation Decomposition</a:t>
            </a: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93D1D6D2-32B2-23FD-8E28-96869647FE51}"/>
              </a:ext>
            </a:extLst>
          </p:cNvPr>
          <p:cNvSpPr/>
          <p:nvPr/>
        </p:nvSpPr>
        <p:spPr>
          <a:xfrm>
            <a:off x="457200" y="3817856"/>
            <a:ext cx="3200400" cy="2498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BB1B668-EDD3-E577-7970-9B7ED80257EE}"/>
                  </a:ext>
                </a:extLst>
              </p:cNvPr>
              <p:cNvSpPr txBox="1"/>
              <p:nvPr/>
            </p:nvSpPr>
            <p:spPr>
              <a:xfrm>
                <a:off x="395817" y="1487081"/>
                <a:ext cx="4469248" cy="47155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000000"/>
                    </a:solidFill>
                  </a:rPr>
                  <a:t>Original Equation</a:t>
                </a:r>
              </a:p>
              <a:p>
                <a:pPr marL="0" indent="0">
                  <a:buNone/>
                </a:pPr>
                <a:endParaRPr lang="en-US" sz="1600" b="1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p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𝟐𝟏</m:t>
                    </m:r>
                  </m:oMath>
                </a14:m>
                <a:r>
                  <a:rPr lang="en-US" sz="1600" b="1" dirty="0"/>
                  <a:t> 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/>
                  <a:t>Step 1: Split into Terms</a:t>
                </a:r>
              </a:p>
              <a:p>
                <a:pPr marL="0" indent="0">
                  <a:buNone/>
                </a:pPr>
                <a:endParaRPr lang="en-US" sz="16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begChr m:val="["/>
                        <m:endChr m:val="]"/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p>
                            <m:r>
                              <a:rPr lang="en-US" sz="16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  <m:r>
                      <a:rPr lang="en-US" sz="16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 </m:t>
                        </m:r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+</m:t>
                    </m:r>
                    <m:d>
                      <m:dPr>
                        <m:begChr m:val="["/>
                        <m:endChr m:val="]"/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𝟐𝟏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000000"/>
                    </a:solidFill>
                  </a:rPr>
                  <a:t> </a:t>
                </a:r>
              </a:p>
              <a:p>
                <a:pPr marL="0" indent="0">
                  <a:buNone/>
                </a:pPr>
                <a:endParaRPr lang="en-US" sz="16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endParaRPr lang="en-US" sz="16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1600" dirty="0"/>
                  <a:t>Step 2: Identify Operations</a:t>
                </a:r>
                <a:endParaRPr lang="en-US" sz="160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/>
                  <a:t> 	</a:t>
                </a:r>
                <a:r>
                  <a:rPr lang="en-US" sz="1600" dirty="0">
                    <a:sym typeface="Wingdings" panose="05000000000000000000" pitchFamily="2" charset="2"/>
                  </a:rPr>
                  <a:t> </a:t>
                </a:r>
                <a:r>
                  <a:rPr lang="en-US" sz="1600" dirty="0">
                    <a:solidFill>
                      <a:srgbClr val="000000"/>
                    </a:solidFill>
                  </a:rPr>
                  <a:t>Power</a:t>
                </a:r>
                <a:endParaRPr lang="en-US" sz="1600" dirty="0"/>
              </a:p>
              <a:p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/>
                  <a:t> 	</a:t>
                </a:r>
                <a:r>
                  <a:rPr lang="en-US" sz="1600" dirty="0">
                    <a:sym typeface="Wingdings" panose="05000000000000000000" pitchFamily="2" charset="2"/>
                  </a:rPr>
                  <a:t> </a:t>
                </a:r>
                <a:r>
                  <a:rPr lang="en-US" sz="1600" dirty="0">
                    <a:solidFill>
                      <a:srgbClr val="000000"/>
                    </a:solidFill>
                  </a:rPr>
                  <a:t>Multiplication</a:t>
                </a:r>
                <a:endParaRPr lang="en-US" sz="1600" dirty="0"/>
              </a:p>
              <a:p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600" dirty="0"/>
                  <a:t>	</a:t>
                </a:r>
                <a:r>
                  <a:rPr lang="en-US" sz="1600" dirty="0">
                    <a:sym typeface="Wingdings" panose="05000000000000000000" pitchFamily="2" charset="2"/>
                  </a:rPr>
                  <a:t> Constant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Assign Simulink Blocks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Each operation is implemented by one or more Simulink blocks.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BB1B668-EDD3-E577-7970-9B7ED80257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17" y="1487081"/>
                <a:ext cx="4469248" cy="4715522"/>
              </a:xfrm>
              <a:prstGeom prst="rect">
                <a:avLst/>
              </a:prstGeom>
              <a:blipFill>
                <a:blip r:embed="rId2"/>
                <a:stretch>
                  <a:fillRect l="-2865" t="-1423" b="-16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E6E33F03-3CAA-AEDD-BAE2-B4882DC3815A}"/>
              </a:ext>
            </a:extLst>
          </p:cNvPr>
          <p:cNvSpPr txBox="1"/>
          <p:nvPr/>
        </p:nvSpPr>
        <p:spPr>
          <a:xfrm>
            <a:off x="5043628" y="1487081"/>
            <a:ext cx="2104743" cy="33239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Equation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Terms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Operations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algn="ctr"/>
            <a:r>
              <a:rPr lang="en-US" sz="1600" dirty="0"/>
              <a:t>Determine Data Flow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Assign Simulink Blocks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Connect Signals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Generate Output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5D09015-B67B-963E-AA26-E4D5E925C653}"/>
                  </a:ext>
                </a:extLst>
              </p:cNvPr>
              <p:cNvSpPr txBox="1"/>
              <p:nvPr/>
            </p:nvSpPr>
            <p:spPr>
              <a:xfrm>
                <a:off x="7604603" y="1487081"/>
                <a:ext cx="3482498" cy="27140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Mathematical Term	Simulink Block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>
                    <a:latin typeface="+mj-lt"/>
                  </a:rPr>
                  <a:t> 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		Math Function</a:t>
                </a:r>
              </a:p>
              <a:p>
                <a:endParaRPr lang="en-US" sz="1600" dirty="0">
                  <a:solidFill>
                    <a:srgbClr val="000000"/>
                  </a:solidFill>
                  <a:latin typeface="+mj-lt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>
                    <a:latin typeface="+mj-lt"/>
                  </a:rPr>
                  <a:t> 		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Gain Block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600" dirty="0">
                    <a:latin typeface="+mj-lt"/>
                  </a:rPr>
                  <a:t> 		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Constant Block</a:t>
                </a:r>
              </a:p>
              <a:p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Addition 		Sum Block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Output y		Outport</a:t>
                </a:r>
                <a:endParaRPr lang="en-US" sz="1600" dirty="0">
                  <a:latin typeface="+mj-lt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5D09015-B67B-963E-AA26-E4D5E925C6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03" y="1487081"/>
                <a:ext cx="3482498" cy="2714013"/>
              </a:xfrm>
              <a:prstGeom prst="rect">
                <a:avLst/>
              </a:prstGeom>
              <a:blipFill>
                <a:blip r:embed="rId3"/>
                <a:stretch>
                  <a:fillRect l="-3497" t="-2472" b="-35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8584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71E6E-B86C-B2F8-840F-6052C73D1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5">
            <a:extLst>
              <a:ext uri="{FF2B5EF4-FFF2-40B4-BE49-F238E27FC236}">
                <a16:creationId xmlns:a16="http://schemas.microsoft.com/office/drawing/2014/main" id="{8D7035AA-0DC1-D318-A7AA-AD1F48C21D20}"/>
              </a:ext>
            </a:extLst>
          </p:cNvPr>
          <p:cNvSpPr/>
          <p:nvPr/>
        </p:nvSpPr>
        <p:spPr>
          <a:xfrm>
            <a:off x="7484882" y="4732259"/>
            <a:ext cx="4600281" cy="1489432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0843DC-9A5E-34FF-A279-B9D89E4C51E7}"/>
              </a:ext>
            </a:extLst>
          </p:cNvPr>
          <p:cNvSpPr txBox="1"/>
          <p:nvPr/>
        </p:nvSpPr>
        <p:spPr>
          <a:xfrm>
            <a:off x="7604602" y="4823699"/>
            <a:ext cx="4389121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IMPORTANT</a:t>
            </a:r>
          </a:p>
          <a:p>
            <a:pPr marL="0" indent="0">
              <a:buNone/>
            </a:pPr>
            <a:endParaRPr lang="en-US" sz="1400" b="1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Before selecting blocks, understand how information must flow through the model. Signals represent data moving between mathematical operations.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E42A073-3035-F32A-3BAF-4C69324340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0AFFB0-79E5-487E-0D82-54368EFCA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From Mathematical Operations to Signal Flow</a:t>
            </a:r>
            <a:endParaRPr lang="en-US" dirty="0"/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A1D4B489-79CE-AF79-1B82-C4CDB3D1684D}"/>
              </a:ext>
            </a:extLst>
          </p:cNvPr>
          <p:cNvSpPr/>
          <p:nvPr/>
        </p:nvSpPr>
        <p:spPr>
          <a:xfrm>
            <a:off x="457200" y="3817856"/>
            <a:ext cx="3200400" cy="2498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8A73FBB-1F8E-7BC3-DE2D-3D694A61E8A1}"/>
                  </a:ext>
                </a:extLst>
              </p:cNvPr>
              <p:cNvSpPr txBox="1"/>
              <p:nvPr/>
            </p:nvSpPr>
            <p:spPr>
              <a:xfrm>
                <a:off x="395817" y="1487081"/>
                <a:ext cx="4469248" cy="22159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600" dirty="0">
                    <a:solidFill>
                      <a:srgbClr val="000000"/>
                    </a:solidFill>
                  </a:rPr>
                  <a:t>The goal is to understand how information (signals) moves through the model before selecting Simulink blocks.</a:t>
                </a:r>
                <a:endParaRPr lang="en-US" sz="1600" dirty="0"/>
              </a:p>
              <a:p>
                <a:pPr marL="0" indent="0">
                  <a:buNone/>
                </a:pPr>
                <a:endParaRPr lang="en-US" sz="1600" b="1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000000"/>
                    </a:solidFill>
                  </a:rPr>
                  <a:t>Starting Variable</a:t>
                </a:r>
              </a:p>
              <a:p>
                <a:pPr marL="0" indent="0">
                  <a:buNone/>
                </a:pPr>
                <a:endParaRPr lang="en-US" sz="1600" b="1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1600" b="1" dirty="0"/>
                  <a:t> 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endParaRPr lang="en-US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8A73FBB-1F8E-7BC3-DE2D-3D694A61E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17" y="1487081"/>
                <a:ext cx="4469248" cy="2215991"/>
              </a:xfrm>
              <a:prstGeom prst="rect">
                <a:avLst/>
              </a:prstGeom>
              <a:blipFill>
                <a:blip r:embed="rId2"/>
                <a:stretch>
                  <a:fillRect l="-2865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9CA38B-FEC9-8856-0866-BE1F6C10FDA9}"/>
                  </a:ext>
                </a:extLst>
              </p:cNvPr>
              <p:cNvSpPr txBox="1"/>
              <p:nvPr/>
            </p:nvSpPr>
            <p:spPr>
              <a:xfrm>
                <a:off x="5536039" y="1487081"/>
                <a:ext cx="1119922" cy="27084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t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↓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------+------ </a:t>
                </a: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↓               ↓</a:t>
                </a:r>
                <a:endParaRPr lang="en-US" sz="16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000000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600" dirty="0"/>
              </a:p>
              <a:p>
                <a:pPr algn="ctr"/>
                <a:r>
                  <a:rPr lang="en-US" sz="1600" dirty="0">
                    <a:solidFill>
                      <a:srgbClr val="000000"/>
                    </a:solidFill>
                  </a:rPr>
                  <a:t>↓               ↓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------+------ </a:t>
                </a:r>
              </a:p>
              <a:p>
                <a:pPr algn="ctr"/>
                <a:r>
                  <a:rPr lang="en-US" sz="1600" dirty="0">
                    <a:solidFill>
                      <a:srgbClr val="000000"/>
                    </a:solidFill>
                  </a:rPr>
                  <a:t>↓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+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endParaRPr lang="en-US" sz="1600" dirty="0">
                  <a:solidFill>
                    <a:srgbClr val="000000"/>
                  </a:solidFill>
                </a:endParaRPr>
              </a:p>
              <a:p>
                <a:pPr algn="ctr"/>
                <a:r>
                  <a:rPr lang="en-US" sz="1600" dirty="0">
                    <a:solidFill>
                      <a:srgbClr val="000000"/>
                    </a:solidFill>
                  </a:rPr>
                  <a:t>↓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9CA38B-FEC9-8856-0866-BE1F6C10FD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6039" y="1487081"/>
                <a:ext cx="1119922" cy="2708434"/>
              </a:xfrm>
              <a:prstGeom prst="rect">
                <a:avLst/>
              </a:prstGeom>
              <a:blipFill>
                <a:blip r:embed="rId3"/>
                <a:stretch>
                  <a:fillRect l="-8152" t="-2477" r="-8696" b="-15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57DDC40-D461-4E56-E2E1-DBA7B4DE3AA5}"/>
                  </a:ext>
                </a:extLst>
              </p:cNvPr>
              <p:cNvSpPr txBox="1"/>
              <p:nvPr/>
            </p:nvSpPr>
            <p:spPr>
              <a:xfrm>
                <a:off x="7604603" y="1487081"/>
                <a:ext cx="3482498" cy="24622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Signal Paths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Path 1: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Path 2: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Path 3: Constant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endParaRPr lang="en-US" sz="1600" dirty="0">
                  <a:latin typeface="+mj-lt"/>
                </a:endParaRPr>
              </a:p>
              <a:p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latin typeface="+mj-lt"/>
                  </a:rPr>
                  <a:t>Final Step:</a:t>
                </a:r>
              </a:p>
              <a:p>
                <a:r>
                  <a:rPr lang="en-US" sz="1600" dirty="0">
                    <a:latin typeface="+mj-lt"/>
                  </a:rPr>
                  <a:t>Combine all three terms to produce y.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57DDC40-D461-4E56-E2E1-DBA7B4DE3A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03" y="1487081"/>
                <a:ext cx="3482498" cy="2462213"/>
              </a:xfrm>
              <a:prstGeom prst="rect">
                <a:avLst/>
              </a:prstGeom>
              <a:blipFill>
                <a:blip r:embed="rId4"/>
                <a:stretch>
                  <a:fillRect l="-3497" t="-2723" r="-175" b="-4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7841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6062AD-E299-671E-50FF-74A1CD12DE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96066" y="1563046"/>
            <a:ext cx="5308975" cy="36576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Mathematical Operation → Simulink Block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117B471-9617-7EB9-2F83-F4BB002A7C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1" dirty="0"/>
              <a:t>Signal Flow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AEC3A2CE-D369-90A0-6C50-3C1215A43C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5817" y="2042465"/>
                <a:ext cx="2055152" cy="4368092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t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------+------ </a:t>
                </a: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               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               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------+------ </a:t>
                </a: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+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endParaRPr lang="en-US" sz="1600" dirty="0">
                  <a:solidFill>
                    <a:srgbClr val="000000"/>
                  </a:solidFill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AEC3A2CE-D369-90A0-6C50-3C1215A43C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5817" y="2042465"/>
                <a:ext cx="2055152" cy="4368092"/>
              </a:xfrm>
              <a:blipFill>
                <a:blip r:embed="rId2"/>
                <a:stretch>
                  <a:fillRect t="-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E0F9A3C-780B-0B12-AE6F-CA9F2E1B0A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420798-DB81-4937-93F8-3092A3028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</a:rPr>
              <a:t>Implementing Signal Flow Using Simulink Blocks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CF2AAE9-F7C7-A797-A782-2F68D11326A8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2696066" y="2042465"/>
            <a:ext cx="5308975" cy="43680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Power (t²) 	→ Math Function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Multiplication (-4t) 	→ Gain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Constant (21) 	→ Constant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Addition 		→ Sum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Output (y) 	→ Outport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03A66C-4266-F20C-2E94-E1A4BFA011D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00"/>
                </a:solidFill>
              </a:rPr>
              <a:t>Implementation Concept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99E576D-D2A7-FB5A-C45C-F2915370F74B}"/>
              </a:ext>
            </a:extLst>
          </p:cNvPr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Clock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↓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+ → Math Function → +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↓                                  ↓</a:t>
            </a: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+ → Gain (-4) → → →+ → Sum → y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↓                                  ↑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+ → Constant (21) → +</a:t>
            </a:r>
            <a:endParaRPr lang="en-US" dirty="0"/>
          </a:p>
          <a:p>
            <a:endParaRPr lang="en-US" dirty="0"/>
          </a:p>
        </p:txBody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75D556AA-080D-A2EE-573A-540026EC6E84}"/>
              </a:ext>
            </a:extLst>
          </p:cNvPr>
          <p:cNvSpPr/>
          <p:nvPr/>
        </p:nvSpPr>
        <p:spPr>
          <a:xfrm>
            <a:off x="7484882" y="4732259"/>
            <a:ext cx="4600281" cy="1329176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804CA6-83F1-867A-D413-C4C96CC24157}"/>
              </a:ext>
            </a:extLst>
          </p:cNvPr>
          <p:cNvSpPr txBox="1"/>
          <p:nvPr/>
        </p:nvSpPr>
        <p:spPr>
          <a:xfrm>
            <a:off x="7604602" y="4823699"/>
            <a:ext cx="4389121" cy="10772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IMPORTANT</a:t>
            </a:r>
          </a:p>
          <a:p>
            <a:pPr marL="0" indent="0">
              <a:buNone/>
            </a:pPr>
            <a:endParaRPr lang="en-US" sz="1400" b="1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The mathematics has not changed. We are replacing each mathematical operation with a corresponding Simulink block.</a:t>
            </a:r>
          </a:p>
        </p:txBody>
      </p:sp>
    </p:spTree>
    <p:extLst>
      <p:ext uri="{BB962C8B-B14F-4D97-AF65-F5344CB8AC3E}">
        <p14:creationId xmlns:p14="http://schemas.microsoft.com/office/powerpoint/2010/main" val="22836001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981A3-4616-0889-BB45-456DC536F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D6F1E3E8-275E-5FD0-96D2-1E73BDBFF6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68940" y="842397"/>
            <a:ext cx="4176858" cy="5930762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B7744BB-2ABE-F909-9DDB-5AFF72A0AB0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fontAlgn="t"/>
            <a:r>
              <a:rPr lang="en-US" dirty="0"/>
              <a:t>Converting an Equation into a Simulink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73C4B110-B917-8C18-6A8E-FC1B014BBE5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</p:spPr>
            <p:txBody>
              <a:bodyPr/>
              <a:lstStyle/>
              <a:p>
                <a:r>
                  <a:rPr lang="en-US" sz="1200" b="0" u="sng" dirty="0">
                    <a:latin typeface="+mj-lt"/>
                  </a:rPr>
                  <a:t>Original Equation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I see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, and I mentally decompose it into terms that become blocks.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What's going on in my head after I see original equation: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200" b="0" dirty="0">
                    <a:latin typeface="+mj-lt"/>
                  </a:rPr>
                  <a:t> 			Original Equation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=1∗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4∗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+21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    		Rearrange the polynomial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−4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	Add Parenthesis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−4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5.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= 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+ 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COEFF_A = 1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COEFF_B = -4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COEFF_C = 21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Model Construction Logic: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1: Calculate t²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2: Calculate -4t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3: Apply Constant Term (21)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4: Sum All Terms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5: Output y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See next page for final Simulink model.</a:t>
                </a:r>
                <a:br>
                  <a:rPr lang="en-US" sz="1200" b="0" dirty="0">
                    <a:latin typeface="+mj-lt"/>
                  </a:rPr>
                </a:br>
                <a:endParaRPr lang="en-US" sz="1200" b="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73C4B110-B917-8C18-6A8E-FC1B014BBE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  <a:blipFill>
                <a:blip r:embed="rId3"/>
                <a:stretch>
                  <a:fillRect l="-1253" t="-991" b="-19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D050B785-F855-0989-B87A-B63132435C72}"/>
              </a:ext>
            </a:extLst>
          </p:cNvPr>
          <p:cNvSpPr txBox="1"/>
          <p:nvPr/>
        </p:nvSpPr>
        <p:spPr>
          <a:xfrm>
            <a:off x="4669411" y="5713360"/>
            <a:ext cx="36191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Important:</a:t>
            </a:r>
          </a:p>
          <a:p>
            <a:r>
              <a:rPr lang="en-US" dirty="0"/>
              <a:t>Gain Block = Multiplication</a:t>
            </a:r>
            <a:br>
              <a:rPr lang="en-US" dirty="0"/>
            </a:br>
            <a:r>
              <a:rPr lang="en-US" dirty="0"/>
              <a:t>Output = Input × Gain</a:t>
            </a:r>
          </a:p>
        </p:txBody>
      </p:sp>
    </p:spTree>
    <p:extLst>
      <p:ext uri="{BB962C8B-B14F-4D97-AF65-F5344CB8AC3E}">
        <p14:creationId xmlns:p14="http://schemas.microsoft.com/office/powerpoint/2010/main" val="17497581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8F595-B4A5-DBBA-B315-8E0C4D287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54F3BB-890F-F01A-6E4C-8573EA0513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fontAlgn="t"/>
            <a:r>
              <a:rPr lang="en-US" dirty="0"/>
              <a:t>Final Simulink Implementation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B4DD9A5-DAAD-F613-0426-544387FFF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The model </a:t>
            </a:r>
            <a:r>
              <a:rPr lang="en-US" dirty="0"/>
              <a:t>implements:</a:t>
            </a:r>
            <a:r>
              <a:rPr lang="fr-FR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y = t² - 4t + 21 (THIS IS THE FINAL IMPLIMENTATION)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11" name="Content Placeholder 15">
            <a:extLst>
              <a:ext uri="{FF2B5EF4-FFF2-40B4-BE49-F238E27FC236}">
                <a16:creationId xmlns:a16="http://schemas.microsoft.com/office/drawing/2014/main" id="{7D5CF45C-E2D0-6434-036F-68B12ED941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547" t="20668" r="19484" b="5308"/>
          <a:stretch>
            <a:fillRect/>
          </a:stretch>
        </p:blipFill>
        <p:spPr>
          <a:xfrm>
            <a:off x="1697353" y="1838325"/>
            <a:ext cx="8736970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2032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3121E-DE66-D67A-DD68-DE3CBB884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00AC230-0A7F-563F-D824-9287DDCAEF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62484" y="1992254"/>
            <a:ext cx="2230073" cy="731520"/>
          </a:xfrm>
        </p:spPr>
        <p:txBody>
          <a:bodyPr/>
          <a:lstStyle/>
          <a:p>
            <a:r>
              <a:rPr lang="en-US" b="0" dirty="0"/>
              <a:t>Step 2. Navigate to Chapter 2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656036E-E490-A0AD-5BFE-84FDBED2363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8758885-1CDA-0A29-BB4B-CB9149FCFC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89E6064-7B0E-A51E-E61C-7558DE8DA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(Summary)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5B05A8-9C31-97E7-DA73-7020581DF26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682865" y="1992254"/>
            <a:ext cx="3572740" cy="731520"/>
          </a:xfrm>
        </p:spPr>
        <p:txBody>
          <a:bodyPr>
            <a:normAutofit/>
          </a:bodyPr>
          <a:lstStyle/>
          <a:p>
            <a:r>
              <a:rPr lang="en-US" dirty="0"/>
              <a:t>Step 2. Navigate to sub folder “02_derivative_System”</a:t>
            </a:r>
          </a:p>
        </p:txBody>
      </p:sp>
      <p:pic>
        <p:nvPicPr>
          <p:cNvPr id="10" name="Content Placeholder 10">
            <a:extLst>
              <a:ext uri="{FF2B5EF4-FFF2-40B4-BE49-F238E27FC236}">
                <a16:creationId xmlns:a16="http://schemas.microsoft.com/office/drawing/2014/main" id="{A72C2539-67BC-489D-AED5-2A0331F0A72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3517" b="49791"/>
          <a:stretch>
            <a:fillRect/>
          </a:stretch>
        </p:blipFill>
        <p:spPr>
          <a:xfrm>
            <a:off x="4662484" y="2759075"/>
            <a:ext cx="2230073" cy="3651250"/>
          </a:xfrm>
          <a:prstGeom prst="rect">
            <a:avLst/>
          </a:prstGeom>
        </p:spPr>
      </p:pic>
      <p:pic>
        <p:nvPicPr>
          <p:cNvPr id="13" name="Content Placeholder 4">
            <a:extLst>
              <a:ext uri="{FF2B5EF4-FFF2-40B4-BE49-F238E27FC236}">
                <a16:creationId xmlns:a16="http://schemas.microsoft.com/office/drawing/2014/main" id="{6CAE577E-32FC-BEB5-D154-DC2226B74B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13" b="53441"/>
          <a:stretch>
            <a:fillRect/>
          </a:stretch>
        </p:blipFill>
        <p:spPr>
          <a:xfrm>
            <a:off x="526528" y="2759075"/>
            <a:ext cx="3178697" cy="3651250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C4472A4B-77E9-DE77-548E-785BB6900E8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6005" b="59273"/>
          <a:stretch>
            <a:fillRect/>
          </a:stretch>
        </p:blipFill>
        <p:spPr>
          <a:xfrm>
            <a:off x="7682865" y="2759075"/>
            <a:ext cx="2316512" cy="36512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B55661C-F1B9-AADC-4C93-D3D474445AB9}"/>
              </a:ext>
            </a:extLst>
          </p:cNvPr>
          <p:cNvSpPr txBox="1"/>
          <p:nvPr/>
        </p:nvSpPr>
        <p:spPr>
          <a:xfrm>
            <a:off x="7750963" y="5435356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Double Click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B062E70-BAF6-0219-2B5D-D496BE3FC26B}"/>
              </a:ext>
            </a:extLst>
          </p:cNvPr>
          <p:cNvCxnSpPr>
            <a:cxnSpLocks/>
          </p:cNvCxnSpPr>
          <p:nvPr/>
        </p:nvCxnSpPr>
        <p:spPr>
          <a:xfrm flipV="1">
            <a:off x="8490768" y="4972050"/>
            <a:ext cx="0" cy="4633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799190AD-EA39-B361-AD09-85F0AAF350D3}"/>
              </a:ext>
            </a:extLst>
          </p:cNvPr>
          <p:cNvSpPr/>
          <p:nvPr/>
        </p:nvSpPr>
        <p:spPr>
          <a:xfrm>
            <a:off x="7682865" y="4761937"/>
            <a:ext cx="1616256" cy="2101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1483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8216E-1A64-1193-E0B5-50B6D4246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79B8E91-3DB6-2C46-0C6D-6BB1A7729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</p:spTree>
    <p:extLst>
      <p:ext uri="{BB962C8B-B14F-4D97-AF65-F5344CB8AC3E}">
        <p14:creationId xmlns:p14="http://schemas.microsoft.com/office/powerpoint/2010/main" val="3001818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A2590-4BD8-311C-33CD-0329ECBA9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4219BBE-9F11-52B1-95B1-A3481BF9976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2. Click “Add Selected Folders and Subfolders”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6B13119-1974-8563-0C63-E19D27CBD7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693752"/>
          </a:xfrm>
        </p:spPr>
        <p:txBody>
          <a:bodyPr/>
          <a:lstStyle/>
          <a:p>
            <a:r>
              <a:rPr lang="en-US" dirty="0"/>
              <a:t>Step 1. Right Click Folder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E1239AD-10C8-65D8-0690-451AB62194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0768430-6F99-4758-95FB-03D4339B1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“ch02” Folder and Sub Folders to Project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EE4AAF5C-F38E-9775-9A05-4CDC7F6B06E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3. Observe Folder has been added to path</a:t>
            </a:r>
          </a:p>
        </p:txBody>
      </p:sp>
      <p:pic>
        <p:nvPicPr>
          <p:cNvPr id="4" name="Content Placeholder 10">
            <a:extLst>
              <a:ext uri="{FF2B5EF4-FFF2-40B4-BE49-F238E27FC236}">
                <a16:creationId xmlns:a16="http://schemas.microsoft.com/office/drawing/2014/main" id="{30B9259D-561B-ED3F-65FF-DFE5553BE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644" b="53572"/>
          <a:stretch>
            <a:fillRect/>
          </a:stretch>
        </p:blipFill>
        <p:spPr>
          <a:xfrm>
            <a:off x="508367" y="2256798"/>
            <a:ext cx="3143911" cy="3854217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73BF6850-634D-78EB-BE1E-3400394772D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317" b="38744"/>
          <a:stretch>
            <a:fillRect/>
          </a:stretch>
        </p:blipFill>
        <p:spPr>
          <a:xfrm>
            <a:off x="4243049" y="2256798"/>
            <a:ext cx="3776663" cy="3585244"/>
          </a:xfrm>
          <a:prstGeom prst="rect">
            <a:avLst/>
          </a:prstGeom>
        </p:spPr>
      </p:pic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1B9865CD-D838-C9AB-FF00-306FC91EA232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" r="81675" b="52697"/>
          <a:stretch>
            <a:fillRect/>
          </a:stretch>
        </p:blipFill>
        <p:spPr>
          <a:xfrm>
            <a:off x="8626677" y="2256798"/>
            <a:ext cx="3056955" cy="4224035"/>
          </a:xfrm>
          <a:prstGeom prst="rect">
            <a:avLst/>
          </a:prstGeom>
          <a:ln>
            <a:noFill/>
          </a:ln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E223D70-5C0A-3A3A-A8EE-F21150830694}"/>
              </a:ext>
            </a:extLst>
          </p:cNvPr>
          <p:cNvSpPr/>
          <p:nvPr/>
        </p:nvSpPr>
        <p:spPr>
          <a:xfrm>
            <a:off x="6702458" y="5495827"/>
            <a:ext cx="1317254" cy="2073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AFE84E7-7C46-9480-1514-9F671D3CBCA9}"/>
              </a:ext>
            </a:extLst>
          </p:cNvPr>
          <p:cNvSpPr/>
          <p:nvPr/>
        </p:nvSpPr>
        <p:spPr>
          <a:xfrm rot="10800000">
            <a:off x="7162497" y="5703216"/>
            <a:ext cx="397175" cy="490194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9480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05221-6C4E-C805-D258-14D78EA91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C548A83-BD64-4FB9-FB11-343D3E37FA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726" b="74742"/>
          <a:stretch>
            <a:fillRect/>
          </a:stretch>
        </p:blipFill>
        <p:spPr>
          <a:xfrm>
            <a:off x="9129514" y="2723774"/>
            <a:ext cx="1970581" cy="1750876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6B95A65-2D37-64F5-B9E0-3D0FD941E8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710" y="1992254"/>
            <a:ext cx="2845658" cy="731520"/>
          </a:xfrm>
        </p:spPr>
        <p:txBody>
          <a:bodyPr/>
          <a:lstStyle/>
          <a:p>
            <a:r>
              <a:rPr lang="en-US" b="0" dirty="0"/>
              <a:t>Step 1. Double Click ch02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9092CF3-DE4A-5C94-CEF7-A2088B8D54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2487A96-D66C-17EC-3BC0-72C89EFE1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Folder “02_derivative_System”</a:t>
            </a:r>
          </a:p>
        </p:txBody>
      </p:sp>
      <p:pic>
        <p:nvPicPr>
          <p:cNvPr id="22" name="Content Placeholder 10">
            <a:extLst>
              <a:ext uri="{FF2B5EF4-FFF2-40B4-BE49-F238E27FC236}">
                <a16:creationId xmlns:a16="http://schemas.microsoft.com/office/drawing/2014/main" id="{419ADDE4-A2DC-16A2-CCC1-D0DF0A833D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78967" b="49791"/>
          <a:stretch>
            <a:fillRect/>
          </a:stretch>
        </p:blipFill>
        <p:spPr>
          <a:xfrm>
            <a:off x="69709" y="2723774"/>
            <a:ext cx="2845658" cy="365125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E00BD30-6100-DD07-8E50-39ABA02986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716" b="65212"/>
          <a:stretch>
            <a:fillRect/>
          </a:stretch>
        </p:blipFill>
        <p:spPr>
          <a:xfrm>
            <a:off x="3336418" y="2723775"/>
            <a:ext cx="3400678" cy="2514976"/>
          </a:xfrm>
          <a:prstGeom prst="rect">
            <a:avLst/>
          </a:prstGeom>
        </p:spPr>
      </p:pic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C6733B86-94A7-3920-6A40-4707789E9E9E}"/>
              </a:ext>
            </a:extLst>
          </p:cNvPr>
          <p:cNvSpPr txBox="1">
            <a:spLocks/>
          </p:cNvSpPr>
          <p:nvPr/>
        </p:nvSpPr>
        <p:spPr>
          <a:xfrm>
            <a:off x="3336418" y="1992254"/>
            <a:ext cx="346462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Right Click on Empty Space and Click “</a:t>
            </a:r>
            <a:r>
              <a:rPr lang="en-US" dirty="0">
                <a:sym typeface="Wingdings" panose="05000000000000000000" pitchFamily="2" charset="2"/>
              </a:rPr>
              <a:t>Folder”</a:t>
            </a:r>
            <a:endParaRPr lang="en-US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8D992CDB-9C34-EA4C-7E03-7C800CB5DE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266" b="73837"/>
          <a:stretch>
            <a:fillRect/>
          </a:stretch>
        </p:blipFill>
        <p:spPr>
          <a:xfrm>
            <a:off x="7102700" y="2723774"/>
            <a:ext cx="1045265" cy="1900614"/>
          </a:xfrm>
          <a:prstGeom prst="rect">
            <a:avLst/>
          </a:prstGeom>
        </p:spPr>
      </p:pic>
      <p:sp>
        <p:nvSpPr>
          <p:cNvPr id="43" name="Text Placeholder 8">
            <a:extLst>
              <a:ext uri="{FF2B5EF4-FFF2-40B4-BE49-F238E27FC236}">
                <a16:creationId xmlns:a16="http://schemas.microsoft.com/office/drawing/2014/main" id="{FDC54254-85AE-1002-6FAA-985D021A1410}"/>
              </a:ext>
            </a:extLst>
          </p:cNvPr>
          <p:cNvSpPr txBox="1">
            <a:spLocks/>
          </p:cNvSpPr>
          <p:nvPr/>
        </p:nvSpPr>
        <p:spPr>
          <a:xfrm>
            <a:off x="7102700" y="1992254"/>
            <a:ext cx="1862193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3. </a:t>
            </a:r>
          </a:p>
          <a:p>
            <a:r>
              <a:rPr lang="en-US" dirty="0"/>
              <a:t>Rename Folder</a:t>
            </a:r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7D720E4C-5C5F-C340-EF15-3A587C860691}"/>
              </a:ext>
            </a:extLst>
          </p:cNvPr>
          <p:cNvSpPr txBox="1">
            <a:spLocks/>
          </p:cNvSpPr>
          <p:nvPr/>
        </p:nvSpPr>
        <p:spPr>
          <a:xfrm>
            <a:off x="9129514" y="1992254"/>
            <a:ext cx="2804824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Rename Folder to</a:t>
            </a:r>
          </a:p>
          <a:p>
            <a:r>
              <a:rPr lang="en-US" dirty="0"/>
              <a:t>02_derivative_System</a:t>
            </a:r>
          </a:p>
        </p:txBody>
      </p:sp>
    </p:spTree>
    <p:extLst>
      <p:ext uri="{BB962C8B-B14F-4D97-AF65-F5344CB8AC3E}">
        <p14:creationId xmlns:p14="http://schemas.microsoft.com/office/powerpoint/2010/main" val="14432005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B480-E006-43A5-928E-4A6AE1493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380C1D44-2213-46F2-682D-F7841C4CCCA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323" b="39531"/>
          <a:stretch>
            <a:fillRect/>
          </a:stretch>
        </p:blipFill>
        <p:spPr>
          <a:xfrm>
            <a:off x="4229100" y="2457514"/>
            <a:ext cx="3776663" cy="353841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CAC8222-3E40-925D-07AA-EBE792FF15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2. Add Selected Folders and Subfolders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4330400-6B47-B841-85C9-5731670D1E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693750"/>
          </a:xfrm>
        </p:spPr>
        <p:txBody>
          <a:bodyPr/>
          <a:lstStyle/>
          <a:p>
            <a:r>
              <a:rPr lang="en-US" dirty="0"/>
              <a:t>Step 1. Right Click Folder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BB732D1-B283-A5FA-6B65-96E65F35A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ED13547-E31A-8C53-8433-4FDB66D4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“02_derivative_System” Folder and Sub Folders to Project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4673DE67-2C16-40EB-7B4E-3DEA4FB68E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5"/>
            <a:ext cx="3776472" cy="693751"/>
          </a:xfrm>
        </p:spPr>
        <p:txBody>
          <a:bodyPr>
            <a:normAutofit/>
          </a:bodyPr>
          <a:lstStyle/>
          <a:p>
            <a:r>
              <a:rPr lang="en-US" dirty="0"/>
              <a:t>Step 3. Observe Folder has been added to path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4694412-DE9B-C5B9-C32C-4B00345E8D40}"/>
              </a:ext>
            </a:extLst>
          </p:cNvPr>
          <p:cNvSpPr/>
          <p:nvPr/>
        </p:nvSpPr>
        <p:spPr>
          <a:xfrm>
            <a:off x="6702458" y="5656083"/>
            <a:ext cx="1317254" cy="2073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Down 49">
            <a:extLst>
              <a:ext uri="{FF2B5EF4-FFF2-40B4-BE49-F238E27FC236}">
                <a16:creationId xmlns:a16="http://schemas.microsoft.com/office/drawing/2014/main" id="{57593A93-61C0-6583-7BEB-A1F71C8D4096}"/>
              </a:ext>
            </a:extLst>
          </p:cNvPr>
          <p:cNvSpPr/>
          <p:nvPr/>
        </p:nvSpPr>
        <p:spPr>
          <a:xfrm rot="10800000">
            <a:off x="7162497" y="5863472"/>
            <a:ext cx="397175" cy="490194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7460CB81-BFA2-9347-16D9-1027762C8B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9" r="85083" b="74864"/>
          <a:stretch>
            <a:fillRect/>
          </a:stretch>
        </p:blipFill>
        <p:spPr>
          <a:xfrm>
            <a:off x="930786" y="2256798"/>
            <a:ext cx="2705665" cy="245146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4B4F7C5-7DFB-C062-A0BD-2902BB9E077A}"/>
              </a:ext>
            </a:extLst>
          </p:cNvPr>
          <p:cNvSpPr txBox="1"/>
          <p:nvPr/>
        </p:nvSpPr>
        <p:spPr>
          <a:xfrm>
            <a:off x="936089" y="5171568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Right Click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82BCA5-D4F2-9BBF-E38D-39E9C2C6EC55}"/>
              </a:ext>
            </a:extLst>
          </p:cNvPr>
          <p:cNvCxnSpPr>
            <a:cxnSpLocks/>
          </p:cNvCxnSpPr>
          <p:nvPr/>
        </p:nvCxnSpPr>
        <p:spPr>
          <a:xfrm flipV="1">
            <a:off x="1675894" y="4708262"/>
            <a:ext cx="0" cy="4633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DD0151F0-8164-D96C-9CC6-0B0D95C319D5}"/>
              </a:ext>
            </a:extLst>
          </p:cNvPr>
          <p:cNvSpPr/>
          <p:nvPr/>
        </p:nvSpPr>
        <p:spPr>
          <a:xfrm>
            <a:off x="867991" y="4498149"/>
            <a:ext cx="2856284" cy="2101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Content Placeholder 33">
            <a:extLst>
              <a:ext uri="{FF2B5EF4-FFF2-40B4-BE49-F238E27FC236}">
                <a16:creationId xmlns:a16="http://schemas.microsoft.com/office/drawing/2014/main" id="{112EB2C8-C101-4502-9B9F-17D0639F0AEC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6837" b="74967"/>
          <a:stretch>
            <a:fillRect/>
          </a:stretch>
        </p:blipFill>
        <p:spPr>
          <a:xfrm>
            <a:off x="8128584" y="2457514"/>
            <a:ext cx="2387522" cy="2439575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4BED7D85-9BFC-5342-1C5A-D4D5DE98E8EC}"/>
              </a:ext>
            </a:extLst>
          </p:cNvPr>
          <p:cNvSpPr/>
          <p:nvPr/>
        </p:nvSpPr>
        <p:spPr>
          <a:xfrm>
            <a:off x="8062554" y="4708262"/>
            <a:ext cx="2496413" cy="1888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Arrow: Down 37">
            <a:extLst>
              <a:ext uri="{FF2B5EF4-FFF2-40B4-BE49-F238E27FC236}">
                <a16:creationId xmlns:a16="http://schemas.microsoft.com/office/drawing/2014/main" id="{6BA3C791-A3CD-B7F6-9AF6-C03F8782B078}"/>
              </a:ext>
            </a:extLst>
          </p:cNvPr>
          <p:cNvSpPr/>
          <p:nvPr/>
        </p:nvSpPr>
        <p:spPr>
          <a:xfrm rot="10800000">
            <a:off x="8522594" y="4897089"/>
            <a:ext cx="397175" cy="490194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245D5E-2C70-A874-1B42-AE5ED4DF7703}"/>
              </a:ext>
            </a:extLst>
          </p:cNvPr>
          <p:cNvSpPr txBox="1"/>
          <p:nvPr/>
        </p:nvSpPr>
        <p:spPr>
          <a:xfrm>
            <a:off x="8128584" y="5387284"/>
            <a:ext cx="26016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Observe folder has been added to path</a:t>
            </a:r>
          </a:p>
        </p:txBody>
      </p:sp>
    </p:spTree>
    <p:extLst>
      <p:ext uri="{BB962C8B-B14F-4D97-AF65-F5344CB8AC3E}">
        <p14:creationId xmlns:p14="http://schemas.microsoft.com/office/powerpoint/2010/main" val="31819879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215892E-7778-2D68-D01B-B90F9F7320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Empty Folder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5B43F2C-2623-03E3-C077-2439516E29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/>
          <a:lstStyle/>
          <a:p>
            <a:r>
              <a:rPr lang="en-US" dirty="0"/>
              <a:t>Step 1. Double Click Folder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076A30-84DC-BF13-92D3-75B2D1BF01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CA2A7B2-086D-4D43-7463-68E0744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“02_derivative_System”</a:t>
            </a:r>
          </a:p>
        </p:txBody>
      </p:sp>
      <p:sp>
        <p:nvSpPr>
          <p:cNvPr id="24" name="Content Placeholder 22">
            <a:extLst>
              <a:ext uri="{FF2B5EF4-FFF2-40B4-BE49-F238E27FC236}">
                <a16:creationId xmlns:a16="http://schemas.microsoft.com/office/drawing/2014/main" id="{8C251039-E58B-3510-E37A-A1405543A7E7}"/>
              </a:ext>
            </a:extLst>
          </p:cNvPr>
          <p:cNvSpPr txBox="1">
            <a:spLocks/>
          </p:cNvSpPr>
          <p:nvPr/>
        </p:nvSpPr>
        <p:spPr>
          <a:xfrm>
            <a:off x="6096000" y="2042464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pic>
        <p:nvPicPr>
          <p:cNvPr id="4" name="Content Placeholder 33">
            <a:extLst>
              <a:ext uri="{FF2B5EF4-FFF2-40B4-BE49-F238E27FC236}">
                <a16:creationId xmlns:a16="http://schemas.microsoft.com/office/drawing/2014/main" id="{162BBDBC-84E2-0001-2E89-337F1FA1C5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6837" b="74967"/>
          <a:stretch>
            <a:fillRect/>
          </a:stretch>
        </p:blipFill>
        <p:spPr>
          <a:xfrm>
            <a:off x="395818" y="2188471"/>
            <a:ext cx="2387522" cy="24395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E77A5E1-25F1-630A-806D-351A2FF3558C}"/>
              </a:ext>
            </a:extLst>
          </p:cNvPr>
          <p:cNvSpPr/>
          <p:nvPr/>
        </p:nvSpPr>
        <p:spPr>
          <a:xfrm>
            <a:off x="395817" y="4439219"/>
            <a:ext cx="2496413" cy="1888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2D69CB72-7C9C-F863-431A-161E4541D594}"/>
              </a:ext>
            </a:extLst>
          </p:cNvPr>
          <p:cNvSpPr/>
          <p:nvPr/>
        </p:nvSpPr>
        <p:spPr>
          <a:xfrm rot="10800000">
            <a:off x="855857" y="4628046"/>
            <a:ext cx="397175" cy="490194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57DE2D-F347-CB8B-BB65-DCACE6C98CB6}"/>
              </a:ext>
            </a:extLst>
          </p:cNvPr>
          <p:cNvSpPr txBox="1"/>
          <p:nvPr/>
        </p:nvSpPr>
        <p:spPr>
          <a:xfrm>
            <a:off x="461847" y="5118241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Double Click</a:t>
            </a:r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5A64424F-AB70-EDD4-33BC-BD5C5FA95D8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875" b="58408"/>
          <a:stretch>
            <a:fillRect/>
          </a:stretch>
        </p:blipFill>
        <p:spPr>
          <a:xfrm>
            <a:off x="6113463" y="2188470"/>
            <a:ext cx="6047208" cy="2929769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584CDD3E-EC46-7BD0-E751-65803D3B30B7}"/>
              </a:ext>
            </a:extLst>
          </p:cNvPr>
          <p:cNvSpPr/>
          <p:nvPr/>
        </p:nvSpPr>
        <p:spPr>
          <a:xfrm>
            <a:off x="6113356" y="3653354"/>
            <a:ext cx="2286422" cy="5905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4845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41CF3-D79F-B9FF-9545-4A80C4405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3E5D6963-E4A2-F287-2EF2-2B474F87B1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844" b="71956"/>
          <a:stretch>
            <a:fillRect/>
          </a:stretch>
        </p:blipFill>
        <p:spPr>
          <a:xfrm>
            <a:off x="1970611" y="2730039"/>
            <a:ext cx="8190454" cy="2733010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159142A-8144-1B0B-EA24-3B238A1CDE7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4437486-8173-D623-6C71-ABE729E17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F4E667-5283-730A-DEC1-6875F2A725A3}"/>
              </a:ext>
            </a:extLst>
          </p:cNvPr>
          <p:cNvSpPr/>
          <p:nvPr/>
        </p:nvSpPr>
        <p:spPr>
          <a:xfrm>
            <a:off x="8714996" y="3208226"/>
            <a:ext cx="650449" cy="75414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AEF501-D291-8021-246C-98D3532E8675}"/>
              </a:ext>
            </a:extLst>
          </p:cNvPr>
          <p:cNvSpPr/>
          <p:nvPr/>
        </p:nvSpPr>
        <p:spPr>
          <a:xfrm>
            <a:off x="2002360" y="4829458"/>
            <a:ext cx="2791096" cy="5905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B64AFB-7CFB-D557-2F0C-52F09E0F1CD0}"/>
              </a:ext>
            </a:extLst>
          </p:cNvPr>
          <p:cNvSpPr/>
          <p:nvPr/>
        </p:nvSpPr>
        <p:spPr>
          <a:xfrm>
            <a:off x="2882975" y="4139293"/>
            <a:ext cx="7085618" cy="30126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857CB25-4315-31CC-0538-7395398CC123}"/>
              </a:ext>
            </a:extLst>
          </p:cNvPr>
          <p:cNvCxnSpPr/>
          <p:nvPr/>
        </p:nvCxnSpPr>
        <p:spPr>
          <a:xfrm>
            <a:off x="6225309" y="4440559"/>
            <a:ext cx="591127" cy="59112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9" name="Arrow: Down 18">
            <a:extLst>
              <a:ext uri="{FF2B5EF4-FFF2-40B4-BE49-F238E27FC236}">
                <a16:creationId xmlns:a16="http://schemas.microsoft.com/office/drawing/2014/main" id="{2976326E-430C-F548-E32B-EF414DB8C0CD}"/>
              </a:ext>
            </a:extLst>
          </p:cNvPr>
          <p:cNvSpPr/>
          <p:nvPr/>
        </p:nvSpPr>
        <p:spPr>
          <a:xfrm>
            <a:off x="8611945" y="2035482"/>
            <a:ext cx="856550" cy="1081321"/>
          </a:xfrm>
          <a:prstGeom prst="downArrow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D88DCCF-1212-5564-A1C9-DCC9D61D6587}"/>
              </a:ext>
            </a:extLst>
          </p:cNvPr>
          <p:cNvSpPr txBox="1"/>
          <p:nvPr/>
        </p:nvSpPr>
        <p:spPr>
          <a:xfrm>
            <a:off x="6447911" y="5124733"/>
            <a:ext cx="440481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Navigate to Chapter 2 Material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57CBAF-C5AA-AC34-ED06-F7C7995B037B}"/>
              </a:ext>
            </a:extLst>
          </p:cNvPr>
          <p:cNvSpPr txBox="1"/>
          <p:nvPr/>
        </p:nvSpPr>
        <p:spPr>
          <a:xfrm>
            <a:off x="7767782" y="1618161"/>
            <a:ext cx="380007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Click Simulink</a:t>
            </a:r>
          </a:p>
        </p:txBody>
      </p:sp>
    </p:spTree>
    <p:extLst>
      <p:ext uri="{BB962C8B-B14F-4D97-AF65-F5344CB8AC3E}">
        <p14:creationId xmlns:p14="http://schemas.microsoft.com/office/powerpoint/2010/main" val="29381190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7C240-AA2F-7A31-BD90-DC6E76463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7314A834-7986-9D79-009A-5FA4DCF92C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8268" b="53875"/>
          <a:stretch>
            <a:fillRect/>
          </a:stretch>
        </p:blipFill>
        <p:spPr>
          <a:xfrm>
            <a:off x="3517525" y="2220298"/>
            <a:ext cx="5096626" cy="3752492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BEDAB4-FB4D-0697-3FA7-B3A679C4A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20B9548-7F56-ADBF-A014-735726679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7143C-1C22-020E-A0A5-CB8D153E1A85}"/>
              </a:ext>
            </a:extLst>
          </p:cNvPr>
          <p:cNvSpPr/>
          <p:nvPr/>
        </p:nvSpPr>
        <p:spPr>
          <a:xfrm>
            <a:off x="6438506" y="4600280"/>
            <a:ext cx="1611985" cy="509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16BA4DC5-DE63-7C86-1773-EEF56783323B}"/>
              </a:ext>
            </a:extLst>
          </p:cNvPr>
          <p:cNvSpPr/>
          <p:nvPr/>
        </p:nvSpPr>
        <p:spPr>
          <a:xfrm>
            <a:off x="6919273" y="3893270"/>
            <a:ext cx="650449" cy="707010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74E05-7ED7-815A-C46F-E94E020C6983}"/>
              </a:ext>
            </a:extLst>
          </p:cNvPr>
          <p:cNvSpPr txBox="1"/>
          <p:nvPr/>
        </p:nvSpPr>
        <p:spPr>
          <a:xfrm>
            <a:off x="7511216" y="3625295"/>
            <a:ext cx="268663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Click Create Model</a:t>
            </a:r>
          </a:p>
        </p:txBody>
      </p:sp>
    </p:spTree>
    <p:extLst>
      <p:ext uri="{BB962C8B-B14F-4D97-AF65-F5344CB8AC3E}">
        <p14:creationId xmlns:p14="http://schemas.microsoft.com/office/powerpoint/2010/main" val="27166244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735E2-810E-99A8-E9A0-4AF7C04ED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987FA05-819D-E43A-0A90-2CA65962FA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Save As “</a:t>
            </a:r>
            <a:r>
              <a:rPr lang="en-US" dirty="0" err="1"/>
              <a:t>polynomial_System</a:t>
            </a:r>
            <a:r>
              <a:rPr lang="en-US" dirty="0"/>
              <a:t>”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6918E5C-C65B-5468-5F9C-1FDF1B9472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442BD8E-B637-584F-A885-BC3B13EA14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5288" y="2079332"/>
            <a:ext cx="5624512" cy="4294773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C34184B-420C-19D5-190E-E74257A5B2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EECE9D-6219-EA09-8F15-A2E11398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F42AD44E-942D-E82B-A0ED-BA78F3AD8D0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2079332"/>
            <a:ext cx="5622925" cy="3168096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2BB9AA2-1FE1-95C9-037A-1A5823CD8B07}"/>
              </a:ext>
            </a:extLst>
          </p:cNvPr>
          <p:cNvCxnSpPr>
            <a:cxnSpLocks/>
          </p:cNvCxnSpPr>
          <p:nvPr/>
        </p:nvCxnSpPr>
        <p:spPr>
          <a:xfrm>
            <a:off x="131338" y="2620652"/>
            <a:ext cx="47627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7094EF3-A026-DCC6-C3EA-B4BD3631E1D8}"/>
              </a:ext>
            </a:extLst>
          </p:cNvPr>
          <p:cNvCxnSpPr>
            <a:cxnSpLocks/>
          </p:cNvCxnSpPr>
          <p:nvPr/>
        </p:nvCxnSpPr>
        <p:spPr>
          <a:xfrm>
            <a:off x="216179" y="3082564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32D1588-2BC5-7A66-9B48-D042193FAA9E}"/>
              </a:ext>
            </a:extLst>
          </p:cNvPr>
          <p:cNvCxnSpPr>
            <a:cxnSpLocks/>
          </p:cNvCxnSpPr>
          <p:nvPr/>
        </p:nvCxnSpPr>
        <p:spPr>
          <a:xfrm>
            <a:off x="6113356" y="4451021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47E8B29-F65A-8016-A55E-00676D4833F5}"/>
              </a:ext>
            </a:extLst>
          </p:cNvPr>
          <p:cNvCxnSpPr>
            <a:cxnSpLocks/>
          </p:cNvCxnSpPr>
          <p:nvPr/>
        </p:nvCxnSpPr>
        <p:spPr>
          <a:xfrm>
            <a:off x="6265756" y="4603421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6699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 File has been Renamed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A7AA25BB-1E28-70E6-8929-3B6848E620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2622" b="43826"/>
          <a:stretch>
            <a:fillRect/>
          </a:stretch>
        </p:blipFill>
        <p:spPr>
          <a:xfrm>
            <a:off x="395288" y="1883849"/>
            <a:ext cx="11341100" cy="44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 / Resolve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Annotation</a:t>
            </a:r>
          </a:p>
        </p:txBody>
      </p:sp>
      <p:pic>
        <p:nvPicPr>
          <p:cNvPr id="48" name="Content Placeholder 21">
            <a:extLst>
              <a:ext uri="{FF2B5EF4-FFF2-40B4-BE49-F238E27FC236}">
                <a16:creationId xmlns:a16="http://schemas.microsoft.com/office/drawing/2014/main" id="{6E13DA2D-3D71-5CC1-5ADF-ADA3D0AFE0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6971" b="38890"/>
          <a:stretch>
            <a:fillRect/>
          </a:stretch>
        </p:blipFill>
        <p:spPr>
          <a:xfrm>
            <a:off x="1011814" y="2043113"/>
            <a:ext cx="4391460" cy="4367212"/>
          </a:xfrm>
          <a:prstGeom prst="rect">
            <a:avLst/>
          </a:prstGeom>
        </p:spPr>
      </p:pic>
      <p:pic>
        <p:nvPicPr>
          <p:cNvPr id="51" name="Content Placeholder 35">
            <a:extLst>
              <a:ext uri="{FF2B5EF4-FFF2-40B4-BE49-F238E27FC236}">
                <a16:creationId xmlns:a16="http://schemas.microsoft.com/office/drawing/2014/main" id="{AA94C04C-D771-E5D1-A39E-5A4298140D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64399" b="45824"/>
          <a:stretch>
            <a:fillRect/>
          </a:stretch>
        </p:blipFill>
        <p:spPr>
          <a:xfrm>
            <a:off x="6255295" y="2043113"/>
            <a:ext cx="533926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909611E-6A5C-369C-C6CB-27B4CEE742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5F4F125-59B1-21AC-8208-B14EFA639C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BCF811A-28C9-9622-3FF1-4F022E2D6E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D166167-634F-B75D-F4EB-269F9B7BD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F00D08D-3437-A339-73E2-D928E187B3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Clock</a:t>
            </a:r>
          </a:p>
        </p:txBody>
      </p:sp>
      <p:pic>
        <p:nvPicPr>
          <p:cNvPr id="28" name="Content Placeholder 16">
            <a:extLst>
              <a:ext uri="{FF2B5EF4-FFF2-40B4-BE49-F238E27FC236}">
                <a16:creationId xmlns:a16="http://schemas.microsoft.com/office/drawing/2014/main" id="{1BB7C19B-7652-D7B0-E394-FA5CF142C0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968" t="58122" r="74969" b="4203"/>
          <a:stretch>
            <a:fillRect/>
          </a:stretch>
        </p:blipFill>
        <p:spPr>
          <a:xfrm>
            <a:off x="631707" y="2374772"/>
            <a:ext cx="3303823" cy="3703894"/>
          </a:xfrm>
          <a:prstGeom prst="rect">
            <a:avLst/>
          </a:prstGeom>
        </p:spPr>
      </p:pic>
      <p:pic>
        <p:nvPicPr>
          <p:cNvPr id="35" name="Content Placeholder 28">
            <a:extLst>
              <a:ext uri="{FF2B5EF4-FFF2-40B4-BE49-F238E27FC236}">
                <a16:creationId xmlns:a16="http://schemas.microsoft.com/office/drawing/2014/main" id="{1E5BDBF7-748E-E093-A564-61DFE1CE32D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689" t="47598" r="85180" b="34384"/>
          <a:stretch>
            <a:fillRect/>
          </a:stretch>
        </p:blipFill>
        <p:spPr>
          <a:xfrm>
            <a:off x="5190923" y="3341028"/>
            <a:ext cx="1853016" cy="1771381"/>
          </a:xfrm>
          <a:prstGeom prst="rect">
            <a:avLst/>
          </a:prstGeom>
        </p:spPr>
      </p:pic>
      <p:pic>
        <p:nvPicPr>
          <p:cNvPr id="44" name="Content Placeholder 35">
            <a:extLst>
              <a:ext uri="{FF2B5EF4-FFF2-40B4-BE49-F238E27FC236}">
                <a16:creationId xmlns:a16="http://schemas.microsoft.com/office/drawing/2014/main" id="{BDF742BD-0EAB-B12E-7CAB-596382A151E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5241" t="48199" r="86575" b="33782"/>
          <a:stretch>
            <a:fillRect/>
          </a:stretch>
        </p:blipFill>
        <p:spPr>
          <a:xfrm>
            <a:off x="9202794" y="3340979"/>
            <a:ext cx="1496899" cy="177147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FC588A5-4B1B-BA2F-500A-75C58C73599F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7150CAF-C7AB-7A7E-8D51-D7E139AB86A1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7BF03E3-94CF-D224-AFCB-9A0DCE28C6BC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</a:t>
            </a:r>
            <a:r>
              <a:rPr lang="en-US" dirty="0" err="1">
                <a:solidFill>
                  <a:srgbClr val="FF0000"/>
                </a:solidFill>
              </a:rPr>
              <a:t>clo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1B16B8F-85D8-AA4C-87A3-A039704DAF2F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8E787C0-9CF7-A735-58EB-ECB4A8845539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CCAED23-ABF2-7124-A5D1-542236319505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33107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DAA4CD5-339B-4901-1AD7-8FA54B07D35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C6A6AB41-B3B5-7260-787A-58F5CED8C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Clock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69D7E28-EA1B-0844-A777-1FC1C23881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17B01E9-EF94-77CF-05FE-2830100A811B}"/>
              </a:ext>
            </a:extLst>
          </p:cNvPr>
          <p:cNvSpPr/>
          <p:nvPr/>
        </p:nvSpPr>
        <p:spPr>
          <a:xfrm>
            <a:off x="2226297" y="4096544"/>
            <a:ext cx="893975" cy="6734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852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B6155-6AEF-78F6-F2DA-08A128388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DDE4827-C83F-E498-C24D-3A7736ABB3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Square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92518D3-B021-3E7F-6E35-80870A325E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C6527A-A0A6-EC03-46E6-D5943F734D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F900FF0-5A0A-ED15-E094-C69808DBB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Square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29B913-0799-6BFD-AD69-956A9CA337A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Square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B2C31C15-E379-19C1-0951-6D6C27834E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7161" t="51327" r="62478" b="6262"/>
          <a:stretch>
            <a:fillRect/>
          </a:stretch>
        </p:blipFill>
        <p:spPr>
          <a:xfrm>
            <a:off x="421549" y="2141970"/>
            <a:ext cx="3724139" cy="4169498"/>
          </a:xfrm>
          <a:prstGeom prst="rect">
            <a:avLst/>
          </a:prstGeom>
        </p:spPr>
      </p:pic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A842B4BC-DF27-883E-E4A1-2F389B0B053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16568" t="47041" r="72699" b="29275"/>
          <a:stretch>
            <a:fillRect/>
          </a:stretch>
        </p:blipFill>
        <p:spPr>
          <a:xfrm>
            <a:off x="5135869" y="3062511"/>
            <a:ext cx="1963125" cy="2328415"/>
          </a:xfrm>
          <a:prstGeom prst="rect">
            <a:avLst/>
          </a:prstGeom>
        </p:spPr>
      </p:pic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FEE66E5-F6D7-AED5-A462-16968683D13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15896" t="50291" r="70126" b="31691"/>
          <a:stretch>
            <a:fillRect/>
          </a:stretch>
        </p:blipFill>
        <p:spPr>
          <a:xfrm>
            <a:off x="8672917" y="3341028"/>
            <a:ext cx="2556653" cy="1771381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7494CB75-D14E-1A3A-2081-53B159EADDBA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sq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DC051E9-5694-BD1C-286E-4D97931297C1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D7B4A75-EB44-1C76-3D45-1E16AAD2BDF3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7D3CF7E-BF6F-AD4D-1B7E-0C562C19CAC1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6230A90-BE14-5645-54CD-21081E3C47EE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6AAC572-59A9-03F5-EEA6-F4A5AE4EFEEB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85331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46B18-BD15-2807-B291-BCD6208C6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B4DB063-EAC2-E448-683A-C7D6F4E7E5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568F342-F866-BFA6-67D7-E777490E4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Square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40B00BF-6E92-1460-7298-D5C933679A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2032C02-A309-22C3-C808-8C7264FF4EAF}"/>
              </a:ext>
            </a:extLst>
          </p:cNvPr>
          <p:cNvSpPr/>
          <p:nvPr/>
        </p:nvSpPr>
        <p:spPr>
          <a:xfrm>
            <a:off x="3225538" y="4096544"/>
            <a:ext cx="988244" cy="7865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2424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8D6D5-6838-E756-7B5D-AA37CC7CC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2F4DBE0-A13E-B24C-0302-7852B41E4B2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Gain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93C338F-3438-0ED4-BD45-C62CF0C069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27B191-6D80-5058-932A-FE63CDD8F9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A4DB15B-088C-0AE6-C51B-F2B11EA70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</a:t>
            </a:r>
            <a:r>
              <a:rPr lang="en-US" baseline="30000" dirty="0"/>
              <a:t>st</a:t>
            </a:r>
            <a:r>
              <a:rPr lang="en-US" dirty="0"/>
              <a:t> Gain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EB63847-FFD9-DCA3-D8C1-16001471B9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Gain</a:t>
            </a:r>
          </a:p>
        </p:txBody>
      </p:sp>
      <p:pic>
        <p:nvPicPr>
          <p:cNvPr id="19" name="Content Placeholder 3">
            <a:extLst>
              <a:ext uri="{FF2B5EF4-FFF2-40B4-BE49-F238E27FC236}">
                <a16:creationId xmlns:a16="http://schemas.microsoft.com/office/drawing/2014/main" id="{7D5C8484-316F-6384-445E-C8BBB5DEA6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9221" t="52149" r="50811" b="5592"/>
          <a:stretch>
            <a:fillRect/>
          </a:stretch>
        </p:blipFill>
        <p:spPr>
          <a:xfrm>
            <a:off x="457490" y="2149441"/>
            <a:ext cx="3652258" cy="4154555"/>
          </a:xfrm>
          <a:prstGeom prst="rect">
            <a:avLst/>
          </a:prstGeom>
        </p:spPr>
      </p:pic>
      <p:pic>
        <p:nvPicPr>
          <p:cNvPr id="23" name="Content Placeholder 6">
            <a:extLst>
              <a:ext uri="{FF2B5EF4-FFF2-40B4-BE49-F238E27FC236}">
                <a16:creationId xmlns:a16="http://schemas.microsoft.com/office/drawing/2014/main" id="{EE8742CD-E707-8784-AC7B-17333BBBC9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32043" t="46112" r="58971" b="31133"/>
          <a:stretch>
            <a:fillRect/>
          </a:stretch>
        </p:blipFill>
        <p:spPr>
          <a:xfrm>
            <a:off x="5295637" y="3108177"/>
            <a:ext cx="1643589" cy="2237083"/>
          </a:xfrm>
          <a:prstGeom prst="rect">
            <a:avLst/>
          </a:prstGeom>
        </p:spPr>
      </p:pic>
      <p:pic>
        <p:nvPicPr>
          <p:cNvPr id="26" name="Content Placeholder 15">
            <a:extLst>
              <a:ext uri="{FF2B5EF4-FFF2-40B4-BE49-F238E27FC236}">
                <a16:creationId xmlns:a16="http://schemas.microsoft.com/office/drawing/2014/main" id="{B0C18C85-C8BF-E6D9-1168-E01842701E2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1122" t="49920" r="58894" b="32062"/>
          <a:stretch>
            <a:fillRect/>
          </a:stretch>
        </p:blipFill>
        <p:spPr>
          <a:xfrm>
            <a:off x="9038179" y="3341028"/>
            <a:ext cx="1826129" cy="177138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7D1FBDF-A38C-9562-C003-57F7126E78FC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6E26EB1-4D78-D8BC-E5A4-1EEB576D176C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F0BF486-22C6-D3A3-E879-3C45CAD4F29E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gain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FC570F0-7472-EC00-27D0-FBEBF66EB422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7F65D4F-C05A-2645-F894-A89843C83127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DCA3964-0ACF-4E11-25B7-DC20451AD89E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4243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B5125-86D5-64C7-92A9-ADA21AC7C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5461205-3645-42A2-84C8-DD256A132C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D5B82FF-4D08-ECA8-8F85-CBEBEC149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1</a:t>
            </a:r>
            <a:r>
              <a:rPr lang="en-US" baseline="30000" dirty="0"/>
              <a:t>st</a:t>
            </a:r>
            <a:r>
              <a:rPr lang="en-US" dirty="0"/>
              <a:t> Gain Block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3D945FB-9EE9-3F56-69F6-BF28D3D2FE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343DDB0-8A38-0E3A-8C00-3E85CBB1F214}"/>
              </a:ext>
            </a:extLst>
          </p:cNvPr>
          <p:cNvSpPr/>
          <p:nvPr/>
        </p:nvSpPr>
        <p:spPr>
          <a:xfrm>
            <a:off x="4479303" y="4162532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6555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0276A-794D-1072-FFF3-335D3BA58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7BFC26-A8C4-9D38-215D-505074426E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2. Observe Duplication Result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923053D-C9BF-3610-C02C-44B1D60A10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1. Duplicate Gain block by Holding ctrl and Dragging gain block down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43059B1-1F33-2C99-08B3-F50D0132DC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842AFF8-43AB-50BA-A5B3-7268D1A18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2</a:t>
            </a:r>
            <a:r>
              <a:rPr lang="en-US" baseline="30000" dirty="0"/>
              <a:t>nd</a:t>
            </a:r>
            <a:r>
              <a:rPr lang="en-US" dirty="0"/>
              <a:t> Gain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53BE9B1-0BEA-0CC0-2F69-3E9F2AC6C12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Gain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376C3414-4208-A25E-7AB8-8D089B6C31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9221" t="46577" r="56481" b="16778"/>
          <a:stretch>
            <a:fillRect/>
          </a:stretch>
        </p:blipFill>
        <p:spPr>
          <a:xfrm>
            <a:off x="976027" y="2425402"/>
            <a:ext cx="2615183" cy="3602633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041FE7F-7024-7299-4472-2770CF96E2AB}"/>
              </a:ext>
            </a:extLst>
          </p:cNvPr>
          <p:cNvSpPr/>
          <p:nvPr/>
        </p:nvSpPr>
        <p:spPr>
          <a:xfrm>
            <a:off x="1461155" y="3016577"/>
            <a:ext cx="1593130" cy="10558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2B2871-82C2-1EB6-0B55-6291E218B584}"/>
              </a:ext>
            </a:extLst>
          </p:cNvPr>
          <p:cNvSpPr txBox="1"/>
          <p:nvPr/>
        </p:nvSpPr>
        <p:spPr>
          <a:xfrm>
            <a:off x="557768" y="2462579"/>
            <a:ext cx="345169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Hold ctrl and drag gain block down</a:t>
            </a:r>
          </a:p>
        </p:txBody>
      </p:sp>
      <p:pic>
        <p:nvPicPr>
          <p:cNvPr id="27" name="Content Placeholder 21">
            <a:extLst>
              <a:ext uri="{FF2B5EF4-FFF2-40B4-BE49-F238E27FC236}">
                <a16:creationId xmlns:a16="http://schemas.microsoft.com/office/drawing/2014/main" id="{659B470D-D6CF-334E-5193-F5121F80E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548" t="48898" r="55476" b="15395"/>
          <a:stretch>
            <a:fillRect/>
          </a:stretch>
        </p:blipFill>
        <p:spPr>
          <a:xfrm>
            <a:off x="4747835" y="2471510"/>
            <a:ext cx="2739193" cy="3510417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0AF8372-CFF7-C408-F89D-F756E6753F58}"/>
              </a:ext>
            </a:extLst>
          </p:cNvPr>
          <p:cNvCxnSpPr/>
          <p:nvPr/>
        </p:nvCxnSpPr>
        <p:spPr>
          <a:xfrm>
            <a:off x="2667786" y="4072379"/>
            <a:ext cx="0" cy="3864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8625DD59-8A8B-95B6-0A41-9A27108D5E90}"/>
              </a:ext>
            </a:extLst>
          </p:cNvPr>
          <p:cNvSpPr/>
          <p:nvPr/>
        </p:nvSpPr>
        <p:spPr>
          <a:xfrm>
            <a:off x="4941215" y="4298623"/>
            <a:ext cx="1921497" cy="1194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7F7C6BF-EEEF-6187-E420-D96BAAF0973D}"/>
              </a:ext>
            </a:extLst>
          </p:cNvPr>
          <p:cNvSpPr txBox="1"/>
          <p:nvPr/>
        </p:nvSpPr>
        <p:spPr>
          <a:xfrm>
            <a:off x="4370150" y="5555843"/>
            <a:ext cx="345169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Observe New Gain block that was generated</a:t>
            </a:r>
          </a:p>
        </p:txBody>
      </p:sp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19649FFF-DE41-AD4B-FED1-FFE83BF5AD02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0123" t="48434" r="57896" b="15394"/>
          <a:stretch>
            <a:fillRect/>
          </a:stretch>
        </p:blipFill>
        <p:spPr>
          <a:xfrm>
            <a:off x="8855548" y="2448653"/>
            <a:ext cx="2191391" cy="3556132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05F9D355-3218-4CD4-AFF4-945FC87F7AE8}"/>
              </a:ext>
            </a:extLst>
          </p:cNvPr>
          <p:cNvSpPr/>
          <p:nvPr/>
        </p:nvSpPr>
        <p:spPr>
          <a:xfrm>
            <a:off x="8990042" y="4298623"/>
            <a:ext cx="1921497" cy="1194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50483B7-1282-7CAE-7DBB-CF7ED508146A}"/>
              </a:ext>
            </a:extLst>
          </p:cNvPr>
          <p:cNvSpPr txBox="1"/>
          <p:nvPr/>
        </p:nvSpPr>
        <p:spPr>
          <a:xfrm>
            <a:off x="8339379" y="5555843"/>
            <a:ext cx="34516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Rename Gain Block</a:t>
            </a:r>
          </a:p>
        </p:txBody>
      </p:sp>
    </p:spTree>
    <p:extLst>
      <p:ext uri="{BB962C8B-B14F-4D97-AF65-F5344CB8AC3E}">
        <p14:creationId xmlns:p14="http://schemas.microsoft.com/office/powerpoint/2010/main" val="2376956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70944-CEE5-A63B-92F5-DDC2DE76A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B257100-7B45-2E01-CAB7-1F4FB37DB2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11079C82-4059-70AA-4757-5056A4B5D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2</a:t>
            </a:r>
            <a:r>
              <a:rPr lang="en-US" baseline="30000" dirty="0"/>
              <a:t>nd</a:t>
            </a:r>
            <a:r>
              <a:rPr lang="en-US" dirty="0"/>
              <a:t> Gain Block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851F759-3F58-E0F9-F2E7-AD7EAF2EA8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B53AC6E-64AB-4572-EC2A-FF9A034FBFDE}"/>
              </a:ext>
            </a:extLst>
          </p:cNvPr>
          <p:cNvSpPr/>
          <p:nvPr/>
        </p:nvSpPr>
        <p:spPr>
          <a:xfrm>
            <a:off x="4479303" y="4860116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4196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33EFC-D4A1-EDAB-C9A9-10072CF4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F55E283-90BC-42E6-C721-A49099BE52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Constant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AC5CDBA-9A90-EBCA-C277-7E9E826142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60A3795-FB00-93AB-AFCF-65977C7A45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A58B2217-E786-64E4-A7E3-0EB145004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Constant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C241F1F-AEBA-47A5-A054-172408F2A18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Constant Block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CCD1DA4F-CF02-3E24-1C3C-685991D80F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1217" t="63759" r="50561"/>
          <a:stretch>
            <a:fillRect/>
          </a:stretch>
        </p:blipFill>
        <p:spPr>
          <a:xfrm>
            <a:off x="617166" y="2445261"/>
            <a:ext cx="3332905" cy="3562915"/>
          </a:xfrm>
          <a:prstGeom prst="rect">
            <a:avLst/>
          </a:prstGeom>
        </p:spPr>
      </p:pic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EFA79947-EB87-1A82-F4AC-1F7BA9C53B9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9547" t="79101" r="61467" b="2881"/>
          <a:stretch>
            <a:fillRect/>
          </a:stretch>
        </p:blipFill>
        <p:spPr>
          <a:xfrm>
            <a:off x="5295637" y="3341028"/>
            <a:ext cx="1643589" cy="1771381"/>
          </a:xfrm>
          <a:prstGeom prst="rect">
            <a:avLst/>
          </a:prstGeom>
        </p:spPr>
      </p:pic>
      <p:pic>
        <p:nvPicPr>
          <p:cNvPr id="27" name="Content Placeholder 21">
            <a:extLst>
              <a:ext uri="{FF2B5EF4-FFF2-40B4-BE49-F238E27FC236}">
                <a16:creationId xmlns:a16="http://schemas.microsoft.com/office/drawing/2014/main" id="{436F22B3-B45D-39ED-B994-07EEA047DE9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1870" t="78619" r="58645" b="3363"/>
          <a:stretch>
            <a:fillRect/>
          </a:stretch>
        </p:blipFill>
        <p:spPr>
          <a:xfrm>
            <a:off x="9083814" y="3341028"/>
            <a:ext cx="1734859" cy="177138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7473693-B217-6122-5EEC-071A9FA79F19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con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332B0F5-639C-AB7C-80FD-FC6D6CB36D9E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6A534A-F19B-C76B-C3B3-0D24E3614631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3F94DBD-9988-7F2E-DAC5-49B282A0B083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0C1F93A8-2822-D104-13A3-A46E0C0ECC1C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ACD7A7A-A08F-A89D-8D60-61625191546B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02439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30ECA-035C-1CBC-5E7D-B0CA40B95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CBA012D-BD9F-A4D6-D26D-45EF7E782E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DC11EE3-B43D-A06E-0C9E-09773E21F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Constant Block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92CCA64-00CF-02A1-416B-1168B506AC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364C31A-6312-E8DD-DAAF-61B7C8E75ADB}"/>
              </a:ext>
            </a:extLst>
          </p:cNvPr>
          <p:cNvSpPr/>
          <p:nvPr/>
        </p:nvSpPr>
        <p:spPr>
          <a:xfrm>
            <a:off x="4479303" y="5491419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0425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3BA4F-A143-B8C5-FA99-1CF258AF2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F664FF0-1958-3C36-18EC-E5B63493BD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765372"/>
          </a:xfrm>
        </p:spPr>
        <p:txBody>
          <a:bodyPr>
            <a:normAutofit/>
          </a:bodyPr>
          <a:lstStyle/>
          <a:p>
            <a:r>
              <a:rPr lang="en-US" dirty="0"/>
              <a:t>Step 2. Add Sum Block &amp; Edit Block Parameters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C447E42-B395-FDD2-4000-249687A833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C59F120-450E-B98C-A7A9-5160D05089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BD98883-1119-68A6-2E47-4E8E4589B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Sum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00C6E6E-20F0-CEE5-146E-FBE17D8FD5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3. Rename and resize Sum Block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9174C42-5BDC-374D-F137-4451F6BC5F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011" t="54207" r="36211" b="10643"/>
          <a:stretch>
            <a:fillRect/>
          </a:stretch>
        </p:blipFill>
        <p:spPr>
          <a:xfrm>
            <a:off x="749224" y="2498890"/>
            <a:ext cx="3068789" cy="3455657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8D0E44D4-571B-09C0-85C7-BA1BF2D612E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9433" t="48880" r="22928" b="37359"/>
          <a:stretch>
            <a:fillRect/>
          </a:stretch>
        </p:blipFill>
        <p:spPr>
          <a:xfrm>
            <a:off x="4415266" y="2757043"/>
            <a:ext cx="3417483" cy="91453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F8F88534-DCFC-2F61-03E7-5D7B5C2118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253" t="49442" r="22835" b="18891"/>
          <a:stretch>
            <a:fillRect/>
          </a:stretch>
        </p:blipFill>
        <p:spPr>
          <a:xfrm>
            <a:off x="4415266" y="3952874"/>
            <a:ext cx="3403077" cy="2075147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6F12EB01-C49C-399C-A53F-A5FCA9E81986}"/>
              </a:ext>
            </a:extLst>
          </p:cNvPr>
          <p:cNvSpPr/>
          <p:nvPr/>
        </p:nvSpPr>
        <p:spPr>
          <a:xfrm>
            <a:off x="4850778" y="4105275"/>
            <a:ext cx="1178547" cy="5905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098F6B-AC4D-AC99-CABF-736AB7240B91}"/>
              </a:ext>
            </a:extLst>
          </p:cNvPr>
          <p:cNvSpPr txBox="1"/>
          <p:nvPr/>
        </p:nvSpPr>
        <p:spPr>
          <a:xfrm>
            <a:off x="4869175" y="2433771"/>
            <a:ext cx="296357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Double Click Sum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2FDBF9E-E5C0-A954-5430-E8DA326A613B}"/>
              </a:ext>
            </a:extLst>
          </p:cNvPr>
          <p:cNvSpPr txBox="1"/>
          <p:nvPr/>
        </p:nvSpPr>
        <p:spPr>
          <a:xfrm>
            <a:off x="4956801" y="4722018"/>
            <a:ext cx="2558424" cy="83099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Update Icon Shape “rectangular” &amp; list signs “+++” 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CA121C7-9469-F05F-36FD-00B568EADDEE}"/>
              </a:ext>
            </a:extLst>
          </p:cNvPr>
          <p:cNvSpPr/>
          <p:nvPr/>
        </p:nvSpPr>
        <p:spPr>
          <a:xfrm>
            <a:off x="7191374" y="5657850"/>
            <a:ext cx="626969" cy="4164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2936FD7-E5F1-F78A-0AEE-C68AA45BDCC4}"/>
              </a:ext>
            </a:extLst>
          </p:cNvPr>
          <p:cNvCxnSpPr>
            <a:cxnSpLocks/>
          </p:cNvCxnSpPr>
          <p:nvPr/>
        </p:nvCxnSpPr>
        <p:spPr>
          <a:xfrm flipH="1">
            <a:off x="4695825" y="2710770"/>
            <a:ext cx="222056" cy="4286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DF89E99-360A-E2E5-D6AF-3115FE32B9D8}"/>
              </a:ext>
            </a:extLst>
          </p:cNvPr>
          <p:cNvCxnSpPr>
            <a:cxnSpLocks/>
          </p:cNvCxnSpPr>
          <p:nvPr/>
        </p:nvCxnSpPr>
        <p:spPr>
          <a:xfrm flipH="1" flipV="1">
            <a:off x="6029178" y="4400550"/>
            <a:ext cx="206835" cy="2500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D6430FE-6409-7413-8F54-010D3449ACEF}"/>
              </a:ext>
            </a:extLst>
          </p:cNvPr>
          <p:cNvCxnSpPr>
            <a:cxnSpLocks/>
            <a:stCxn id="48" idx="3"/>
            <a:endCxn id="41" idx="2"/>
          </p:cNvCxnSpPr>
          <p:nvPr/>
        </p:nvCxnSpPr>
        <p:spPr>
          <a:xfrm flipV="1">
            <a:off x="6962775" y="6074294"/>
            <a:ext cx="542084" cy="2812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750D880-2467-5D7B-DD5D-A454E4E67D4E}"/>
              </a:ext>
            </a:extLst>
          </p:cNvPr>
          <p:cNvSpPr txBox="1"/>
          <p:nvPr/>
        </p:nvSpPr>
        <p:spPr>
          <a:xfrm>
            <a:off x="4917881" y="6217086"/>
            <a:ext cx="20448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3. Click Apply</a:t>
            </a:r>
          </a:p>
        </p:txBody>
      </p:sp>
      <p:pic>
        <p:nvPicPr>
          <p:cNvPr id="63" name="Content Placeholder 56">
            <a:extLst>
              <a:ext uri="{FF2B5EF4-FFF2-40B4-BE49-F238E27FC236}">
                <a16:creationId xmlns:a16="http://schemas.microsoft.com/office/drawing/2014/main" id="{1E1E000B-8E2F-D285-3C0C-64BBB90A636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5"/>
          <a:srcRect l="47541" t="46615" r="45650" b="5843"/>
          <a:stretch>
            <a:fillRect/>
          </a:stretch>
        </p:blipFill>
        <p:spPr>
          <a:xfrm>
            <a:off x="9369406" y="2043113"/>
            <a:ext cx="1163675" cy="4367212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E06BA660-50C9-229F-9924-498C1B236C9C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sum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4BAA66F-3281-49B3-EA0D-33503074F7E1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45DABAD-DD42-729E-AF36-E4E8924EB422}"/>
              </a:ext>
            </a:extLst>
          </p:cNvPr>
          <p:cNvSpPr txBox="1"/>
          <p:nvPr/>
        </p:nvSpPr>
        <p:spPr>
          <a:xfrm>
            <a:off x="2732830" y="2823842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A5AE238-8397-2210-6E0F-C23E5641E899}"/>
              </a:ext>
            </a:extLst>
          </p:cNvPr>
          <p:cNvCxnSpPr>
            <a:cxnSpLocks/>
          </p:cNvCxnSpPr>
          <p:nvPr/>
        </p:nvCxnSpPr>
        <p:spPr>
          <a:xfrm flipH="1">
            <a:off x="2256322" y="2962341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6168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96981-3740-BA4B-1BC5-6F24A6EA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8C213EC-D3A8-F56D-DA79-A7F702ED43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CE0DFA9-0ECC-DEBC-3A35-4DD7E0B765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51ED3CA-6589-274E-27C2-6E84BC485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Constant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908FD0-1699-A2DB-3213-25D120A5D9EB}"/>
              </a:ext>
            </a:extLst>
          </p:cNvPr>
          <p:cNvSpPr/>
          <p:nvPr/>
        </p:nvSpPr>
        <p:spPr>
          <a:xfrm>
            <a:off x="5800725" y="3900744"/>
            <a:ext cx="737549" cy="22714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2882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CADCF-DBB9-B3A1-09F4-217AD548F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EAF2B5B-659A-2950-1452-3BF8F27DEE3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Data Type Conversion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AFC13BA-B404-C43C-E4A1-2B4A321290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4239A67-D0BC-F5E3-8968-F0D381D47E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57302A2-FB73-F8C9-5F0F-8603DD36F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Data Type Conversion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EC6301E-93BE-4E31-3B7E-6A1F53C9DCC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3. Rename Data Type Conversion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D4B9CE80-FC8B-F843-3282-A080C1F14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0908" t="64663" r="21116"/>
          <a:stretch>
            <a:fillRect/>
          </a:stretch>
        </p:blipFill>
        <p:spPr>
          <a:xfrm>
            <a:off x="639664" y="2489698"/>
            <a:ext cx="3287910" cy="3474041"/>
          </a:xfrm>
          <a:prstGeom prst="rect">
            <a:avLst/>
          </a:prstGeom>
        </p:spPr>
      </p:pic>
      <p:pic>
        <p:nvPicPr>
          <p:cNvPr id="20" name="Content Placeholder 8">
            <a:extLst>
              <a:ext uri="{FF2B5EF4-FFF2-40B4-BE49-F238E27FC236}">
                <a16:creationId xmlns:a16="http://schemas.microsoft.com/office/drawing/2014/main" id="{65CB63D5-7397-3A13-0284-F6BE02B1514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61791" t="63940" r="24590" b="22480"/>
          <a:stretch>
            <a:fillRect/>
          </a:stretch>
        </p:blipFill>
        <p:spPr>
          <a:xfrm>
            <a:off x="4871936" y="3559182"/>
            <a:ext cx="2490990" cy="1335073"/>
          </a:xfrm>
          <a:prstGeom prst="rect">
            <a:avLst/>
          </a:prstGeom>
        </p:spPr>
      </p:pic>
      <p:pic>
        <p:nvPicPr>
          <p:cNvPr id="32" name="Content Placeholder 23">
            <a:extLst>
              <a:ext uri="{FF2B5EF4-FFF2-40B4-BE49-F238E27FC236}">
                <a16:creationId xmlns:a16="http://schemas.microsoft.com/office/drawing/2014/main" id="{975FFB3A-4581-8CAB-5AEB-F4E4CA31F37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61665" t="62910" r="24968" b="21313"/>
          <a:stretch>
            <a:fillRect/>
          </a:stretch>
        </p:blipFill>
        <p:spPr>
          <a:xfrm>
            <a:off x="8728795" y="3451187"/>
            <a:ext cx="2444898" cy="155106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1E3DF3F8-31C4-5553-FB90-4BBB43039FE7}"/>
              </a:ext>
            </a:extLst>
          </p:cNvPr>
          <p:cNvSpPr txBox="1"/>
          <p:nvPr/>
        </p:nvSpPr>
        <p:spPr>
          <a:xfrm>
            <a:off x="3892330" y="5010859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32B18F6-3FDD-B8AB-41FF-663C05D32658}"/>
              </a:ext>
            </a:extLst>
          </p:cNvPr>
          <p:cNvCxnSpPr>
            <a:cxnSpLocks/>
          </p:cNvCxnSpPr>
          <p:nvPr/>
        </p:nvCxnSpPr>
        <p:spPr>
          <a:xfrm flipH="1">
            <a:off x="3415822" y="5149358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39D28DF-2F26-E2C1-8EEE-7D2679466964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</a:t>
            </a:r>
            <a:r>
              <a:rPr lang="en-US" dirty="0" err="1">
                <a:solidFill>
                  <a:srgbClr val="FF0000"/>
                </a:solidFill>
              </a:rPr>
              <a:t>conve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F9D37A1-A0EC-437F-C631-DD30952E9195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27F96AB-58FF-97DE-3C2F-3CC9F93B829D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1D71F5A-3DE9-4440-B3AA-595FFA3B157A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09327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406A8-9B5F-9347-3E82-3B7F3F65D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EF7AB7E-7CAB-DB30-5876-7D97D8FCCA7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6D5AA0A-1F9F-F93D-6623-18A6EB69316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07812EE-800C-1813-AA26-C15131818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Data Type Conversion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988734-FCDA-4FF3-B40B-5FE0C174427D}"/>
              </a:ext>
            </a:extLst>
          </p:cNvPr>
          <p:cNvSpPr/>
          <p:nvPr/>
        </p:nvSpPr>
        <p:spPr>
          <a:xfrm>
            <a:off x="7067550" y="4619625"/>
            <a:ext cx="1104900" cy="8191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5194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B1560-4567-39EF-C394-3EB2D31C7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9B5F1A6-7746-1D49-8123-436B8294F4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Outport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80EDE4D-98B0-4034-1256-9141D62F19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4B2EFAE-BE40-CC04-B573-66F25F9B01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A5CD9FB-B14F-ABFE-7F9A-C653BC004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Outport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A99ACAF-48A6-1395-214A-B68F614496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Rename Outport</a:t>
            </a:r>
          </a:p>
        </p:txBody>
      </p:sp>
      <p:pic>
        <p:nvPicPr>
          <p:cNvPr id="16" name="Content Placeholder 3">
            <a:extLst>
              <a:ext uri="{FF2B5EF4-FFF2-40B4-BE49-F238E27FC236}">
                <a16:creationId xmlns:a16="http://schemas.microsoft.com/office/drawing/2014/main" id="{D7325BFE-74B7-2374-5B3D-BC118C87CA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1233" t="64663" r="2288"/>
          <a:stretch>
            <a:fillRect/>
          </a:stretch>
        </p:blipFill>
        <p:spPr>
          <a:xfrm>
            <a:off x="776569" y="2489698"/>
            <a:ext cx="3014100" cy="3474041"/>
          </a:xfrm>
          <a:prstGeom prst="rect">
            <a:avLst/>
          </a:prstGeom>
        </p:spPr>
      </p:pic>
      <p:pic>
        <p:nvPicPr>
          <p:cNvPr id="23" name="Content Placeholder 18">
            <a:extLst>
              <a:ext uri="{FF2B5EF4-FFF2-40B4-BE49-F238E27FC236}">
                <a16:creationId xmlns:a16="http://schemas.microsoft.com/office/drawing/2014/main" id="{C17DF8A9-C6EB-1858-729A-D93438768C3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0454" t="63256" r="11223" b="18726"/>
          <a:stretch>
            <a:fillRect/>
          </a:stretch>
        </p:blipFill>
        <p:spPr>
          <a:xfrm>
            <a:off x="5356270" y="3341028"/>
            <a:ext cx="1522323" cy="1771381"/>
          </a:xfrm>
          <a:prstGeom prst="rect">
            <a:avLst/>
          </a:prstGeom>
        </p:spPr>
      </p:pic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901B303A-40D9-1B8F-C838-1DFF8061D01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79571" t="64194" r="11231" b="21260"/>
          <a:stretch>
            <a:fillRect/>
          </a:stretch>
        </p:blipFill>
        <p:spPr>
          <a:xfrm>
            <a:off x="9110061" y="3511698"/>
            <a:ext cx="1682365" cy="143004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6872EEA-14E3-50FC-E273-4ABD563DD33A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out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6009DFE-2300-2C0D-1A96-B22C0AC4A6B5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663C97B-1430-2641-5EC5-4E91C92ECAAA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ECDDBD0-9F30-1166-AFA8-4B91045E7969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C2D0802-7B65-7D3C-FAB8-6A882B3E6B8D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8185362-9121-663D-4526-CAB18A5C8BB3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85894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9812D-7049-49EC-EFE6-C62F58428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EDF343-C012-7012-55D0-DFBAAB5FCD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948BF0C-FFC6-E468-6425-46EB6A0ECD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7E5A7C6-D714-8EDA-91A6-C2C29EA4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Outport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3A9870-57D3-9E9F-9099-E4914619F7DB}"/>
              </a:ext>
            </a:extLst>
          </p:cNvPr>
          <p:cNvSpPr/>
          <p:nvPr/>
        </p:nvSpPr>
        <p:spPr>
          <a:xfrm>
            <a:off x="8610600" y="4829175"/>
            <a:ext cx="723900" cy="447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3542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01B87-ED33-D8D8-3E4B-4F11F950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97F5C40-1671-6B31-FA4B-63FEC6C0B1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586FABD-8518-F49A-158D-979F34C351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FFBF57D-7EA5-785B-FCA1-976990CBE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 Lines</a:t>
            </a:r>
          </a:p>
        </p:txBody>
      </p:sp>
    </p:spTree>
    <p:extLst>
      <p:ext uri="{BB962C8B-B14F-4D97-AF65-F5344CB8AC3E}">
        <p14:creationId xmlns:p14="http://schemas.microsoft.com/office/powerpoint/2010/main" val="14003287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B0CB0-6DD3-D26A-8FFD-65FC6D9BE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6523437-E704-4C48-A3F8-16049A49E2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1E84D18-D98E-0C9E-EA35-57C6A53D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Align Blocks</a:t>
            </a:r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F8DDD72D-01BB-2773-6D70-62D00E68B5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7967"/>
          <a:stretch>
            <a:fillRect/>
          </a:stretch>
        </p:blipFill>
        <p:spPr>
          <a:xfrm>
            <a:off x="1864500" y="1838325"/>
            <a:ext cx="6893001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187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C0349-137A-C2C9-ECCD-302C72237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4216F6A-29FA-185D-AC17-CE270A9143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0863BE3-48C8-3999-FFA2-62165B14E1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80FDCC7-5BCB-92D0-3DCA-68B7C8B38B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BD868AF4-39C9-6DE2-7B92-2EE979B86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A480D98-8E03-AB74-023C-C512C397FE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B3AFDC3-C64F-6CC4-8022-681923A074E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2389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79147-4720-91AA-3B67-24D36E8D8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967D1470-E2CF-FFDE-BB5C-D358DBD5D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C959530-9D48-BA8A-C34A-6CFC0A44A6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5C29391-D595-529A-BB4A-9BF18BAEE5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B1740B05-3AF3-10E2-D771-96767F5EB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023CEA93-0238-FB6D-1485-6F4BFE7AE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E44AA834-AD99-AE80-B286-8F04BC691E2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7031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507B6D6-9588-D2D0-D244-F32146A57C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A5F8D6B-1DC2-B7E4-88FB-E643B21649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EBD03F9-F2D7-C30B-DB88-D3C42A3A83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35B3CD6-1109-C9B1-49B1-F60D65FC8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t</a:t>
            </a:r>
          </a:p>
        </p:txBody>
      </p:sp>
      <p:pic>
        <p:nvPicPr>
          <p:cNvPr id="26" name="Content Placeholder 22">
            <a:extLst>
              <a:ext uri="{FF2B5EF4-FFF2-40B4-BE49-F238E27FC236}">
                <a16:creationId xmlns:a16="http://schemas.microsoft.com/office/drawing/2014/main" id="{66866470-B333-8A26-1F88-99CF270B7D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1473"/>
          <a:stretch>
            <a:fillRect/>
          </a:stretch>
        </p:blipFill>
        <p:spPr>
          <a:xfrm>
            <a:off x="395818" y="2043113"/>
            <a:ext cx="3130336" cy="4367212"/>
          </a:xfrm>
          <a:prstGeom prst="rect">
            <a:avLst/>
          </a:prstGeom>
        </p:spPr>
      </p:pic>
      <p:pic>
        <p:nvPicPr>
          <p:cNvPr id="27" name="Content Placeholder 22">
            <a:extLst>
              <a:ext uri="{FF2B5EF4-FFF2-40B4-BE49-F238E27FC236}">
                <a16:creationId xmlns:a16="http://schemas.microsoft.com/office/drawing/2014/main" id="{27ECEE7E-0879-6EBC-8C4F-6C252B1A82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936" r="186"/>
          <a:stretch>
            <a:fillRect/>
          </a:stretch>
        </p:blipFill>
        <p:spPr>
          <a:xfrm>
            <a:off x="3514090" y="2042465"/>
            <a:ext cx="1290107" cy="436721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DC69E35-757A-D624-85D2-32D3B74C7E51}"/>
              </a:ext>
            </a:extLst>
          </p:cNvPr>
          <p:cNvSpPr txBox="1"/>
          <p:nvPr/>
        </p:nvSpPr>
        <p:spPr>
          <a:xfrm>
            <a:off x="773112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A30B6004-827E-8E4C-57A8-C672BE8A33F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61695"/>
          <a:stretch>
            <a:fillRect/>
          </a:stretch>
        </p:blipFill>
        <p:spPr>
          <a:xfrm>
            <a:off x="6113356" y="2043113"/>
            <a:ext cx="3112298" cy="4367212"/>
          </a:xfrm>
          <a:prstGeom prst="rect">
            <a:avLst/>
          </a:prstGeom>
        </p:spPr>
      </p:pic>
      <p:pic>
        <p:nvPicPr>
          <p:cNvPr id="40" name="Content Placeholder 35">
            <a:extLst>
              <a:ext uri="{FF2B5EF4-FFF2-40B4-BE49-F238E27FC236}">
                <a16:creationId xmlns:a16="http://schemas.microsoft.com/office/drawing/2014/main" id="{E8218858-1B7A-5CB8-2741-5ED09D0519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15" t="15" r="-186" b="-15"/>
          <a:stretch>
            <a:fillRect/>
          </a:stretch>
        </p:blipFill>
        <p:spPr>
          <a:xfrm>
            <a:off x="9226551" y="2042464"/>
            <a:ext cx="1338316" cy="4367212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F358467F-021E-D794-5BE8-C0F66DD03EA6}"/>
              </a:ext>
            </a:extLst>
          </p:cNvPr>
          <p:cNvSpPr/>
          <p:nvPr/>
        </p:nvSpPr>
        <p:spPr>
          <a:xfrm>
            <a:off x="9248775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2B4DA15-F33C-691E-1FC2-A71E487E2BBB}"/>
              </a:ext>
            </a:extLst>
          </p:cNvPr>
          <p:cNvSpPr/>
          <p:nvPr/>
        </p:nvSpPr>
        <p:spPr>
          <a:xfrm>
            <a:off x="3513193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0F260EB-64D5-8607-1E76-11661792434A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768475" y="5076825"/>
            <a:ext cx="0" cy="266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AD37861-051E-3391-2CB8-F1C3589ACFF3}"/>
              </a:ext>
            </a:extLst>
          </p:cNvPr>
          <p:cNvCxnSpPr>
            <a:cxnSpLocks/>
          </p:cNvCxnSpPr>
          <p:nvPr/>
        </p:nvCxnSpPr>
        <p:spPr>
          <a:xfrm flipV="1">
            <a:off x="7121142" y="4666268"/>
            <a:ext cx="0" cy="67725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73953B9-C600-2368-BD23-B7E071EE25E6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FEEF3FF-98EC-5714-1D32-71994DBE6974}"/>
              </a:ext>
            </a:extLst>
          </p:cNvPr>
          <p:cNvCxnSpPr>
            <a:cxnSpLocks/>
          </p:cNvCxnSpPr>
          <p:nvPr/>
        </p:nvCxnSpPr>
        <p:spPr>
          <a:xfrm>
            <a:off x="9891794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B0FDF80-D4C3-016E-2469-C56688C23E4B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B0165A7-145E-AA45-944D-3C0E753D4207}"/>
              </a:ext>
            </a:extLst>
          </p:cNvPr>
          <p:cNvSpPr txBox="1"/>
          <p:nvPr/>
        </p:nvSpPr>
        <p:spPr>
          <a:xfrm>
            <a:off x="9569504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</p:spTree>
    <p:extLst>
      <p:ext uri="{BB962C8B-B14F-4D97-AF65-F5344CB8AC3E}">
        <p14:creationId xmlns:p14="http://schemas.microsoft.com/office/powerpoint/2010/main" val="76654293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0873E-A7A8-9D39-AD08-E1116BACE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7ECAE493-CBFA-59F8-F517-5A26B247964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61269"/>
          <a:stretch>
            <a:fillRect/>
          </a:stretch>
        </p:blipFill>
        <p:spPr>
          <a:xfrm>
            <a:off x="6113356" y="2043113"/>
            <a:ext cx="3146911" cy="4367212"/>
          </a:xfrm>
          <a:prstGeom prst="rect">
            <a:avLst/>
          </a:prstGeom>
        </p:spPr>
      </p:pic>
      <p:pic>
        <p:nvPicPr>
          <p:cNvPr id="22" name="Content Placeholder 17">
            <a:extLst>
              <a:ext uri="{FF2B5EF4-FFF2-40B4-BE49-F238E27FC236}">
                <a16:creationId xmlns:a16="http://schemas.microsoft.com/office/drawing/2014/main" id="{2CB8BBDE-F306-8C1C-A3B4-3F1DDA2E6C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634"/>
          <a:stretch>
            <a:fillRect/>
          </a:stretch>
        </p:blipFill>
        <p:spPr>
          <a:xfrm>
            <a:off x="9232659" y="2041815"/>
            <a:ext cx="1329762" cy="4367212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6EEB031-3252-7BD0-C157-4FC4957F95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644"/>
          <a:stretch>
            <a:fillRect/>
          </a:stretch>
        </p:blipFill>
        <p:spPr>
          <a:xfrm>
            <a:off x="395818" y="2043113"/>
            <a:ext cx="3116478" cy="4367212"/>
          </a:xfrm>
          <a:prstGeom prst="rect">
            <a:avLst/>
          </a:prstGeom>
        </p:spPr>
      </p:pic>
      <p:pic>
        <p:nvPicPr>
          <p:cNvPr id="13" name="Content Placeholder 10">
            <a:extLst>
              <a:ext uri="{FF2B5EF4-FFF2-40B4-BE49-F238E27FC236}">
                <a16:creationId xmlns:a16="http://schemas.microsoft.com/office/drawing/2014/main" id="{91A7D5A3-8825-EFAF-74D7-6B181E3E9F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08" r="183"/>
          <a:stretch>
            <a:fillRect/>
          </a:stretch>
        </p:blipFill>
        <p:spPr>
          <a:xfrm>
            <a:off x="3501139" y="2042464"/>
            <a:ext cx="1317068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95C2DFF-860B-33AE-3998-D5558D22F3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7A91BBE-8180-27B2-667C-949F53695A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EC1750-C257-0575-2C6B-FA272E4EEB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A23795A-02C5-6E66-B986-78B8300EA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t_squared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C674DB-1EFF-B9D5-A849-B447A3F99829}"/>
              </a:ext>
            </a:extLst>
          </p:cNvPr>
          <p:cNvSpPr txBox="1"/>
          <p:nvPr/>
        </p:nvSpPr>
        <p:spPr>
          <a:xfrm>
            <a:off x="773112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FA98256-FBBA-0167-5FF5-3B2DA786FC69}"/>
              </a:ext>
            </a:extLst>
          </p:cNvPr>
          <p:cNvSpPr/>
          <p:nvPr/>
        </p:nvSpPr>
        <p:spPr>
          <a:xfrm>
            <a:off x="9248775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7706AEB-0E49-4CBF-2024-F0355F0D4AC6}"/>
              </a:ext>
            </a:extLst>
          </p:cNvPr>
          <p:cNvSpPr/>
          <p:nvPr/>
        </p:nvSpPr>
        <p:spPr>
          <a:xfrm>
            <a:off x="3513193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37E342-D220-F5C3-FF3F-B697DC064EFA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768475" y="4505325"/>
            <a:ext cx="869950" cy="8382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7B8B629-6AB6-423D-285F-2F9EF5B6A69B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3503962-BECB-EABD-B17E-9B34D4A9D5E7}"/>
              </a:ext>
            </a:extLst>
          </p:cNvPr>
          <p:cNvCxnSpPr>
            <a:cxnSpLocks/>
          </p:cNvCxnSpPr>
          <p:nvPr/>
        </p:nvCxnSpPr>
        <p:spPr>
          <a:xfrm>
            <a:off x="9891794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1FF81A1-D402-811B-6654-4B73675E0E38}"/>
              </a:ext>
            </a:extLst>
          </p:cNvPr>
          <p:cNvSpPr txBox="1"/>
          <p:nvPr/>
        </p:nvSpPr>
        <p:spPr>
          <a:xfrm>
            <a:off x="9569504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3115F63-1B52-C79D-C28E-9C025C1B340A}"/>
              </a:ext>
            </a:extLst>
          </p:cNvPr>
          <p:cNvCxnSpPr>
            <a:cxnSpLocks/>
          </p:cNvCxnSpPr>
          <p:nvPr/>
        </p:nvCxnSpPr>
        <p:spPr>
          <a:xfrm flipV="1">
            <a:off x="7121142" y="4609707"/>
            <a:ext cx="1202726" cy="7338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E454DE5-FDC0-F65E-3F69-201CE4216D1D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</p:spTree>
    <p:extLst>
      <p:ext uri="{BB962C8B-B14F-4D97-AF65-F5344CB8AC3E}">
        <p14:creationId xmlns:p14="http://schemas.microsoft.com/office/powerpoint/2010/main" val="28187536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724AE-5EE8-F5FF-5BFC-3D3CE8374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Content Placeholder 35">
            <a:extLst>
              <a:ext uri="{FF2B5EF4-FFF2-40B4-BE49-F238E27FC236}">
                <a16:creationId xmlns:a16="http://schemas.microsoft.com/office/drawing/2014/main" id="{DCB139D5-0253-6550-3605-2C4175A03F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633"/>
          <a:stretch>
            <a:fillRect/>
          </a:stretch>
        </p:blipFill>
        <p:spPr>
          <a:xfrm>
            <a:off x="9636406" y="2050325"/>
            <a:ext cx="1329762" cy="4367212"/>
          </a:xfrm>
          <a:prstGeom prst="rect">
            <a:avLst/>
          </a:prstGeom>
        </p:spPr>
      </p:pic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6F244062-152E-6C0A-E97F-720AE5EC30F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55988"/>
          <a:stretch>
            <a:fillRect/>
          </a:stretch>
        </p:blipFill>
        <p:spPr>
          <a:xfrm>
            <a:off x="6113356" y="2043113"/>
            <a:ext cx="3575995" cy="4367212"/>
          </a:xfrm>
          <a:prstGeom prst="rect">
            <a:avLst/>
          </a:prstGeom>
        </p:spPr>
      </p:pic>
      <p:pic>
        <p:nvPicPr>
          <p:cNvPr id="24" name="Content Placeholder 18">
            <a:extLst>
              <a:ext uri="{FF2B5EF4-FFF2-40B4-BE49-F238E27FC236}">
                <a16:creationId xmlns:a16="http://schemas.microsoft.com/office/drawing/2014/main" id="{80841AE4-CBA8-46EC-7118-7BB8A423C1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8113"/>
          <a:stretch>
            <a:fillRect/>
          </a:stretch>
        </p:blipFill>
        <p:spPr>
          <a:xfrm>
            <a:off x="116974" y="2040898"/>
            <a:ext cx="3403337" cy="4367212"/>
          </a:xfrm>
          <a:prstGeom prst="rect">
            <a:avLst/>
          </a:prstGeom>
        </p:spPr>
      </p:pic>
      <p:pic>
        <p:nvPicPr>
          <p:cNvPr id="33" name="Content Placeholder 18">
            <a:extLst>
              <a:ext uri="{FF2B5EF4-FFF2-40B4-BE49-F238E27FC236}">
                <a16:creationId xmlns:a16="http://schemas.microsoft.com/office/drawing/2014/main" id="{826AAA3E-F964-ACFD-E3A9-B801276C87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532" r="53"/>
          <a:stretch>
            <a:fillRect/>
          </a:stretch>
        </p:blipFill>
        <p:spPr>
          <a:xfrm>
            <a:off x="3492797" y="2040898"/>
            <a:ext cx="1333752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F128649-00B9-C3FF-33F9-C7111372CF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renamed parameter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3982E64-FDC3-B81C-471C-761DD31ABD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Parameter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F4142F7-A142-0F93-6A90-11DE299EB3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CEE622-7321-659A-E345-70647850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Parameter: COEFF_A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55B44E-C182-5212-69F3-013D1B3DF092}"/>
              </a:ext>
            </a:extLst>
          </p:cNvPr>
          <p:cNvSpPr txBox="1"/>
          <p:nvPr/>
        </p:nvSpPr>
        <p:spPr>
          <a:xfrm>
            <a:off x="395818" y="5343525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1ECE212-43EA-09D9-8E3D-9A71DD439DBA}"/>
              </a:ext>
            </a:extLst>
          </p:cNvPr>
          <p:cNvSpPr/>
          <p:nvPr/>
        </p:nvSpPr>
        <p:spPr>
          <a:xfrm>
            <a:off x="9644700" y="2971800"/>
            <a:ext cx="1286038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E283782-FA49-48D9-2D76-04D8AEAA41C8}"/>
              </a:ext>
            </a:extLst>
          </p:cNvPr>
          <p:cNvSpPr/>
          <p:nvPr/>
        </p:nvSpPr>
        <p:spPr>
          <a:xfrm>
            <a:off x="3513193" y="2971800"/>
            <a:ext cx="1286038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280927-4DC6-20DB-4C94-370D459C6F76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579828" y="4515439"/>
            <a:ext cx="1351905" cy="8280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0BC074-691A-0601-9AA7-0C5397A2B860}"/>
              </a:ext>
            </a:extLst>
          </p:cNvPr>
          <p:cNvCxnSpPr>
            <a:cxnSpLocks/>
          </p:cNvCxnSpPr>
          <p:nvPr/>
        </p:nvCxnSpPr>
        <p:spPr>
          <a:xfrm>
            <a:off x="10306575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B1AFD5B-10EF-10CD-61B4-46B5AEEB3EF0}"/>
              </a:ext>
            </a:extLst>
          </p:cNvPr>
          <p:cNvSpPr txBox="1"/>
          <p:nvPr/>
        </p:nvSpPr>
        <p:spPr>
          <a:xfrm>
            <a:off x="9984285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C063B56-172E-0726-0A76-ECFD78DFAB0C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D6FF9D9-8F6B-0347-80A2-5289A1A85817}"/>
              </a:ext>
            </a:extLst>
          </p:cNvPr>
          <p:cNvCxnSpPr>
            <a:cxnSpLocks/>
          </p:cNvCxnSpPr>
          <p:nvPr/>
        </p:nvCxnSpPr>
        <p:spPr>
          <a:xfrm flipV="1">
            <a:off x="7121142" y="4515439"/>
            <a:ext cx="1872029" cy="8280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F64D432-33AA-A59E-24A3-520F7D62E467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</p:spTree>
    <p:extLst>
      <p:ext uri="{BB962C8B-B14F-4D97-AF65-F5344CB8AC3E}">
        <p14:creationId xmlns:p14="http://schemas.microsoft.com/office/powerpoint/2010/main" val="360744982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A66E3-EA91-7CB7-BED6-5A1D00712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Content Placeholder 21">
            <a:extLst>
              <a:ext uri="{FF2B5EF4-FFF2-40B4-BE49-F238E27FC236}">
                <a16:creationId xmlns:a16="http://schemas.microsoft.com/office/drawing/2014/main" id="{1A183AF8-C344-0338-F147-2CEF17046CE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55995"/>
          <a:stretch>
            <a:fillRect/>
          </a:stretch>
        </p:blipFill>
        <p:spPr>
          <a:xfrm>
            <a:off x="4329718" y="2043113"/>
            <a:ext cx="3575426" cy="4367212"/>
          </a:xfrm>
          <a:prstGeom prst="rect">
            <a:avLst/>
          </a:prstGeom>
        </p:spPr>
      </p:pic>
      <p:pic>
        <p:nvPicPr>
          <p:cNvPr id="46" name="Content Placeholder 9">
            <a:extLst>
              <a:ext uri="{FF2B5EF4-FFF2-40B4-BE49-F238E27FC236}">
                <a16:creationId xmlns:a16="http://schemas.microsoft.com/office/drawing/2014/main" id="{3D44271F-EE91-1000-93BD-F5B9FD7615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6052"/>
          <a:stretch>
            <a:fillRect/>
          </a:stretch>
        </p:blipFill>
        <p:spPr>
          <a:xfrm>
            <a:off x="498221" y="2043113"/>
            <a:ext cx="3570795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2CBC477-1D86-C7F0-2583-FFD0B34FD7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Final Block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48EDAD-8AB5-E767-1F71-F21098C134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Select Blocks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8AB16A-DC79-C36F-F387-6F1FA44DD1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CCE39A-C30F-33F1-6034-F7C8B7A48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19825"/>
          </a:xfrm>
        </p:spPr>
        <p:txBody>
          <a:bodyPr/>
          <a:lstStyle/>
          <a:p>
            <a:r>
              <a:rPr lang="en-US" dirty="0"/>
              <a:t>Format Blocks to Same Size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last block you select is used as the formatting reference. All other selected blocks will be formatted to match it.</a:t>
            </a:r>
            <a:endParaRPr lang="en-US" sz="1200" b="0" i="1" dirty="0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008898DE-6C6D-FE56-BF35-BE7080AE94E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Format Blocks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D4E3E0-BB72-8659-CFD4-861CF9F642BA}"/>
              </a:ext>
            </a:extLst>
          </p:cNvPr>
          <p:cNvSpPr/>
          <p:nvPr/>
        </p:nvSpPr>
        <p:spPr>
          <a:xfrm>
            <a:off x="3026004" y="4790982"/>
            <a:ext cx="801278" cy="12798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05C631-E3F1-A4FC-6706-1DE290FA5AB2}"/>
              </a:ext>
            </a:extLst>
          </p:cNvPr>
          <p:cNvSpPr txBox="1"/>
          <p:nvPr/>
        </p:nvSpPr>
        <p:spPr>
          <a:xfrm>
            <a:off x="794694" y="5360906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27D69A6-0E49-A9E1-A474-DC99DFFE1BBC}"/>
              </a:ext>
            </a:extLst>
          </p:cNvPr>
          <p:cNvSpPr/>
          <p:nvPr/>
        </p:nvSpPr>
        <p:spPr>
          <a:xfrm>
            <a:off x="6883137" y="4157221"/>
            <a:ext cx="1121903" cy="6337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CF6F76C-1931-32D6-DC26-0DC84F0A1842}"/>
              </a:ext>
            </a:extLst>
          </p:cNvPr>
          <p:cNvSpPr txBox="1"/>
          <p:nvPr/>
        </p:nvSpPr>
        <p:spPr>
          <a:xfrm>
            <a:off x="5746674" y="3603223"/>
            <a:ext cx="223717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Shift Hold Select Block</a:t>
            </a:r>
          </a:p>
        </p:txBody>
      </p:sp>
      <p:pic>
        <p:nvPicPr>
          <p:cNvPr id="55" name="Content Placeholder 50">
            <a:extLst>
              <a:ext uri="{FF2B5EF4-FFF2-40B4-BE49-F238E27FC236}">
                <a16:creationId xmlns:a16="http://schemas.microsoft.com/office/drawing/2014/main" id="{A8A6E3EA-A6CF-A79F-CFC9-C063A5E65FA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55649"/>
          <a:stretch>
            <a:fillRect/>
          </a:stretch>
        </p:blipFill>
        <p:spPr>
          <a:xfrm>
            <a:off x="8149475" y="2043113"/>
            <a:ext cx="3603538" cy="436721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861AA7CE-B297-0381-D085-6ED18CCE3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758" t="5076" r="46340" b="86187"/>
          <a:stretch>
            <a:fillRect/>
          </a:stretch>
        </p:blipFill>
        <p:spPr>
          <a:xfrm>
            <a:off x="10157774" y="1807521"/>
            <a:ext cx="2034226" cy="876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6" name="Rectangle 65">
            <a:extLst>
              <a:ext uri="{FF2B5EF4-FFF2-40B4-BE49-F238E27FC236}">
                <a16:creationId xmlns:a16="http://schemas.microsoft.com/office/drawing/2014/main" id="{40EEA088-1DFE-DAA4-E86B-CD833DF95826}"/>
              </a:ext>
            </a:extLst>
          </p:cNvPr>
          <p:cNvSpPr/>
          <p:nvPr/>
        </p:nvSpPr>
        <p:spPr>
          <a:xfrm>
            <a:off x="11603521" y="2268862"/>
            <a:ext cx="470534" cy="4330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FCD071A-9384-C1A7-D43C-11C5A620C68F}"/>
              </a:ext>
            </a:extLst>
          </p:cNvPr>
          <p:cNvSpPr txBox="1"/>
          <p:nvPr/>
        </p:nvSpPr>
        <p:spPr>
          <a:xfrm>
            <a:off x="9681464" y="2973198"/>
            <a:ext cx="223717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 Match</a:t>
            </a:r>
          </a:p>
        </p:txBody>
      </p:sp>
      <p:sp>
        <p:nvSpPr>
          <p:cNvPr id="69" name="Left Brace 68">
            <a:extLst>
              <a:ext uri="{FF2B5EF4-FFF2-40B4-BE49-F238E27FC236}">
                <a16:creationId xmlns:a16="http://schemas.microsoft.com/office/drawing/2014/main" id="{DBAB068C-438D-99D0-7595-4ECF08B06004}"/>
              </a:ext>
            </a:extLst>
          </p:cNvPr>
          <p:cNvSpPr/>
          <p:nvPr/>
        </p:nvSpPr>
        <p:spPr>
          <a:xfrm>
            <a:off x="10458563" y="4722829"/>
            <a:ext cx="325701" cy="1263192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A827529-BE55-0EC0-2730-BDC501F98D68}"/>
              </a:ext>
            </a:extLst>
          </p:cNvPr>
          <p:cNvSpPr txBox="1"/>
          <p:nvPr/>
        </p:nvSpPr>
        <p:spPr>
          <a:xfrm>
            <a:off x="8611388" y="5156454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188DB43-CE67-0869-9EB4-3C0AC32CD80C}"/>
              </a:ext>
            </a:extLst>
          </p:cNvPr>
          <p:cNvCxnSpPr>
            <a:cxnSpLocks/>
            <a:endCxn id="66" idx="2"/>
          </p:cNvCxnSpPr>
          <p:nvPr/>
        </p:nvCxnSpPr>
        <p:spPr>
          <a:xfrm flipV="1">
            <a:off x="11359299" y="2701884"/>
            <a:ext cx="479489" cy="2713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972951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1DF0E-F69A-6C3D-0010-E6DF8403A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E5C94FD-4136-AE21-308A-B06C2B8A53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Aligned Blocks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3CEB4C0-6D54-5261-ED3C-6D60FAA73E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Blocks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2DB73E7-AF6F-2DA4-6247-88E05B7F7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DB40461-6998-AC1F-6E47-C9E3A1360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Format Blocks to Same Size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last block you select is used as the formatting reference. All other selected blocks will be formatted to match it.</a:t>
            </a:r>
            <a:endParaRPr lang="en-US" sz="1200" dirty="0"/>
          </a:p>
        </p:txBody>
      </p:sp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F1786C8F-86F2-0AB2-B16C-698870F4AA1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45768"/>
          <a:stretch>
            <a:fillRect/>
          </a:stretch>
        </p:blipFill>
        <p:spPr>
          <a:xfrm>
            <a:off x="6721738" y="2043113"/>
            <a:ext cx="4406374" cy="4367212"/>
          </a:xfrm>
          <a:prstGeom prst="rect">
            <a:avLst/>
          </a:prstGeom>
        </p:spPr>
      </p:pic>
      <p:pic>
        <p:nvPicPr>
          <p:cNvPr id="21" name="Content Placeholder 13">
            <a:extLst>
              <a:ext uri="{FF2B5EF4-FFF2-40B4-BE49-F238E27FC236}">
                <a16:creationId xmlns:a16="http://schemas.microsoft.com/office/drawing/2014/main" id="{C4150920-A959-EB72-CE1C-6601A95368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6063"/>
          <a:stretch>
            <a:fillRect/>
          </a:stretch>
        </p:blipFill>
        <p:spPr>
          <a:xfrm>
            <a:off x="1016341" y="2043113"/>
            <a:ext cx="4382406" cy="4367212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D746D945-4A6C-A7CE-F84A-9B3DC962518A}"/>
              </a:ext>
            </a:extLst>
          </p:cNvPr>
          <p:cNvSpPr/>
          <p:nvPr/>
        </p:nvSpPr>
        <p:spPr>
          <a:xfrm>
            <a:off x="10313193" y="2466694"/>
            <a:ext cx="139173" cy="1550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185930E-1A81-01E4-3215-C47BB2D9A042}"/>
              </a:ext>
            </a:extLst>
          </p:cNvPr>
          <p:cNvCxnSpPr>
            <a:cxnSpLocks/>
          </p:cNvCxnSpPr>
          <p:nvPr/>
        </p:nvCxnSpPr>
        <p:spPr>
          <a:xfrm flipV="1">
            <a:off x="10375106" y="2621756"/>
            <a:ext cx="0" cy="4833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64D59E0F-CD1A-FFBC-CEC6-F038894E36E6}"/>
              </a:ext>
            </a:extLst>
          </p:cNvPr>
          <p:cNvSpPr/>
          <p:nvPr/>
        </p:nvSpPr>
        <p:spPr>
          <a:xfrm>
            <a:off x="3536544" y="4790982"/>
            <a:ext cx="875436" cy="12798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DACEC74-E7DF-4C72-FBB8-B5FE24265D61}"/>
              </a:ext>
            </a:extLst>
          </p:cNvPr>
          <p:cNvSpPr/>
          <p:nvPr/>
        </p:nvSpPr>
        <p:spPr>
          <a:xfrm>
            <a:off x="3536544" y="4157221"/>
            <a:ext cx="1121903" cy="6337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B2B2B2-C7C1-4B47-2DC5-E95F46026AA7}"/>
              </a:ext>
            </a:extLst>
          </p:cNvPr>
          <p:cNvSpPr txBox="1"/>
          <p:nvPr/>
        </p:nvSpPr>
        <p:spPr>
          <a:xfrm>
            <a:off x="1353334" y="5462154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1F5D0D5-8D08-5813-04E4-138A372C185C}"/>
              </a:ext>
            </a:extLst>
          </p:cNvPr>
          <p:cNvSpPr txBox="1"/>
          <p:nvPr/>
        </p:nvSpPr>
        <p:spPr>
          <a:xfrm>
            <a:off x="2190045" y="3765915"/>
            <a:ext cx="339541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Shift Hold Select Block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B63DCC4-81D6-69DC-15E0-4C37E307EAD5}"/>
              </a:ext>
            </a:extLst>
          </p:cNvPr>
          <p:cNvCxnSpPr>
            <a:cxnSpLocks/>
          </p:cNvCxnSpPr>
          <p:nvPr/>
        </p:nvCxnSpPr>
        <p:spPr>
          <a:xfrm flipV="1">
            <a:off x="2453640" y="5247797"/>
            <a:ext cx="1082904" cy="1831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2266AE2-C288-8B0F-A45E-196873DC0A6D}"/>
              </a:ext>
            </a:extLst>
          </p:cNvPr>
          <p:cNvCxnSpPr>
            <a:cxnSpLocks/>
          </p:cNvCxnSpPr>
          <p:nvPr/>
        </p:nvCxnSpPr>
        <p:spPr>
          <a:xfrm>
            <a:off x="2644140" y="4074146"/>
            <a:ext cx="892404" cy="2822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3" name="Left Brace 52">
            <a:extLst>
              <a:ext uri="{FF2B5EF4-FFF2-40B4-BE49-F238E27FC236}">
                <a16:creationId xmlns:a16="http://schemas.microsoft.com/office/drawing/2014/main" id="{2152F052-481D-984F-103D-D907AAE79C8E}"/>
              </a:ext>
            </a:extLst>
          </p:cNvPr>
          <p:cNvSpPr/>
          <p:nvPr/>
        </p:nvSpPr>
        <p:spPr>
          <a:xfrm>
            <a:off x="9147923" y="4157221"/>
            <a:ext cx="325701" cy="1913641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74B9960-8417-30A2-8ED6-D3A75529D3A7}"/>
              </a:ext>
            </a:extLst>
          </p:cNvPr>
          <p:cNvSpPr txBox="1"/>
          <p:nvPr/>
        </p:nvSpPr>
        <p:spPr>
          <a:xfrm>
            <a:off x="7370340" y="5109297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360F3E2-0B7E-BF05-9532-BC552884F7A9}"/>
              </a:ext>
            </a:extLst>
          </p:cNvPr>
          <p:cNvSpPr txBox="1"/>
          <p:nvPr/>
        </p:nvSpPr>
        <p:spPr>
          <a:xfrm>
            <a:off x="9673696" y="3170433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 Align</a:t>
            </a:r>
          </a:p>
        </p:txBody>
      </p:sp>
    </p:spTree>
    <p:extLst>
      <p:ext uri="{BB962C8B-B14F-4D97-AF65-F5344CB8AC3E}">
        <p14:creationId xmlns:p14="http://schemas.microsoft.com/office/powerpoint/2010/main" val="24312074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BCD90-EDBA-FF23-8323-CBB94C3B5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Content Placeholder 63">
            <a:extLst>
              <a:ext uri="{FF2B5EF4-FFF2-40B4-BE49-F238E27FC236}">
                <a16:creationId xmlns:a16="http://schemas.microsoft.com/office/drawing/2014/main" id="{43F5996E-17F5-6CA6-5F0C-A3D598DFF5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5333"/>
          <a:stretch>
            <a:fillRect/>
          </a:stretch>
        </p:blipFill>
        <p:spPr>
          <a:xfrm>
            <a:off x="446051" y="2043113"/>
            <a:ext cx="3629226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9A8C4C4-EE7B-031E-99AF-D3A803DB6E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624952"/>
            <a:ext cx="5623560" cy="365760"/>
          </a:xfrm>
        </p:spPr>
        <p:txBody>
          <a:bodyPr/>
          <a:lstStyle/>
          <a:p>
            <a:r>
              <a:rPr lang="en-US" dirty="0"/>
              <a:t>Step 2. Update Constant Block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C700BB7-F0B2-0248-B7EC-2A4DD22819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Update Gain block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1781E4D-BF09-30FF-17ED-2ED433B3A1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7FF7E2F-C17A-83C8-624C-56F8D8A32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Update Parameters: COEFF_B &amp; COEFF_C</a:t>
            </a:r>
            <a:endParaRPr lang="en-US" sz="1200" dirty="0"/>
          </a:p>
        </p:txBody>
      </p:sp>
      <p:pic>
        <p:nvPicPr>
          <p:cNvPr id="20" name="Content Placeholder 9">
            <a:extLst>
              <a:ext uri="{FF2B5EF4-FFF2-40B4-BE49-F238E27FC236}">
                <a16:creationId xmlns:a16="http://schemas.microsoft.com/office/drawing/2014/main" id="{D5522F12-777A-EC96-0111-E0DB87DFCE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528" r="-342"/>
          <a:stretch>
            <a:fillRect/>
          </a:stretch>
        </p:blipFill>
        <p:spPr>
          <a:xfrm>
            <a:off x="4071422" y="2043113"/>
            <a:ext cx="1366125" cy="4367212"/>
          </a:xfrm>
          <a:prstGeom prst="rect">
            <a:avLst/>
          </a:prstGeom>
        </p:spPr>
      </p:pic>
      <p:pic>
        <p:nvPicPr>
          <p:cNvPr id="26" name="Content Placeholder 14">
            <a:extLst>
              <a:ext uri="{FF2B5EF4-FFF2-40B4-BE49-F238E27FC236}">
                <a16:creationId xmlns:a16="http://schemas.microsoft.com/office/drawing/2014/main" id="{61442044-767E-E371-F2EC-E5FBF6189E9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55759"/>
          <a:stretch>
            <a:fillRect/>
          </a:stretch>
        </p:blipFill>
        <p:spPr>
          <a:xfrm>
            <a:off x="6113356" y="2043113"/>
            <a:ext cx="3594601" cy="4367212"/>
          </a:xfrm>
          <a:prstGeom prst="rect">
            <a:avLst/>
          </a:prstGeom>
        </p:spPr>
      </p:pic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FC1CA6D1-C89A-49D6-1ECA-3D220B8484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187" r="-1"/>
          <a:stretch>
            <a:fillRect/>
          </a:stretch>
        </p:blipFill>
        <p:spPr>
          <a:xfrm>
            <a:off x="9707957" y="2043113"/>
            <a:ext cx="1366125" cy="4367212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F12545E0-B4D1-5EDE-71A1-03158269F0BD}"/>
              </a:ext>
            </a:extLst>
          </p:cNvPr>
          <p:cNvSpPr/>
          <p:nvPr/>
        </p:nvSpPr>
        <p:spPr>
          <a:xfrm>
            <a:off x="3026003" y="4790982"/>
            <a:ext cx="945921" cy="6192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8ED329D-431A-6032-B792-0C4B6F7CCC01}"/>
              </a:ext>
            </a:extLst>
          </p:cNvPr>
          <p:cNvSpPr/>
          <p:nvPr/>
        </p:nvSpPr>
        <p:spPr>
          <a:xfrm>
            <a:off x="4075277" y="2943132"/>
            <a:ext cx="1381124" cy="3239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DB32E6D-50CC-5F20-6CD0-EAE5A04A4CF7}"/>
              </a:ext>
            </a:extLst>
          </p:cNvPr>
          <p:cNvSpPr/>
          <p:nvPr/>
        </p:nvSpPr>
        <p:spPr>
          <a:xfrm>
            <a:off x="9707957" y="2943132"/>
            <a:ext cx="1381124" cy="3239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0B8767D-D891-B0C2-9AFC-357B609D3B66}"/>
              </a:ext>
            </a:extLst>
          </p:cNvPr>
          <p:cNvSpPr/>
          <p:nvPr/>
        </p:nvSpPr>
        <p:spPr>
          <a:xfrm>
            <a:off x="8769535" y="5410200"/>
            <a:ext cx="945921" cy="6192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88326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D6F0D-5783-3D48-7656-27C17DED6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Content Placeholder 33">
            <a:extLst>
              <a:ext uri="{FF2B5EF4-FFF2-40B4-BE49-F238E27FC236}">
                <a16:creationId xmlns:a16="http://schemas.microsoft.com/office/drawing/2014/main" id="{5507B908-8574-19FE-F6C3-B13CB136037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46726"/>
          <a:stretch>
            <a:fillRect/>
          </a:stretch>
        </p:blipFill>
        <p:spPr>
          <a:xfrm>
            <a:off x="6113356" y="2043113"/>
            <a:ext cx="4328455" cy="4367212"/>
          </a:xfrm>
          <a:prstGeom prst="rect">
            <a:avLst/>
          </a:prstGeom>
        </p:spPr>
      </p:pic>
      <p:pic>
        <p:nvPicPr>
          <p:cNvPr id="35" name="Content Placeholder 33">
            <a:extLst>
              <a:ext uri="{FF2B5EF4-FFF2-40B4-BE49-F238E27FC236}">
                <a16:creationId xmlns:a16="http://schemas.microsoft.com/office/drawing/2014/main" id="{0DAAAE56-6051-F24E-E423-A62E3A2CF6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89" r="45"/>
          <a:stretch>
            <a:fillRect/>
          </a:stretch>
        </p:blipFill>
        <p:spPr>
          <a:xfrm>
            <a:off x="10363052" y="2040898"/>
            <a:ext cx="1329762" cy="4367212"/>
          </a:xfrm>
          <a:prstGeom prst="rect">
            <a:avLst/>
          </a:prstGeom>
        </p:spPr>
      </p:pic>
      <p:pic>
        <p:nvPicPr>
          <p:cNvPr id="13" name="Content Placeholder 3">
            <a:extLst>
              <a:ext uri="{FF2B5EF4-FFF2-40B4-BE49-F238E27FC236}">
                <a16:creationId xmlns:a16="http://schemas.microsoft.com/office/drawing/2014/main" id="{FB279468-86BF-E068-F166-D5C855DA49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555" r="30"/>
          <a:stretch>
            <a:fillRect/>
          </a:stretch>
        </p:blipFill>
        <p:spPr>
          <a:xfrm>
            <a:off x="4380272" y="2040898"/>
            <a:ext cx="1333752" cy="4367212"/>
          </a:xfrm>
          <a:prstGeom prst="rect">
            <a:avLst/>
          </a:prstGeom>
        </p:spPr>
      </p:pic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BB2BCB9-CC9F-205A-2B45-0C58FD7177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8032"/>
          <a:stretch>
            <a:fillRect/>
          </a:stretch>
        </p:blipFill>
        <p:spPr>
          <a:xfrm>
            <a:off x="186316" y="2040898"/>
            <a:ext cx="422242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332928F-FA46-2AF5-B9D5-AA2F64057C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A1E210B-5DAE-9590-FB0D-8F47B2676AA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CF7F559-D476-86D7-5178-F3D750A20DD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F49A6D2-A741-B216-3513-998D4E4CE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coeffA_t_squared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69F0E7C-07AC-EE5F-E2BF-AA085D435A5D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B76ADA-5C88-EB13-5230-AFBB05AC6D1D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9902799-7195-7858-7617-8B46238B5AAF}"/>
              </a:ext>
            </a:extLst>
          </p:cNvPr>
          <p:cNvSpPr/>
          <p:nvPr/>
        </p:nvSpPr>
        <p:spPr>
          <a:xfrm>
            <a:off x="4408739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F5D0FF8-B410-0CD5-7E8B-7F85392C5761}"/>
              </a:ext>
            </a:extLst>
          </p:cNvPr>
          <p:cNvCxnSpPr>
            <a:cxnSpLocks/>
          </p:cNvCxnSpPr>
          <p:nvPr/>
        </p:nvCxnSpPr>
        <p:spPr>
          <a:xfrm>
            <a:off x="3836706" y="3979407"/>
            <a:ext cx="0" cy="4901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B86B066-4F66-D600-5AC5-362CBC79CB5E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2F97DEC-D68B-F51D-9CA4-278771457DCD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57965DF-BD94-1F7D-C3D2-AB6D461EA199}"/>
              </a:ext>
            </a:extLst>
          </p:cNvPr>
          <p:cNvCxnSpPr>
            <a:cxnSpLocks/>
          </p:cNvCxnSpPr>
          <p:nvPr/>
        </p:nvCxnSpPr>
        <p:spPr>
          <a:xfrm>
            <a:off x="5015059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EFD9342-B0F7-BBCB-54AC-6237E006ADBA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FDFE505-8584-FBE1-F9FB-44879395A86F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4901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718751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868C1-25CF-FE87-6A64-CF5096481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7C0DE909-EA22-6442-5A87-EB2EBE473FD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437"/>
          <a:stretch>
            <a:fillRect/>
          </a:stretch>
        </p:blipFill>
        <p:spPr>
          <a:xfrm>
            <a:off x="6113356" y="2043113"/>
            <a:ext cx="4433268" cy="4367212"/>
          </a:xfrm>
          <a:prstGeom prst="rect">
            <a:avLst/>
          </a:prstGeom>
        </p:spPr>
      </p:pic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39F1F1D9-A92F-63E1-6280-DCA5AD634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33" r="301"/>
          <a:stretch>
            <a:fillRect/>
          </a:stretch>
        </p:blipFill>
        <p:spPr>
          <a:xfrm>
            <a:off x="10366347" y="2050423"/>
            <a:ext cx="1329762" cy="4367212"/>
          </a:xfrm>
          <a:prstGeom prst="rect">
            <a:avLst/>
          </a:prstGeom>
        </p:spPr>
      </p:pic>
      <p:pic>
        <p:nvPicPr>
          <p:cNvPr id="12" name="Content Placeholder 3">
            <a:extLst>
              <a:ext uri="{FF2B5EF4-FFF2-40B4-BE49-F238E27FC236}">
                <a16:creationId xmlns:a16="http://schemas.microsoft.com/office/drawing/2014/main" id="{EC5A9019-8618-7095-C35A-FEDA8AE5AE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6499"/>
          <a:stretch>
            <a:fillRect/>
          </a:stretch>
        </p:blipFill>
        <p:spPr>
          <a:xfrm>
            <a:off x="186316" y="2043113"/>
            <a:ext cx="4346980" cy="4367212"/>
          </a:xfrm>
          <a:prstGeom prst="rect">
            <a:avLst/>
          </a:prstGeom>
        </p:spPr>
      </p:pic>
      <p:pic>
        <p:nvPicPr>
          <p:cNvPr id="14" name="Content Placeholder 3">
            <a:extLst>
              <a:ext uri="{FF2B5EF4-FFF2-40B4-BE49-F238E27FC236}">
                <a16:creationId xmlns:a16="http://schemas.microsoft.com/office/drawing/2014/main" id="{D8CD7667-B4D6-92C9-6E4F-6CDC032135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42" r="-157"/>
          <a:stretch>
            <a:fillRect/>
          </a:stretch>
        </p:blipFill>
        <p:spPr>
          <a:xfrm>
            <a:off x="4533226" y="2042803"/>
            <a:ext cx="1333752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FF5AE7B-5935-4164-8922-03A8A8BCA0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E8F6E6-727F-C58C-ABA2-360C9DE7BE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2D7802D-6650-6D9B-AAB1-48A7820A8C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54A484C-8C52-94BE-DA92-7CA567822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neg_4t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C22268-11F6-B1AF-4CCB-C084B47F11A6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CC82BDD-38C8-A623-6A94-18E5A8087234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9B646D2-148B-7AFD-BE79-61341A220097}"/>
              </a:ext>
            </a:extLst>
          </p:cNvPr>
          <p:cNvSpPr/>
          <p:nvPr/>
        </p:nvSpPr>
        <p:spPr>
          <a:xfrm>
            <a:off x="4539141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633CDB0-1B18-EB27-8263-410352798A64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1034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C47DBC4-097D-EF45-B92C-0D080C0D5766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1ABD57E8-B9DD-3033-EF91-FF023F22555B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728689C-FBD1-F954-5431-6C2A11EC43D1}"/>
              </a:ext>
            </a:extLst>
          </p:cNvPr>
          <p:cNvCxnSpPr>
            <a:cxnSpLocks/>
          </p:cNvCxnSpPr>
          <p:nvPr/>
        </p:nvCxnSpPr>
        <p:spPr>
          <a:xfrm>
            <a:off x="5145461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A540196-DE9F-B4E2-183F-35998B84C6E5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DB3D8A1-960A-6901-7E11-ECD1C9442251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34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918447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0F3F5-D2E6-51C1-F987-6AE902424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Content Placeholder 29">
            <a:extLst>
              <a:ext uri="{FF2B5EF4-FFF2-40B4-BE49-F238E27FC236}">
                <a16:creationId xmlns:a16="http://schemas.microsoft.com/office/drawing/2014/main" id="{447B048C-71DA-5436-5C7C-3FEB87CC755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72"/>
          <a:stretch>
            <a:fillRect/>
          </a:stretch>
        </p:blipFill>
        <p:spPr>
          <a:xfrm>
            <a:off x="6113356" y="2043113"/>
            <a:ext cx="4332924" cy="4367212"/>
          </a:xfrm>
          <a:prstGeom prst="rect">
            <a:avLst/>
          </a:prstGeom>
        </p:spPr>
      </p:pic>
      <p:pic>
        <p:nvPicPr>
          <p:cNvPr id="35" name="Content Placeholder 29">
            <a:extLst>
              <a:ext uri="{FF2B5EF4-FFF2-40B4-BE49-F238E27FC236}">
                <a16:creationId xmlns:a16="http://schemas.microsoft.com/office/drawing/2014/main" id="{64D0F88D-1FB0-F803-19DC-3671F829D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86" r="448"/>
          <a:stretch>
            <a:fillRect/>
          </a:stretch>
        </p:blipFill>
        <p:spPr>
          <a:xfrm>
            <a:off x="10357208" y="2043113"/>
            <a:ext cx="1329763" cy="4367212"/>
          </a:xfrm>
          <a:prstGeom prst="rect">
            <a:avLst/>
          </a:prstGeom>
        </p:spPr>
      </p:pic>
      <p:pic>
        <p:nvPicPr>
          <p:cNvPr id="16" name="Content Placeholder 10">
            <a:extLst>
              <a:ext uri="{FF2B5EF4-FFF2-40B4-BE49-F238E27FC236}">
                <a16:creationId xmlns:a16="http://schemas.microsoft.com/office/drawing/2014/main" id="{3D036F95-F44A-31BE-65A2-DC3490AF8F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562"/>
          <a:stretch>
            <a:fillRect/>
          </a:stretch>
        </p:blipFill>
        <p:spPr>
          <a:xfrm>
            <a:off x="395818" y="2043113"/>
            <a:ext cx="4341862" cy="4367212"/>
          </a:xfrm>
          <a:prstGeom prst="rect">
            <a:avLst/>
          </a:prstGeom>
        </p:spPr>
      </p:pic>
      <p:pic>
        <p:nvPicPr>
          <p:cNvPr id="17" name="Content Placeholder 10">
            <a:extLst>
              <a:ext uri="{FF2B5EF4-FFF2-40B4-BE49-F238E27FC236}">
                <a16:creationId xmlns:a16="http://schemas.microsoft.com/office/drawing/2014/main" id="{A71BAA48-DBF4-BF03-6BAC-861012BC8F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941" r="584"/>
          <a:stretch>
            <a:fillRect/>
          </a:stretch>
        </p:blipFill>
        <p:spPr>
          <a:xfrm>
            <a:off x="4626056" y="2043113"/>
            <a:ext cx="1257297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18C8CF9-8EA2-17B2-2E8B-899E447F67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2CAA1EA-541B-60DB-77A8-0DA1B3EDBE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CFBE855-6788-108E-1B6F-EDA4013F7B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A05AC0-1F98-646F-6B2F-4232A3DA8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const_21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E70B602-C586-A749-2F98-1A484E99D907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E53DFC7-7D57-3EE2-FF30-C2D55E948FAB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0CF691D-8235-FB13-78DA-BC365B460E4A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6F137FE-770A-0FBC-9088-36DB9F1096B1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16212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A46BC20-D7E8-07FA-6546-D0A332E5DC17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9170075-92A1-C12B-8407-2EAE29EE2E67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4DE7027-5369-2D87-7360-B9F235545456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10F89CE-8643-5861-B50A-13C29AEE945E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77B4BF-D994-F6DE-7043-C25F3AA31C9F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6212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396969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80750-DC0E-AF87-2956-49CAD4BB1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5DAD28C6-0235-DBCA-9FDE-B095005D3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12" r="-193"/>
          <a:stretch>
            <a:fillRect/>
          </a:stretch>
        </p:blipFill>
        <p:spPr>
          <a:xfrm>
            <a:off x="10357208" y="2043113"/>
            <a:ext cx="1371601" cy="4367212"/>
          </a:xfrm>
          <a:prstGeom prst="rect">
            <a:avLst/>
          </a:prstGeom>
        </p:spPr>
      </p:pic>
      <p:pic>
        <p:nvPicPr>
          <p:cNvPr id="21" name="Content Placeholder 25">
            <a:extLst>
              <a:ext uri="{FF2B5EF4-FFF2-40B4-BE49-F238E27FC236}">
                <a16:creationId xmlns:a16="http://schemas.microsoft.com/office/drawing/2014/main" id="{CC0EBDC0-4694-E32B-E7B6-E98D81E013E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24" r="34894"/>
          <a:stretch>
            <a:fillRect/>
          </a:stretch>
        </p:blipFill>
        <p:spPr>
          <a:xfrm>
            <a:off x="6096000" y="2043113"/>
            <a:ext cx="4296630" cy="4367212"/>
          </a:xfrm>
          <a:prstGeom prst="rect">
            <a:avLst/>
          </a:prstGeom>
        </p:spPr>
      </p:pic>
      <p:pic>
        <p:nvPicPr>
          <p:cNvPr id="12" name="Content Placeholder 10">
            <a:extLst>
              <a:ext uri="{FF2B5EF4-FFF2-40B4-BE49-F238E27FC236}">
                <a16:creationId xmlns:a16="http://schemas.microsoft.com/office/drawing/2014/main" id="{99A85653-822B-6047-D257-5107EE8E22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67" r="36108"/>
          <a:stretch>
            <a:fillRect/>
          </a:stretch>
        </p:blipFill>
        <p:spPr>
          <a:xfrm>
            <a:off x="395817" y="2043113"/>
            <a:ext cx="4210903" cy="4367212"/>
          </a:xfrm>
          <a:prstGeom prst="rect">
            <a:avLst/>
          </a:prstGeom>
        </p:spPr>
      </p:pic>
      <p:pic>
        <p:nvPicPr>
          <p:cNvPr id="14" name="Content Placeholder 10">
            <a:extLst>
              <a:ext uri="{FF2B5EF4-FFF2-40B4-BE49-F238E27FC236}">
                <a16:creationId xmlns:a16="http://schemas.microsoft.com/office/drawing/2014/main" id="{15C10678-8C15-901A-0725-5FE857DF49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62" r="72"/>
          <a:stretch>
            <a:fillRect/>
          </a:stretch>
        </p:blipFill>
        <p:spPr>
          <a:xfrm>
            <a:off x="4575732" y="2043113"/>
            <a:ext cx="132976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DCAE106-820F-7CA0-66C7-76615535C0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C48BE4E-2F53-900C-D930-2F1BFEC29D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F17B13A-9A63-4715-51F8-89A755BE91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E9B3398-9698-EE52-F796-383F2E0A9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</a:t>
            </a:r>
            <a:r>
              <a:rPr lang="en-US" dirty="0" err="1"/>
              <a:t>y_raw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C745EC-9762-8452-2B7D-4F2A73503490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DFBCCE8-30ED-524F-7AB8-3B1ABF47DC83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F98BAB3-32FD-680B-DE59-356982E0885C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1A72A4A-8F9E-E16B-90DB-4A8FC43E6800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9640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32739F1-2C68-4F97-F53E-9D8524C7CE2C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D23CB14-62C5-4207-04CB-749747193501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9FB7C23-FE4B-F1EA-DF11-2B1E42CB7397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7F110D8-BA88-6FC1-9269-FF7848659080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693711B-ADDA-0429-6F86-502AF6AB6253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402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710466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AD6C7-A479-5C9F-A2B3-DED10837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18CAB177-1644-16C2-F4B7-1BF714846A6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72" r="23072"/>
          <a:stretch>
            <a:fillRect/>
          </a:stretch>
        </p:blipFill>
        <p:spPr>
          <a:xfrm>
            <a:off x="6440640" y="2043113"/>
            <a:ext cx="3920821" cy="4367212"/>
          </a:xfrm>
          <a:prstGeom prst="rect">
            <a:avLst/>
          </a:prstGeom>
        </p:spPr>
      </p:pic>
      <p:pic>
        <p:nvPicPr>
          <p:cNvPr id="30" name="Content Placeholder 24">
            <a:extLst>
              <a:ext uri="{FF2B5EF4-FFF2-40B4-BE49-F238E27FC236}">
                <a16:creationId xmlns:a16="http://schemas.microsoft.com/office/drawing/2014/main" id="{D7205DCA-B298-7793-57EF-587AE4CFD3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59" r="21"/>
          <a:stretch>
            <a:fillRect/>
          </a:stretch>
        </p:blipFill>
        <p:spPr>
          <a:xfrm>
            <a:off x="10357208" y="2043113"/>
            <a:ext cx="1326100" cy="4367212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4CDD5D6-344A-CA2A-30BD-F66EB720E0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38" r="23072"/>
          <a:stretch>
            <a:fillRect/>
          </a:stretch>
        </p:blipFill>
        <p:spPr>
          <a:xfrm>
            <a:off x="395817" y="2043113"/>
            <a:ext cx="4183549" cy="4367212"/>
          </a:xfrm>
          <a:prstGeom prst="rect">
            <a:avLst/>
          </a:prstGeom>
        </p:spPr>
      </p:pic>
      <p:pic>
        <p:nvPicPr>
          <p:cNvPr id="14" name="Content Placeholder 10">
            <a:extLst>
              <a:ext uri="{FF2B5EF4-FFF2-40B4-BE49-F238E27FC236}">
                <a16:creationId xmlns:a16="http://schemas.microsoft.com/office/drawing/2014/main" id="{B73BC5DC-09D4-C28A-CA91-A3A6B1DEC2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62" r="72"/>
          <a:stretch>
            <a:fillRect/>
          </a:stretch>
        </p:blipFill>
        <p:spPr>
          <a:xfrm>
            <a:off x="4575732" y="2043113"/>
            <a:ext cx="132976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9DC89D5-D262-73EF-E040-D681630C2A4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AEF6A2B-7075-F02F-5559-5A760C99D0A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C769E4-E5D3-1993-3120-D57017D816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1EE2044-486F-A20F-0B06-8C814573E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09400A-2769-0978-09D8-F3ADB0EF4D78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E14C647-FC01-FD62-3BAD-003F941A97F4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D6245EA-EB23-DF52-3B32-E958D005E709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C2DBEBB-2D15-9128-708E-B6493B26E99B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9640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C107323-3FA3-C69B-52FB-C211C37FD1DA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005AE4A3-D53D-10DE-C7E0-390400B842BE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CAD2AA7-E99D-8B20-CCE9-625431263638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9E6942F-23DE-AB67-F4D1-AA078CC2DC49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72A5BA6-DA62-9309-5B68-23D071CCD0AE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402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165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BB10BEDC-AAEE-B70D-4CC0-5FABBA569C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43BE471-7646-15C1-3448-728DDE9ECE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5CEB47-9DD0-DF7A-C744-0AC335FE7B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24C0B9-B0D0-E958-D626-486EB492444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F0A180-3696-BE47-4152-536EF6977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5F4464-07EE-C95C-7502-E60274A6A169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F73FE39-5312-6A86-D8E2-DE2619F8A1BF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A3B8A1C-1A79-A68A-6411-B9638ECC66A5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5792AD4D-D001-0748-BA38-717D66CC4A98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E0E17C70-2FBB-21CF-304B-47DB0C26457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75186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CD065-67AD-3876-76CD-E6ED395C2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F6728D0-4990-6D72-9AAA-A070E3064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Configuration</a:t>
            </a:r>
          </a:p>
        </p:txBody>
      </p:sp>
    </p:spTree>
    <p:extLst>
      <p:ext uri="{BB962C8B-B14F-4D97-AF65-F5344CB8AC3E}">
        <p14:creationId xmlns:p14="http://schemas.microsoft.com/office/powerpoint/2010/main" val="95973979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5AFA3-817D-41C6-4786-CEFEE98E2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BA4AA3-8B15-9F21-FDF7-783742459A8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E21E8C-5B96-8CDF-FD7B-E185DDC21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349DC8-57C5-0E07-A6EE-B41C1FA7D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Settings		Edit</a:t>
            </a:r>
          </a:p>
        </p:txBody>
      </p:sp>
    </p:spTree>
    <p:extLst>
      <p:ext uri="{BB962C8B-B14F-4D97-AF65-F5344CB8AC3E}">
        <p14:creationId xmlns:p14="http://schemas.microsoft.com/office/powerpoint/2010/main" val="411534438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C692F250-25B8-C9EB-3F11-8D599EB563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opened Model Configuration.</a:t>
            </a:r>
          </a:p>
        </p:txBody>
      </p:sp>
      <p:sp>
        <p:nvSpPr>
          <p:cNvPr id="60" name="Text Placeholder 59">
            <a:extLst>
              <a:ext uri="{FF2B5EF4-FFF2-40B4-BE49-F238E27FC236}">
                <a16:creationId xmlns:a16="http://schemas.microsoft.com/office/drawing/2014/main" id="{BDBA2CDD-89D7-2E44-F9FD-21790DD22E8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Model Settings</a:t>
            </a:r>
          </a:p>
        </p:txBody>
      </p:sp>
      <p:sp>
        <p:nvSpPr>
          <p:cNvPr id="59" name="Text Placeholder 58">
            <a:extLst>
              <a:ext uri="{FF2B5EF4-FFF2-40B4-BE49-F238E27FC236}">
                <a16:creationId xmlns:a16="http://schemas.microsoft.com/office/drawing/2014/main" id="{2F2FF527-7D67-0020-6750-AD27426A1A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58" name="Title 57">
            <a:extLst>
              <a:ext uri="{FF2B5EF4-FFF2-40B4-BE49-F238E27FC236}">
                <a16:creationId xmlns:a16="http://schemas.microsoft.com/office/drawing/2014/main" id="{FAC50DE8-3B40-5A9A-0833-59A39980F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Model Configurations (Part 1)</a:t>
            </a:r>
          </a:p>
        </p:txBody>
      </p:sp>
      <p:pic>
        <p:nvPicPr>
          <p:cNvPr id="64" name="Content Placeholder 53">
            <a:extLst>
              <a:ext uri="{FF2B5EF4-FFF2-40B4-BE49-F238E27FC236}">
                <a16:creationId xmlns:a16="http://schemas.microsoft.com/office/drawing/2014/main" id="{9A6B6D03-01B6-F361-7354-CDB7F89EDCC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2592" t="23359" r="29977" b="6298"/>
          <a:stretch>
            <a:fillRect/>
          </a:stretch>
        </p:blipFill>
        <p:spPr>
          <a:xfrm>
            <a:off x="6185640" y="2043113"/>
            <a:ext cx="5478570" cy="4367212"/>
          </a:xfrm>
          <a:prstGeom prst="rect">
            <a:avLst/>
          </a:prstGeom>
        </p:spPr>
      </p:pic>
      <p:pic>
        <p:nvPicPr>
          <p:cNvPr id="70" name="Content Placeholder 66">
            <a:extLst>
              <a:ext uri="{FF2B5EF4-FFF2-40B4-BE49-F238E27FC236}">
                <a16:creationId xmlns:a16="http://schemas.microsoft.com/office/drawing/2014/main" id="{6B28507E-70AC-6A98-3D63-DB5BB8933F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68480" b="82233"/>
          <a:stretch>
            <a:fillRect/>
          </a:stretch>
        </p:blipFill>
        <p:spPr>
          <a:xfrm>
            <a:off x="395288" y="2043113"/>
            <a:ext cx="5624512" cy="1704084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422E07C9-E2F5-CF5D-929A-DE0BD69285C3}"/>
              </a:ext>
            </a:extLst>
          </p:cNvPr>
          <p:cNvSpPr/>
          <p:nvPr/>
        </p:nvSpPr>
        <p:spPr>
          <a:xfrm>
            <a:off x="4967926" y="2522530"/>
            <a:ext cx="725864" cy="9064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26B93BD-71A0-DC51-EDD1-E320C61D17D3}"/>
              </a:ext>
            </a:extLst>
          </p:cNvPr>
          <p:cNvCxnSpPr>
            <a:cxnSpLocks/>
          </p:cNvCxnSpPr>
          <p:nvPr/>
        </p:nvCxnSpPr>
        <p:spPr>
          <a:xfrm>
            <a:off x="5339660" y="1772239"/>
            <a:ext cx="0" cy="7502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6341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6BB7D1-340A-25B1-C7D2-1A659A8F1E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Stop time after clicking apply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20B510-AC28-DB66-DDB9-4A18226CDC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 Update Model Configuration Settings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606EA-2EBC-A6C5-1868-52F123A1A0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42F2971-54BB-0C0D-FE6B-2A72FA9E4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Model Configurations (Part 2)</a:t>
            </a:r>
          </a:p>
        </p:txBody>
      </p:sp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A025A954-D700-2C12-A357-484BC33BD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9593" y="2043113"/>
            <a:ext cx="5535902" cy="436721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B6EC734-2095-1C87-08EF-D481E2D6A931}"/>
              </a:ext>
            </a:extLst>
          </p:cNvPr>
          <p:cNvCxnSpPr>
            <a:cxnSpLocks/>
          </p:cNvCxnSpPr>
          <p:nvPr/>
        </p:nvCxnSpPr>
        <p:spPr>
          <a:xfrm flipH="1">
            <a:off x="4742368" y="2796602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95A9C6-E356-CA6C-1154-E6F2DB685E8E}"/>
              </a:ext>
            </a:extLst>
          </p:cNvPr>
          <p:cNvCxnSpPr>
            <a:cxnSpLocks/>
          </p:cNvCxnSpPr>
          <p:nvPr/>
        </p:nvCxnSpPr>
        <p:spPr>
          <a:xfrm flipH="1">
            <a:off x="4742368" y="3231806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CB26BF9-8CB8-0776-BDA7-C6C4D2B47A10}"/>
              </a:ext>
            </a:extLst>
          </p:cNvPr>
          <p:cNvCxnSpPr>
            <a:cxnSpLocks/>
          </p:cNvCxnSpPr>
          <p:nvPr/>
        </p:nvCxnSpPr>
        <p:spPr>
          <a:xfrm flipH="1">
            <a:off x="4742368" y="3732998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BDC3559-2FC4-AAAB-CDA5-DCEEB1D57EE3}"/>
              </a:ext>
            </a:extLst>
          </p:cNvPr>
          <p:cNvCxnSpPr>
            <a:cxnSpLocks/>
          </p:cNvCxnSpPr>
          <p:nvPr/>
        </p:nvCxnSpPr>
        <p:spPr>
          <a:xfrm flipV="1">
            <a:off x="1517715" y="3335468"/>
            <a:ext cx="637493" cy="3975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A264423-D565-095F-EF06-868F65592735}"/>
              </a:ext>
            </a:extLst>
          </p:cNvPr>
          <p:cNvSpPr txBox="1"/>
          <p:nvPr/>
        </p:nvSpPr>
        <p:spPr>
          <a:xfrm>
            <a:off x="522582" y="3732998"/>
            <a:ext cx="1168924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2. Set Type to Fixed-step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4E5424-91A7-AC90-A3DF-D48AAEA4C763}"/>
              </a:ext>
            </a:extLst>
          </p:cNvPr>
          <p:cNvSpPr txBox="1"/>
          <p:nvPr/>
        </p:nvSpPr>
        <p:spPr>
          <a:xfrm>
            <a:off x="3409359" y="2484649"/>
            <a:ext cx="228636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1. Set Type to 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8C9263-657F-630C-D7CF-A5BB656EEBD4}"/>
              </a:ext>
            </a:extLst>
          </p:cNvPr>
          <p:cNvSpPr txBox="1"/>
          <p:nvPr/>
        </p:nvSpPr>
        <p:spPr>
          <a:xfrm>
            <a:off x="3409359" y="2979250"/>
            <a:ext cx="242131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3. Set Solver to discrete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FE57C3-1C91-686A-F203-7442A09EFBE2}"/>
              </a:ext>
            </a:extLst>
          </p:cNvPr>
          <p:cNvSpPr txBox="1"/>
          <p:nvPr/>
        </p:nvSpPr>
        <p:spPr>
          <a:xfrm>
            <a:off x="3409359" y="3441900"/>
            <a:ext cx="242131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4. Set Fixed-step size to 0.25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B57960D-8493-5B0A-2B7A-6C0FCF611D8B}"/>
              </a:ext>
            </a:extLst>
          </p:cNvPr>
          <p:cNvCxnSpPr>
            <a:cxnSpLocks/>
          </p:cNvCxnSpPr>
          <p:nvPr/>
        </p:nvCxnSpPr>
        <p:spPr>
          <a:xfrm>
            <a:off x="5741609" y="5947132"/>
            <a:ext cx="0" cy="2274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3C6AE9B-ABC0-7682-CEF0-123EA506A5BB}"/>
              </a:ext>
            </a:extLst>
          </p:cNvPr>
          <p:cNvSpPr txBox="1"/>
          <p:nvPr/>
        </p:nvSpPr>
        <p:spPr>
          <a:xfrm>
            <a:off x="4568858" y="5724758"/>
            <a:ext cx="13716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5. Click Apply</a:t>
            </a:r>
          </a:p>
        </p:txBody>
      </p:sp>
      <p:pic>
        <p:nvPicPr>
          <p:cNvPr id="45" name="Content Placeholder 41">
            <a:extLst>
              <a:ext uri="{FF2B5EF4-FFF2-40B4-BE49-F238E27FC236}">
                <a16:creationId xmlns:a16="http://schemas.microsoft.com/office/drawing/2014/main" id="{91643041-145A-3B67-8593-8353EA9ECA1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54902" r="17100" b="82919"/>
          <a:stretch>
            <a:fillRect/>
          </a:stretch>
        </p:blipFill>
        <p:spPr>
          <a:xfrm>
            <a:off x="6364431" y="3387088"/>
            <a:ext cx="5120989" cy="1679262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E3C1D7-5022-AFB3-4B09-53B283C88E6A}"/>
              </a:ext>
            </a:extLst>
          </p:cNvPr>
          <p:cNvCxnSpPr>
            <a:cxnSpLocks/>
          </p:cNvCxnSpPr>
          <p:nvPr/>
        </p:nvCxnSpPr>
        <p:spPr>
          <a:xfrm>
            <a:off x="9513901" y="3361847"/>
            <a:ext cx="0" cy="5219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15CA643-8888-5B6B-696D-4A73BFD90FAC}"/>
              </a:ext>
            </a:extLst>
          </p:cNvPr>
          <p:cNvSpPr txBox="1"/>
          <p:nvPr/>
        </p:nvSpPr>
        <p:spPr>
          <a:xfrm>
            <a:off x="8341149" y="3139473"/>
            <a:ext cx="306528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1. Observe Stop Time was Updated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814FC7E-8921-21A8-76D0-51883F224EC8}"/>
              </a:ext>
            </a:extLst>
          </p:cNvPr>
          <p:cNvCxnSpPr/>
          <p:nvPr/>
        </p:nvCxnSpPr>
        <p:spPr>
          <a:xfrm>
            <a:off x="5373278" y="2796602"/>
            <a:ext cx="3855563" cy="1087241"/>
          </a:xfrm>
          <a:prstGeom prst="straightConnector1">
            <a:avLst/>
          </a:prstGeom>
          <a:ln>
            <a:solidFill>
              <a:srgbClr val="92D050"/>
            </a:solidFill>
            <a:prstDash val="sysDot"/>
            <a:headEnd type="arrow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646224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6C5DE-00DB-23CB-C54E-CE0C79536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4C10BA90-60B7-33BB-C51F-8DD1D8DC7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7B829F-BCF0-7A34-5DAF-613A801D94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DD9376-1647-D147-95F3-22E35ACE57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8555B1-5573-9B79-5DAC-4DF6226FFC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8720BF-6165-B77A-402A-2D2A9D23A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CC9B08-7356-BEAE-A394-59FB14F78F99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80A3C19-E2A8-C485-1CA0-A8170A038B24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911D6AE-ED94-B52D-4EA8-6570DCBEDF48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E4B51B4A-2ADC-D5CD-A864-D13EC2084C41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40D658D6-3FF9-7C63-8154-06FB434428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87299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3B1BC440-8EFC-10B7-71D6-146CE5CCBD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79588" b="78044"/>
          <a:stretch>
            <a:fillRect/>
          </a:stretch>
        </p:blipFill>
        <p:spPr>
          <a:xfrm>
            <a:off x="1340810" y="2794345"/>
            <a:ext cx="3733468" cy="215865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47047D-E895-FEBE-6072-5397F79AE354}"/>
              </a:ext>
            </a:extLst>
          </p:cNvPr>
          <p:cNvCxnSpPr>
            <a:cxnSpLocks/>
          </p:cNvCxnSpPr>
          <p:nvPr/>
        </p:nvCxnSpPr>
        <p:spPr>
          <a:xfrm flipV="1">
            <a:off x="4496387" y="3902697"/>
            <a:ext cx="0" cy="12537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DED6623-F460-98B5-A62D-0D87ECD255F2}"/>
              </a:ext>
            </a:extLst>
          </p:cNvPr>
          <p:cNvCxnSpPr>
            <a:cxnSpLocks/>
          </p:cNvCxnSpPr>
          <p:nvPr/>
        </p:nvCxnSpPr>
        <p:spPr>
          <a:xfrm flipV="1">
            <a:off x="3828655" y="3297447"/>
            <a:ext cx="0" cy="18590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644A58C-CD40-98A2-EAD3-F40728DACB7A}"/>
              </a:ext>
            </a:extLst>
          </p:cNvPr>
          <p:cNvSpPr txBox="1"/>
          <p:nvPr/>
        </p:nvSpPr>
        <p:spPr>
          <a:xfrm>
            <a:off x="2144642" y="5156462"/>
            <a:ext cx="336802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“MODELING” Tab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Step 2. Click “Model Explorer”</a:t>
            </a:r>
          </a:p>
        </p:txBody>
      </p:sp>
      <p:pic>
        <p:nvPicPr>
          <p:cNvPr id="32" name="Content Placeholder 28">
            <a:extLst>
              <a:ext uri="{FF2B5EF4-FFF2-40B4-BE49-F238E27FC236}">
                <a16:creationId xmlns:a16="http://schemas.microsoft.com/office/drawing/2014/main" id="{7FA3BCB9-4A53-A675-5755-37235C90814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57336" b="69135"/>
          <a:stretch>
            <a:fillRect/>
          </a:stretch>
        </p:blipFill>
        <p:spPr>
          <a:xfrm>
            <a:off x="6113463" y="2794345"/>
            <a:ext cx="5622925" cy="218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9F476DD-C88A-B019-109D-0E0F36B8EC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850" b="68377"/>
          <a:stretch>
            <a:fillRect/>
          </a:stretch>
        </p:blipFill>
        <p:spPr>
          <a:xfrm>
            <a:off x="395288" y="2759075"/>
            <a:ext cx="11339512" cy="259935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76F97AF-4974-2C6B-3D9C-C116EDEB5004}"/>
              </a:ext>
            </a:extLst>
          </p:cNvPr>
          <p:cNvCxnSpPr>
            <a:cxnSpLocks/>
          </p:cNvCxnSpPr>
          <p:nvPr/>
        </p:nvCxnSpPr>
        <p:spPr>
          <a:xfrm flipV="1">
            <a:off x="8776156" y="4104660"/>
            <a:ext cx="0" cy="15231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12DB09D-BEFE-E785-39AB-506A220A3D0F}"/>
              </a:ext>
            </a:extLst>
          </p:cNvPr>
          <p:cNvCxnSpPr>
            <a:cxnSpLocks/>
          </p:cNvCxnSpPr>
          <p:nvPr/>
        </p:nvCxnSpPr>
        <p:spPr>
          <a:xfrm flipV="1">
            <a:off x="1387112" y="4737827"/>
            <a:ext cx="0" cy="889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E500AB5-0D67-7FB5-38A8-7CBB583B1EAC}"/>
              </a:ext>
            </a:extLst>
          </p:cNvPr>
          <p:cNvSpPr txBox="1"/>
          <p:nvPr/>
        </p:nvSpPr>
        <p:spPr>
          <a:xfrm>
            <a:off x="395288" y="5712643"/>
            <a:ext cx="336802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Drill Down to “External Data”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99728-2D8C-86ED-F63A-9A8FCCB994E4}"/>
              </a:ext>
            </a:extLst>
          </p:cNvPr>
          <p:cNvSpPr txBox="1"/>
          <p:nvPr/>
        </p:nvSpPr>
        <p:spPr>
          <a:xfrm>
            <a:off x="7664924" y="5709731"/>
            <a:ext cx="452707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New to create a new data dictionary</a:t>
            </a:r>
          </a:p>
        </p:txBody>
      </p:sp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Content Placeholder 30">
            <a:extLst>
              <a:ext uri="{FF2B5EF4-FFF2-40B4-BE49-F238E27FC236}">
                <a16:creationId xmlns:a16="http://schemas.microsoft.com/office/drawing/2014/main" id="{18D653EA-6301-AB05-8F77-E2E00AF18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500" t="86241" r="-159" b="2289"/>
          <a:stretch>
            <a:fillRect/>
          </a:stretch>
        </p:blipFill>
        <p:spPr>
          <a:xfrm>
            <a:off x="9219968" y="5373457"/>
            <a:ext cx="2516420" cy="11357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Content Placeholder 30">
            <a:extLst>
              <a:ext uri="{FF2B5EF4-FFF2-40B4-BE49-F238E27FC236}">
                <a16:creationId xmlns:a16="http://schemas.microsoft.com/office/drawing/2014/main" id="{2E0A88C3-D431-446A-60EF-699B15C4FB9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966" t="6067" r="27010" b="58263"/>
          <a:stretch>
            <a:fillRect/>
          </a:stretch>
        </p:blipFill>
        <p:spPr>
          <a:xfrm>
            <a:off x="6113463" y="2108976"/>
            <a:ext cx="5622925" cy="32644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Save file as “</a:t>
            </a:r>
            <a:r>
              <a:rPr lang="en-US" dirty="0" err="1">
                <a:solidFill>
                  <a:schemeClr val="tx1"/>
                </a:solidFill>
              </a:rPr>
              <a:t>polynomial_System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B6372CC-6A5F-00CB-68BC-16EEFB8F01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120" y="2302859"/>
            <a:ext cx="5624512" cy="316899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802CC76-2C52-ABDB-7D18-4B5E7BC7D897}"/>
              </a:ext>
            </a:extLst>
          </p:cNvPr>
          <p:cNvCxnSpPr>
            <a:cxnSpLocks/>
          </p:cNvCxnSpPr>
          <p:nvPr/>
        </p:nvCxnSpPr>
        <p:spPr>
          <a:xfrm>
            <a:off x="1706252" y="3978112"/>
            <a:ext cx="0" cy="5844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909FD84-E6B8-2E48-D51E-379A0E0C2716}"/>
              </a:ext>
            </a:extLst>
          </p:cNvPr>
          <p:cNvSpPr txBox="1"/>
          <p:nvPr/>
        </p:nvSpPr>
        <p:spPr>
          <a:xfrm>
            <a:off x="1541667" y="3731891"/>
            <a:ext cx="402619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Create File </a:t>
            </a:r>
            <a:r>
              <a:rPr lang="en-US" sz="1600" dirty="0" err="1">
                <a:solidFill>
                  <a:srgbClr val="FF0000"/>
                </a:solidFill>
              </a:rPr>
              <a:t>polynomial_System.sldd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BCD288-3CC6-3330-09C5-F7AAC609E73E}"/>
              </a:ext>
            </a:extLst>
          </p:cNvPr>
          <p:cNvSpPr txBox="1"/>
          <p:nvPr/>
        </p:nvSpPr>
        <p:spPr>
          <a:xfrm>
            <a:off x="3874415" y="5722791"/>
            <a:ext cx="16934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Save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17109-28CA-1577-3DC1-88225C2FE7DA}"/>
              </a:ext>
            </a:extLst>
          </p:cNvPr>
          <p:cNvCxnSpPr>
            <a:cxnSpLocks/>
          </p:cNvCxnSpPr>
          <p:nvPr/>
        </p:nvCxnSpPr>
        <p:spPr>
          <a:xfrm flipV="1">
            <a:off x="5081047" y="5364071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2393854-D0D8-EAC7-9C82-E9A157DD1538}"/>
              </a:ext>
            </a:extLst>
          </p:cNvPr>
          <p:cNvCxnSpPr>
            <a:cxnSpLocks/>
          </p:cNvCxnSpPr>
          <p:nvPr/>
        </p:nvCxnSpPr>
        <p:spPr>
          <a:xfrm flipV="1">
            <a:off x="7975076" y="3289955"/>
            <a:ext cx="0" cy="8766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0F52FA0-3D56-4D64-1739-FC53DF9E7C46}"/>
              </a:ext>
            </a:extLst>
          </p:cNvPr>
          <p:cNvSpPr txBox="1"/>
          <p:nvPr/>
        </p:nvSpPr>
        <p:spPr>
          <a:xfrm>
            <a:off x="6231217" y="4204354"/>
            <a:ext cx="5518664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our created file </a:t>
            </a:r>
            <a:r>
              <a:rPr lang="en-US" sz="1600" dirty="0" err="1">
                <a:solidFill>
                  <a:srgbClr val="FF0000"/>
                </a:solidFill>
              </a:rPr>
              <a:t>polynomial_System.sldd</a:t>
            </a:r>
            <a:endParaRPr lang="en-US" sz="1600" dirty="0">
              <a:solidFill>
                <a:srgbClr val="FF0000"/>
              </a:solidFill>
            </a:endParaRP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This will hold our signal definitions and more . 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48F0EC5-515F-01A7-6114-67DDE933DDBF}"/>
              </a:ext>
            </a:extLst>
          </p:cNvPr>
          <p:cNvCxnSpPr>
            <a:cxnSpLocks/>
          </p:cNvCxnSpPr>
          <p:nvPr/>
        </p:nvCxnSpPr>
        <p:spPr>
          <a:xfrm>
            <a:off x="11219469" y="5845901"/>
            <a:ext cx="0" cy="30322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6CF8168-0E37-C793-16FB-B3C7B8385675}"/>
              </a:ext>
            </a:extLst>
          </p:cNvPr>
          <p:cNvSpPr txBox="1"/>
          <p:nvPr/>
        </p:nvSpPr>
        <p:spPr>
          <a:xfrm>
            <a:off x="9873244" y="5586621"/>
            <a:ext cx="16934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Apply</a:t>
            </a:r>
          </a:p>
        </p:txBody>
      </p:sp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>
                <a:solidFill>
                  <a:schemeClr val="tx1"/>
                </a:solidFill>
              </a:rPr>
              <a:t>polynomial_System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71E67F74-7FAE-7712-75AC-B5DC173AA4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916" b="68233"/>
          <a:stretch>
            <a:fillRect/>
          </a:stretch>
        </p:blipFill>
        <p:spPr>
          <a:xfrm>
            <a:off x="934882" y="2050798"/>
            <a:ext cx="2027393" cy="3123068"/>
          </a:xfrm>
          <a:prstGeom prst="rect">
            <a:avLst/>
          </a:prstGeom>
        </p:spPr>
      </p:pic>
      <p:pic>
        <p:nvPicPr>
          <p:cNvPr id="29" name="Content Placeholder 28">
            <a:extLst>
              <a:ext uri="{FF2B5EF4-FFF2-40B4-BE49-F238E27FC236}">
                <a16:creationId xmlns:a16="http://schemas.microsoft.com/office/drawing/2014/main" id="{86AF99E6-FD39-5BA0-7436-47C290D2858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2" r="87397" b="64205"/>
          <a:stretch>
            <a:fillRect/>
          </a:stretch>
        </p:blipFill>
        <p:spPr>
          <a:xfrm>
            <a:off x="4525317" y="2050798"/>
            <a:ext cx="2353080" cy="3519068"/>
          </a:xfrm>
          <a:prstGeom prst="rect">
            <a:avLst/>
          </a:prstGeom>
        </p:spPr>
      </p:pic>
      <p:pic>
        <p:nvPicPr>
          <p:cNvPr id="36" name="Content Placeholder 35">
            <a:extLst>
              <a:ext uri="{FF2B5EF4-FFF2-40B4-BE49-F238E27FC236}">
                <a16:creationId xmlns:a16="http://schemas.microsoft.com/office/drawing/2014/main" id="{872CA315-4B3A-EDFF-2594-AC4ADA4927E5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6392" b="63054"/>
          <a:stretch>
            <a:fillRect/>
          </a:stretch>
        </p:blipFill>
        <p:spPr>
          <a:xfrm>
            <a:off x="8904719" y="2050798"/>
            <a:ext cx="2488978" cy="3632225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14E65D3-DF2B-759B-2E87-BEB3CEB5C827}"/>
              </a:ext>
            </a:extLst>
          </p:cNvPr>
          <p:cNvCxnSpPr>
            <a:cxnSpLocks/>
          </p:cNvCxnSpPr>
          <p:nvPr/>
        </p:nvCxnSpPr>
        <p:spPr>
          <a:xfrm flipH="1">
            <a:off x="2564092" y="4326902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34D5051-CD18-58CD-9A97-3DBD103CC3F5}"/>
              </a:ext>
            </a:extLst>
          </p:cNvPr>
          <p:cNvSpPr txBox="1"/>
          <p:nvPr/>
        </p:nvSpPr>
        <p:spPr>
          <a:xfrm>
            <a:off x="3189322" y="4188402"/>
            <a:ext cx="129522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BC19EF5-7AEF-C7E4-00E6-679BE519943C}"/>
              </a:ext>
            </a:extLst>
          </p:cNvPr>
          <p:cNvCxnSpPr>
            <a:cxnSpLocks/>
          </p:cNvCxnSpPr>
          <p:nvPr/>
        </p:nvCxnSpPr>
        <p:spPr>
          <a:xfrm flipH="1">
            <a:off x="6520983" y="4790696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43865463-C3AA-B597-6FB6-7171001300DE}"/>
              </a:ext>
            </a:extLst>
          </p:cNvPr>
          <p:cNvSpPr txBox="1"/>
          <p:nvPr/>
        </p:nvSpPr>
        <p:spPr>
          <a:xfrm>
            <a:off x="7146213" y="4652196"/>
            <a:ext cx="157735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Expand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E163050-50E1-0F3B-DF4A-5512CF6D98A6}"/>
              </a:ext>
            </a:extLst>
          </p:cNvPr>
          <p:cNvCxnSpPr>
            <a:cxnSpLocks/>
          </p:cNvCxnSpPr>
          <p:nvPr/>
        </p:nvCxnSpPr>
        <p:spPr>
          <a:xfrm flipH="1">
            <a:off x="6520983" y="5067695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559EFAE-918C-75F0-132C-91C420FC136B}"/>
              </a:ext>
            </a:extLst>
          </p:cNvPr>
          <p:cNvSpPr txBox="1"/>
          <p:nvPr/>
        </p:nvSpPr>
        <p:spPr>
          <a:xfrm>
            <a:off x="7146213" y="4929195"/>
            <a:ext cx="129522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Click</a:t>
            </a:r>
          </a:p>
        </p:txBody>
      </p:sp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 x6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11628"/>
          </a:xfrm>
        </p:spPr>
        <p:txBody>
          <a:bodyPr/>
          <a:lstStyle/>
          <a:p>
            <a:r>
              <a:rPr lang="en-US" dirty="0"/>
              <a:t>Add Simulink Signal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Just Create the blank signal for now</a:t>
            </a:r>
          </a:p>
        </p:txBody>
      </p:sp>
      <p:pic>
        <p:nvPicPr>
          <p:cNvPr id="13" name="Content Placeholder 3">
            <a:extLst>
              <a:ext uri="{FF2B5EF4-FFF2-40B4-BE49-F238E27FC236}">
                <a16:creationId xmlns:a16="http://schemas.microsoft.com/office/drawing/2014/main" id="{96C1C0E9-35CC-A027-0FF8-61C087B069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8501" b="64290"/>
          <a:stretch>
            <a:fillRect/>
          </a:stretch>
        </p:blipFill>
        <p:spPr>
          <a:xfrm>
            <a:off x="395288" y="2763583"/>
            <a:ext cx="11339512" cy="30441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6BFEAA8-BADC-0CFF-651C-940C550270D7}"/>
              </a:ext>
            </a:extLst>
          </p:cNvPr>
          <p:cNvSpPr txBox="1"/>
          <p:nvPr/>
        </p:nvSpPr>
        <p:spPr>
          <a:xfrm>
            <a:off x="1951348" y="3696028"/>
            <a:ext cx="1693445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“Simulink Signal”</a:t>
            </a: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Repeat Action x6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9A96B2-A68B-B377-C9AC-E41348FE8594}"/>
              </a:ext>
            </a:extLst>
          </p:cNvPr>
          <p:cNvCxnSpPr>
            <a:cxnSpLocks/>
          </p:cNvCxnSpPr>
          <p:nvPr/>
        </p:nvCxnSpPr>
        <p:spPr>
          <a:xfrm flipV="1">
            <a:off x="2554664" y="3337308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11B4A49E-FB27-1F44-F37C-2743A6F5ED58}"/>
              </a:ext>
            </a:extLst>
          </p:cNvPr>
          <p:cNvSpPr/>
          <p:nvPr/>
        </p:nvSpPr>
        <p:spPr>
          <a:xfrm>
            <a:off x="3644792" y="3949831"/>
            <a:ext cx="8151919" cy="11594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73806-0A08-E9CB-36E2-5B49FBF68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9FFF884-C6ED-60FF-E623-6EC8129EC3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57" b="64925"/>
          <a:stretch>
            <a:fillRect/>
          </a:stretch>
        </p:blipFill>
        <p:spPr>
          <a:xfrm>
            <a:off x="395288" y="2763583"/>
            <a:ext cx="11339512" cy="29923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DB90882-3C49-3B07-BA6E-CB3599BD53EB}"/>
              </a:ext>
            </a:extLst>
          </p:cNvPr>
          <p:cNvSpPr txBox="1"/>
          <p:nvPr/>
        </p:nvSpPr>
        <p:spPr>
          <a:xfrm>
            <a:off x="1818643" y="3687322"/>
            <a:ext cx="1989779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“Simulink Parameter”</a:t>
            </a: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Repeat Action x3 </a:t>
            </a:r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A273AD23-4DAA-8B14-A4BE-FB7FF69113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Parameter” x3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AAD2310-4B7E-B6AE-FAB4-B2BF00097D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D76583B-9628-AC88-6967-C66FCD374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Add Simulink Parameter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Just Create the blank parameter for now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A49D3AF-D658-0709-7AA9-7EC5E6D1DF8A}"/>
              </a:ext>
            </a:extLst>
          </p:cNvPr>
          <p:cNvCxnSpPr>
            <a:cxnSpLocks/>
          </p:cNvCxnSpPr>
          <p:nvPr/>
        </p:nvCxnSpPr>
        <p:spPr>
          <a:xfrm flipV="1">
            <a:off x="1979628" y="3328602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51BC3CB-55E9-B961-46AF-DA18111E01E5}"/>
              </a:ext>
            </a:extLst>
          </p:cNvPr>
          <p:cNvSpPr/>
          <p:nvPr/>
        </p:nvSpPr>
        <p:spPr>
          <a:xfrm>
            <a:off x="3644792" y="5022221"/>
            <a:ext cx="8151919" cy="5372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73558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0A029-D7E3-C468-3541-135D81D77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27A9C15-365D-4EBF-A16E-F1A4087723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015" b="65495"/>
          <a:stretch>
            <a:fillRect/>
          </a:stretch>
        </p:blipFill>
        <p:spPr>
          <a:xfrm>
            <a:off x="395288" y="2763583"/>
            <a:ext cx="11339512" cy="292154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7363FD1-1C31-733B-6F3B-2BC838A019EE}"/>
              </a:ext>
            </a:extLst>
          </p:cNvPr>
          <p:cNvSpPr txBox="1"/>
          <p:nvPr/>
        </p:nvSpPr>
        <p:spPr>
          <a:xfrm>
            <a:off x="1601827" y="3678776"/>
            <a:ext cx="215946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Update Names</a:t>
            </a:r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5BD9504E-879A-8CE0-9C9E-5351700DC2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each row and update the Name of each signal and parameter</a:t>
            </a:r>
            <a:br>
              <a:rPr lang="en-US" dirty="0"/>
            </a:br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1AACD1-9508-2A78-9FE2-95AC0ED527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B004E71-19C9-41D9-87C1-8F4EE1BD9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Rename Signals and Parameters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EE518CD-D318-386A-33C2-801AF3659DE9}"/>
              </a:ext>
            </a:extLst>
          </p:cNvPr>
          <p:cNvCxnSpPr>
            <a:cxnSpLocks/>
          </p:cNvCxnSpPr>
          <p:nvPr/>
        </p:nvCxnSpPr>
        <p:spPr>
          <a:xfrm>
            <a:off x="3271101" y="3924997"/>
            <a:ext cx="386499" cy="3264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059F802-1513-1F03-39CE-E6A73FB7AF40}"/>
              </a:ext>
            </a:extLst>
          </p:cNvPr>
          <p:cNvSpPr/>
          <p:nvPr/>
        </p:nvSpPr>
        <p:spPr>
          <a:xfrm>
            <a:off x="3761293" y="3924997"/>
            <a:ext cx="1093511" cy="16344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CD32775-FEF0-9547-0FAB-C597A6D8C3A0}"/>
              </a:ext>
            </a:extLst>
          </p:cNvPr>
          <p:cNvCxnSpPr>
            <a:cxnSpLocks/>
          </p:cNvCxnSpPr>
          <p:nvPr/>
        </p:nvCxnSpPr>
        <p:spPr>
          <a:xfrm flipV="1">
            <a:off x="5740922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F4746AF-FE8C-95DA-D073-37C4A2F417DF}"/>
              </a:ext>
            </a:extLst>
          </p:cNvPr>
          <p:cNvCxnSpPr>
            <a:cxnSpLocks/>
          </p:cNvCxnSpPr>
          <p:nvPr/>
        </p:nvCxnSpPr>
        <p:spPr>
          <a:xfrm flipV="1">
            <a:off x="6172985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09C1F41-84ED-7057-E85D-66EEEFA7FE9D}"/>
              </a:ext>
            </a:extLst>
          </p:cNvPr>
          <p:cNvCxnSpPr>
            <a:cxnSpLocks/>
          </p:cNvCxnSpPr>
          <p:nvPr/>
        </p:nvCxnSpPr>
        <p:spPr>
          <a:xfrm flipV="1">
            <a:off x="8587818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6B2F594-5147-947A-1175-222F7D32E93D}"/>
              </a:ext>
            </a:extLst>
          </p:cNvPr>
          <p:cNvSpPr txBox="1"/>
          <p:nvPr/>
        </p:nvSpPr>
        <p:spPr>
          <a:xfrm>
            <a:off x="3799002" y="6213316"/>
            <a:ext cx="76828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Observe Columns prior to Update (Next 3 slides will update these columns)</a:t>
            </a:r>
          </a:p>
        </p:txBody>
      </p:sp>
    </p:spTree>
    <p:extLst>
      <p:ext uri="{BB962C8B-B14F-4D97-AF65-F5344CB8AC3E}">
        <p14:creationId xmlns:p14="http://schemas.microsoft.com/office/powerpoint/2010/main" val="98728337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39536-25D7-22F5-399E-25C6F8DC7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Content Placeholder 43">
            <a:extLst>
              <a:ext uri="{FF2B5EF4-FFF2-40B4-BE49-F238E27FC236}">
                <a16:creationId xmlns:a16="http://schemas.microsoft.com/office/drawing/2014/main" id="{95A62CCF-6A0F-FC9B-9ACA-15F1C9C57B6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1060" t="13353" r="71109" b="66603"/>
          <a:stretch>
            <a:fillRect/>
          </a:stretch>
        </p:blipFill>
        <p:spPr>
          <a:xfrm>
            <a:off x="4228569" y="2103145"/>
            <a:ext cx="1432333" cy="1970560"/>
          </a:xfrm>
          <a:prstGeom prst="rect">
            <a:avLst/>
          </a:prstGeom>
        </p:spPr>
      </p:pic>
      <p:pic>
        <p:nvPicPr>
          <p:cNvPr id="64" name="Content Placeholder 43">
            <a:extLst>
              <a:ext uri="{FF2B5EF4-FFF2-40B4-BE49-F238E27FC236}">
                <a16:creationId xmlns:a16="http://schemas.microsoft.com/office/drawing/2014/main" id="{F761FFD4-FC2C-5F9A-AB8D-8AD70D2BD7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15" t="13353" r="59126" b="49244"/>
          <a:stretch>
            <a:fillRect/>
          </a:stretch>
        </p:blipFill>
        <p:spPr>
          <a:xfrm>
            <a:off x="5654405" y="2103144"/>
            <a:ext cx="1473941" cy="3677153"/>
          </a:xfrm>
          <a:prstGeom prst="rect">
            <a:avLst/>
          </a:prstGeom>
        </p:spPr>
      </p:pic>
      <p:pic>
        <p:nvPicPr>
          <p:cNvPr id="55" name="Content Placeholder 25">
            <a:extLst>
              <a:ext uri="{FF2B5EF4-FFF2-40B4-BE49-F238E27FC236}">
                <a16:creationId xmlns:a16="http://schemas.microsoft.com/office/drawing/2014/main" id="{EA53685F-896B-7E41-7E96-7486A953D8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782" t="13828" r="64187" b="63469"/>
          <a:stretch>
            <a:fillRect/>
          </a:stretch>
        </p:blipFill>
        <p:spPr>
          <a:xfrm>
            <a:off x="1803014" y="2103144"/>
            <a:ext cx="554421" cy="2231971"/>
          </a:xfrm>
          <a:prstGeom prst="rect">
            <a:avLst/>
          </a:prstGeom>
        </p:spPr>
      </p:pic>
      <p:pic>
        <p:nvPicPr>
          <p:cNvPr id="52" name="Content Placeholder 25">
            <a:extLst>
              <a:ext uri="{FF2B5EF4-FFF2-40B4-BE49-F238E27FC236}">
                <a16:creationId xmlns:a16="http://schemas.microsoft.com/office/drawing/2014/main" id="{D66FCA3E-30A3-5C15-23BC-858A0FA57F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21130" t="13828" r="71180" b="63469"/>
          <a:stretch>
            <a:fillRect/>
          </a:stretch>
        </p:blipFill>
        <p:spPr>
          <a:xfrm>
            <a:off x="395818" y="2103144"/>
            <a:ext cx="1406507" cy="2231971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2B193591-1D28-4389-87FA-A76B22D8FB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2CAF4A3E-71BC-114E-0E2B-D9BA61A0D5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B28800B8-FE82-86E3-029C-21C3C603C6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956CFD53-B342-E56B-B49D-751A1F43B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887"/>
          </a:xfrm>
        </p:spPr>
        <p:txBody>
          <a:bodyPr/>
          <a:lstStyle/>
          <a:p>
            <a:r>
              <a:rPr lang="en-US" dirty="0"/>
              <a:t>Mass Update Data Type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Mandatory</a:t>
            </a:r>
            <a:endParaRPr lang="en-US" b="0" i="1" dirty="0">
              <a:solidFill>
                <a:srgbClr val="FF0000"/>
              </a:solidFill>
            </a:endParaRP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23D4FE82-451A-218B-FABA-EFF8B62A8D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9B35EE-0FA5-F0C3-F62F-3ED32B0A8A0F}"/>
              </a:ext>
            </a:extLst>
          </p:cNvPr>
          <p:cNvSpPr/>
          <p:nvPr/>
        </p:nvSpPr>
        <p:spPr>
          <a:xfrm>
            <a:off x="6231118" y="2074864"/>
            <a:ext cx="946431" cy="17052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C8C560A-890A-141E-5DEA-69BA9F039AF9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Data Type Before Update is “auto”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C6F6A5-950E-0C59-4551-C727379C92E8}"/>
              </a:ext>
            </a:extLst>
          </p:cNvPr>
          <p:cNvSpPr txBox="1"/>
          <p:nvPr/>
        </p:nvSpPr>
        <p:spPr>
          <a:xfrm>
            <a:off x="806255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Data Type After Update is “double”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8037F7F-5D6F-8035-A517-15C32F8BC4BF}"/>
              </a:ext>
            </a:extLst>
          </p:cNvPr>
          <p:cNvSpPr txBox="1"/>
          <p:nvPr/>
        </p:nvSpPr>
        <p:spPr>
          <a:xfrm>
            <a:off x="4380322" y="4389417"/>
            <a:ext cx="1986837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2. Select 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3A31B84-F04D-5A73-C1AD-C953B316D18A}"/>
              </a:ext>
            </a:extLst>
          </p:cNvPr>
          <p:cNvCxnSpPr>
            <a:cxnSpLocks/>
            <a:endCxn id="64" idx="1"/>
          </p:cNvCxnSpPr>
          <p:nvPr/>
        </p:nvCxnSpPr>
        <p:spPr>
          <a:xfrm flipV="1">
            <a:off x="5222449" y="3941721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E512B33-DD09-942D-3CE0-59E829A3282A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DDAEED6-894B-FFA5-DB73-E7568AC41518}"/>
              </a:ext>
            </a:extLst>
          </p:cNvPr>
          <p:cNvCxnSpPr>
            <a:cxnSpLocks/>
          </p:cNvCxnSpPr>
          <p:nvPr/>
        </p:nvCxnSpPr>
        <p:spPr>
          <a:xfrm flipV="1">
            <a:off x="5363936" y="4332765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82" name="Content Placeholder 50">
            <a:extLst>
              <a:ext uri="{FF2B5EF4-FFF2-40B4-BE49-F238E27FC236}">
                <a16:creationId xmlns:a16="http://schemas.microsoft.com/office/drawing/2014/main" id="{21E83550-A448-F106-F58A-572041E28C0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21343" t="13458" r="71198" b="66498"/>
          <a:stretch>
            <a:fillRect/>
          </a:stretch>
        </p:blipFill>
        <p:spPr>
          <a:xfrm>
            <a:off x="8062556" y="2103144"/>
            <a:ext cx="1364246" cy="1970560"/>
          </a:xfrm>
          <a:prstGeom prst="rect">
            <a:avLst/>
          </a:prstGeom>
        </p:spPr>
      </p:pic>
      <p:pic>
        <p:nvPicPr>
          <p:cNvPr id="83" name="Content Placeholder 50">
            <a:extLst>
              <a:ext uri="{FF2B5EF4-FFF2-40B4-BE49-F238E27FC236}">
                <a16:creationId xmlns:a16="http://schemas.microsoft.com/office/drawing/2014/main" id="{EB320961-8DC5-CD5C-C528-2067DBF20A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808" t="13458" r="63943" b="66498"/>
          <a:stretch>
            <a:fillRect/>
          </a:stretch>
        </p:blipFill>
        <p:spPr>
          <a:xfrm>
            <a:off x="9425688" y="2103144"/>
            <a:ext cx="594309" cy="1970560"/>
          </a:xfrm>
          <a:prstGeom prst="rect">
            <a:avLst/>
          </a:prstGeom>
        </p:spPr>
      </p:pic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BA70CA08-A686-1A78-9953-02FA148162AD}"/>
              </a:ext>
            </a:extLst>
          </p:cNvPr>
          <p:cNvCxnSpPr>
            <a:cxnSpLocks/>
          </p:cNvCxnSpPr>
          <p:nvPr/>
        </p:nvCxnSpPr>
        <p:spPr>
          <a:xfrm flipV="1">
            <a:off x="9645192" y="3941721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782409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341D-9490-280C-0BC2-ECE96C99E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6">
            <a:extLst>
              <a:ext uri="{FF2B5EF4-FFF2-40B4-BE49-F238E27FC236}">
                <a16:creationId xmlns:a16="http://schemas.microsoft.com/office/drawing/2014/main" id="{7141F012-EFAF-1487-5C27-EB24639EFF6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0811" t="13270" r="71171" b="65583"/>
          <a:stretch>
            <a:fillRect/>
          </a:stretch>
        </p:blipFill>
        <p:spPr>
          <a:xfrm>
            <a:off x="4248228" y="2103144"/>
            <a:ext cx="1466585" cy="2079037"/>
          </a:xfrm>
          <a:prstGeom prst="rect">
            <a:avLst/>
          </a:prstGeom>
        </p:spPr>
      </p:pic>
      <p:pic>
        <p:nvPicPr>
          <p:cNvPr id="31" name="Content Placeholder 6">
            <a:extLst>
              <a:ext uri="{FF2B5EF4-FFF2-40B4-BE49-F238E27FC236}">
                <a16:creationId xmlns:a16="http://schemas.microsoft.com/office/drawing/2014/main" id="{028B1786-1818-5E63-EDB1-D393670D30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829" t="13270" r="59497" b="62247"/>
          <a:stretch>
            <a:fillRect/>
          </a:stretch>
        </p:blipFill>
        <p:spPr>
          <a:xfrm>
            <a:off x="5714610" y="2103144"/>
            <a:ext cx="854943" cy="2406919"/>
          </a:xfrm>
          <a:prstGeom prst="rect">
            <a:avLst/>
          </a:prstGeom>
        </p:spPr>
      </p:pic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032EE6F9-5E09-E182-E315-94731773A2EE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13541" r="71353" b="66108"/>
          <a:stretch>
            <a:fillRect/>
          </a:stretch>
        </p:blipFill>
        <p:spPr>
          <a:xfrm>
            <a:off x="8062555" y="2103144"/>
            <a:ext cx="1364894" cy="2000763"/>
          </a:xfrm>
          <a:prstGeom prst="rect">
            <a:avLst/>
          </a:prstGeom>
        </p:spPr>
      </p:pic>
      <p:pic>
        <p:nvPicPr>
          <p:cNvPr id="4" name="Content Placeholder 50">
            <a:extLst>
              <a:ext uri="{FF2B5EF4-FFF2-40B4-BE49-F238E27FC236}">
                <a16:creationId xmlns:a16="http://schemas.microsoft.com/office/drawing/2014/main" id="{5C879EC9-8AB9-4B15-FD56-1337EBCCD0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026" t="13820" r="71195" b="65033"/>
          <a:stretch>
            <a:fillRect/>
          </a:stretch>
        </p:blipFill>
        <p:spPr>
          <a:xfrm>
            <a:off x="395818" y="2103144"/>
            <a:ext cx="1422823" cy="2079037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0DD05D41-6A8A-93E5-AEDF-38967FA8DF8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D1360D36-E5C6-93FE-7A79-A062B43C3D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49177FCE-1E2A-B00B-5D15-C91A0066A7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1B28A070-E67E-BBBA-5E9D-5D6E1F34E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92442"/>
          </a:xfrm>
        </p:spPr>
        <p:txBody>
          <a:bodyPr/>
          <a:lstStyle/>
          <a:p>
            <a:r>
              <a:rPr lang="en-US" dirty="0"/>
              <a:t>Mass Update Dimensions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Optional</a:t>
            </a:r>
            <a:endParaRPr lang="en-US" dirty="0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51741C5F-DEF0-B0DE-13F5-F565D0CDC0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E920BA8-D56E-2AF9-1A11-5F6F87E3241F}"/>
              </a:ext>
            </a:extLst>
          </p:cNvPr>
          <p:cNvSpPr/>
          <p:nvPr/>
        </p:nvSpPr>
        <p:spPr>
          <a:xfrm>
            <a:off x="6367160" y="2103145"/>
            <a:ext cx="337429" cy="1976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D090375-79DD-6937-A213-5D9E62D18D2E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Dimensions Before Update is -1 or [0 0]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A014D85-D6B0-E845-DD52-B660D418EFD8}"/>
              </a:ext>
            </a:extLst>
          </p:cNvPr>
          <p:cNvSpPr txBox="1"/>
          <p:nvPr/>
        </p:nvSpPr>
        <p:spPr>
          <a:xfrm>
            <a:off x="8062556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Dimensions After Update is 1 or [1 1]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FCE7BF-C7D9-40EB-2D05-59B2B865AE2F}"/>
              </a:ext>
            </a:extLst>
          </p:cNvPr>
          <p:cNvSpPr txBox="1"/>
          <p:nvPr/>
        </p:nvSpPr>
        <p:spPr>
          <a:xfrm>
            <a:off x="4807670" y="4389417"/>
            <a:ext cx="2382993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Step 2. Type 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26E7AFD-B0A6-FE8B-145C-8650547B3BE5}"/>
              </a:ext>
            </a:extLst>
          </p:cNvPr>
          <p:cNvCxnSpPr>
            <a:cxnSpLocks/>
          </p:cNvCxnSpPr>
          <p:nvPr/>
        </p:nvCxnSpPr>
        <p:spPr>
          <a:xfrm flipV="1">
            <a:off x="5774817" y="3996283"/>
            <a:ext cx="0" cy="3931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4" name="Content Placeholder 50">
            <a:extLst>
              <a:ext uri="{FF2B5EF4-FFF2-40B4-BE49-F238E27FC236}">
                <a16:creationId xmlns:a16="http://schemas.microsoft.com/office/drawing/2014/main" id="{4C63DAEE-A50B-94F7-F4DA-BE22338A6E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723" t="13820" r="60750" b="65033"/>
          <a:stretch>
            <a:fillRect/>
          </a:stretch>
        </p:blipFill>
        <p:spPr>
          <a:xfrm>
            <a:off x="1802325" y="2103144"/>
            <a:ext cx="645107" cy="2079037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3F6A0B0-B849-95AE-AB4A-5D7D85CF5FE6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9" name="Content Placeholder 22">
            <a:extLst>
              <a:ext uri="{FF2B5EF4-FFF2-40B4-BE49-F238E27FC236}">
                <a16:creationId xmlns:a16="http://schemas.microsoft.com/office/drawing/2014/main" id="{03D2B809-CF97-5B1E-EB1A-9D6CDC99C2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66" t="13541" r="60681" b="66108"/>
          <a:stretch>
            <a:fillRect/>
          </a:stretch>
        </p:blipFill>
        <p:spPr>
          <a:xfrm>
            <a:off x="9426802" y="2103144"/>
            <a:ext cx="649853" cy="2000763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F7CA9C9-62BC-D1A7-6FDA-30BFC364E1D1}"/>
              </a:ext>
            </a:extLst>
          </p:cNvPr>
          <p:cNvCxnSpPr>
            <a:cxnSpLocks/>
          </p:cNvCxnSpPr>
          <p:nvPr/>
        </p:nvCxnSpPr>
        <p:spPr>
          <a:xfrm flipV="1">
            <a:off x="9579203" y="4079985"/>
            <a:ext cx="0" cy="3094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125248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10376-CF57-8172-2B35-B1FFD83DB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Content Placeholder 31">
            <a:extLst>
              <a:ext uri="{FF2B5EF4-FFF2-40B4-BE49-F238E27FC236}">
                <a16:creationId xmlns:a16="http://schemas.microsoft.com/office/drawing/2014/main" id="{DC14F9D7-3604-BB69-8EAD-6EA00EDE34E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31" t="13318" r="71573" b="66938"/>
          <a:stretch>
            <a:fillRect/>
          </a:stretch>
        </p:blipFill>
        <p:spPr>
          <a:xfrm>
            <a:off x="8062555" y="2103144"/>
            <a:ext cx="1279607" cy="1941067"/>
          </a:xfrm>
          <a:prstGeom prst="rect">
            <a:avLst/>
          </a:prstGeom>
        </p:spPr>
      </p:pic>
      <p:pic>
        <p:nvPicPr>
          <p:cNvPr id="33" name="Content Placeholder 31">
            <a:extLst>
              <a:ext uri="{FF2B5EF4-FFF2-40B4-BE49-F238E27FC236}">
                <a16:creationId xmlns:a16="http://schemas.microsoft.com/office/drawing/2014/main" id="{438147D6-0CF6-6E01-5FF5-825366FBA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48" t="13318" r="44691" b="66938"/>
          <a:stretch>
            <a:fillRect/>
          </a:stretch>
        </p:blipFill>
        <p:spPr>
          <a:xfrm>
            <a:off x="9310677" y="2103144"/>
            <a:ext cx="852486" cy="1941067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CBBFE37-8937-20B8-1AA8-AB9D6D30793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30" t="13318" r="71169" b="66331"/>
          <a:stretch>
            <a:fillRect/>
          </a:stretch>
        </p:blipFill>
        <p:spPr>
          <a:xfrm>
            <a:off x="4228569" y="2103144"/>
            <a:ext cx="1353684" cy="2000763"/>
          </a:xfrm>
          <a:prstGeom prst="rect">
            <a:avLst/>
          </a:prstGeom>
        </p:spPr>
      </p:pic>
      <p:pic>
        <p:nvPicPr>
          <p:cNvPr id="18" name="Content Placeholder 16">
            <a:extLst>
              <a:ext uri="{FF2B5EF4-FFF2-40B4-BE49-F238E27FC236}">
                <a16:creationId xmlns:a16="http://schemas.microsoft.com/office/drawing/2014/main" id="{FC9134CD-4B22-12AA-FFE6-6C3C6E8A8F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87" t="13318" r="40824" b="52036"/>
          <a:stretch>
            <a:fillRect/>
          </a:stretch>
        </p:blipFill>
        <p:spPr>
          <a:xfrm>
            <a:off x="5576579" y="2103144"/>
            <a:ext cx="1570980" cy="3406116"/>
          </a:xfrm>
          <a:prstGeom prst="rect">
            <a:avLst/>
          </a:prstGeom>
        </p:spPr>
      </p:pic>
      <p:pic>
        <p:nvPicPr>
          <p:cNvPr id="7" name="Content Placeholder 9">
            <a:extLst>
              <a:ext uri="{FF2B5EF4-FFF2-40B4-BE49-F238E27FC236}">
                <a16:creationId xmlns:a16="http://schemas.microsoft.com/office/drawing/2014/main" id="{C28B1318-DEA7-EAF4-88F2-E0ED271DD0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t="13318" r="71250" b="66108"/>
          <a:stretch>
            <a:fillRect/>
          </a:stretch>
        </p:blipFill>
        <p:spPr>
          <a:xfrm>
            <a:off x="395818" y="2103144"/>
            <a:ext cx="1422822" cy="2022665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A419157-EA52-37CF-4735-1634CCB7E8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77" t="13318" r="44872" b="66108"/>
          <a:stretch>
            <a:fillRect/>
          </a:stretch>
        </p:blipFill>
        <p:spPr>
          <a:xfrm>
            <a:off x="1818683" y="2103144"/>
            <a:ext cx="814031" cy="2022665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DEBD3C71-B1B6-2250-1DD8-B83DFFC7A2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4D87735F-ABE7-CC73-6538-60158370C3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D7FE72C2-3935-50A0-FE25-D06F593FF8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5A98AA66-FC46-255B-D932-1A5D36008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Mass Update Storage Class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Optional</a:t>
            </a:r>
            <a:endParaRPr lang="en-US" dirty="0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60BED3CF-2E2D-9D8E-DEF4-97CDDE4272C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39DAEDC-8472-38BC-5525-2B19B095DA7F}"/>
              </a:ext>
            </a:extLst>
          </p:cNvPr>
          <p:cNvSpPr/>
          <p:nvPr/>
        </p:nvSpPr>
        <p:spPr>
          <a:xfrm>
            <a:off x="6417184" y="2103145"/>
            <a:ext cx="773478" cy="18931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6F3E88C-500E-E514-B19A-80AE599E79B8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Storage Class Before Update is auto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E85A95E-84E3-4DD7-0100-0CDC4C927DF0}"/>
              </a:ext>
            </a:extLst>
          </p:cNvPr>
          <p:cNvSpPr txBox="1"/>
          <p:nvPr/>
        </p:nvSpPr>
        <p:spPr>
          <a:xfrm>
            <a:off x="8062556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Storage Class After Update is </a:t>
            </a:r>
            <a:r>
              <a:rPr lang="en-US" sz="1600" dirty="0" err="1">
                <a:solidFill>
                  <a:srgbClr val="FF0000"/>
                </a:solidFill>
              </a:rPr>
              <a:t>ExportedGlobal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4F500D-6D82-ADBF-9ECD-B2890F79A8B5}"/>
              </a:ext>
            </a:extLst>
          </p:cNvPr>
          <p:cNvSpPr txBox="1"/>
          <p:nvPr/>
        </p:nvSpPr>
        <p:spPr>
          <a:xfrm>
            <a:off x="4228569" y="4389417"/>
            <a:ext cx="2382993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2. Select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D1FDF2A-614E-9442-1FA7-07353600F21C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6AFD0D2-76C6-2B47-359C-5EC8022B11C5}"/>
              </a:ext>
            </a:extLst>
          </p:cNvPr>
          <p:cNvCxnSpPr>
            <a:cxnSpLocks/>
          </p:cNvCxnSpPr>
          <p:nvPr/>
        </p:nvCxnSpPr>
        <p:spPr>
          <a:xfrm flipV="1">
            <a:off x="9579203" y="4079985"/>
            <a:ext cx="0" cy="3094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0DD56B0-70CA-817E-6DD1-57D00677C34C}"/>
              </a:ext>
            </a:extLst>
          </p:cNvPr>
          <p:cNvCxnSpPr>
            <a:cxnSpLocks/>
          </p:cNvCxnSpPr>
          <p:nvPr/>
        </p:nvCxnSpPr>
        <p:spPr>
          <a:xfrm flipV="1">
            <a:off x="5222449" y="3941721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B8F43D3-57D0-74D2-0D77-BEDB4EA15E7A}"/>
              </a:ext>
            </a:extLst>
          </p:cNvPr>
          <p:cNvCxnSpPr>
            <a:cxnSpLocks/>
          </p:cNvCxnSpPr>
          <p:nvPr/>
        </p:nvCxnSpPr>
        <p:spPr>
          <a:xfrm flipV="1">
            <a:off x="5188676" y="4332765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6860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E062B-8284-CB26-57F8-48EEE7527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8D6A0D7-9AF1-D4B3-C54B-D2A8E69A6A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634" b="66363"/>
          <a:stretch>
            <a:fillRect/>
          </a:stretch>
        </p:blipFill>
        <p:spPr>
          <a:xfrm>
            <a:off x="395288" y="2763583"/>
            <a:ext cx="11339512" cy="2872755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1747D60B-1456-8336-B4AC-A2E0B0AE5A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Updated Columns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C9F5B44-7F0F-F589-8451-FBB89E5F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D4D1428-A9A4-7219-BF70-6EDD4EC5E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Observe Data Dictionary After Mass Update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6448A2-36D3-C546-11A7-D747A9F273A9}"/>
              </a:ext>
            </a:extLst>
          </p:cNvPr>
          <p:cNvSpPr txBox="1"/>
          <p:nvPr/>
        </p:nvSpPr>
        <p:spPr>
          <a:xfrm>
            <a:off x="5684362" y="6213316"/>
            <a:ext cx="358218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Updated Columns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A1489-F5D7-C7D1-8DDB-2C832A792131}"/>
              </a:ext>
            </a:extLst>
          </p:cNvPr>
          <p:cNvCxnSpPr>
            <a:cxnSpLocks/>
          </p:cNvCxnSpPr>
          <p:nvPr/>
        </p:nvCxnSpPr>
        <p:spPr>
          <a:xfrm flipV="1">
            <a:off x="5740922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A5BD0EF-BE0E-18C7-1BBD-668630E175BB}"/>
              </a:ext>
            </a:extLst>
          </p:cNvPr>
          <p:cNvCxnSpPr>
            <a:cxnSpLocks/>
          </p:cNvCxnSpPr>
          <p:nvPr/>
        </p:nvCxnSpPr>
        <p:spPr>
          <a:xfrm flipV="1">
            <a:off x="6172985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63F6F4F-DED4-E9A6-F027-0B3AB3B5D00A}"/>
              </a:ext>
            </a:extLst>
          </p:cNvPr>
          <p:cNvCxnSpPr>
            <a:cxnSpLocks/>
          </p:cNvCxnSpPr>
          <p:nvPr/>
        </p:nvCxnSpPr>
        <p:spPr>
          <a:xfrm flipV="1">
            <a:off x="8587818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173527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797B9-13B9-16C0-86B9-DE65224B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C98DD01F-E80D-58C5-ED04-235128F679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0954" b="64134"/>
          <a:stretch>
            <a:fillRect/>
          </a:stretch>
        </p:blipFill>
        <p:spPr>
          <a:xfrm>
            <a:off x="395288" y="2763583"/>
            <a:ext cx="11339512" cy="2765513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9A23C167-537C-851C-E562-AAA523E970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4F5BF51-FFE3-1001-848F-FB8686DCC6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09B9A7B-9F0A-D23D-F041-4FFD5E476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</a:t>
            </a:r>
            <a:r>
              <a:rPr lang="en-US" dirty="0" err="1"/>
              <a:t>y_raw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1D0B05-724D-372E-DE4E-896DD90FEC33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E64BC2E-BAC1-DC22-598B-A1A82D87A43F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16625F-6B13-7D2E-D344-BA4E294A17D3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BDD2924-6E0B-A824-A6B9-E182C3703EB9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0BC6380-6106-E155-D05E-06F8801F9CC1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EEDCA9-8ECC-B460-AB6E-2FFBCA83A6B7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820C5FD-4617-1E78-5A22-6FCB449F6BDD}"/>
              </a:ext>
            </a:extLst>
          </p:cNvPr>
          <p:cNvCxnSpPr>
            <a:cxnSpLocks/>
          </p:cNvCxnSpPr>
          <p:nvPr/>
        </p:nvCxnSpPr>
        <p:spPr>
          <a:xfrm flipV="1">
            <a:off x="887690" y="4146339"/>
            <a:ext cx="0" cy="18077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504812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85AAA-021D-779C-128F-548C6CBC0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015A8A2D-BEC2-6D21-2481-7D4758835B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b="64534"/>
          <a:stretch>
            <a:fillRect/>
          </a:stretch>
        </p:blipFill>
        <p:spPr>
          <a:xfrm>
            <a:off x="395288" y="2763583"/>
            <a:ext cx="11339512" cy="2748090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91122EA8-51EA-B45A-F146-54E9ACCF97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17C73A4-85D1-C333-8A65-77CFD9F8B2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DFFCA54-4FA2-CFF5-D95F-EDAFD84CB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D9F42C-6B13-0503-A824-3E4085FBC6D3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B8E3777-7B74-F88B-3CC0-C5D82AC3914F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EFBD4E-1EBF-318A-E242-54E9CB842C5F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48AAED-4B8C-A0BE-5832-EBB9F77E740E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D62F6B0-F769-37A1-6328-D319B3599786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4F2F45-75F2-FA05-E45D-9BD20EA25A0D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E5E648-322C-3742-E9C3-C8AE9E7CABF7}"/>
              </a:ext>
            </a:extLst>
          </p:cNvPr>
          <p:cNvCxnSpPr>
            <a:cxnSpLocks/>
          </p:cNvCxnSpPr>
          <p:nvPr/>
        </p:nvCxnSpPr>
        <p:spPr>
          <a:xfrm flipV="1">
            <a:off x="887690" y="4298623"/>
            <a:ext cx="0" cy="16554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04894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BBB11-2140-4236-6043-502BDFD2D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88200C0-6F8C-E12B-8AC6-48A5C0F0FA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1340" b="63911"/>
          <a:stretch>
            <a:fillRect/>
          </a:stretch>
        </p:blipFill>
        <p:spPr>
          <a:xfrm>
            <a:off x="395288" y="2763583"/>
            <a:ext cx="11339512" cy="279636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6EF27A45-BFA3-89CF-BB72-F6E0C32392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9D1B7B6-2D0E-98AD-21FA-2D77888E6D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0B71A4E-B2B2-268F-AF66-4B0BCF552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t_squared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45BDAD-3114-9D71-9D53-6807EFF14CB5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C48610C-2D98-F8EB-59C2-83F2B13F0357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20FF69-E108-8E09-2E8F-12E3A5632233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E6F9C79-4489-1ED6-6BFC-2BB05120DDCA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3D37553-BDCF-41FF-0EA5-494813B7C656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213F17-2699-3C54-0AC9-C196A765C41A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C7AE268-1F16-8A83-CD34-07A0E05B450F}"/>
              </a:ext>
            </a:extLst>
          </p:cNvPr>
          <p:cNvCxnSpPr>
            <a:cxnSpLocks/>
          </p:cNvCxnSpPr>
          <p:nvPr/>
        </p:nvCxnSpPr>
        <p:spPr>
          <a:xfrm flipV="1">
            <a:off x="887690" y="4471752"/>
            <a:ext cx="0" cy="14823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510397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74D5F-9141-1017-B4EC-1C08A0E57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A9E44B3-FABD-76BF-A0E1-B411E7FB68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6168"/>
          <a:stretch>
            <a:fillRect/>
          </a:stretch>
        </p:blipFill>
        <p:spPr>
          <a:xfrm>
            <a:off x="395288" y="2763583"/>
            <a:ext cx="11339512" cy="262923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48C43E1C-DD45-0FCE-996C-1972FA3C6C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0207CC6-B563-9632-2643-D0CA36E8C3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5F4620BD-4806-282E-C8C4-B12DAC31A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B38AA6-6E1D-B919-9C29-CEE8F5358936}"/>
              </a:ext>
            </a:extLst>
          </p:cNvPr>
          <p:cNvSpPr/>
          <p:nvPr/>
        </p:nvSpPr>
        <p:spPr>
          <a:xfrm>
            <a:off x="3431355" y="4462325"/>
            <a:ext cx="763572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974CBC-D81D-7911-B5B7-BBEAACF852D7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FEF2C70-4D69-7AAD-087C-50194A271055}"/>
              </a:ext>
            </a:extLst>
          </p:cNvPr>
          <p:cNvCxnSpPr>
            <a:cxnSpLocks/>
          </p:cNvCxnSpPr>
          <p:nvPr/>
        </p:nvCxnSpPr>
        <p:spPr>
          <a:xfrm flipV="1">
            <a:off x="887690" y="4609707"/>
            <a:ext cx="0" cy="13443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AC8F78-7936-B7B3-57BB-558996743A82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Min, Max, &amp; Unit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9650A7-EC80-85DB-2B51-88E4219F5387}"/>
              </a:ext>
            </a:extLst>
          </p:cNvPr>
          <p:cNvCxnSpPr>
            <a:cxnSpLocks/>
          </p:cNvCxnSpPr>
          <p:nvPr/>
        </p:nvCxnSpPr>
        <p:spPr>
          <a:xfrm flipV="1">
            <a:off x="3651315" y="4609707"/>
            <a:ext cx="0" cy="13443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38284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D845A-3564-7321-F724-994F68052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D11B06F4-8108-9BF9-3D61-6FA50C15A5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5212"/>
          <a:stretch>
            <a:fillRect/>
          </a:stretch>
        </p:blipFill>
        <p:spPr>
          <a:xfrm>
            <a:off x="395288" y="2763583"/>
            <a:ext cx="11339512" cy="2703529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CDBC6E96-A207-3A6F-B637-4DCE7067F5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03BFAB8-C701-3C6F-FEFA-39A071CAA1B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476083E-91D3-7094-1A0F-2D9629B6F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neg_4t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4794D14-474E-9985-45B7-0EF6DBB01F25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8863FEF8-2D9F-BD2A-CDB7-1296737475F5}"/>
              </a:ext>
            </a:extLst>
          </p:cNvPr>
          <p:cNvSpPr/>
          <p:nvPr/>
        </p:nvSpPr>
        <p:spPr>
          <a:xfrm>
            <a:off x="3431355" y="4613155"/>
            <a:ext cx="457200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0D6291-F449-D4B7-6B56-44B8F48070C4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42740-13CD-1138-AE3E-7533044F6819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814C2D-F84C-1661-0943-2223E7083A39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64A9F52-E483-2370-2CD5-C0A0061F477A}"/>
              </a:ext>
            </a:extLst>
          </p:cNvPr>
          <p:cNvCxnSpPr>
            <a:cxnSpLocks/>
          </p:cNvCxnSpPr>
          <p:nvPr/>
        </p:nvCxnSpPr>
        <p:spPr>
          <a:xfrm flipV="1">
            <a:off x="887690" y="4741682"/>
            <a:ext cx="0" cy="1212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E77D274-81EF-B832-A38D-C11E284285A9}"/>
              </a:ext>
            </a:extLst>
          </p:cNvPr>
          <p:cNvCxnSpPr>
            <a:cxnSpLocks/>
          </p:cNvCxnSpPr>
          <p:nvPr/>
        </p:nvCxnSpPr>
        <p:spPr>
          <a:xfrm flipV="1">
            <a:off x="3651315" y="4741682"/>
            <a:ext cx="0" cy="1212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9E2D280-B00E-314B-CC5A-63557F26788F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 &amp; Max</a:t>
            </a:r>
          </a:p>
        </p:txBody>
      </p:sp>
    </p:spTree>
    <p:extLst>
      <p:ext uri="{BB962C8B-B14F-4D97-AF65-F5344CB8AC3E}">
        <p14:creationId xmlns:p14="http://schemas.microsoft.com/office/powerpoint/2010/main" val="267413780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4D207-C0B4-1667-F3BE-6C486BE8B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303A181-83F0-17C9-CCA5-FC7821E936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3911"/>
          <a:stretch>
            <a:fillRect/>
          </a:stretch>
        </p:blipFill>
        <p:spPr>
          <a:xfrm>
            <a:off x="395288" y="2763583"/>
            <a:ext cx="11339512" cy="2804636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DA9147B2-0AC5-2E11-F7ED-49C2510A88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F2815B2-DE40-D65A-3C49-350AF295EF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6259CA1-F1E6-AFA9-F7E1-581CFF453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coeffA_t_squared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6449395-482F-4E8E-8300-9ADADF464824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CDA7C52-D690-C394-351E-E464472D74B9}"/>
              </a:ext>
            </a:extLst>
          </p:cNvPr>
          <p:cNvSpPr/>
          <p:nvPr/>
        </p:nvSpPr>
        <p:spPr>
          <a:xfrm>
            <a:off x="3431355" y="4754560"/>
            <a:ext cx="731520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3C244D-5575-8B46-B83B-01724A225CEA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D5A3CB-851E-0670-8CCA-96D37B450B4E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67F618-2F54-B7FB-19F6-67E1E8482C42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A080208-54B4-11CA-2BCE-4E8D20E12909}"/>
              </a:ext>
            </a:extLst>
          </p:cNvPr>
          <p:cNvCxnSpPr>
            <a:cxnSpLocks/>
          </p:cNvCxnSpPr>
          <p:nvPr/>
        </p:nvCxnSpPr>
        <p:spPr>
          <a:xfrm flipV="1">
            <a:off x="887690" y="4883087"/>
            <a:ext cx="0" cy="10709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648C6CC-0363-E437-6B5A-9B2DBE69DFE3}"/>
              </a:ext>
            </a:extLst>
          </p:cNvPr>
          <p:cNvCxnSpPr>
            <a:cxnSpLocks/>
          </p:cNvCxnSpPr>
          <p:nvPr/>
        </p:nvCxnSpPr>
        <p:spPr>
          <a:xfrm flipV="1">
            <a:off x="3651315" y="4883087"/>
            <a:ext cx="0" cy="10709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4AF6720-589F-4FAB-12F1-1214B39B70B8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Min, Max, &amp; Unit</a:t>
            </a:r>
          </a:p>
        </p:txBody>
      </p:sp>
    </p:spTree>
    <p:extLst>
      <p:ext uri="{BB962C8B-B14F-4D97-AF65-F5344CB8AC3E}">
        <p14:creationId xmlns:p14="http://schemas.microsoft.com/office/powerpoint/2010/main" val="168530696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790E2-E65B-B80C-A147-63BA111C9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9F20114-5DCC-1475-4122-08AE2ACB6C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17" b="63911"/>
          <a:stretch>
            <a:fillRect/>
          </a:stretch>
        </p:blipFill>
        <p:spPr>
          <a:xfrm>
            <a:off x="395288" y="2763583"/>
            <a:ext cx="11339512" cy="279910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3AB71915-A146-C526-66DC-6FB8B15AE1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C93CD8E-C362-2757-F2EE-007394D430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66741A6-ACA0-D8F1-362D-9DAAB5271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COEFF_C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640C4C4-5F1E-33EF-FDE4-2619408410A9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D400FB8-E1FD-1F18-F760-E0F42D22440B}"/>
              </a:ext>
            </a:extLst>
          </p:cNvPr>
          <p:cNvSpPr/>
          <p:nvPr/>
        </p:nvSpPr>
        <p:spPr>
          <a:xfrm>
            <a:off x="1728877" y="4889024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B8D03F-77EF-E2EC-5F7F-9D376B1BC7ED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67AAC5-39E5-8E7A-FA54-1F9EFA2911BE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7C78AD-7483-CAEF-4D79-E579CF49D2D0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48E08E9-AA0C-9548-E5F5-A6E3AF8AE149}"/>
              </a:ext>
            </a:extLst>
          </p:cNvPr>
          <p:cNvCxnSpPr>
            <a:cxnSpLocks/>
          </p:cNvCxnSpPr>
          <p:nvPr/>
        </p:nvCxnSpPr>
        <p:spPr>
          <a:xfrm flipV="1">
            <a:off x="887690" y="5081047"/>
            <a:ext cx="0" cy="8730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227F04A-359A-E2E8-F408-E971BDBBA5AC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081047"/>
            <a:ext cx="1210411" cy="8730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07B97BF-028E-0890-0058-8813E4F83744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377701553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780D6-1783-3ED6-E82E-2B0456AB7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FA40390A-1795-0D92-664F-2D5D608FFA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b="65068"/>
          <a:stretch>
            <a:fillRect/>
          </a:stretch>
        </p:blipFill>
        <p:spPr>
          <a:xfrm>
            <a:off x="395288" y="2763583"/>
            <a:ext cx="11339512" cy="2706713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10FD9EC6-CE0E-2177-5745-6452BC2613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141BA6-76B6-48D0-D41E-E6A49D0884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DE6ADA6-E828-9CDF-CD91-C6484DB8A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COEFF_B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F3DEB42-FAF3-69E1-7F86-E712F1DB4770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FB3914F-5E41-E149-5FA7-4FEB2536F426}"/>
              </a:ext>
            </a:extLst>
          </p:cNvPr>
          <p:cNvSpPr/>
          <p:nvPr/>
        </p:nvSpPr>
        <p:spPr>
          <a:xfrm>
            <a:off x="1728877" y="5039856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B3436E-0191-05F3-B621-E78CA0DE8451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A3245F-0C94-6F62-31BC-A933F2D51D49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17689D-A739-3C04-9841-8DE2D802D698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7A9DBDD-9257-6D5D-D541-7FA954B78A39}"/>
              </a:ext>
            </a:extLst>
          </p:cNvPr>
          <p:cNvCxnSpPr>
            <a:cxnSpLocks/>
          </p:cNvCxnSpPr>
          <p:nvPr/>
        </p:nvCxnSpPr>
        <p:spPr>
          <a:xfrm flipV="1">
            <a:off x="887690" y="5222452"/>
            <a:ext cx="0" cy="7316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7BCF120-C409-9CB4-7665-D76644B09254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222452"/>
            <a:ext cx="1210411" cy="7316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A8CCCD6-EAFF-6C2A-B788-2E08295F7E62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25114108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F741B-47CD-F1AF-1DE9-FED66D489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8B52207-1101-5714-956F-95A4420F05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1417" b="64925"/>
          <a:stretch>
            <a:fillRect/>
          </a:stretch>
        </p:blipFill>
        <p:spPr>
          <a:xfrm>
            <a:off x="395288" y="2763583"/>
            <a:ext cx="11339512" cy="2720457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E8A8584-25D2-AA2A-41FD-00F6DDFB34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E1291BB-B162-3901-2872-CE721BE4FA3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3F444719-FB01-34EB-9359-A293D3C9A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COEFF_A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5D10063-E618-CED8-0C10-1AAB98DC6F14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69E84A4-7C8D-72AA-C97C-21C4FAF2E411}"/>
              </a:ext>
            </a:extLst>
          </p:cNvPr>
          <p:cNvSpPr/>
          <p:nvPr/>
        </p:nvSpPr>
        <p:spPr>
          <a:xfrm>
            <a:off x="1728877" y="5181260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D85290-4301-D700-CC39-7224F6414321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8BB86-8FC1-1E3C-D07B-0493F3AD2C22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31F459-EF4C-CF50-718C-CFEB23B3CEEE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01F9CF4-4157-3670-341D-98B7D2383DBB}"/>
              </a:ext>
            </a:extLst>
          </p:cNvPr>
          <p:cNvCxnSpPr>
            <a:cxnSpLocks/>
          </p:cNvCxnSpPr>
          <p:nvPr/>
        </p:nvCxnSpPr>
        <p:spPr>
          <a:xfrm flipV="1">
            <a:off x="887690" y="5363856"/>
            <a:ext cx="0" cy="590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F132E06-F006-E5E5-F18E-38B5C26C769D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363856"/>
            <a:ext cx="1210411" cy="590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D17DC02-0D7B-20CC-73A9-F377E0ABC06B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14914933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Content Placeholder 39">
            <a:extLst>
              <a:ext uri="{FF2B5EF4-FFF2-40B4-BE49-F238E27FC236}">
                <a16:creationId xmlns:a16="http://schemas.microsoft.com/office/drawing/2014/main" id="{70633D7F-3D78-AF7E-1369-A392671055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149" b="65788"/>
          <a:stretch>
            <a:fillRect/>
          </a:stretch>
        </p:blipFill>
        <p:spPr>
          <a:xfrm>
            <a:off x="395818" y="2222225"/>
            <a:ext cx="1829274" cy="2838448"/>
          </a:xfrm>
          <a:prstGeom prst="rect">
            <a:avLst/>
          </a:prstGeom>
        </p:spPr>
      </p:pic>
      <p:pic>
        <p:nvPicPr>
          <p:cNvPr id="52" name="Content Placeholder 51">
            <a:extLst>
              <a:ext uri="{FF2B5EF4-FFF2-40B4-BE49-F238E27FC236}">
                <a16:creationId xmlns:a16="http://schemas.microsoft.com/office/drawing/2014/main" id="{867BF82A-0AEC-FC46-55C8-6862CD5CEA8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905" b="65212"/>
          <a:stretch>
            <a:fillRect/>
          </a:stretch>
        </p:blipFill>
        <p:spPr>
          <a:xfrm>
            <a:off x="9520960" y="2222225"/>
            <a:ext cx="1860672" cy="2876550"/>
          </a:xfrm>
          <a:prstGeom prst="rect">
            <a:avLst/>
          </a:prstGeom>
        </p:spPr>
      </p:pic>
      <p:pic>
        <p:nvPicPr>
          <p:cNvPr id="46" name="Content Placeholder 45">
            <a:extLst>
              <a:ext uri="{FF2B5EF4-FFF2-40B4-BE49-F238E27FC236}">
                <a16:creationId xmlns:a16="http://schemas.microsoft.com/office/drawing/2014/main" id="{80F4257A-BF6C-DCFC-470E-286164FC01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7820" b="47231"/>
          <a:stretch>
            <a:fillRect/>
          </a:stretch>
        </p:blipFill>
        <p:spPr>
          <a:xfrm>
            <a:off x="4228569" y="2222225"/>
            <a:ext cx="3415140" cy="4367212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921268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21268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polynomial_System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698773" cy="884420"/>
          </a:xfrm>
        </p:spPr>
        <p:txBody>
          <a:bodyPr/>
          <a:lstStyle/>
          <a:p>
            <a:pPr fontAlgn="t">
              <a:lnSpc>
                <a:spcPct val="100000"/>
              </a:lnSpc>
              <a:buNone/>
            </a:pPr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Changes made to the data dictionary must be saved from Model Explorer. Otherwise, the changes will not be applied and may be lost.</a:t>
            </a:r>
            <a:br>
              <a:rPr lang="en-US" sz="1200" b="0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Pressing </a:t>
            </a:r>
            <a:r>
              <a:rPr lang="en-US" sz="1200" i="1" dirty="0" err="1">
                <a:solidFill>
                  <a:srgbClr val="FF0000"/>
                </a:solidFill>
              </a:rPr>
              <a:t>Ctrl+S</a:t>
            </a:r>
            <a:r>
              <a:rPr lang="en-US" sz="1200" b="0" i="1" dirty="0">
                <a:solidFill>
                  <a:srgbClr val="FF0000"/>
                </a:solidFill>
              </a:rPr>
              <a:t> in Model Explorer does </a:t>
            </a:r>
            <a:r>
              <a:rPr lang="en-US" sz="1200" i="1" dirty="0">
                <a:solidFill>
                  <a:srgbClr val="FF0000"/>
                </a:solidFill>
              </a:rPr>
              <a:t>not</a:t>
            </a:r>
            <a:r>
              <a:rPr lang="en-US" sz="1200" b="0" i="1" dirty="0">
                <a:solidFill>
                  <a:srgbClr val="FF0000"/>
                </a:solidFill>
              </a:rPr>
              <a:t> save data dictionary changes. Instead, it may create a new signal or have a different action than expected. To save dictionary changes, right-click the data dictionary and select </a:t>
            </a:r>
            <a:r>
              <a:rPr lang="en-US" sz="1200" i="1" dirty="0">
                <a:solidFill>
                  <a:srgbClr val="FF0000"/>
                </a:solidFill>
              </a:rPr>
              <a:t>Save Changes</a:t>
            </a:r>
            <a:r>
              <a:rPr lang="en-US" sz="1200" b="0" i="1" dirty="0">
                <a:solidFill>
                  <a:srgbClr val="FF0000"/>
                </a:solidFill>
              </a:rPr>
              <a:t>. Yes, this behavior surprises everyone at least once.</a:t>
            </a:r>
            <a:br>
              <a:rPr lang="en-US" sz="1200" b="0" dirty="0">
                <a:solidFill>
                  <a:srgbClr val="FF0000"/>
                </a:solidFill>
              </a:rPr>
            </a:br>
            <a:endParaRPr lang="en-US" sz="1200" b="0" i="1" dirty="0">
              <a:solidFill>
                <a:srgbClr val="FF0000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921268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2569110" y="4352435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927197" y="4544070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809642" y="5150635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692088" y="4359404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692088" y="4965969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1313384" y="4504057"/>
            <a:ext cx="54841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06955DC-3FFF-237B-17F6-499A26CC3CF8}"/>
              </a:ext>
            </a:extLst>
          </p:cNvPr>
          <p:cNvCxnSpPr>
            <a:cxnSpLocks/>
          </p:cNvCxnSpPr>
          <p:nvPr/>
        </p:nvCxnSpPr>
        <p:spPr>
          <a:xfrm flipH="1">
            <a:off x="2141842" y="4537101"/>
            <a:ext cx="45826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B95F5-7676-FA21-7871-7359A9741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7499F052-7A00-F457-A1E1-1A3F77EB5E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EC37B28-B275-3859-A599-22EF5EB7F9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FAB7E-BCF6-A3F2-7A8B-F12AFA4E3A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882792-361B-0D18-9759-A41C44134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CE6114-E0E3-27C7-9C29-311E36927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A30A1F-56BD-7FD3-5AE8-F40BF5311838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C7D9048-787C-D81D-8DCD-9981E6DAE5A5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351D588-A7BE-BE17-1684-370E462A34FA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35645620-4FD8-BAD2-694A-CC884FAF4AB2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8D7D1E24-5768-F8B8-8329-C0842927C92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9709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Value is 15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C4BC4-A1DB-1B38-CAB4-BADC98C3C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924514A-9B22-3091-29BC-822E2BF80F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208"/>
          <a:stretch>
            <a:fillRect/>
          </a:stretch>
        </p:blipFill>
        <p:spPr>
          <a:xfrm>
            <a:off x="1434022" y="2852309"/>
            <a:ext cx="9145277" cy="1945786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0FE5B-6AB6-B891-1592-0E25D74303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 or press CTRL+T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EFD8D9D-1BEE-B792-F7DE-C63E0140A1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7D32130-00E7-DC09-E4C0-A73EE327D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02822A-F304-8B01-4947-FB746146F6D7}"/>
              </a:ext>
            </a:extLst>
          </p:cNvPr>
          <p:cNvSpPr/>
          <p:nvPr/>
        </p:nvSpPr>
        <p:spPr>
          <a:xfrm>
            <a:off x="7984502" y="3266639"/>
            <a:ext cx="499619" cy="871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B5E592F-832E-94D7-00DC-9FC1467555A3}"/>
              </a:ext>
            </a:extLst>
          </p:cNvPr>
          <p:cNvCxnSpPr>
            <a:cxnSpLocks/>
          </p:cNvCxnSpPr>
          <p:nvPr/>
        </p:nvCxnSpPr>
        <p:spPr>
          <a:xfrm flipV="1">
            <a:off x="8238827" y="4138366"/>
            <a:ext cx="0" cy="8672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1177E5B-6CDC-D0A8-41EB-D4F31B5849ED}"/>
              </a:ext>
            </a:extLst>
          </p:cNvPr>
          <p:cNvSpPr txBox="1"/>
          <p:nvPr/>
        </p:nvSpPr>
        <p:spPr>
          <a:xfrm>
            <a:off x="7432982" y="5005633"/>
            <a:ext cx="34266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Run or press CTRL+T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635C5E-80DC-C347-5731-89ED045577A3}"/>
              </a:ext>
            </a:extLst>
          </p:cNvPr>
          <p:cNvSpPr txBox="1"/>
          <p:nvPr/>
        </p:nvSpPr>
        <p:spPr>
          <a:xfrm>
            <a:off x="1434022" y="5005633"/>
            <a:ext cx="4449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 Tab “SIMULATION”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9FB9BA6-7410-C27E-D7FD-80A42610E7F6}"/>
              </a:ext>
            </a:extLst>
          </p:cNvPr>
          <p:cNvCxnSpPr>
            <a:cxnSpLocks/>
          </p:cNvCxnSpPr>
          <p:nvPr/>
        </p:nvCxnSpPr>
        <p:spPr>
          <a:xfrm flipV="1">
            <a:off x="2178963" y="3338659"/>
            <a:ext cx="0" cy="17457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62303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Value is 15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E810F-E35A-39FE-4074-C4CC52C17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8017A1F-87D4-89CA-7FC8-5FCCBC3A60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208"/>
          <a:stretch>
            <a:fillRect/>
          </a:stretch>
        </p:blipFill>
        <p:spPr>
          <a:xfrm>
            <a:off x="1434022" y="2852309"/>
            <a:ext cx="9145277" cy="1945786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6307700-CDCE-E85D-192E-5E8C6FA946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Data Inspector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B673E1E-E566-D635-06E9-BDD8F7C665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BD56D86-68FA-DF61-75A3-4EF54C969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13332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49D1CD6-33BB-C72B-0C7A-49330314B7B0}"/>
              </a:ext>
            </a:extLst>
          </p:cNvPr>
          <p:cNvSpPr/>
          <p:nvPr/>
        </p:nvSpPr>
        <p:spPr>
          <a:xfrm>
            <a:off x="9643619" y="3266639"/>
            <a:ext cx="848413" cy="871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459727-E430-F99D-A90C-75937C39129C}"/>
              </a:ext>
            </a:extLst>
          </p:cNvPr>
          <p:cNvCxnSpPr>
            <a:cxnSpLocks/>
          </p:cNvCxnSpPr>
          <p:nvPr/>
        </p:nvCxnSpPr>
        <p:spPr>
          <a:xfrm flipV="1">
            <a:off x="10105333" y="4138366"/>
            <a:ext cx="0" cy="8672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7F560EE-5B75-8140-AEAA-1B249351F639}"/>
              </a:ext>
            </a:extLst>
          </p:cNvPr>
          <p:cNvSpPr txBox="1"/>
          <p:nvPr/>
        </p:nvSpPr>
        <p:spPr>
          <a:xfrm>
            <a:off x="7432982" y="5005633"/>
            <a:ext cx="34266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Data Inspector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A66D39-FA0D-75D8-737A-7BFDB8F8C867}"/>
              </a:ext>
            </a:extLst>
          </p:cNvPr>
          <p:cNvSpPr txBox="1"/>
          <p:nvPr/>
        </p:nvSpPr>
        <p:spPr>
          <a:xfrm>
            <a:off x="1434022" y="5005633"/>
            <a:ext cx="4449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 Tab “SIMULATION”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99EFA9C-CEF4-91C8-3688-6081ECD647BE}"/>
              </a:ext>
            </a:extLst>
          </p:cNvPr>
          <p:cNvCxnSpPr>
            <a:cxnSpLocks/>
          </p:cNvCxnSpPr>
          <p:nvPr/>
        </p:nvCxnSpPr>
        <p:spPr>
          <a:xfrm flipV="1">
            <a:off x="2178963" y="3338659"/>
            <a:ext cx="0" cy="17457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83089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1211D-CFD6-75DF-F2C5-D9A7E2333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8A921C4-F40A-66DA-0EB5-035A470C45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AFA06D-91EF-F3A3-CBDD-0A1B7E0E20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9787406-0385-3789-946E-22C82F936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Data Inspector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8878222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733B-6490-CC0E-F3B4-E1C8223E1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BD9AED-A0B9-412E-8941-7854AAD240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DA05A9CF-EDDC-7AB2-0676-089111F65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Cursor</a:t>
            </a:r>
            <a:endParaRPr lang="en-US" sz="1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6881158-47E0-B1EB-7C65-14A739B2B0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37766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6323FA09-5A4D-F5DB-DDA8-DF0724F2AD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Click Save / Save As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7C94AA0-A811-7D26-A7B7-EE86C208C6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Click Save Icon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BC959635-F12C-0753-7118-71D8222792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1372B97B-3D8C-C99E-479F-17C20DB12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Data Inspector File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906DF845-60F0-440A-AF10-80C117A6794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Save File</a:t>
            </a:r>
          </a:p>
        </p:txBody>
      </p:sp>
      <p:pic>
        <p:nvPicPr>
          <p:cNvPr id="28" name="Content Placeholder 16">
            <a:extLst>
              <a:ext uri="{FF2B5EF4-FFF2-40B4-BE49-F238E27FC236}">
                <a16:creationId xmlns:a16="http://schemas.microsoft.com/office/drawing/2014/main" id="{DD893973-2549-BBFF-8EF0-7D4CACFAEF9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1720" b="72255"/>
          <a:stretch>
            <a:fillRect/>
          </a:stretch>
        </p:blipFill>
        <p:spPr>
          <a:xfrm>
            <a:off x="4445675" y="2416603"/>
            <a:ext cx="3343513" cy="2727659"/>
          </a:xfrm>
          <a:prstGeom prst="rect">
            <a:avLst/>
          </a:prstGeom>
        </p:spPr>
      </p:pic>
      <p:pic>
        <p:nvPicPr>
          <p:cNvPr id="32" name="Content Placeholder 28">
            <a:extLst>
              <a:ext uri="{FF2B5EF4-FFF2-40B4-BE49-F238E27FC236}">
                <a16:creationId xmlns:a16="http://schemas.microsoft.com/office/drawing/2014/main" id="{51E0382E-4B32-08F2-C76C-FC34F47E98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9999" b="63176"/>
          <a:stretch>
            <a:fillRect/>
          </a:stretch>
        </p:blipFill>
        <p:spPr>
          <a:xfrm>
            <a:off x="1369000" y="2416603"/>
            <a:ext cx="1829238" cy="3620231"/>
          </a:xfrm>
          <a:prstGeom prst="rect">
            <a:avLst/>
          </a:prstGeom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F7D6D3B-1311-BDAD-A20D-8889C4B2C4F7}"/>
              </a:ext>
            </a:extLst>
          </p:cNvPr>
          <p:cNvCxnSpPr>
            <a:cxnSpLocks/>
          </p:cNvCxnSpPr>
          <p:nvPr/>
        </p:nvCxnSpPr>
        <p:spPr>
          <a:xfrm>
            <a:off x="590595" y="4524866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3CC5FEE-E47A-16CC-ACE8-D247B5FC37B4}"/>
              </a:ext>
            </a:extLst>
          </p:cNvPr>
          <p:cNvCxnSpPr>
            <a:cxnSpLocks/>
          </p:cNvCxnSpPr>
          <p:nvPr/>
        </p:nvCxnSpPr>
        <p:spPr>
          <a:xfrm>
            <a:off x="3667270" y="4524866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40" name="Content Placeholder 36">
            <a:extLst>
              <a:ext uri="{FF2B5EF4-FFF2-40B4-BE49-F238E27FC236}">
                <a16:creationId xmlns:a16="http://schemas.microsoft.com/office/drawing/2014/main" id="{C1E61F67-C2C1-453B-4368-A61C3A7804B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67630"/>
          <a:stretch>
            <a:fillRect/>
          </a:stretch>
        </p:blipFill>
        <p:spPr>
          <a:xfrm>
            <a:off x="8696714" y="2043113"/>
            <a:ext cx="2509059" cy="4367212"/>
          </a:xfrm>
          <a:prstGeom prst="rect">
            <a:avLst/>
          </a:prstGeom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9030FCC-14CA-80A5-2C92-B96C6A90BB18}"/>
              </a:ext>
            </a:extLst>
          </p:cNvPr>
          <p:cNvCxnSpPr>
            <a:cxnSpLocks/>
          </p:cNvCxnSpPr>
          <p:nvPr/>
        </p:nvCxnSpPr>
        <p:spPr>
          <a:xfrm>
            <a:off x="8419951" y="5299435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43" name="Content Placeholder 36">
            <a:extLst>
              <a:ext uri="{FF2B5EF4-FFF2-40B4-BE49-F238E27FC236}">
                <a16:creationId xmlns:a16="http://schemas.microsoft.com/office/drawing/2014/main" id="{BFE0DABE-B113-6326-B179-383888EF2C6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7167" r="11651"/>
          <a:stretch>
            <a:fillRect/>
          </a:stretch>
        </p:blipFill>
        <p:spPr>
          <a:xfrm>
            <a:off x="11163299" y="2043113"/>
            <a:ext cx="866775" cy="4367212"/>
          </a:xfrm>
          <a:prstGeom prst="rect">
            <a:avLst/>
          </a:prstGeom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5D148F4-998C-0941-E82F-2F30A1D25761}"/>
              </a:ext>
            </a:extLst>
          </p:cNvPr>
          <p:cNvCxnSpPr>
            <a:cxnSpLocks/>
          </p:cNvCxnSpPr>
          <p:nvPr/>
        </p:nvCxnSpPr>
        <p:spPr>
          <a:xfrm>
            <a:off x="10384894" y="6175735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61043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5036-8039-0E98-32EC-937893C8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8D9542-37E8-803E-1BD9-2D546D9B869C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Launch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89401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008710-C0EB-4FD2-A9EA-A8F1281D6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4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Add-in_Icon" descr="Icon for Microsoft Power BI.">
            <a:extLst>
              <a:ext uri="{FF2B5EF4-FFF2-40B4-BE49-F238E27FC236}">
                <a16:creationId xmlns:a16="http://schemas.microsoft.com/office/drawing/2014/main" id="{5D58D801-6773-16C9-A8D2-FFC7EBB3E7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448806" y="471750"/>
            <a:ext cx="291465" cy="291465"/>
          </a:xfrm>
          <a:prstGeom prst="rect">
            <a:avLst/>
          </a:prstGeom>
          <a:noFill/>
        </p:spPr>
      </p:pic>
      <p:sp>
        <p:nvSpPr>
          <p:cNvPr id="9" name="InstallationHelpContent">
            <a:extLst>
              <a:ext uri="{FF2B5EF4-FFF2-40B4-BE49-F238E27FC236}">
                <a16:creationId xmlns:a16="http://schemas.microsoft.com/office/drawing/2014/main" id="{7546BC82-82B0-1DA5-83A8-832E247AECA0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InstallationHelpHeader">
            <a:extLst>
              <a:ext uri="{FF2B5EF4-FFF2-40B4-BE49-F238E27FC236}">
                <a16:creationId xmlns:a16="http://schemas.microsoft.com/office/drawing/2014/main" id="{16E6AD5B-209B-8FCB-3F9E-7AB7B48E2B16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1" name="LaunchHelpImage" descr="Office ribbon open on the Home tab.">
            <a:extLst>
              <a:ext uri="{FF2B5EF4-FFF2-40B4-BE49-F238E27FC236}">
                <a16:creationId xmlns:a16="http://schemas.microsoft.com/office/drawing/2014/main" id="{6E6B97A0-7151-814C-B11C-2F769C4B65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12" name="MyAdd-ins">
            <a:extLst>
              <a:ext uri="{FF2B5EF4-FFF2-40B4-BE49-F238E27FC236}">
                <a16:creationId xmlns:a16="http://schemas.microsoft.com/office/drawing/2014/main" id="{E02A9CC5-71EF-ECF3-5B79-196434B384F0}"/>
              </a:ext>
            </a:extLst>
          </p:cNvPr>
          <p:cNvSpPr txBox="1"/>
          <p:nvPr/>
        </p:nvSpPr>
        <p:spPr>
          <a:xfrm>
            <a:off x="5678424" y="3392424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abName">
            <a:extLst>
              <a:ext uri="{FF2B5EF4-FFF2-40B4-BE49-F238E27FC236}">
                <a16:creationId xmlns:a16="http://schemas.microsoft.com/office/drawing/2014/main" id="{20F738CC-6671-7BF5-89CF-590043DB1285}"/>
              </a:ext>
            </a:extLst>
          </p:cNvPr>
          <p:cNvSpPr txBox="1"/>
          <p:nvPr/>
        </p:nvSpPr>
        <p:spPr>
          <a:xfrm>
            <a:off x="1490472" y="2633472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LaunchHelpContent2">
            <a:extLst>
              <a:ext uri="{FF2B5EF4-FFF2-40B4-BE49-F238E27FC236}">
                <a16:creationId xmlns:a16="http://schemas.microsoft.com/office/drawing/2014/main" id="{3D8CBDB8-9B83-3EA9-3404-247171A3877A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LaunchHelpContent1">
            <a:extLst>
              <a:ext uri="{FF2B5EF4-FFF2-40B4-BE49-F238E27FC236}">
                <a16:creationId xmlns:a16="http://schemas.microsoft.com/office/drawing/2014/main" id="{40F34F9B-9A7C-0B18-CF10-40A6EA5E951F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LaunchHelpHeader">
            <a:extLst>
              <a:ext uri="{FF2B5EF4-FFF2-40B4-BE49-F238E27FC236}">
                <a16:creationId xmlns:a16="http://schemas.microsoft.com/office/drawing/2014/main" id="{3B2EDEE1-3260-050C-41BB-338682ADDF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</p:spTree>
    <p:extLst>
      <p:ext uri="{BB962C8B-B14F-4D97-AF65-F5344CB8AC3E}">
        <p14:creationId xmlns:p14="http://schemas.microsoft.com/office/powerpoint/2010/main" val="124243603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F1480-D393-77EF-BB60-969A418F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2C893AA-EB94-1B8F-75A6-1D2921812E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 </a:t>
            </a:r>
            <a:r>
              <a:rPr lang="en-US" dirty="0"/>
              <a:t>Test Results</a:t>
            </a:r>
          </a:p>
        </p:txBody>
      </p:sp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5" name="Add-in" descr="Add-in content for Microsoft Power BI.">
                <a:extLst>
                  <a:ext uri="{FF2B5EF4-FFF2-40B4-BE49-F238E27FC236}">
                    <a16:creationId xmlns:a16="http://schemas.microsoft.com/office/drawing/2014/main" id="{23650CF7-5DCD-5894-1234-001434C6B303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395288" y="1133475"/>
              <a:ext cx="11341100" cy="522128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5" name="Add-in" descr="Add-in content for Microsoft Power BI.">
                <a:extLst>
                  <a:ext uri="{FF2B5EF4-FFF2-40B4-BE49-F238E27FC236}">
                    <a16:creationId xmlns:a16="http://schemas.microsoft.com/office/drawing/2014/main" id="{23650CF7-5DCD-5894-1234-001434C6B30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5288" y="1133475"/>
                <a:ext cx="11341100" cy="522128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0601286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27B0-FC76-9619-3B40-9CDC0B721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Only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9C65C-2639-7A58-9087-D07C49590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Quiz – Summary Page</a:t>
            </a:r>
            <a:r>
              <a:rPr lang="en-US" dirty="0"/>
              <a:t> 		METRICS for Mike and Brandon</a:t>
            </a:r>
          </a:p>
          <a:p>
            <a:r>
              <a:rPr lang="en-US" dirty="0">
                <a:hlinkClick r:id="rId3"/>
              </a:rPr>
              <a:t>Quiz – Responses Overview</a:t>
            </a:r>
            <a:endParaRPr lang="en-US" dirty="0"/>
          </a:p>
          <a:p>
            <a:r>
              <a:rPr lang="en-US" dirty="0">
                <a:hlinkClick r:id="rId4"/>
              </a:rPr>
              <a:t>Quiz – Excel Log</a:t>
            </a:r>
            <a:r>
              <a:rPr lang="en-US" dirty="0"/>
              <a:t> </a:t>
            </a:r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5"/>
              </a:rPr>
              <a:t>My files – OneDrive</a:t>
            </a:r>
            <a:r>
              <a:rPr lang="en-US" dirty="0"/>
              <a:t> 		Where Excel Log is stored</a:t>
            </a:r>
          </a:p>
          <a:p>
            <a:endParaRPr lang="en-US" dirty="0">
              <a:hlinkClick r:id="rId6"/>
            </a:endParaRPr>
          </a:p>
          <a:p>
            <a:r>
              <a:rPr lang="en-US" dirty="0">
                <a:hlinkClick r:id="rId6"/>
              </a:rPr>
              <a:t>Power BI – Workspace</a:t>
            </a:r>
            <a:r>
              <a:rPr lang="en-US" dirty="0"/>
              <a:t>		My workspace</a:t>
            </a:r>
          </a:p>
          <a:p>
            <a:r>
              <a:rPr lang="en-US" dirty="0">
                <a:hlinkClick r:id="rId7"/>
              </a:rPr>
              <a:t>Power BI – Semantic Model</a:t>
            </a:r>
            <a:r>
              <a:rPr lang="en-US" dirty="0"/>
              <a:t>	Training Quiz Results Master 	Power Queries</a:t>
            </a:r>
          </a:p>
          <a:p>
            <a:r>
              <a:rPr lang="en-US" dirty="0">
                <a:hlinkClick r:id="rId8"/>
              </a:rPr>
              <a:t>Power BI – Results</a:t>
            </a:r>
            <a:r>
              <a:rPr lang="en-US" dirty="0"/>
              <a:t> 		Training Performance Dashboard 	Power BI Dashboard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8CC46-32C2-B2A7-07C7-0E38FAB7F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Only the Admin uses these links</a:t>
            </a:r>
          </a:p>
        </p:txBody>
      </p:sp>
    </p:spTree>
    <p:extLst>
      <p:ext uri="{BB962C8B-B14F-4D97-AF65-F5344CB8AC3E}">
        <p14:creationId xmlns:p14="http://schemas.microsoft.com/office/powerpoint/2010/main" val="396209242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1491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3BD08961-5BEB-4455-B46A-2F6F50DDC40B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7F7F7&quot;"/>
    <we:property name="bookmark" value="&quot;H4sIAAAAAAAAA+1Y32/bNhD+VwwBQ1+8gaR+UXlr3BQYsBVZE2QPQx5O5MlhK4sCRSdxA//vPYlO0qS227RDoGDLQyAdj8f7vjuKH30TadO1NazewQKjg+jQ2o8LcB8nPJpGTbAh5CByTGOuRV6yRKpU06htvbFNFx3cRB7cHP2Z6ZZQ94HI+M/5NGoddugu8R1ehTH6b0pTG7+KDrxb4jSCuj6GeT+hgrojQ4uusw3U5hOGOV1wXU8jvG5r66Bf9cSDx37lS3Knd8qS/xZTUqC8ucQTVD5YMUvyOMVCChEnIs51zhS5dcFhSH6rSx96WH5mGw+moWV6WwE6rTJeFalgTGGa6Jj19srUfuNSro6uW0cEEC2rtufvtb6ERmHPGUEgTkLGN9Hr+dzhHPzm9ejB4MzWy8UW+4ldOoXvsRqGGj+QGZ06StI088lfS/Np8h67Ze27yZ/QUVpkQ7eK1kThsbNE8DDjaAGmHoxvl82GLtG/XtirmUPiV0cHbH1Olo4C15ty3DNzGtApcHozRD1RfiBmex5omnUa3eFqoOKNcbc1EdNHiMZIA+Emk4aq0mmSSgkZxKpULIUXWu5T66GetNY0VJ6HcPl/r+r72QjFxwJEJZlgWZyUJQKDTL7o4h9bClzWSA//d8ETaAntUAIrqiypYohlljOGuvx2O8yIyrl1Rg0M4bOim11AS4PRD9S1q42imV/WNFognfH9wxzpNOwnEcw2LGewu6fi4dPZ7QFNpX/r7GKYthEbnlZ4CsBpFPIjBNPo7wt0OESjI1qb2w76/RGj3cblO7gOL0NeO6mkhc+gXg4Kh+L+YXzg4iaYyffVxnnCxOTXCePUVvWqsQtDrXayIjSLV32c89BXQ0QNHrbQubB6IByHptq+2Buaoe1V08e87dSggSj9D1+onLusn7PxeoDTSOZllgmppChjLkWcylyMeuf06nLZ/esb5yfKfAidUWOq8R1FocQFas5VyjToTMZFmfGesF0l3twrsjiLVa5KlJDoPM9VInptPoIGmNlFW2PP68QbyvXrTpjeocghJZ2AmGiOShWaMQnjQDF8ZfelzhMNMecspkIwTjcfTJJxpH6vynfSXmlZslwqoRLGGCcg4j73McuwraqT7cNKt9ICqpLumkoUeUp7jbGXgXW/ttoLWvBSQipiEatM5FmuZTF60OGrOPnlKTg10NeSYUkHo6BtSB2djeQruPMYvE8ecp1xrkvBszRNJVOFkuNI/ifUrwfq2KPr77zS8MdXmudDFqQAV8jinHaHUkwjktZK9py9IyjN7nNpBMntOnl+rGuGv+1q0C5914LCY2hwiyok1NDooKL2KMPhV9M7XbhefwYRAmYi0BUAAA==&quot;"/>
    <we:property name="creatorSessionId" value="&quot;a7e0b918-ffee-490a-8028-7f3e6a3baddd&quot;"/>
    <we:property name="creatorTenantId" value="&quot;64ff49ba-62b0-46de-b74b-cc4d370ce341&quot;"/>
    <we:property name="creatorUserId" value="&quot;10032006298BAD65&quot;"/>
    <we:property name="datasetId" value="&quot;9b03b459-3eeb-4c13-8cb9-9748bd494699&quot;"/>
    <we:property name="embedUrl" value="&quot;/reportEmbed?reportId=e42aa0e6-717e-407a-ac45-5ac0ef73007d&amp;config=eyJjbHVzdGVyVXJsIjoiaHR0cHM6Ly9XQUJJLVVTLU5PUlRILUNFTlRSQUwtQi1yZWRpcmVjdC5hbmFseXNpcy53aW5kb3dzLm5ldCIsImVtYmVkRmVhdHVyZXMiOnsidXNhZ2VNZXRyaWNzVk5leHQiOnRydWV9fQ%3D%3D&amp;disableSensitivityBanner=true&amp;storytellingChangeViewModeShortcutKeys=true&quot;"/>
    <we:property name="initialStateBookmark" value="&quot;H4sIAAAAAAAAA+1Y227bOBD9FYPAoi/GghddqLwlrvelmzSbBH1ZFIsROXLZyqJASU7cIP/ekeQ2vcTuZYFAwa4fDGuG5Mw5M9Ic+ZZZ19QlbM9gjeyInXj/bg3h3UywOat2tpcvX5weX7z45+z4dElmX7fOVw07umUthBW2r1zTQdmfQMa/X89ZHbDBsMEzvB599O1yV7p2y47a0OGcQVmew6rfUEDZkKHG0PgKSvcexz3NuPRuzvCmLn2APuplCy32kTe0nK4pPfG7oqTAtG6Dl2ja0YpJlKoYMy2liqRKbcoNLWvGBUPyDy7pjx7CL3zVgqsoTG/LwMZFIooslpwbjCOreG8vXNnuluTb5U0diACiZVv3xB3bDVQGLRsgECdjxrfseLUKuIJ2d7n8wrnwZbd+wH7pu2DwAovBVbUDmewqUJKuWs3+6tz72QU2Xdk2s1NoKC2yYdiyO6LwPHgieNixXIMrB+MfXbWjS/aXb/z1IiDxa9kRv3tNloYOLnfluGfmakRnINidi3oif0vM9jzQNh8shpPtQMVzFz7WRM6/QjRFGgg3mSwUhY2jWGtIQJnc8BieaLmvfAvlrPauovJ8CVf896p+mI2x+JiBLDSXPFFRniNwSPSTLv65p4PzEunH/13wE7SM7ZADz4okKhQonaSco82/3w4LonLlgzMDQ/io6BZvoCYn+4W6NqUztPPzmrI10ozvf1hoYcBYj7Ecjn5vBzcOFNyyPx0FH89+BWXXH/vsOe2w/rp6Rkl95HWc2JT3289m8rCjGaI8Hk2UDrl0mieJ1EbLXAktVaxTOek691qoa6ZU5hNonJlSjT9RNJY4QyuEibkFm2iV5YnoCdtX4p38TVSiTGpy1BDZNE1NJHslOYEGWPh1XWLP66x1lOu3nTD/hCKFmKYaYmQFGpNZzjVMA8Xw5nEodRFZUEJwRYXggnQ6RtE0Ur/XkHtpL6zOeaqNNBHnXBAQeZ/7lEXDgxqJH8JK71AZFDm9GRmZpTHda5w/DayHlcBB0FLkGmKppDKJTJPU6mzyoMen4uy3n8FpgZ6WHHMajJJuQ+roZCJPwb1j8D55SG0ihM2lSOI41txkRk8j+X+h1Vqgjl3e/KAAF18L8MdDNkoBYZCrlO4OY7hFJK0VHZi9EyjN/rk0geT2TZ5f65rh87Aa9F3b1GDwHCp8QBUSaqjsqKIOKMP+jzw2xNi44Un7g+tH4Xb3AcVkRHumFAAA&quot;"/>
    <we:property name="isFiltersActionButtonVisible" value="true"/>
    <we:property name="isVisualContainerHeaderHidden" value="false"/>
    <we:property name="pageDisplayName" value="&quot;Page 1&quot;"/>
    <we:property name="pageName" value="&quot;e64735e982234237d70c&quot;"/>
    <we:property name="reportEmbeddedTime" value="&quot;2026-09-16T18:33:10.358Z&quot;"/>
    <we:property name="reportName" value="&quot;Training Performance Dashboard&quot;"/>
    <we:property name="reportState" value="&quot;CONNECTED&quot;"/>
    <we:property name="reportUrl" value="&quot;/groups/a3d2b873-adca-46a9-ad6d-c1d5a20aa3e0/reports/e42aa0e6-717e-407a-ac45-5ac0ef73007d/e64735e982234237d70c?bookmarkGuid=dee5032c-36e5-4c62-b7b9-204153444a11&amp;bookmarkUsage=1&amp;ctid=64ff49ba-62b0-46de-b74b-cc4d370ce341&amp;fromEntryPoint=export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titus xmlns="http://schemas.titus.com/TitusProperties/">
  <TitusGUID xmlns="">b9d3699b-1b82-4d1e-9754-f4d831e9b74a</TitusGUID>
  <TitusMetadata xmlns="">eyJucyI6Imh0dHA6XC9cL3d3dy50aXR1cy5jb21cL25zXC9OQVJBQ1VJIiwicHJvcHMiOlt7Im4iOiJEZXNpZ25hdGlvbiIsInZhbHMiOlt7InZhbHVlIjoiTlRETkNVSSJ9XX1dfQ==</TitusMetadata>
</titu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customXml/itemProps4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134110</TotalTime>
  <Words>4756</Words>
  <Application>Microsoft Office PowerPoint</Application>
  <PresentationFormat>Widescreen</PresentationFormat>
  <Paragraphs>757</Paragraphs>
  <Slides>109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24" baseType="lpstr">
      <vt:lpstr>.AppleSystemUIFont</vt:lpstr>
      <vt:lpstr>Aptos</vt:lpstr>
      <vt:lpstr>Arial</vt:lpstr>
      <vt:lpstr>Arial Black</vt:lpstr>
      <vt:lpstr>Barlow ExtraBold</vt:lpstr>
      <vt:lpstr>Calibri</vt:lpstr>
      <vt:lpstr>Cambria Math</vt:lpstr>
      <vt:lpstr>Microsoft Sans Serif</vt:lpstr>
      <vt:lpstr>Segoe UI</vt:lpstr>
      <vt:lpstr>Segoe UI Light</vt:lpstr>
      <vt:lpstr>Segoe UI Semibold</vt:lpstr>
      <vt:lpstr>Times New Roman</vt:lpstr>
      <vt:lpstr>Wingdings</vt:lpstr>
      <vt:lpstr>2_Office Theme</vt:lpstr>
      <vt:lpstr>think-cell Slide</vt:lpstr>
      <vt:lpstr>Chapter 2 01 Polynomial System</vt:lpstr>
      <vt:lpstr>Git Hub Training Repo</vt:lpstr>
      <vt:lpstr>Success looks like knowing how to …</vt:lpstr>
      <vt:lpstr>Final Model (This summarizes all work created thru the powerpoint)</vt:lpstr>
      <vt:lpstr>Original Equation  y = t^2-4t+21   I see y=t^2-4t+21, and I mentally decompose it into terms that become blocks.   What's going on in my head after I see original equation: Step 1. y =t^2-4t +21    Original Equation Step 2. y =1∗t^2-4∗t^1  +21∗t^0      Rearrange the polynomial Step 3. y =(1)∗t^2+(-4)∗t^1  +(21)∗t^0 Add Parenthesis Step 4. y =(1)                  ∗(t^2 )   + (-4)               ∗(t^1 )  + (21)                ∗(t^0 )  Step 5. y = (COEFF_A)∗(t^2 )  + (COEFF_B)∗(t^1 )  + (COEFF_C)  ∗(t^0 )     COEFF_A = 1 COEFF_B = -4 COEFF_C = 21  Model Construction Logic:  Step 1: Calculate t² Step 2: Calculate -4t Step 3: Apply Constant Term (21) Step 4: Sum All Terms Step 5: Output y   See next page for final Simulink model. See Slide 11 – 17 for more details </vt:lpstr>
      <vt:lpstr>polynomial_System.slx (Model File) Note: How your Model Should look when Finished</vt:lpstr>
      <vt:lpstr>polynomial_System.sldd (Data Dictionary)  Note: Contains Signals &amp; Parameters   Note: Contains Signals &amp; Parameters</vt:lpstr>
      <vt:lpstr>polynomial_System.slx (Model Settings) Note: How you Models Settings should be setup.</vt:lpstr>
      <vt:lpstr>Data Inspector</vt:lpstr>
      <vt:lpstr>How Engineers Think About Equations</vt:lpstr>
      <vt:lpstr>How Engineers Think About Equations</vt:lpstr>
      <vt:lpstr>Equation Decomposition</vt:lpstr>
      <vt:lpstr>From Mathematical Operations to Signal Flow</vt:lpstr>
      <vt:lpstr>Implementing Signal Flow Using Simulink Blocks</vt:lpstr>
      <vt:lpstr>Original Equation  y = t^2-4t+21   I see y=t^2-4t+21, and I mentally decompose it into terms that become blocks.   What's going on in my head after I see original equation: Step 1. y =t^2-4t +21    Original Equation Step 2. y =1∗t^2-4∗t^1  +21∗t^0      Rearrange the polynomial Step 3. y =(1)∗t^2+(-4)∗t^1  +(21)∗t^0 Add Parenthesis Step 4. y =(1)                  ∗(t^2 )   + (-4)               ∗(t^1 )  + (21)                ∗(t^0 )  Step 5. y = (COEFF_A)∗(t^2 )  + (COEFF_B)∗(t^1 )  + (COEFF_C)  ∗(t^0 )     COEFF_A = 1 COEFF_B = -4 COEFF_C = 21  Model Construction Logic:  Step 1: Calculate t² Step 2: Calculate -4t Step 3: Apply Constant Term (21) Step 4: Sum All Terms Step 5: Output y     See next page for final Simulink model. </vt:lpstr>
      <vt:lpstr>The model implements: y = t² - 4t + 21 (THIS IS THE FINAL IMPLIMENTATION)</vt:lpstr>
      <vt:lpstr>How to Open MATLAB &amp; SIMULINK</vt:lpstr>
      <vt:lpstr>Open MATLAB</vt:lpstr>
      <vt:lpstr>Review the MATLAB Window Layout</vt:lpstr>
      <vt:lpstr>Navigate to training folder (Summary)</vt:lpstr>
      <vt:lpstr>How to Add To Project</vt:lpstr>
      <vt:lpstr>Add “ch02” Folder and Sub Folders to Project</vt:lpstr>
      <vt:lpstr>Create New Folder “02_derivative_System”</vt:lpstr>
      <vt:lpstr>Add “02_derivative_System” Folder and Sub Folders to Project</vt:lpstr>
      <vt:lpstr>Navigate to training folder “02_derivative_System”</vt:lpstr>
      <vt:lpstr>How to Create a new Simulink Model</vt:lpstr>
      <vt:lpstr>Detailed Success in this section looks like knowing how to …</vt:lpstr>
      <vt:lpstr>Navigate to training folder &amp; create Simulink Model</vt:lpstr>
      <vt:lpstr>Navigate to training folder &amp; create Simulink Model</vt:lpstr>
      <vt:lpstr>Rename Simulink File</vt:lpstr>
      <vt:lpstr>Observe File has been Renamed</vt:lpstr>
      <vt:lpstr>How to Use blocks</vt:lpstr>
      <vt:lpstr>Detailed Success in this section looks like knowing how to …</vt:lpstr>
      <vt:lpstr>Add Annotation</vt:lpstr>
      <vt:lpstr>Add Clock</vt:lpstr>
      <vt:lpstr>Added Clock</vt:lpstr>
      <vt:lpstr>Add Square</vt:lpstr>
      <vt:lpstr>Added Square</vt:lpstr>
      <vt:lpstr>Add 1st Gain Block</vt:lpstr>
      <vt:lpstr>Added 1st Gain Block</vt:lpstr>
      <vt:lpstr>Add 2nd Gain Block</vt:lpstr>
      <vt:lpstr>Added 2nd Gain Block</vt:lpstr>
      <vt:lpstr>Add Constant Block</vt:lpstr>
      <vt:lpstr>Added Constant Block</vt:lpstr>
      <vt:lpstr>Add Sum Block</vt:lpstr>
      <vt:lpstr>Added Constant Block</vt:lpstr>
      <vt:lpstr>Add Data Type Conversion Block</vt:lpstr>
      <vt:lpstr>Added Data Type Conversion Block</vt:lpstr>
      <vt:lpstr>Add Outport Block</vt:lpstr>
      <vt:lpstr>Added Outport Block</vt:lpstr>
      <vt:lpstr>Add Signal Lines</vt:lpstr>
      <vt:lpstr>Align Blocks</vt:lpstr>
      <vt:lpstr>Show Property Inspector (Method 1) Note: This is my preferred method </vt:lpstr>
      <vt:lpstr>Show Property Inspector (Method 2) Note: This method will force property Inspector to activate</vt:lpstr>
      <vt:lpstr>Update Signal: t</vt:lpstr>
      <vt:lpstr>Update Signal: t_squared</vt:lpstr>
      <vt:lpstr>Update Parameter: COEFF_A</vt:lpstr>
      <vt:lpstr>Format Blocks to Same Size Note: The last block you select is used as the formatting reference. All other selected blocks will be formatted to match it.</vt:lpstr>
      <vt:lpstr>Format Blocks to Same Size Note: The last block you select is used as the formatting reference. All other selected blocks will be formatted to match it.</vt:lpstr>
      <vt:lpstr>Update Parameters: COEFF_B &amp; COEFF_C</vt:lpstr>
      <vt:lpstr>Update Signal: coeffA_t_squared</vt:lpstr>
      <vt:lpstr>Update Signal: neg_4t</vt:lpstr>
      <vt:lpstr>Update Signal: const_21</vt:lpstr>
      <vt:lpstr>Update Signal: y_raw</vt:lpstr>
      <vt:lpstr>Update Signal: y</vt:lpstr>
      <vt:lpstr>Save Model File</vt:lpstr>
      <vt:lpstr>How to Use Model Configuration</vt:lpstr>
      <vt:lpstr>Detailed Success in this section looks like knowing how to …</vt:lpstr>
      <vt:lpstr>Update Model Configurations (Part 1)</vt:lpstr>
      <vt:lpstr>Update Model Configurations (Part 2)</vt:lpstr>
      <vt:lpstr>Save Model File</vt:lpstr>
      <vt:lpstr>How to Use Model Explorer</vt:lpstr>
      <vt:lpstr>Detailed Success in this section looks like knowing how to …</vt:lpstr>
      <vt:lpstr>Open Model Explorer</vt:lpstr>
      <vt:lpstr>Create Data Dictionary File (.sldd)</vt:lpstr>
      <vt:lpstr>Create Data Dictionary File (.sldd)</vt:lpstr>
      <vt:lpstr>Open Design Data</vt:lpstr>
      <vt:lpstr>Add Simulink Signal Note: Just Create the blank signal for now</vt:lpstr>
      <vt:lpstr>Add Simulink Parameter Note: Just Create the blank parameter for now</vt:lpstr>
      <vt:lpstr>Rename Signals and Parameters</vt:lpstr>
      <vt:lpstr>Mass Update Data Type Note: Mandatory</vt:lpstr>
      <vt:lpstr>Mass Update Dimensions Note: Optional</vt:lpstr>
      <vt:lpstr>Mass Update Storage Class Note: Optional</vt:lpstr>
      <vt:lpstr>Observe Data Dictionary After Mass Update</vt:lpstr>
      <vt:lpstr>Update Signal: y_raw</vt:lpstr>
      <vt:lpstr>Update Signal: y</vt:lpstr>
      <vt:lpstr>Update Signal: t_squared</vt:lpstr>
      <vt:lpstr>Update Signal: t</vt:lpstr>
      <vt:lpstr>Update Signal: neg_4t</vt:lpstr>
      <vt:lpstr>Update Signal: coeffA_t_squared</vt:lpstr>
      <vt:lpstr>Update Parameter: COEFF_C</vt:lpstr>
      <vt:lpstr>Update Parameter: COEFF_B</vt:lpstr>
      <vt:lpstr>Update Parameter: COEFF_A</vt:lpstr>
      <vt:lpstr>Save Changes made to Data Dictionary (.sldd) Note: Changes made to the data dictionary must be saved from Model Explorer. Otherwise, the changes will not be applied and may be lost. Note: Pressing Ctrl+S in Model Explorer does not save data dictionary changes. Instead, it may create a new signal or have a different action than expected. To save dictionary changes, right-click the data dictionary and select Save Changes. Yes, this behavior surprises everyone at least once. </vt:lpstr>
      <vt:lpstr>Save Model File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Setup Data Inspector</vt:lpstr>
      <vt:lpstr>Add Cursor</vt:lpstr>
      <vt:lpstr>Save Data Inspector File</vt:lpstr>
      <vt:lpstr>PowerPoint Presentation</vt:lpstr>
      <vt:lpstr>Relaunch the add-in</vt:lpstr>
      <vt:lpstr>PowerPoint Presentation</vt:lpstr>
      <vt:lpstr>Admin Only Links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2478</cp:revision>
  <cp:lastPrinted>2026-03-04T20:38:48Z</cp:lastPrinted>
  <dcterms:created xsi:type="dcterms:W3CDTF">2017-05-22T13:23:52Z</dcterms:created>
  <dcterms:modified xsi:type="dcterms:W3CDTF">2026-09-22T15:14:17Z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b9d3699b-1b82-4d1e-9754-f4d831e9b74a</vt:lpwstr>
  </property>
  <property fmtid="{D5CDD505-2E9C-101B-9397-08002B2CF9AE}" pid="11" name="TitusDesignation">
    <vt:lpwstr>NTDNCUI</vt:lpwstr>
  </property>
</Properties>
</file>