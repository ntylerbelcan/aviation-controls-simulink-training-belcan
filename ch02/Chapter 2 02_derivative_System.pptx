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5"/>
  </p:sldMasterIdLst>
  <p:notesMasterIdLst>
    <p:notesMasterId r:id="rId125"/>
  </p:notesMasterIdLst>
  <p:handoutMasterIdLst>
    <p:handoutMasterId r:id="rId126"/>
  </p:handoutMasterIdLst>
  <p:sldIdLst>
    <p:sldId id="256" r:id="rId6"/>
    <p:sldId id="3810" r:id="rId7"/>
    <p:sldId id="3715" r:id="rId8"/>
    <p:sldId id="3907" r:id="rId9"/>
    <p:sldId id="3895" r:id="rId10"/>
    <p:sldId id="3930" r:id="rId11"/>
    <p:sldId id="3815" r:id="rId12"/>
    <p:sldId id="3929" r:id="rId13"/>
    <p:sldId id="3897" r:id="rId14"/>
    <p:sldId id="3717" r:id="rId15"/>
    <p:sldId id="3898" r:id="rId16"/>
    <p:sldId id="3925" r:id="rId17"/>
    <p:sldId id="3917" r:id="rId18"/>
    <p:sldId id="3921" r:id="rId19"/>
    <p:sldId id="3919" r:id="rId20"/>
    <p:sldId id="3924" r:id="rId21"/>
    <p:sldId id="3922" r:id="rId22"/>
    <p:sldId id="3927" r:id="rId23"/>
    <p:sldId id="3908" r:id="rId24"/>
    <p:sldId id="3900" r:id="rId25"/>
    <p:sldId id="3901" r:id="rId26"/>
    <p:sldId id="3902" r:id="rId27"/>
    <p:sldId id="3905" r:id="rId28"/>
    <p:sldId id="3906" r:id="rId29"/>
    <p:sldId id="3909" r:id="rId30"/>
    <p:sldId id="3633" r:id="rId31"/>
    <p:sldId id="3718" r:id="rId32"/>
    <p:sldId id="3719" r:id="rId33"/>
    <p:sldId id="3822" r:id="rId34"/>
    <p:sldId id="3823" r:id="rId35"/>
    <p:sldId id="3820" r:id="rId36"/>
    <p:sldId id="3816" r:id="rId37"/>
    <p:sldId id="3819" r:id="rId38"/>
    <p:sldId id="3821" r:id="rId39"/>
    <p:sldId id="3634" r:id="rId40"/>
    <p:sldId id="3721" r:id="rId41"/>
    <p:sldId id="3910" r:id="rId42"/>
    <p:sldId id="3813" r:id="rId43"/>
    <p:sldId id="3812" r:id="rId44"/>
    <p:sldId id="3911" r:id="rId45"/>
    <p:sldId id="3635" r:id="rId46"/>
    <p:sldId id="3725" r:id="rId47"/>
    <p:sldId id="3912" r:id="rId48"/>
    <p:sldId id="3824" r:id="rId49"/>
    <p:sldId id="3827" r:id="rId50"/>
    <p:sldId id="3913" r:id="rId51"/>
    <p:sldId id="3914" r:id="rId52"/>
    <p:sldId id="3828" r:id="rId53"/>
    <p:sldId id="3826" r:id="rId54"/>
    <p:sldId id="3829" r:id="rId55"/>
    <p:sldId id="3831" r:id="rId56"/>
    <p:sldId id="3830" r:id="rId57"/>
    <p:sldId id="3832" r:id="rId58"/>
    <p:sldId id="3833" r:id="rId59"/>
    <p:sldId id="3834" r:id="rId60"/>
    <p:sldId id="3835" r:id="rId61"/>
    <p:sldId id="3838" r:id="rId62"/>
    <p:sldId id="3837" r:id="rId63"/>
    <p:sldId id="3839" r:id="rId64"/>
    <p:sldId id="3840" r:id="rId65"/>
    <p:sldId id="3841" r:id="rId66"/>
    <p:sldId id="3842" r:id="rId67"/>
    <p:sldId id="3862" r:id="rId68"/>
    <p:sldId id="3861" r:id="rId69"/>
    <p:sldId id="3843" r:id="rId70"/>
    <p:sldId id="3844" r:id="rId71"/>
    <p:sldId id="3845" r:id="rId72"/>
    <p:sldId id="3846" r:id="rId73"/>
    <p:sldId id="3847" r:id="rId74"/>
    <p:sldId id="3848" r:id="rId75"/>
    <p:sldId id="3849" r:id="rId76"/>
    <p:sldId id="3850" r:id="rId77"/>
    <p:sldId id="3851" r:id="rId78"/>
    <p:sldId id="3853" r:id="rId79"/>
    <p:sldId id="3854" r:id="rId80"/>
    <p:sldId id="3855" r:id="rId81"/>
    <p:sldId id="3859" r:id="rId82"/>
    <p:sldId id="3860" r:id="rId83"/>
    <p:sldId id="3856" r:id="rId84"/>
    <p:sldId id="3857" r:id="rId85"/>
    <p:sldId id="3858" r:id="rId86"/>
    <p:sldId id="3638" r:id="rId87"/>
    <p:sldId id="3761" r:id="rId88"/>
    <p:sldId id="3762" r:id="rId89"/>
    <p:sldId id="3765" r:id="rId90"/>
    <p:sldId id="3766" r:id="rId91"/>
    <p:sldId id="3769" r:id="rId92"/>
    <p:sldId id="3770" r:id="rId93"/>
    <p:sldId id="3863" r:id="rId94"/>
    <p:sldId id="3864" r:id="rId95"/>
    <p:sldId id="3866" r:id="rId96"/>
    <p:sldId id="3869" r:id="rId97"/>
    <p:sldId id="3870" r:id="rId98"/>
    <p:sldId id="3871" r:id="rId99"/>
    <p:sldId id="3874" r:id="rId100"/>
    <p:sldId id="3875" r:id="rId101"/>
    <p:sldId id="3878" r:id="rId102"/>
    <p:sldId id="3879" r:id="rId103"/>
    <p:sldId id="3880" r:id="rId104"/>
    <p:sldId id="3881" r:id="rId105"/>
    <p:sldId id="3884" r:id="rId106"/>
    <p:sldId id="3885" r:id="rId107"/>
    <p:sldId id="3886" r:id="rId108"/>
    <p:sldId id="3776" r:id="rId109"/>
    <p:sldId id="3887" r:id="rId110"/>
    <p:sldId id="3636" r:id="rId111"/>
    <p:sldId id="3747" r:id="rId112"/>
    <p:sldId id="3889" r:id="rId113"/>
    <p:sldId id="3637" r:id="rId114"/>
    <p:sldId id="3749" r:id="rId115"/>
    <p:sldId id="3890" r:id="rId116"/>
    <p:sldId id="3891" r:id="rId117"/>
    <p:sldId id="3892" r:id="rId118"/>
    <p:sldId id="3893" r:id="rId119"/>
    <p:sldId id="3782" r:id="rId120"/>
    <p:sldId id="3784" r:id="rId121"/>
    <p:sldId id="3899" r:id="rId122"/>
    <p:sldId id="3783" r:id="rId123"/>
    <p:sldId id="3786" r:id="rId124"/>
  </p:sldIdLst>
  <p:sldSz cx="12192000" cy="6858000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1A4A7-E4B7-46E5-93DE-A146A072A09E}">
          <p14:sldIdLst>
            <p14:sldId id="256"/>
          </p14:sldIdLst>
        </p14:section>
        <p14:section name="How to Download the Git Repo" id="{7EF22071-C394-4FF8-964E-6DAB451C2574}">
          <p14:sldIdLst>
            <p14:sldId id="3810"/>
          </p14:sldIdLst>
        </p14:section>
        <p14:section name="What does success look like?" id="{2184ACB6-BC5A-45A7-AA08-0CFF90079FF3}">
          <p14:sldIdLst>
            <p14:sldId id="3715"/>
          </p14:sldIdLst>
        </p14:section>
        <p14:section name="Final Model(s)" id="{DD7E7087-D4C1-49C4-90BA-FD121933CBC3}">
          <p14:sldIdLst>
            <p14:sldId id="3907"/>
            <p14:sldId id="3895"/>
            <p14:sldId id="3930"/>
            <p14:sldId id="3815"/>
            <p14:sldId id="3929"/>
            <p14:sldId id="3897"/>
            <p14:sldId id="3717"/>
            <p14:sldId id="3898"/>
            <p14:sldId id="3925"/>
            <p14:sldId id="3917"/>
            <p14:sldId id="3921"/>
            <p14:sldId id="3919"/>
            <p14:sldId id="3924"/>
            <p14:sldId id="3922"/>
            <p14:sldId id="3927"/>
          </p14:sldIdLst>
        </p14:section>
        <p14:section name="How Engineers Think About Equations" id="{9B0AB3E4-2960-4D0A-A39C-9849653DDDAD}">
          <p14:sldIdLst>
            <p14:sldId id="3908"/>
            <p14:sldId id="3900"/>
            <p14:sldId id="3901"/>
            <p14:sldId id="3902"/>
            <p14:sldId id="3905"/>
            <p14:sldId id="3906"/>
            <p14:sldId id="3909"/>
          </p14:sldIdLst>
        </p14:section>
        <p14:section name="How to Open MATLAB &amp; SIMULINK" id="{C8DF2CCC-DF37-4452-A9BD-12549E5D36D1}">
          <p14:sldIdLst>
            <p14:sldId id="3633"/>
            <p14:sldId id="3718"/>
            <p14:sldId id="3719"/>
            <p14:sldId id="3822"/>
          </p14:sldIdLst>
        </p14:section>
        <p14:section name="How to Add To Project" id="{FC424777-DDA0-480D-8D87-60621CDA5627}">
          <p14:sldIdLst>
            <p14:sldId id="3823"/>
            <p14:sldId id="3820"/>
            <p14:sldId id="3816"/>
            <p14:sldId id="3819"/>
            <p14:sldId id="3821"/>
          </p14:sldIdLst>
        </p14:section>
        <p14:section name="How to Create a new Simulink Model" id="{82C3D226-D794-4489-92A1-E620DEDFB2A5}">
          <p14:sldIdLst>
            <p14:sldId id="3634"/>
            <p14:sldId id="3721"/>
            <p14:sldId id="3910"/>
            <p14:sldId id="3813"/>
            <p14:sldId id="3812"/>
            <p14:sldId id="3911"/>
          </p14:sldIdLst>
        </p14:section>
        <p14:section name="How to Use blocks" id="{000E4B64-D857-4ECD-81C8-90C1508B930D}">
          <p14:sldIdLst>
            <p14:sldId id="3635"/>
            <p14:sldId id="3725"/>
            <p14:sldId id="3912"/>
            <p14:sldId id="3824"/>
            <p14:sldId id="3827"/>
            <p14:sldId id="3913"/>
            <p14:sldId id="3914"/>
            <p14:sldId id="3828"/>
            <p14:sldId id="3826"/>
            <p14:sldId id="3829"/>
            <p14:sldId id="3831"/>
            <p14:sldId id="3830"/>
            <p14:sldId id="3832"/>
            <p14:sldId id="3833"/>
            <p14:sldId id="3834"/>
            <p14:sldId id="3835"/>
            <p14:sldId id="3838"/>
            <p14:sldId id="3837"/>
            <p14:sldId id="3839"/>
            <p14:sldId id="3840"/>
            <p14:sldId id="3841"/>
            <p14:sldId id="3842"/>
            <p14:sldId id="3862"/>
            <p14:sldId id="3861"/>
            <p14:sldId id="3843"/>
            <p14:sldId id="3844"/>
            <p14:sldId id="3845"/>
            <p14:sldId id="3846"/>
            <p14:sldId id="3847"/>
            <p14:sldId id="3848"/>
            <p14:sldId id="3849"/>
            <p14:sldId id="3850"/>
            <p14:sldId id="3851"/>
            <p14:sldId id="3853"/>
            <p14:sldId id="3854"/>
            <p14:sldId id="3855"/>
          </p14:sldIdLst>
        </p14:section>
        <p14:section name="How to Use Model Configuration" id="{8357885E-9705-4CB7-9C5B-5D62DAD8AE5C}">
          <p14:sldIdLst>
            <p14:sldId id="3859"/>
            <p14:sldId id="3860"/>
            <p14:sldId id="3856"/>
            <p14:sldId id="3857"/>
            <p14:sldId id="3858"/>
          </p14:sldIdLst>
        </p14:section>
        <p14:section name="How to Use Model Explorer" id="{84EACC95-D6FF-4E20-90C5-FE2F477BB695}">
          <p14:sldIdLst>
            <p14:sldId id="3638"/>
            <p14:sldId id="3761"/>
            <p14:sldId id="3762"/>
            <p14:sldId id="3765"/>
            <p14:sldId id="3766"/>
            <p14:sldId id="3769"/>
            <p14:sldId id="3770"/>
            <p14:sldId id="3863"/>
            <p14:sldId id="3864"/>
            <p14:sldId id="3866"/>
            <p14:sldId id="3869"/>
            <p14:sldId id="3870"/>
            <p14:sldId id="3871"/>
            <p14:sldId id="3874"/>
            <p14:sldId id="3875"/>
            <p14:sldId id="3878"/>
            <p14:sldId id="3879"/>
            <p14:sldId id="3880"/>
            <p14:sldId id="3881"/>
            <p14:sldId id="3884"/>
            <p14:sldId id="3885"/>
            <p14:sldId id="3886"/>
            <p14:sldId id="3776"/>
            <p14:sldId id="3887"/>
          </p14:sldIdLst>
        </p14:section>
        <p14:section name="How to Run a simulation" id="{3F1A5FEB-EFB7-4B88-A875-0798919095F3}">
          <p14:sldIdLst>
            <p14:sldId id="3636"/>
            <p14:sldId id="3747"/>
            <p14:sldId id="3889"/>
          </p14:sldIdLst>
        </p14:section>
        <p14:section name="How to Use Data inspector" id="{62385923-6401-41CB-84E6-D309E1EB289F}">
          <p14:sldIdLst>
            <p14:sldId id="3637"/>
            <p14:sldId id="3749"/>
            <p14:sldId id="3890"/>
            <p14:sldId id="3891"/>
            <p14:sldId id="3892"/>
            <p14:sldId id="3893"/>
            <p14:sldId id="3782"/>
            <p14:sldId id="3784"/>
            <p14:sldId id="3899"/>
            <p14:sldId id="3783"/>
            <p14:sldId id="3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78B5"/>
    <a:srgbClr val="E99A25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548" autoAdjust="0"/>
  </p:normalViewPr>
  <p:slideViewPr>
    <p:cSldViewPr snapToGrid="0">
      <p:cViewPr varScale="1">
        <p:scale>
          <a:sx n="98" d="100"/>
          <a:sy n="98" d="100"/>
        </p:scale>
        <p:origin x="984" y="96"/>
      </p:cViewPr>
      <p:guideLst>
        <p:guide orient="horz" pos="3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2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theme" Target="theme/theme1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tableStyles" Target="tableStyle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6" Type="http://schemas.openxmlformats.org/officeDocument/2006/relationships/slide" Target="slides/slide2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8D98F-175E-78A3-B8F6-CC7AB7735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1D7EE-CF92-23B0-51BA-B4DDAA57D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A40AAD2-F4DE-46BB-9F99-83A578C04AFF}" type="datetimeFigureOut">
              <a:rPr lang="en-US"/>
              <a:pPr>
                <a:defRPr/>
              </a:pPr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8C0E3-C851-CE37-FD1B-A70FC4954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D36C-A4BC-55F4-6B23-377481141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A2B0F-1A0A-4562-9947-C246A4058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087F94-3C40-5DB6-5E60-B61FB53A3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7044B-4DF8-C000-1661-91CAF8D24A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6D71FA5-8285-4D80-ACF0-ECBE044B5E2B}" type="datetimeFigureOut">
              <a:rPr lang="en-US"/>
              <a:pPr>
                <a:defRPr/>
              </a:pPr>
              <a:t>10/19/2026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6DFA5B-B99B-0C95-58EF-202B53A6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1CE75-06FE-FE26-DCC2-2C570D11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78A4-2710-CFD8-CEF4-4DA98B66B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B7C4-2ABE-6434-8EA6-9A0B3F434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A04150-874A-42E2-8795-B6E7E1591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F4B7EE4-2ED7-D686-41CF-29D23845D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A4ED621-05FA-44A0-34EE-D9D763AA7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49068-0203-BD64-465A-32FB5765F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D74A-8049-1673-A412-BC69A5A452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26FCB2B9-C5D1-C952-5E9B-F3FCF35F8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3D759-A5EF-4211-AF68-8970C468B8A9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24F4-B119-E681-423A-D8C4ABAD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A9845-4B19-4ECE-FAD9-AD324DDE1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B3F2D-9CCF-3FC7-7484-69B18D082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10F2D43-8724-6446-F583-9797DDD943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096B7-9DF0-6C48-8E84-6EDF6D8078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FF4E8-F272-FD42-D328-F2DCFA49F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A04150-874A-42E2-8795-B6E7E159182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24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9C1A729-D5B7-CA1C-AF00-7DFA55FDD3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1" name="Object 2" hidden="1">
                        <a:extLst>
                          <a:ext uri="{FF2B5EF4-FFF2-40B4-BE49-F238E27FC236}">
                            <a16:creationId xmlns:a16="http://schemas.microsoft.com/office/drawing/2014/main" id="{5136F095-8153-4125-4D5B-2AFDD07C3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BBA21-8225-20C1-5BDF-C71464D2B24F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9CA5D-BC3B-E8C1-603F-390C5EFC274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7" name="Picture 5" descr="Purpose &amp; principles PPT 2.png">
            <a:extLst>
              <a:ext uri="{FF2B5EF4-FFF2-40B4-BE49-F238E27FC236}">
                <a16:creationId xmlns:a16="http://schemas.microsoft.com/office/drawing/2014/main" id="{7B4C6C15-5B35-83EE-4D10-265906990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urpose &amp; principles PPT.png">
            <a:extLst>
              <a:ext uri="{FF2B5EF4-FFF2-40B4-BE49-F238E27FC236}">
                <a16:creationId xmlns:a16="http://schemas.microsoft.com/office/drawing/2014/main" id="{492F9D93-D16B-9D12-9F50-8CC0D72452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537E1-CF04-9648-0FD9-4F21DA1FFB2A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27ABA1CE-7F1E-4C0A-AB66-66670BD6FC9C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26001" y="398463"/>
            <a:ext cx="9635800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134000"/>
            <a:ext cx="11341101" cy="52207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cSlideMaster.1_Layout 1 - Title, Subtitle and ContentHeader" descr=" ">
            <a:extLst>
              <a:ext uri="{FF2B5EF4-FFF2-40B4-BE49-F238E27FC236}">
                <a16:creationId xmlns:a16="http://schemas.microsoft.com/office/drawing/2014/main" id="{C72B11F0-4474-8A6E-7B76-99B15B2E189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fcSlideMaster.1_Layout 1 - Title, Subtitle and ContentFooter" descr=" ">
            <a:extLst>
              <a:ext uri="{FF2B5EF4-FFF2-40B4-BE49-F238E27FC236}">
                <a16:creationId xmlns:a16="http://schemas.microsoft.com/office/drawing/2014/main" id="{AAEECE00-2F49-7A8D-181F-BB579B75B4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5" name="Object 2" hidden="1">
                        <a:extLst>
                          <a:ext uri="{FF2B5EF4-FFF2-40B4-BE49-F238E27FC236}">
                            <a16:creationId xmlns:a16="http://schemas.microsoft.com/office/drawing/2014/main" id="{FCB7C648-B77C-442A-E153-A1351F8DB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531941"/>
            <a:ext cx="11341101" cy="48228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1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1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8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838484"/>
            <a:ext cx="11341101" cy="4516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1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1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2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2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11338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11338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1 Comparison B3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1 Comparison B3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0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1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1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2DFA65D-B2CE-3E05-BE20-8537C69FFD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818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2DB8494-3814-E0E3-27A9-B12017EEF9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3356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3" name="hcSlideMaster.2 Comparison AHeader" descr=" ">
            <a:extLst>
              <a:ext uri="{FF2B5EF4-FFF2-40B4-BE49-F238E27FC236}">
                <a16:creationId xmlns:a16="http://schemas.microsoft.com/office/drawing/2014/main" id="{F1F89A26-CD57-2053-40B7-B51CDAB9FC3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4" name="fcSlideMaster.2 Comparison AFooter" descr=" ">
            <a:extLst>
              <a:ext uri="{FF2B5EF4-FFF2-40B4-BE49-F238E27FC236}">
                <a16:creationId xmlns:a16="http://schemas.microsoft.com/office/drawing/2014/main" id="{06CEAAAD-DA45-4350-D5CA-363F379592A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8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2 Comparison CHeader" descr=" ">
            <a:extLst>
              <a:ext uri="{FF2B5EF4-FFF2-40B4-BE49-F238E27FC236}">
                <a16:creationId xmlns:a16="http://schemas.microsoft.com/office/drawing/2014/main" id="{508F0E3E-452A-401E-E954-91090E28AE5A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2 Comparison CFooter" descr=" ">
            <a:extLst>
              <a:ext uri="{FF2B5EF4-FFF2-40B4-BE49-F238E27FC236}">
                <a16:creationId xmlns:a16="http://schemas.microsoft.com/office/drawing/2014/main" id="{DDC17D0F-3F44-4B9C-2CD1-64DE756AF4C5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5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51FD2A61-A021-DDFD-0B3D-2758D5276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817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38034"/>
            <a:ext cx="3776472" cy="327252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CAE348C-CA9B-6DA5-85C0-6EA00EA90E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818" y="1992254"/>
            <a:ext cx="3776472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A6ABB32-3570-2D77-6ACA-8DA3FA384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49E229-D6A4-F87E-AB12-4C2B517E73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64FEF03-992E-3B70-A2B4-51080444E6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037C432-8FB9-320B-3A82-ECDB6E29C1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hcSlideMaster.3 Comparison BHeader" descr=" ">
            <a:extLst>
              <a:ext uri="{FF2B5EF4-FFF2-40B4-BE49-F238E27FC236}">
                <a16:creationId xmlns:a16="http://schemas.microsoft.com/office/drawing/2014/main" id="{9BC8C6B8-4E01-9ECA-E6B8-4C91558F028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fcSlideMaster.3 Comparison BFooter" descr=" ">
            <a:extLst>
              <a:ext uri="{FF2B5EF4-FFF2-40B4-BE49-F238E27FC236}">
                <a16:creationId xmlns:a16="http://schemas.microsoft.com/office/drawing/2014/main" id="{B211ACB9-3DF6-7317-BC04-482FCC5ED1C2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9245E7-4718-498D-130B-89CF21FC23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8569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F32C694-8B96-B9CD-8392-C42EBEE5E2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555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hcSlideMaster.3 Comparison AHeader" descr=" ">
            <a:extLst>
              <a:ext uri="{FF2B5EF4-FFF2-40B4-BE49-F238E27FC236}">
                <a16:creationId xmlns:a16="http://schemas.microsoft.com/office/drawing/2014/main" id="{F7626623-CDA9-2F4D-A611-475B9A1A7A1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fcSlideMaster.3 Comparison AFooter" descr=" ">
            <a:extLst>
              <a:ext uri="{FF2B5EF4-FFF2-40B4-BE49-F238E27FC236}">
                <a16:creationId xmlns:a16="http://schemas.microsoft.com/office/drawing/2014/main" id="{F2F70BF1-CED2-7175-F3A4-BAD6CF4704C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hcSlideMaster.3 Comparison CHeader" descr=" ">
            <a:extLst>
              <a:ext uri="{FF2B5EF4-FFF2-40B4-BE49-F238E27FC236}">
                <a16:creationId xmlns:a16="http://schemas.microsoft.com/office/drawing/2014/main" id="{023C4D99-3769-1404-CB20-C1B6E0FF34D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fcSlideMaster.3 Comparison CFooter" descr=" ">
            <a:extLst>
              <a:ext uri="{FF2B5EF4-FFF2-40B4-BE49-F238E27FC236}">
                <a16:creationId xmlns:a16="http://schemas.microsoft.com/office/drawing/2014/main" id="{71634C75-08A0-7D05-C922-CF82463F608D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8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Quiz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▶ Launch Quiz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5563446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Knowledge Check</a:t>
            </a:r>
            <a:endParaRPr lang="en-US" altLang="en-US" sz="44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hcSlideMaster.Take Quiz SlideHeader" descr=" ">
            <a:extLst>
              <a:ext uri="{FF2B5EF4-FFF2-40B4-BE49-F238E27FC236}">
                <a16:creationId xmlns:a16="http://schemas.microsoft.com/office/drawing/2014/main" id="{2F20B705-9D19-FFB5-2EC6-5DA534BDA5B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Take Quiz SlideFooter" descr=" ">
            <a:extLst>
              <a:ext uri="{FF2B5EF4-FFF2-40B4-BE49-F238E27FC236}">
                <a16:creationId xmlns:a16="http://schemas.microsoft.com/office/drawing/2014/main" id="{742A4D41-DBE7-74FE-259C-CCF3B3650CE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7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Belcan.com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3787775" cy="677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920A949A-9641-2D5F-E932-01EC50A58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5123" name="Object 2" hidden="1">
                        <a:extLst>
                          <a:ext uri="{FF2B5EF4-FFF2-40B4-BE49-F238E27FC236}">
                            <a16:creationId xmlns:a16="http://schemas.microsoft.com/office/drawing/2014/main" id="{FD3C687B-20BB-B94B-C3D8-30BAC96F2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FC0342D-A2E8-D410-05B0-8135E3CC221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42688" y="6513513"/>
            <a:ext cx="542925" cy="350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cs typeface="Arial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7EAE52-ED7C-039E-F134-7453006A0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1275" y="6513513"/>
            <a:ext cx="1141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08000" y="1219200"/>
            <a:ext cx="11379200" cy="45243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E81475-0E4A-A3CD-15F2-7CBFCBD8C58F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9157AA-27E1-5C1C-6CB4-6CD176EB7815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>
          <a:xfrm>
            <a:off x="11342688" y="6626225"/>
            <a:ext cx="542925" cy="13176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89E7ACC-C495-45C7-BB8A-D2912D09B9D9}" type="slidenum">
              <a:rPr lang="es-AR" altLang="en-US"/>
              <a:pPr>
                <a:defRPr/>
              </a:pPr>
              <a:t>‹#›</a:t>
            </a:fld>
            <a:endParaRPr lang="es-AR" altLang="en-US"/>
          </a:p>
        </p:txBody>
      </p:sp>
      <p:sp>
        <p:nvSpPr>
          <p:cNvPr id="7" name="hcSlideMaster.1_Title and ContentHeader" descr=" ">
            <a:extLst>
              <a:ext uri="{FF2B5EF4-FFF2-40B4-BE49-F238E27FC236}">
                <a16:creationId xmlns:a16="http://schemas.microsoft.com/office/drawing/2014/main" id="{1915600B-5545-1EF0-E6A9-56A36431466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fcSlideMaster.1_Title and ContentFooter" descr=" ">
            <a:extLst>
              <a:ext uri="{FF2B5EF4-FFF2-40B4-BE49-F238E27FC236}">
                <a16:creationId xmlns:a16="http://schemas.microsoft.com/office/drawing/2014/main" id="{24377476-82F4-ADCE-8376-8A58D6FAAB6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51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30" y="457201"/>
            <a:ext cx="11199941" cy="6750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96029" y="1183066"/>
            <a:ext cx="11204664" cy="495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cap="all" baseline="0">
                <a:solidFill>
                  <a:schemeClr val="bg1">
                    <a:lumMod val="50000"/>
                  </a:schemeClr>
                </a:solidFill>
                <a:latin typeface="Barlow Extra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96030" y="1728931"/>
            <a:ext cx="11199941" cy="4443270"/>
          </a:xfrm>
        </p:spPr>
        <p:txBody>
          <a:bodyPr lIns="0" tIns="0" rIns="0" bIns="0"/>
          <a:lstStyle>
            <a:lvl1pPr>
              <a:defRPr sz="2400"/>
            </a:lvl1pPr>
            <a:lvl2pPr marL="685663" marR="0" indent="-228554" algn="l" defTabSz="91421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.AppleSystemUIFont"/>
              <a:buChar char="-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B855-6D8E-4F4E-2B27-FB8DF8EEBEF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A2603D-B5BA-45A7-8ADE-B68B0FC5AE6C}" type="datetime3">
              <a:rPr lang="en-US"/>
              <a:pPr>
                <a:defRPr/>
              </a:pPr>
              <a:t>19 October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E28E-5579-CAD5-6F6F-876A35EBCA6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Proprietary &amp; Confidential | Customize footer text under Home &gt; Insert &gt; Header and Footer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557EBB-7561-A327-2E0E-318AFE9ABA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28388" y="6356350"/>
            <a:ext cx="468312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B8DF716-EA0E-4412-80E4-FDA1B3962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hcSlideMaster.1 ColumnHeader" descr=" ">
            <a:extLst>
              <a:ext uri="{FF2B5EF4-FFF2-40B4-BE49-F238E27FC236}">
                <a16:creationId xmlns:a16="http://schemas.microsoft.com/office/drawing/2014/main" id="{B228FA16-0987-3567-2B38-C145F35271EE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fcSlideMaster.1 ColumnFooter" descr=" ">
            <a:extLst>
              <a:ext uri="{FF2B5EF4-FFF2-40B4-BE49-F238E27FC236}">
                <a16:creationId xmlns:a16="http://schemas.microsoft.com/office/drawing/2014/main" id="{43DE6FB4-96AE-3A8B-CFDD-F17C516E4F64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27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53A8410-8A7D-2046-830B-9C9A397FD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5" name="Object 2" hidden="1">
                        <a:extLst>
                          <a:ext uri="{FF2B5EF4-FFF2-40B4-BE49-F238E27FC236}">
                            <a16:creationId xmlns:a16="http://schemas.microsoft.com/office/drawing/2014/main" id="{4EFECE96-FB42-7C76-1BC4-F04D47A5E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F5FFF-9DCB-F57A-144E-9C5CFA22034E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179704-AC9F-B5B4-7A2B-54F1CBDE24C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9" name="Picture 5" descr="Purpose &amp; principles PPT 2.png">
            <a:extLst>
              <a:ext uri="{FF2B5EF4-FFF2-40B4-BE49-F238E27FC236}">
                <a16:creationId xmlns:a16="http://schemas.microsoft.com/office/drawing/2014/main" id="{51BB7C9D-805C-A9E3-7F29-75437C0BB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Purpose &amp; principles PPT.png">
            <a:extLst>
              <a:ext uri="{FF2B5EF4-FFF2-40B4-BE49-F238E27FC236}">
                <a16:creationId xmlns:a16="http://schemas.microsoft.com/office/drawing/2014/main" id="{4A549EA2-D760-58AA-3107-A35416BAC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5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989138"/>
            <a:ext cx="11341101" cy="4365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818" y="1538289"/>
            <a:ext cx="11339925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95817" y="6440102"/>
            <a:ext cx="11341099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9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3855" y="398463"/>
            <a:ext cx="67225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 defTabSz="914400" rtl="0" eaLnBrk="1" latinLnBrk="0" hangingPunct="1">
              <a:buNone/>
              <a:defRPr lang="en-US" sz="1800" kern="1200" dirty="0">
                <a:solidFill>
                  <a:srgbClr val="011C32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F6118B1-6479-5C3A-1BDD-18614384E3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20488" y="6492875"/>
            <a:ext cx="671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F9664B-027D-4AEE-9671-4928BEA61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hcSlideMaster.3_Layout 1 - Title, Subtitle and ContentHeader" descr=" ">
            <a:extLst>
              <a:ext uri="{FF2B5EF4-FFF2-40B4-BE49-F238E27FC236}">
                <a16:creationId xmlns:a16="http://schemas.microsoft.com/office/drawing/2014/main" id="{94E5FAC6-9A0A-44F8-B9B3-D4501D93AD7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3_Layout 1 - Title, Subtitle and ContentFooter" descr=" ">
            <a:extLst>
              <a:ext uri="{FF2B5EF4-FFF2-40B4-BE49-F238E27FC236}">
                <a16:creationId xmlns:a16="http://schemas.microsoft.com/office/drawing/2014/main" id="{A97D2C51-3152-88B0-1B22-941262CECD8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erospace engineering reviewing specifications on laptop">
            <a:extLst>
              <a:ext uri="{FF2B5EF4-FFF2-40B4-BE49-F238E27FC236}">
                <a16:creationId xmlns:a16="http://schemas.microsoft.com/office/drawing/2014/main" id="{6CF2200A-7965-A251-2FC7-3DB369B6F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013A9-9FBD-7644-61FF-9DDB201427EA}"/>
              </a:ext>
            </a:extLst>
          </p:cNvPr>
          <p:cNvSpPr/>
          <p:nvPr userDrawn="1"/>
        </p:nvSpPr>
        <p:spPr>
          <a:xfrm>
            <a:off x="0" y="4714875"/>
            <a:ext cx="12192000" cy="128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7C041D6-A600-9DE5-86C4-03E906F683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10244" name="Object 3" hidden="1">
                        <a:extLst>
                          <a:ext uri="{FF2B5EF4-FFF2-40B4-BE49-F238E27FC236}">
                            <a16:creationId xmlns:a16="http://schemas.microsoft.com/office/drawing/2014/main" id="{19D95245-B891-C7CD-1861-1B8BA77D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B2067C8-39F1-F65C-8D0E-5A7657CB6B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46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A159E-64D9-393E-C348-B4CE33A50B31}"/>
              </a:ext>
            </a:extLst>
          </p:cNvPr>
          <p:cNvSpPr/>
          <p:nvPr userDrawn="1"/>
        </p:nvSpPr>
        <p:spPr>
          <a:xfrm>
            <a:off x="0" y="4711700"/>
            <a:ext cx="12192000" cy="84138"/>
          </a:xfrm>
          <a:prstGeom prst="rect">
            <a:avLst/>
          </a:prstGeom>
          <a:solidFill>
            <a:srgbClr val="186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5CF18-49A8-8E1A-2AEC-9E1217ACA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3796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398C1-6466-6836-4718-870188C345F9}"/>
              </a:ext>
            </a:extLst>
          </p:cNvPr>
          <p:cNvCxnSpPr/>
          <p:nvPr userDrawn="1"/>
        </p:nvCxnSpPr>
        <p:spPr>
          <a:xfrm>
            <a:off x="1695450" y="5445125"/>
            <a:ext cx="66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8"/>
          <p:cNvSpPr>
            <a:spLocks noGrp="1"/>
          </p:cNvSpPr>
          <p:nvPr>
            <p:ph type="title"/>
          </p:nvPr>
        </p:nvSpPr>
        <p:spPr>
          <a:xfrm>
            <a:off x="2356222" y="5014045"/>
            <a:ext cx="9394363" cy="871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Autofit/>
          </a:bodyPr>
          <a:lstStyle>
            <a:lvl1pPr marL="0" algn="l" defTabSz="914377" rtl="0" eaLnBrk="1" latinLnBrk="0" hangingPunct="1">
              <a:lnSpc>
                <a:spcPct val="100000"/>
              </a:lnSpc>
              <a:defRPr lang="en-US" sz="1600" b="1" kern="1200" cap="all" baseline="0" dirty="0">
                <a:solidFill>
                  <a:schemeClr val="bg1"/>
                </a:solidFill>
                <a:latin typeface="+mj-lt"/>
                <a:ea typeface="+mn-ea"/>
                <a:cs typeface="Dreaming Outloud Script Pro" panose="020B06040202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hcSlideMaster.Divider 1Header" descr=" ">
            <a:extLst>
              <a:ext uri="{FF2B5EF4-FFF2-40B4-BE49-F238E27FC236}">
                <a16:creationId xmlns:a16="http://schemas.microsoft.com/office/drawing/2014/main" id="{2C1E635C-C015-3BA3-32CF-77754B0010B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Divider 1Footer" descr=" ">
            <a:extLst>
              <a:ext uri="{FF2B5EF4-FFF2-40B4-BE49-F238E27FC236}">
                <a16:creationId xmlns:a16="http://schemas.microsoft.com/office/drawing/2014/main" id="{D07816B1-6DE0-6C9C-157C-B661009C5397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08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 hidden="1">
            <a:extLst>
              <a:ext uri="{FF2B5EF4-FFF2-40B4-BE49-F238E27FC236}">
                <a16:creationId xmlns:a16="http://schemas.microsoft.com/office/drawing/2014/main" id="{7208E0D4-98E9-DD31-1ADD-B670E23C41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806" r:id="rId3"/>
    <p:sldLayoutId id="2147484807" r:id="rId4"/>
    <p:sldLayoutId id="2147484808" r:id="rId5"/>
    <p:sldLayoutId id="2147484801" r:id="rId6"/>
    <p:sldLayoutId id="2147484802" r:id="rId7"/>
    <p:sldLayoutId id="2147484809" r:id="rId8"/>
    <p:sldLayoutId id="2147484803" r:id="rId9"/>
    <p:sldLayoutId id="2147484804" r:id="rId10"/>
    <p:sldLayoutId id="2147484810" r:id="rId11"/>
    <p:sldLayoutId id="2147484811" r:id="rId12"/>
    <p:sldLayoutId id="2147484794" r:id="rId13"/>
    <p:sldLayoutId id="2147484795" r:id="rId14"/>
    <p:sldLayoutId id="2147484796" r:id="rId15"/>
    <p:sldLayoutId id="2147484798" r:id="rId16"/>
    <p:sldLayoutId id="214748480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ylerbelcan/aviation-controls-simulink-training-Belcan.git" TargetMode="External"/><Relationship Id="rId2" Type="http://schemas.openxmlformats.org/officeDocument/2006/relationships/hyperlink" Target="https://github.com/ntylerbelcan/aviation-controls-simulink-training-Belcan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8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6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8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4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r/cFLdXL13Qs" TargetMode="Externa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ore.office.com/addinsinstallpage.aspx?rs=en-US&amp;assetid=WA200003233&amp;isWac=True&amp;ui=en-US&amp;ad=US" TargetMode="External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links/zcu27aJGMI?ctid=64ff49ba-62b0-46de-b74b-cc4d370ce341&amp;pbi_source=linkShare" TargetMode="External"/><Relationship Id="rId3" Type="http://schemas.openxmlformats.org/officeDocument/2006/relationships/hyperlink" Target="https://forms.cloud.microsoft/Pages/DesignPageV2.aspx?origin=NeoPortalPage&amp;subpage=design&amp;collectionid=1poezbja8ui7pddb2eif43&amp;id=ukn_ZLBi3ka3S8xNNwzjQfYqP4xcaORCpJj8zDxV2HpUN0dFN1A3ODVPUFowMDk5VTlGRzgxUUQ5OS4u&amp;tab=0&amp;analysis=true" TargetMode="External"/><Relationship Id="rId7" Type="http://schemas.openxmlformats.org/officeDocument/2006/relationships/hyperlink" Target="https://app.powerbi.com/groups/me/modeling/9b03b459-3eeb-4c13-8cb9-9748bd494699/modelView?ctid=64ff49ba-62b0-46de-b74b-cc4d370ce341&amp;experience=power-bi" TargetMode="External"/><Relationship Id="rId2" Type="http://schemas.openxmlformats.org/officeDocument/2006/relationships/hyperlink" Target="https://forms.cloud.microsoft/Pages/AnalysisPage.aspx?AnalyzerToken=OWhhDZASHcVjemZjN4g9cH0kGyfI8nNX&amp;id=ukn_ZLBi3ka3S8xNNwzjQfYqP4xcaORCpJj8zDxV2HpUN0dFN1A3ODVPUFowMDk5VTlGRzgxUUQ5OS4u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pp.powerbi.com/groups/me/list?ctid=64ff49ba-62b0-46de-b74b-cc4d370ce341&amp;experience=power-bi" TargetMode="External"/><Relationship Id="rId5" Type="http://schemas.openxmlformats.org/officeDocument/2006/relationships/hyperlink" Target="https://belcan-my.sharepoint.com/:f:/p/ntyler/IgDPVjp6qhGeQJlTFpICIVoyAfVmSUvbCNIBKXvafhqxuFM?e=VWnujP" TargetMode="External"/><Relationship Id="rId4" Type="http://schemas.openxmlformats.org/officeDocument/2006/relationships/hyperlink" Target="https://belcan-my.sharepoint.com/:x:/p/ntyler/IQAFIt9bH06JQLj917Ba6-VEAWN0eez1FzDNEjMwCAAkqPY?e=BAB6xb" TargetMode="Externa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94AB9-2C9A-954E-9F92-62EFB7D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130" y="4947338"/>
            <a:ext cx="9394825" cy="871538"/>
          </a:xfrm>
        </p:spPr>
        <p:txBody>
          <a:bodyPr/>
          <a:lstStyle/>
          <a:p>
            <a:pPr>
              <a:defRPr/>
            </a:pPr>
            <a:r>
              <a:rPr dirty="0"/>
              <a:t>Chapter 2 </a:t>
            </a:r>
            <a:r>
              <a:rPr lang="en-US" altLang="en-US" dirty="0"/>
              <a:t>01 Polynomial System</a:t>
            </a:r>
            <a:endParaRPr dirty="0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5987A8B9-2167-D53B-8086-29D2671D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7342" y="4904838"/>
            <a:ext cx="268451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How to Use MATLAB/SIMULINK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Created: 14 September 2026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Updated: 16 September 2026</a:t>
            </a:r>
          </a:p>
          <a:p>
            <a:pPr algn="ctr"/>
            <a:endParaRPr lang="en-US" alt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By Nathaniel Tyler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D16E5-FC70-4956-3DB3-2BE8C992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" y="2019503"/>
            <a:ext cx="4637020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14FF-2564-999F-BED9-492F98D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0340D-8F5A-6BA5-E23E-F12C8CFC0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32D48-5BEE-725D-1184-2B0774D1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Training Repo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3337-5D2F-AE14-065E-F984C3C1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Hub Webpage</a:t>
            </a:r>
          </a:p>
          <a:p>
            <a:pPr lvl="1"/>
            <a:r>
              <a:rPr lang="en-US" dirty="0" err="1">
                <a:hlinkClick r:id="rId2"/>
              </a:rPr>
              <a:t>ntylerbelcan</a:t>
            </a:r>
            <a:r>
              <a:rPr lang="en-US" dirty="0">
                <a:hlinkClick r:id="rId2"/>
              </a:rPr>
              <a:t>/aviation-controls-</a:t>
            </a:r>
            <a:r>
              <a:rPr lang="en-US" dirty="0" err="1">
                <a:hlinkClick r:id="rId2"/>
              </a:rPr>
              <a:t>simulink</a:t>
            </a:r>
            <a:r>
              <a:rPr lang="en-US" dirty="0">
                <a:hlinkClick r:id="rId2"/>
              </a:rPr>
              <a:t>-training-Belcan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Ensure you are in a folder called “GitHub” before your run either of the following commands:</a:t>
            </a:r>
          </a:p>
          <a:p>
            <a:pPr marL="400050" lvl="1" indent="0">
              <a:buNone/>
            </a:pP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Git Bash </a:t>
            </a:r>
            <a:r>
              <a:rPr lang="en-US" dirty="0"/>
              <a:t>/ Terminal you can run</a:t>
            </a:r>
          </a:p>
          <a:p>
            <a:pPr lvl="2"/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https://github.com/ntylerbelcan/aviation-controls-simulink-training-Belcan.git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MATLAB</a:t>
            </a:r>
          </a:p>
          <a:p>
            <a:pPr lvl="2"/>
            <a:r>
              <a:rPr lang="en-US" dirty="0"/>
              <a:t>You can clone directly from the MATLAB command </a:t>
            </a:r>
            <a:r>
              <a:rPr lang="en-US" dirty="0" err="1"/>
              <a:t>window:MATLAB</a:t>
            </a:r>
            <a:endParaRPr lang="en-US" dirty="0"/>
          </a:p>
          <a:p>
            <a:pPr lvl="2"/>
            <a:r>
              <a:rPr lang="en-US" dirty="0"/>
              <a:t>system('git clone https://github.com/ntylerbelcan/aviation-controls-simulink-training-Belcan.git')</a:t>
            </a:r>
          </a:p>
        </p:txBody>
      </p:sp>
    </p:spTree>
    <p:extLst>
      <p:ext uri="{BB962C8B-B14F-4D97-AF65-F5344CB8AC3E}">
        <p14:creationId xmlns:p14="http://schemas.microsoft.com/office/powerpoint/2010/main" val="405424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86766-355D-FAB3-7FBD-0DD4D6336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does success look like?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08F93-F47F-FA51-3F4B-69DE443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8FD5-671E-7696-712F-662D72BB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 from equation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 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Property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Shows a final product of the Example we will be walking thru: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3: Final Thought Process  (shows the thought process I used to get to the Simulink model)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4: Final Simulink Model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5: Final Data Dictionary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6: Final Model Configuration</a:t>
            </a:r>
          </a:p>
          <a:p>
            <a:pPr marL="628650" lvl="1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7: Final Data Inspector</a:t>
            </a:r>
          </a:p>
          <a:p>
            <a:pPr marL="0" indent="0" eaLnBrk="1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4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A299-DB90-4D27-C326-6BA68BAF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199F3E-A2B6-A7C2-AC7B-7A10B307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(This summarizes all work created thru the </a:t>
            </a:r>
            <a:r>
              <a:rPr lang="en-US" dirty="0" err="1"/>
              <a:t>powerpoint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8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2151F1-7EDD-1DDD-1B50-79F00F74F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Converting an Equation into a Simulink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99C53BD-6D27-E615-9A0A-0AB5A5F011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</p:spPr>
            <p:txBody>
              <a:bodyPr/>
              <a:lstStyle/>
              <a:p>
                <a:pPr/>
                <a:r>
                  <a:rPr lang="en-US" sz="1200" b="0" u="sng" dirty="0">
                    <a:latin typeface="+mj-lt"/>
                  </a:rPr>
                  <a:t>Original Equation</a:t>
                </a:r>
                <a:r>
                  <a:rPr lang="en-US" sz="1200" b="0" dirty="0">
                    <a:latin typeface="+mj-lt"/>
                  </a:rPr>
                  <a:t>… Start with the discrete derivative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When I see the discrete derivative equation, I decompose it into mathematical operations that map directly to Simulink blocks.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 indicates a Unit Delay, the difference indicates a subtraction block, and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200" b="0" dirty="0">
                    <a:latin typeface="+mj-lt"/>
                  </a:rPr>
                  <a:t>​ indicates a Gain block.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/>
                </a:br>
                <a:r>
                  <a:rPr lang="en-US" sz="1200" b="0" u="sng" dirty="0"/>
                  <a:t>How I translate:</a:t>
                </a:r>
                <a:br>
                  <a:rPr lang="en-US" sz="1200" b="0" dirty="0"/>
                </a:br>
                <a:br>
                  <a:rPr lang="en-US" sz="1200" b="0" dirty="0"/>
                </a:br>
                <a:r>
                  <a:rPr lang="en-US" sz="1200" b="0" dirty="0"/>
                  <a:t>Step 1.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00" b="0" dirty="0"/>
                  <a:t>			Original Equation</a:t>
                </a:r>
                <a:br>
                  <a:rPr lang="en-US" sz="1200" b="0" dirty="0"/>
                </a:br>
                <a:r>
                  <a:rPr lang="en-US" sz="1200" b="0" dirty="0"/>
                  <a:t>Step 2.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00" b="0" dirty="0"/>
                  <a:t>		Rearrange into block-friendly form</a:t>
                </a:r>
                <a:br>
                  <a:rPr lang="en-US" sz="1200" b="0" dirty="0"/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/>
                  <a:t>Model Construction Logic:</a:t>
                </a:r>
                <a:br>
                  <a:rPr lang="en-US" sz="1200" b="0" dirty="0"/>
                </a:br>
                <a:r>
                  <a:rPr lang="en-US" sz="1200" b="0" i="1" dirty="0">
                    <a:solidFill>
                      <a:srgbClr val="FF0000"/>
                    </a:solidFill>
                  </a:rPr>
                  <a:t>Step</a:t>
                </a:r>
                <a:r>
                  <a:rPr lang="en-US" sz="1200" b="0" i="1" dirty="0"/>
                  <a:t>     </a:t>
                </a:r>
                <a:r>
                  <a:rPr lang="en-US" sz="1200" b="0" i="1" dirty="0">
                    <a:solidFill>
                      <a:srgbClr val="FF0000"/>
                    </a:solidFill>
                  </a:rPr>
                  <a:t>Operation</a:t>
                </a:r>
                <a:r>
                  <a:rPr lang="en-US" sz="1200" b="0" i="1" dirty="0"/>
                  <a:t>	</a:t>
                </a:r>
                <a:r>
                  <a:rPr lang="en-US" sz="1200" b="0" i="1" dirty="0">
                    <a:solidFill>
                      <a:srgbClr val="FF0000"/>
                    </a:solidFill>
                  </a:rPr>
                  <a:t>Mathematical Term</a:t>
                </a:r>
                <a:r>
                  <a:rPr lang="en-US" sz="1200" b="0" i="1" dirty="0"/>
                  <a:t>	</a:t>
                </a:r>
                <a:r>
                  <a:rPr lang="en-US" sz="1200" b="0" i="1" dirty="0">
                    <a:solidFill>
                      <a:srgbClr val="FF0000"/>
                    </a:solidFill>
                  </a:rPr>
                  <a:t>Simulink Block</a:t>
                </a:r>
                <a:br>
                  <a:rPr lang="en-US" sz="1200" b="0" dirty="0"/>
                </a:br>
                <a:r>
                  <a:rPr lang="en-US" sz="1200" b="0" dirty="0"/>
                  <a:t>Step 1: Delay		</a:t>
                </a:r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nor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200" b="0" i="0" dirty="0"/>
                      <m:t>→</m:t>
                    </m:r>
                    <m:r>
                      <m:rPr>
                        <m:nor/>
                      </m:rPr>
                      <a:rPr lang="en-US" sz="1200" b="0" i="0" dirty="0" smtClean="0"/>
                      <m:t> 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200" b="0" dirty="0"/>
                  <a:t> 	</a:t>
                </a:r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𝑈𝑛𝑖𝑡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𝐷𝑒𝑙𝑎𝑦</m:t>
                    </m:r>
                  </m:oMath>
                </a14:m>
                <a:br>
                  <a:rPr lang="en-US" sz="1200" b="0" dirty="0"/>
                </a:br>
                <a:r>
                  <a:rPr lang="en-US" sz="1200" b="0" dirty="0"/>
                  <a:t>Step 2: Subtract	</a:t>
                </a:r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𝑆𝑢𝑏𝑡𝑟𝑎𝑐𝑡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𝑏𝑙𝑜𝑐𝑘</m:t>
                    </m:r>
                  </m:oMath>
                </a14:m>
                <a:br>
                  <a:rPr lang="en-US" sz="1200" b="0" dirty="0">
                    <a:latin typeface="+mj-lt"/>
                  </a:rPr>
                </a:br>
                <a:r>
                  <a:rPr lang="en-US" sz="1200" b="0" dirty="0"/>
                  <a:t>Step 3: Scale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f>
                      <m:f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00" b="0" dirty="0"/>
                  <a:t>		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𝑏𝑙𝑜𝑐𝑘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br>
                  <a:rPr lang="en-US" sz="1200" b="0" dirty="0"/>
                </a:br>
                <a:r>
                  <a:rPr lang="en-US" sz="1200" b="0" dirty="0"/>
                  <a:t>Step 4: Output 	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200" b="0" dirty="0"/>
                  <a:t>		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𝑂𝑢𝑡𝑝𝑜𝑟𝑡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𝑏𝑙𝑜𝑐𝑘</m:t>
                    </m:r>
                  </m:oMath>
                </a14:m>
                <a:br>
                  <a:rPr lang="en-US" sz="1200" b="0" dirty="0"/>
                </a:br>
                <a:br>
                  <a:rPr lang="en-US" sz="1200" b="0" dirty="0"/>
                </a:b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             =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𝑑𝑖𝑠𝑐𝑟𝑒𝑡𝑒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𝑠𝑎𝑚𝑝𝑙𝑒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𝑖𝑛𝑑𝑒𝑥</m:t>
                    </m:r>
                  </m:oMath>
                </a14:m>
                <a:r>
                  <a:rPr lang="en-US" sz="1200" b="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12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            =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𝑠𝑎𝑚𝑝𝑙𝑒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𝑠𝑒𝑐𝑜𝑛𝑑𝑠</m:t>
                        </m:r>
                      </m:e>
                    </m:d>
                  </m:oMath>
                </a14:m>
                <a:r>
                  <a:rPr lang="en-US" sz="1200" b="0" i="1" dirty="0">
                    <a:latin typeface="Cambria Math" panose="02040503050406030204" pitchFamily="18" charset="0"/>
                  </a:rPr>
                  <a:t> </a:t>
                </a:r>
                <a:br>
                  <a:rPr lang="en-US" sz="12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1200" b="0" i="1">
                        <a:latin typeface="Cambria Math" panose="02040503050406030204" pitchFamily="18" charset="0"/>
                      </a:rPr>
                      <m:t>        =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𝑐𝑢𝑟𝑟𝑒𝑛𝑡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𝑠𝑎𝑚𝑝𝑙𝑒</m:t>
                    </m:r>
                  </m:oMath>
                </a14:m>
                <a:r>
                  <a:rPr lang="en-US" sz="1200" b="0" dirty="0"/>
                  <a:t> </a:t>
                </a:r>
                <a:br>
                  <a:rPr lang="en-US" sz="1200" b="0" dirty="0"/>
                </a:b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𝑝𝑟𝑒𝑣𝑖𝑜𝑢𝑠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𝑠𝑎𝑚𝑝𝑙𝑒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𝑜𝑛𝑒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𝑒𝑎𝑟𝑙𝑖𝑒𝑟</m:t>
                    </m:r>
                  </m:oMath>
                </a14:m>
                <a:r>
                  <a:rPr lang="en-US" sz="1200" b="0" dirty="0"/>
                  <a:t> </a:t>
                </a:r>
                <a:br>
                  <a:rPr lang="en-US" sz="1200" b="0" dirty="0">
                    <a:latin typeface="+mj-lt"/>
                  </a:rPr>
                </a:br>
                <a:endParaRPr lang="en-US" sz="12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99C53BD-6D27-E615-9A0A-0AB5A5F01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  <a:blipFill>
                <a:blip r:embed="rId2"/>
                <a:stretch>
                  <a:fillRect l="-1253" t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8ED69C34-D895-0303-161B-CA0EB02D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08" y="3256501"/>
            <a:ext cx="6070991" cy="131668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B945448-2080-DF92-2808-8069852E05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06" t="72965" r="42734" b="6943"/>
          <a:stretch>
            <a:fillRect/>
          </a:stretch>
        </p:blipFill>
        <p:spPr>
          <a:xfrm>
            <a:off x="7324724" y="4761457"/>
            <a:ext cx="4676775" cy="1316686"/>
          </a:xfrm>
          <a:prstGeom prst="rect">
            <a:avLst/>
          </a:prstGeom>
        </p:spPr>
      </p:pic>
      <p:pic>
        <p:nvPicPr>
          <p:cNvPr id="62" name="Content Placeholder 61">
            <a:extLst>
              <a:ext uri="{FF2B5EF4-FFF2-40B4-BE49-F238E27FC236}">
                <a16:creationId xmlns:a16="http://schemas.microsoft.com/office/drawing/2014/main" id="{FF6B8071-545F-D2B0-645F-A7DDDF494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640520" y="1003947"/>
            <a:ext cx="4388069" cy="19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6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A78955-374D-0D75-E725-D591EE9C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85F8D1E2-E030-813E-1A82-DB0530C96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940" y="842397"/>
            <a:ext cx="4176858" cy="593076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906499-9F48-CF8C-78B6-E99DB40A2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Converting an Equation into a Simulink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639E0BE-6A02-B51E-92FE-785623C091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</p:spPr>
            <p:txBody>
              <a:bodyPr/>
              <a:lstStyle/>
              <a:p>
                <a:r>
                  <a:rPr lang="en-US" sz="1200" b="0" u="sng" dirty="0">
                    <a:latin typeface="+mj-lt"/>
                  </a:rPr>
                  <a:t>Original Equation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I see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, and I mentally decompose it into terms that become blocks.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What's going on in my head after I see original equation: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200" b="0" dirty="0">
                    <a:latin typeface="+mj-lt"/>
                  </a:rPr>
                  <a:t> 			Original Equation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=1∗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4∗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+21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    		Rearrange the polynomial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	Add Parenthesis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5.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COEFF_A = 1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COEFF_B = -4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COEFF_C = 21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Model Construction Logic: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1: Calculate t²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2: Calculate -4t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3: Apply Constant Term (21)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4: Sum All Terms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5: Output y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next page for final Simulink model.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Slide 11 – 17 for more details</a:t>
                </a:r>
                <a:br>
                  <a:rPr lang="en-US" sz="1200" b="0" dirty="0">
                    <a:latin typeface="+mj-lt"/>
                  </a:rPr>
                </a:br>
                <a:endParaRPr lang="en-US" sz="12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639E0BE-6A02-B51E-92FE-785623C09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  <a:blipFill>
                <a:blip r:embed="rId3"/>
                <a:stretch>
                  <a:fillRect l="-1253" t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036ECD8-4C02-37A6-F60E-DABFFDC6CE92}"/>
              </a:ext>
            </a:extLst>
          </p:cNvPr>
          <p:cNvSpPr txBox="1"/>
          <p:nvPr/>
        </p:nvSpPr>
        <p:spPr>
          <a:xfrm>
            <a:off x="4669411" y="5713360"/>
            <a:ext cx="36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Important:</a:t>
            </a:r>
          </a:p>
          <a:p>
            <a:r>
              <a:rPr lang="en-US" dirty="0"/>
              <a:t>Gain Block = Multiplication</a:t>
            </a:r>
            <a:br>
              <a:rPr lang="en-US" dirty="0"/>
            </a:br>
            <a:r>
              <a:rPr lang="en-US" dirty="0"/>
              <a:t>Output = Input × Gain</a:t>
            </a:r>
          </a:p>
        </p:txBody>
      </p:sp>
    </p:spTree>
    <p:extLst>
      <p:ext uri="{BB962C8B-B14F-4D97-AF65-F5344CB8AC3E}">
        <p14:creationId xmlns:p14="http://schemas.microsoft.com/office/powerpoint/2010/main" val="368778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EA4371-CE9F-CC6E-AFC4-0B2D6F6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440B6C-ADF7-B7AD-FF28-4AFA56028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622BBB-8889-10C0-7FDF-4008002F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File)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your Model Should look when Finished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Content Placeholder 15">
            <a:extLst>
              <a:ext uri="{FF2B5EF4-FFF2-40B4-BE49-F238E27FC236}">
                <a16:creationId xmlns:a16="http://schemas.microsoft.com/office/drawing/2014/main" id="{874AB148-8D5B-8E2D-1D8C-E918E6E79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4525-B1A2-EFAD-DEBF-2299F658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24C753-D26B-AFDC-BAF0-210D35397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54D14B-0688-91B6-6B43-53925885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derivative_System.slx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File) … </a:t>
            </a:r>
            <a:r>
              <a:rPr lang="en-US" dirty="0">
                <a:solidFill>
                  <a:srgbClr val="E99A25"/>
                </a:solidFill>
              </a:rPr>
              <a:t>Discrete Derivative is the focus of this lesson.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your Model Should look when Finished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7" name="Content Placeholder 13">
            <a:extLst>
              <a:ext uri="{FF2B5EF4-FFF2-40B4-BE49-F238E27FC236}">
                <a16:creationId xmlns:a16="http://schemas.microsoft.com/office/drawing/2014/main" id="{E1A99592-E295-BA58-C33C-F14AC3552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044" t="32057" r="24702" b="15430"/>
          <a:stretch>
            <a:fillRect/>
          </a:stretch>
        </p:blipFill>
        <p:spPr>
          <a:xfrm>
            <a:off x="1005159" y="1838325"/>
            <a:ext cx="10121357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0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77ED-BB3D-E261-95EF-EC8CCEA8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5F371E-74F6-4B03-BC2A-190AFE5B26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92EB25-38D4-D4C6-FF08-C98EFC27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polynomial_System.sldd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(Data Dictionary)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90AE5075-5378-B476-076D-296534444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4474" b="64780"/>
          <a:stretch>
            <a:fillRect/>
          </a:stretch>
        </p:blipFill>
        <p:spPr>
          <a:xfrm>
            <a:off x="395288" y="1525140"/>
            <a:ext cx="11341100" cy="2842670"/>
          </a:xfrm>
          <a:prstGeom prst="rect">
            <a:avLst/>
          </a:prstGeom>
        </p:spPr>
      </p:pic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48D44D7E-375E-613E-85C9-B297D5BD0D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120942"/>
              </p:ext>
            </p:extLst>
          </p:nvPr>
        </p:nvGraphicFramePr>
        <p:xfrm>
          <a:off x="395288" y="4455809"/>
          <a:ext cx="10195339" cy="381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4658">
                  <a:extLst>
                    <a:ext uri="{9D8B030D-6E8A-4147-A177-3AD203B41FA5}">
                      <a16:colId xmlns:a16="http://schemas.microsoft.com/office/drawing/2014/main" val="422977791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749714080"/>
                    </a:ext>
                  </a:extLst>
                </a:gridCol>
                <a:gridCol w="1561686">
                  <a:extLst>
                    <a:ext uri="{9D8B030D-6E8A-4147-A177-3AD203B41FA5}">
                      <a16:colId xmlns:a16="http://schemas.microsoft.com/office/drawing/2014/main" val="4151209554"/>
                    </a:ext>
                  </a:extLst>
                </a:gridCol>
                <a:gridCol w="794751">
                  <a:extLst>
                    <a:ext uri="{9D8B030D-6E8A-4147-A177-3AD203B41FA5}">
                      <a16:colId xmlns:a16="http://schemas.microsoft.com/office/drawing/2014/main" val="1463850620"/>
                    </a:ext>
                  </a:extLst>
                </a:gridCol>
                <a:gridCol w="969596">
                  <a:extLst>
                    <a:ext uri="{9D8B030D-6E8A-4147-A177-3AD203B41FA5}">
                      <a16:colId xmlns:a16="http://schemas.microsoft.com/office/drawing/2014/main" val="1697874259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3376427272"/>
                    </a:ext>
                  </a:extLst>
                </a:gridCol>
                <a:gridCol w="413271">
                  <a:extLst>
                    <a:ext uri="{9D8B030D-6E8A-4147-A177-3AD203B41FA5}">
                      <a16:colId xmlns:a16="http://schemas.microsoft.com/office/drawing/2014/main" val="292903287"/>
                    </a:ext>
                  </a:extLst>
                </a:gridCol>
                <a:gridCol w="413271">
                  <a:extLst>
                    <a:ext uri="{9D8B030D-6E8A-4147-A177-3AD203B41FA5}">
                      <a16:colId xmlns:a16="http://schemas.microsoft.com/office/drawing/2014/main" val="230030369"/>
                    </a:ext>
                  </a:extLst>
                </a:gridCol>
                <a:gridCol w="3830701">
                  <a:extLst>
                    <a:ext uri="{9D8B030D-6E8A-4147-A177-3AD203B41FA5}">
                      <a16:colId xmlns:a16="http://schemas.microsoft.com/office/drawing/2014/main" val="2487550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Name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EntryType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DataType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Dimensions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Max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Unit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187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Ts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Simulink.Parameter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double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[1 1]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239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944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9C3D62-E170-20C9-A762-81F86C912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440D6-4257-B20F-9554-6BCBB4FA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Settings)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 Models Settings should be setup.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C343365-B3C3-C70A-AE39-8A70FD748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6588"/>
          <a:stretch>
            <a:fillRect/>
          </a:stretch>
        </p:blipFill>
        <p:spPr>
          <a:xfrm>
            <a:off x="1778990" y="2628416"/>
            <a:ext cx="8573696" cy="29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F90B-38AD-6847-41F5-8C298542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348CF3-9AC9-FB52-74A6-0296690DE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3134D1A-9A65-EF7F-E27A-0123FDFC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Inspector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C2B3A2-DAD9-AF68-6B46-98AC724AF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57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D2A6-3E04-942D-9691-2AF348DB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516579-B0FA-9AEE-5047-DD28B6DA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vs. Discrete Derivative</a:t>
            </a:r>
          </a:p>
        </p:txBody>
      </p:sp>
    </p:spTree>
    <p:extLst>
      <p:ext uri="{BB962C8B-B14F-4D97-AF65-F5344CB8AC3E}">
        <p14:creationId xmlns:p14="http://schemas.microsoft.com/office/powerpoint/2010/main" val="3062377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4A06D-5EB4-4612-F49D-42D8F290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B17AE087-6E33-121E-5379-BA7799B252E4}"/>
              </a:ext>
            </a:extLst>
          </p:cNvPr>
          <p:cNvSpPr/>
          <p:nvPr/>
        </p:nvSpPr>
        <p:spPr>
          <a:xfrm>
            <a:off x="348825" y="1978976"/>
            <a:ext cx="5623559" cy="3384876"/>
          </a:xfrm>
          <a:prstGeom prst="roundRect">
            <a:avLst>
              <a:gd name="adj" fmla="val 183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C4816AC-0A09-5848-24C8-9FDEFC561F4D}"/>
              </a:ext>
            </a:extLst>
          </p:cNvPr>
          <p:cNvSpPr/>
          <p:nvPr/>
        </p:nvSpPr>
        <p:spPr>
          <a:xfrm>
            <a:off x="6066365" y="1978977"/>
            <a:ext cx="5623559" cy="3384875"/>
          </a:xfrm>
          <a:prstGeom prst="roundRect">
            <a:avLst>
              <a:gd name="adj" fmla="val 183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C71117-EAA8-8F50-35DB-D554ECE1BA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2298338"/>
            <a:ext cx="5623560" cy="365760"/>
          </a:xfrm>
        </p:spPr>
        <p:txBody>
          <a:bodyPr/>
          <a:lstStyle/>
          <a:p>
            <a:r>
              <a:rPr lang="en-US" b="1" dirty="0">
                <a:solidFill>
                  <a:srgbClr val="E99A25"/>
                </a:solidFill>
              </a:rPr>
              <a:t>Discrete Derivative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CC5DBC-2CF7-AFF4-B89E-DF3DDD4E22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2298338"/>
            <a:ext cx="5623560" cy="365760"/>
          </a:xfrm>
        </p:spPr>
        <p:txBody>
          <a:bodyPr/>
          <a:lstStyle/>
          <a:p>
            <a:r>
              <a:rPr lang="en-US" b="1" dirty="0">
                <a:solidFill>
                  <a:srgbClr val="2878B5"/>
                </a:solidFill>
              </a:rPr>
              <a:t>Continuous Derivative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2414C3A-6ED6-99C1-B588-5F0E9BF78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817" y="2777756"/>
                <a:ext cx="5623560" cy="2407655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600" b="0" dirty="0"/>
              </a:p>
              <a:p>
                <a:pPr marL="0" indent="0" algn="ctr">
                  <a:buNone/>
                </a:pPr>
                <a:endParaRPr lang="en-US" sz="2600" b="0" dirty="0"/>
              </a:p>
              <a:p>
                <a:pPr marL="0" indent="0" algn="ctr">
                  <a:buNone/>
                </a:pPr>
                <a:r>
                  <a:rPr lang="en-US" dirty="0"/>
                  <a:t>Instantaneous derivative used in the continuous-time model.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2414C3A-6ED6-99C1-B588-5F0E9BF78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817" y="2777756"/>
                <a:ext cx="5623560" cy="2407655"/>
              </a:xfrm>
              <a:blipFill>
                <a:blip r:embed="rId2"/>
                <a:stretch>
                  <a:fillRect l="-217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18CD9-5DC5-A501-CE5B-72E5596CF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1C8344-9491-213B-6E21-5F28E848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 Equation</a:t>
            </a:r>
            <a:b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1200" dirty="0">
                <a:solidFill>
                  <a:srgbClr val="566579"/>
                </a:solidFill>
              </a:rPr>
              <a:t>Same rate-of-change concept, different implementation for sampled systems.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D83D8C-BEA4-3FA6-9356-0037CD6A13CC}"/>
                  </a:ext>
                </a:extLst>
              </p:cNvPr>
              <p:cNvSpPr>
                <a:spLocks noGrp="1"/>
              </p:cNvSpPr>
              <p:nvPr>
                <p:ph idx="15"/>
              </p:nvPr>
            </p:nvSpPr>
            <p:spPr>
              <a:xfrm>
                <a:off x="6113356" y="2777757"/>
                <a:ext cx="5623560" cy="240765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600" dirty="0"/>
              </a:p>
              <a:p>
                <a:pPr marL="0" indent="0" algn="ctr">
                  <a:buNone/>
                </a:pPr>
                <a:endParaRPr lang="en-US" sz="2600" dirty="0"/>
              </a:p>
              <a:p>
                <a:pPr marL="0" indent="0" algn="ctr">
                  <a:buNone/>
                </a:pPr>
                <a:r>
                  <a:rPr lang="en-US" dirty="0"/>
                  <a:t>Backward finite difference uses the current and previous samples.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D83D8C-BEA4-3FA6-9356-0037CD6A1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5"/>
              </p:nvPr>
            </p:nvSpPr>
            <p:spPr>
              <a:xfrm>
                <a:off x="6113356" y="2777757"/>
                <a:ext cx="5623560" cy="240765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8">
            <a:extLst>
              <a:ext uri="{FF2B5EF4-FFF2-40B4-BE49-F238E27FC236}">
                <a16:creationId xmlns:a16="http://schemas.microsoft.com/office/drawing/2014/main" id="{0FBCD9CF-3B78-B50A-FA2D-FC17D888FD63}"/>
              </a:ext>
            </a:extLst>
          </p:cNvPr>
          <p:cNvSpPr/>
          <p:nvPr/>
        </p:nvSpPr>
        <p:spPr>
          <a:xfrm>
            <a:off x="2788920" y="5715000"/>
            <a:ext cx="6583680" cy="502920"/>
          </a:xfrm>
          <a:prstGeom prst="round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00BE2E0-4B58-3884-92F7-3B8ACCD239E7}"/>
              </a:ext>
            </a:extLst>
          </p:cNvPr>
          <p:cNvSpPr/>
          <p:nvPr/>
        </p:nvSpPr>
        <p:spPr>
          <a:xfrm>
            <a:off x="2971800" y="58430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For the model test: Ts = 0.01 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8563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F8F7-A966-1F54-A604-E0C48214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80686C74-DD6E-71EB-58E3-4F4D72C7A3BE}"/>
              </a:ext>
            </a:extLst>
          </p:cNvPr>
          <p:cNvSpPr/>
          <p:nvPr/>
        </p:nvSpPr>
        <p:spPr>
          <a:xfrm>
            <a:off x="348825" y="1978976"/>
            <a:ext cx="11512976" cy="3384876"/>
          </a:xfrm>
          <a:prstGeom prst="roundRect">
            <a:avLst>
              <a:gd name="adj" fmla="val 183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CD3856-7176-2B8E-2CB4-04B86E01C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7" y="2298338"/>
            <a:ext cx="11341097" cy="36576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Relationship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3099B5-E18B-FC46-D5B0-ABD33A3D5A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816" y="2777756"/>
                <a:ext cx="11341099" cy="2407655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dirty="0" smtClean="0">
                          <a:solidFill>
                            <a:srgbClr val="2878B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𝐶𝑜𝑛𝑡𝑖𝑛𝑢𝑜𝑢𝑠</m:t>
                      </m:r>
                      <m:r>
                        <a:rPr lang="en-US" sz="2600" b="0" i="1" dirty="0" smtClean="0">
                          <a:solidFill>
                            <a:srgbClr val="2878B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600" b="0" i="1" dirty="0" smtClean="0">
                          <a:solidFill>
                            <a:srgbClr val="2878B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𝐷𝑒𝑟𝑖𝑣𝑎𝑡𝑖𝑣𝑒</m:t>
                      </m:r>
                      <m:r>
                        <a:rPr lang="en-US" sz="2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600" i="1" dirty="0">
                          <a:solidFill>
                            <a:srgbClr val="E99A2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𝐷𝑖𝑠𝑐𝑟𝑒𝑡𝑒</m:t>
                      </m:r>
                      <m:r>
                        <a:rPr lang="en-US" sz="2600" i="1" dirty="0">
                          <a:solidFill>
                            <a:srgbClr val="E99A2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600" i="1" dirty="0">
                          <a:solidFill>
                            <a:srgbClr val="E99A2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𝐷𝑒𝑟𝑖𝑣𝑎𝑡𝑖𝑣𝑒</m:t>
                      </m:r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600" b="0" dirty="0"/>
              </a:p>
              <a:p>
                <a:pPr marL="0" indent="0" algn="ctr">
                  <a:buNone/>
                </a:pPr>
                <a:r>
                  <a:rPr lang="en-US" dirty="0"/>
                  <a:t>As Ts becomes smaller, the discrete derivative becomes a better approximation of the continuous derivative.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3099B5-E18B-FC46-D5B0-ABD33A3D5A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816" y="2777756"/>
                <a:ext cx="11341099" cy="2407655"/>
              </a:xfrm>
              <a:blipFill>
                <a:blip r:embed="rId2"/>
                <a:stretch>
                  <a:fillRect b="-5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C84D-C8A8-563D-66F1-2309A4C18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4CE471-36E1-C68A-1746-ACA2B4E9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 Relationship</a:t>
            </a:r>
            <a:b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1200" dirty="0">
                <a:solidFill>
                  <a:srgbClr val="566579"/>
                </a:solidFill>
              </a:rPr>
              <a:t>Same rate-of-change concept, different implementation for sampled systems.</a:t>
            </a:r>
            <a:endParaRPr lang="en-US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9B64C6E-524A-3773-1BDA-0CF53F63FBE7}"/>
              </a:ext>
            </a:extLst>
          </p:cNvPr>
          <p:cNvSpPr/>
          <p:nvPr/>
        </p:nvSpPr>
        <p:spPr>
          <a:xfrm>
            <a:off x="2788920" y="5715000"/>
            <a:ext cx="6583680" cy="502920"/>
          </a:xfrm>
          <a:prstGeom prst="round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D5DC706-FE14-989A-7414-DB71B73524D9}"/>
              </a:ext>
            </a:extLst>
          </p:cNvPr>
          <p:cNvSpPr/>
          <p:nvPr/>
        </p:nvSpPr>
        <p:spPr>
          <a:xfrm>
            <a:off x="2971800" y="58430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For the model test: Ts = 0.01 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9473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B29F4-4CB1-8589-F9BC-F2D6975FD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5F49BFC7-F67D-0639-CCE5-DC5702D4F66A}"/>
              </a:ext>
            </a:extLst>
          </p:cNvPr>
          <p:cNvSpPr/>
          <p:nvPr/>
        </p:nvSpPr>
        <p:spPr>
          <a:xfrm>
            <a:off x="348825" y="1978976"/>
            <a:ext cx="5623559" cy="3384876"/>
          </a:xfrm>
          <a:prstGeom prst="roundRect">
            <a:avLst>
              <a:gd name="adj" fmla="val 183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E386B496-AABF-B82C-766B-A9112DF9F904}"/>
              </a:ext>
            </a:extLst>
          </p:cNvPr>
          <p:cNvSpPr/>
          <p:nvPr/>
        </p:nvSpPr>
        <p:spPr>
          <a:xfrm>
            <a:off x="6066365" y="1978977"/>
            <a:ext cx="5623559" cy="3384875"/>
          </a:xfrm>
          <a:prstGeom prst="roundRect">
            <a:avLst>
              <a:gd name="adj" fmla="val 1839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F401F4-B2A6-4177-8EDB-3DF8A2F6AD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2298338"/>
            <a:ext cx="5623560" cy="365760"/>
          </a:xfrm>
        </p:spPr>
        <p:txBody>
          <a:bodyPr/>
          <a:lstStyle/>
          <a:p>
            <a:r>
              <a:rPr lang="en-US" b="1" dirty="0">
                <a:solidFill>
                  <a:srgbClr val="E99A25"/>
                </a:solidFill>
              </a:rPr>
              <a:t>Discrete Derivative Implementation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D36893-58FC-9A03-A1B4-AD85D57C5F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2298338"/>
            <a:ext cx="5623560" cy="365760"/>
          </a:xfrm>
        </p:spPr>
        <p:txBody>
          <a:bodyPr/>
          <a:lstStyle/>
          <a:p>
            <a:r>
              <a:rPr lang="en-US" b="1" dirty="0">
                <a:solidFill>
                  <a:srgbClr val="2878B5"/>
                </a:solidFill>
              </a:rPr>
              <a:t>Continuous Derivative Implementation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AF330-FEF8-46E1-9823-2BCD4A6F79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0068" y="427228"/>
            <a:ext cx="10043158" cy="368300"/>
          </a:xfrm>
        </p:spPr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4EAB8A-98B1-7C57-926F-FD886D14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38884"/>
          </a:xfrm>
        </p:spPr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 Implementation</a:t>
            </a:r>
            <a:b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1200" dirty="0">
                <a:solidFill>
                  <a:srgbClr val="566579"/>
                </a:solidFill>
              </a:rPr>
              <a:t>Continuous Implementation: 	Calculates the instantaneous rate of change in continuous time. </a:t>
            </a:r>
            <a:br>
              <a:rPr lang="en-US" sz="1200" dirty="0">
                <a:solidFill>
                  <a:srgbClr val="566579"/>
                </a:solidFill>
              </a:rPr>
            </a:br>
            <a:r>
              <a:rPr lang="en-US" sz="1200" dirty="0">
                <a:solidFill>
                  <a:srgbClr val="566579"/>
                </a:solidFill>
              </a:rPr>
              <a:t>Discrete       Implementation: 	Approximates the rate of change using current and previous samples.</a:t>
            </a: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7264A3A-33E5-2462-CDC1-0F79D1EE15EF}"/>
              </a:ext>
            </a:extLst>
          </p:cNvPr>
          <p:cNvSpPr/>
          <p:nvPr/>
        </p:nvSpPr>
        <p:spPr>
          <a:xfrm>
            <a:off x="2788920" y="5715000"/>
            <a:ext cx="6583680" cy="502920"/>
          </a:xfrm>
          <a:prstGeom prst="round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2C492D4E-ABF8-CA7F-AF04-80E4B8BA2BF1}"/>
              </a:ext>
            </a:extLst>
          </p:cNvPr>
          <p:cNvSpPr/>
          <p:nvPr/>
        </p:nvSpPr>
        <p:spPr>
          <a:xfrm>
            <a:off x="2971800" y="58430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For the model test: Ts = 0.01 s</a:t>
            </a:r>
            <a:endParaRPr lang="en-US" sz="1600" dirty="0"/>
          </a:p>
        </p:txBody>
      </p:sp>
      <p:pic>
        <p:nvPicPr>
          <p:cNvPr id="52" name="Content Placeholder 47">
            <a:extLst>
              <a:ext uri="{FF2B5EF4-FFF2-40B4-BE49-F238E27FC236}">
                <a16:creationId xmlns:a16="http://schemas.microsoft.com/office/drawing/2014/main" id="{2E29B0DD-3F3E-E557-EC4D-7C481F007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256" t="27558" r="50984" b="50230"/>
          <a:stretch>
            <a:fillRect/>
          </a:stretch>
        </p:blipFill>
        <p:spPr>
          <a:xfrm>
            <a:off x="395817" y="2822574"/>
            <a:ext cx="3795183" cy="1906982"/>
          </a:xfrm>
          <a:prstGeom prst="rect">
            <a:avLst/>
          </a:prstGeom>
        </p:spPr>
      </p:pic>
      <p:pic>
        <p:nvPicPr>
          <p:cNvPr id="57" name="Content Placeholder 47">
            <a:extLst>
              <a:ext uri="{FF2B5EF4-FFF2-40B4-BE49-F238E27FC236}">
                <a16:creationId xmlns:a16="http://schemas.microsoft.com/office/drawing/2014/main" id="{A0E30F65-20E3-2FAC-88C9-DC566E2A5761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5272" t="60718" r="40699" b="9565"/>
          <a:stretch>
            <a:fillRect/>
          </a:stretch>
        </p:blipFill>
        <p:spPr>
          <a:xfrm>
            <a:off x="6113355" y="2771775"/>
            <a:ext cx="5521989" cy="259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72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55D4-CA5F-8E86-0D5A-6FFD1EFF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45639E-9791-FB17-E4FA-F1AF9378D0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213B44-E52F-4C2A-E3C7-17BE7868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US" dirty="0" err="1">
                <a:solidFill>
                  <a:srgbClr val="0B1F33"/>
                </a:solidFill>
                <a:latin typeface="Aptos"/>
              </a:rPr>
              <a:t>derivative_System.slx</a:t>
            </a:r>
            <a:r>
              <a:rPr lang="en-US" dirty="0">
                <a:solidFill>
                  <a:srgbClr val="0B1F33"/>
                </a:solidFill>
                <a:latin typeface="Aptos"/>
              </a:rPr>
              <a:t> (Model 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Settings)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Recommended model settings for the discrete implementation.</a:t>
            </a:r>
            <a:b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</a:br>
            <a:b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</a:br>
            <a:r>
              <a:rPr lang="en-US" sz="1400" dirty="0"/>
              <a:t>Final Discrete Configuration</a:t>
            </a:r>
            <a:br>
              <a:rPr lang="en-US" sz="1400" b="0" dirty="0"/>
            </a:br>
            <a:r>
              <a:rPr lang="en-US" sz="1400" b="0" dirty="0"/>
              <a:t>Solver: 		</a:t>
            </a:r>
            <a:r>
              <a:rPr lang="en-US" sz="1400" dirty="0"/>
              <a:t>Fixed-step</a:t>
            </a:r>
            <a:br>
              <a:rPr lang="en-US" sz="1400" b="0" dirty="0"/>
            </a:br>
            <a:r>
              <a:rPr lang="en-US" sz="1400" b="0" dirty="0"/>
              <a:t>Solver selection: 	</a:t>
            </a:r>
            <a:r>
              <a:rPr lang="en-US" sz="1400" dirty="0"/>
              <a:t>Discrete (no continuous states)</a:t>
            </a:r>
            <a:br>
              <a:rPr lang="en-US" sz="1400" b="0" dirty="0"/>
            </a:br>
            <a:r>
              <a:rPr lang="en-US" sz="1400" b="0" dirty="0"/>
              <a:t>Fixed-step size: 	</a:t>
            </a:r>
            <a:r>
              <a:rPr lang="en-US" sz="1400" dirty="0"/>
              <a:t>0.01 s</a:t>
            </a:r>
            <a:br>
              <a:rPr lang="en-US" sz="1400" b="0" dirty="0"/>
            </a:b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90EF4E-F52F-3FD0-B398-D017065E2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7604"/>
          <a:stretch>
            <a:fillRect/>
          </a:stretch>
        </p:blipFill>
        <p:spPr>
          <a:xfrm>
            <a:off x="1778990" y="2662776"/>
            <a:ext cx="8573696" cy="286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31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A284B8-0816-BF26-60F6-82E723A461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0D5C058-B5A0-2480-B212-34BC4A6A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3430"/>
          </a:xfrm>
        </p:spPr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Verification: continuous and discrete results match</a:t>
            </a:r>
            <a:b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r>
              <a:rPr lang="en-US" sz="1200" dirty="0">
                <a:solidFill>
                  <a:srgbClr val="566579"/>
                </a:solidFill>
              </a:rPr>
              <a:t>Ramp input test confirms the discrete implementation after correcting the Unit Delay sample time.</a:t>
            </a:r>
            <a:endParaRPr lang="en-US" sz="12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4C825FE7-CCB0-D7ED-BC1A-F9925567481C}"/>
              </a:ext>
            </a:extLst>
          </p:cNvPr>
          <p:cNvSpPr/>
          <p:nvPr/>
        </p:nvSpPr>
        <p:spPr>
          <a:xfrm>
            <a:off x="8949690" y="14904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A5F"/>
                </a:solidFill>
              </a:rPr>
              <a:t>Test result</a:t>
            </a:r>
            <a:endParaRPr lang="en-US" sz="18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48B8907B-B310-74DC-DF55-59BB512BCD4A}"/>
              </a:ext>
            </a:extLst>
          </p:cNvPr>
          <p:cNvSpPr/>
          <p:nvPr/>
        </p:nvSpPr>
        <p:spPr>
          <a:xfrm>
            <a:off x="8949690" y="19933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231"/>
                </a:solidFill>
              </a:rPr>
              <a:t>Ramp input: y(t) = t</a:t>
            </a:r>
            <a:endParaRPr lang="en-US" sz="170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F9785589-18F6-FC92-9F83-EE4CC71D644C}"/>
              </a:ext>
            </a:extLst>
          </p:cNvPr>
          <p:cNvSpPr/>
          <p:nvPr/>
        </p:nvSpPr>
        <p:spPr>
          <a:xfrm>
            <a:off x="8949690" y="2606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78B5"/>
                </a:solidFill>
              </a:rPr>
              <a:t>Continuous: 1.000</a:t>
            </a:r>
            <a:endParaRPr lang="en-US" sz="1700" dirty="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FA720FC7-144B-FA3B-D48D-585CBA0B0422}"/>
              </a:ext>
            </a:extLst>
          </p:cNvPr>
          <p:cNvSpPr/>
          <p:nvPr/>
        </p:nvSpPr>
        <p:spPr>
          <a:xfrm>
            <a:off x="8949690" y="30906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9A25"/>
                </a:solidFill>
              </a:rPr>
              <a:t>Discrete: 1.000</a:t>
            </a:r>
            <a:endParaRPr lang="en-US" sz="17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F979A0CC-402A-8C1B-79C8-FE43D4CF6B62}"/>
              </a:ext>
            </a:extLst>
          </p:cNvPr>
          <p:cNvSpPr/>
          <p:nvPr/>
        </p:nvSpPr>
        <p:spPr>
          <a:xfrm>
            <a:off x="8858250" y="3886200"/>
            <a:ext cx="2971800" cy="1170432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B8DD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5DE4EA6D-04C3-0A84-9494-94F580CCE091}"/>
              </a:ext>
            </a:extLst>
          </p:cNvPr>
          <p:cNvSpPr/>
          <p:nvPr/>
        </p:nvSpPr>
        <p:spPr>
          <a:xfrm>
            <a:off x="9132570" y="41330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8C68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EE84E8D1-D862-963C-0618-EA8546077DC7}"/>
              </a:ext>
            </a:extLst>
          </p:cNvPr>
          <p:cNvSpPr/>
          <p:nvPr/>
        </p:nvSpPr>
        <p:spPr>
          <a:xfrm>
            <a:off x="9132570" y="44805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231"/>
                </a:solidFill>
              </a:rPr>
              <a:t>With consistent sample time, both methods produce the expected derivative of 1.</a:t>
            </a:r>
            <a:endParaRPr lang="en-US" sz="1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5BCB127-1C7E-29EF-CA84-F67F716F886C}"/>
              </a:ext>
            </a:extLst>
          </p:cNvPr>
          <p:cNvSpPr/>
          <p:nvPr/>
        </p:nvSpPr>
        <p:spPr>
          <a:xfrm>
            <a:off x="395817" y="6062472"/>
            <a:ext cx="10759863" cy="329184"/>
          </a:xfrm>
          <a:prstGeom prst="round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3D09D1D-D393-89F0-12ED-1A351CA747D6}"/>
              </a:ext>
            </a:extLst>
          </p:cNvPr>
          <p:cNvSpPr/>
          <p:nvPr/>
        </p:nvSpPr>
        <p:spPr>
          <a:xfrm>
            <a:off x="1097280" y="613562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Engineering takeaway: sample-time consistency is essential for correct discrete behavior.</a:t>
            </a:r>
            <a:endParaRPr lang="en-US" sz="1400" dirty="0"/>
          </a:p>
        </p:txBody>
      </p:sp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236FB9B1-D44A-1AA9-7094-A890E3612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817" y="1595565"/>
            <a:ext cx="8174427" cy="439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01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9D75C8-0013-2BBE-15A2-0A179B84B6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1722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vs. Discrete Derivative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3D5167-979A-730F-A1F1-899990E0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E99A25"/>
                </a:solidFill>
              </a:rPr>
              <a:t>Discrete Derivative Implementation (This is what we will focus on in the lesson.)</a:t>
            </a:r>
            <a:endParaRPr lang="en-US" dirty="0"/>
          </a:p>
        </p:txBody>
      </p:sp>
      <p:pic>
        <p:nvPicPr>
          <p:cNvPr id="8" name="Content Placeholder 47">
            <a:extLst>
              <a:ext uri="{FF2B5EF4-FFF2-40B4-BE49-F238E27FC236}">
                <a16:creationId xmlns:a16="http://schemas.microsoft.com/office/drawing/2014/main" id="{B73F9A5E-79D7-0F53-FC12-CFD4FFC53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272" t="60718" r="40699" b="9565"/>
          <a:stretch>
            <a:fillRect/>
          </a:stretch>
        </p:blipFill>
        <p:spPr>
          <a:xfrm>
            <a:off x="2083320" y="2061320"/>
            <a:ext cx="8025359" cy="376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1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FF99-1F90-DD16-0F17-7353F619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137F46-970C-6B12-41EC-19E441F3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</p:spTree>
    <p:extLst>
      <p:ext uri="{BB962C8B-B14F-4D97-AF65-F5344CB8AC3E}">
        <p14:creationId xmlns:p14="http://schemas.microsoft.com/office/powerpoint/2010/main" val="64493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C5C9C41F-2481-3FF5-3597-8D52E6BB9A43}"/>
              </a:ext>
            </a:extLst>
          </p:cNvPr>
          <p:cNvSpPr/>
          <p:nvPr/>
        </p:nvSpPr>
        <p:spPr>
          <a:xfrm>
            <a:off x="5043628" y="4732259"/>
            <a:ext cx="7041535" cy="1827620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DF527-6F3C-6897-CD68-690D842FB448}"/>
              </a:ext>
            </a:extLst>
          </p:cNvPr>
          <p:cNvSpPr txBox="1"/>
          <p:nvPr/>
        </p:nvSpPr>
        <p:spPr>
          <a:xfrm>
            <a:off x="5181600" y="4823699"/>
            <a:ext cx="6812124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Do not ask: 	"How do I build this model?“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Ask: 		"What mathematical operations make up this equation?“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This same process applies to:</a:t>
            </a:r>
          </a:p>
          <a:p>
            <a:r>
              <a:rPr lang="en-US" sz="1400" dirty="0"/>
              <a:t>Algebraic Equations 	Polynomial Equations 	Differential Equations </a:t>
            </a:r>
          </a:p>
          <a:p>
            <a:r>
              <a:rPr lang="en-US" sz="1400" dirty="0"/>
              <a:t>State Space Models 	Control Systems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4A7D17-63AC-227A-B439-7E10ED076B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AAFE1F-2926-E7DD-56D7-819FC177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4D4E2F4B-77C0-0A81-A5DB-971836BA7235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F418B1-0427-0A81-B315-C780C45943B5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4924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Key Concept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Simulink models are graphical representations of mathematical operations. Engineers do not build the entire equation at once. They decompose it into smaller operations that can be implemented as blocks.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Example</a:t>
                </a:r>
                <a:endParaRPr lang="en-US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− 4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+ 21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Identify Terms: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fontAlgn="t">
                  <a:lnSpc>
                    <a:spcPct val="100000"/>
                  </a:lnSpc>
                  <a:buNone/>
                </a:pPr>
                <a:r>
                  <a:rPr lang="en-US" sz="1600" dirty="0"/>
                  <a:t>These terms will become the individual signal paths and mathematical operations used to construct the Simulink model shown on the next slide.</a:t>
                </a:r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9F418B1-0427-0A81-B315-C780C4594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4924425"/>
              </a:xfrm>
              <a:prstGeom prst="rect">
                <a:avLst/>
              </a:prstGeom>
              <a:blipFill>
                <a:blip r:embed="rId2"/>
                <a:stretch>
                  <a:fillRect l="-2865" t="-1361" r="-2319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EE9E6F1-BC72-441C-0116-49E13254CC82}"/>
              </a:ext>
            </a:extLst>
          </p:cNvPr>
          <p:cNvSpPr txBox="1"/>
          <p:nvPr/>
        </p:nvSpPr>
        <p:spPr>
          <a:xfrm>
            <a:off x="5043628" y="1487081"/>
            <a:ext cx="210474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Equation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Terms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algn="ctr"/>
            <a:r>
              <a:rPr lang="en-US" sz="1600" dirty="0"/>
              <a:t>Determine Data Flow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Assign Simulink Blocks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Connect Signals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Generate Output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6170A7-6E19-1DC6-B5D1-7576598E59FC}"/>
              </a:ext>
            </a:extLst>
          </p:cNvPr>
          <p:cNvSpPr txBox="1"/>
          <p:nvPr/>
        </p:nvSpPr>
        <p:spPr>
          <a:xfrm>
            <a:off x="7604603" y="1487081"/>
            <a:ext cx="3177152" cy="32008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Mathematics	Simulink Block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Addition (+) 	Sum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Subtraction (-)	Sum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Multiplication (*)	Gain / Product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Constant Value	Constant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Power (t²)		Math Function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Output (y)		Outport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4267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7A6EB-E60A-88AF-928D-E3C43375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4CA249E5-49EE-A2CF-68C5-42DE6B1D8D2E}"/>
              </a:ext>
            </a:extLst>
          </p:cNvPr>
          <p:cNvSpPr/>
          <p:nvPr/>
        </p:nvSpPr>
        <p:spPr>
          <a:xfrm>
            <a:off x="5043628" y="4732259"/>
            <a:ext cx="7041535" cy="1077218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FEACB6-9511-91D0-9A18-20D92EFA0072}"/>
              </a:ext>
            </a:extLst>
          </p:cNvPr>
          <p:cNvSpPr txBox="1"/>
          <p:nvPr/>
        </p:nvSpPr>
        <p:spPr>
          <a:xfrm>
            <a:off x="5181600" y="4823699"/>
            <a:ext cx="681212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ENGINEERING RULE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Do not model the equation.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Model the mathematical operations that make up this equation.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82333C-DEAC-B32B-8F06-273C85BD5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812114-575F-37F4-B842-BD29C7F6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r>
              <a:rPr lang="en-US" dirty="0"/>
              <a:t>Equation Decomposition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3D1D6D2-32B2-23FD-8E28-96869647FE51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B1B668-EDD3-E577-7970-9B7ED80257EE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4715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Original Equation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𝟐𝟏</m:t>
                    </m:r>
                  </m:oMath>
                </a14:m>
                <a:r>
                  <a:rPr lang="en-US" sz="1600" b="1" dirty="0"/>
                  <a:t>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Step 1: Split into Terms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US" sz="16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sz="1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begChr m:val="["/>
                        <m:endChr m:val="]"/>
                        <m:ctrlP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/>
                  <a:t>Step 2: Identify Operations</a:t>
                </a:r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	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:r>
                  <a:rPr lang="en-US" sz="1600" dirty="0">
                    <a:solidFill>
                      <a:srgbClr val="000000"/>
                    </a:solidFill>
                  </a:rPr>
                  <a:t>Power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	</a:t>
                </a:r>
                <a:r>
                  <a:rPr lang="en-US" sz="1600" dirty="0">
                    <a:sym typeface="Wingdings" panose="05000000000000000000" pitchFamily="2" charset="2"/>
                  </a:rPr>
                  <a:t> </a:t>
                </a:r>
                <a:r>
                  <a:rPr lang="en-US" sz="1600" dirty="0">
                    <a:solidFill>
                      <a:srgbClr val="000000"/>
                    </a:solidFill>
                  </a:rPr>
                  <a:t>Multiplication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/>
                  <a:t>	</a:t>
                </a:r>
                <a:r>
                  <a:rPr lang="en-US" sz="1600" dirty="0">
                    <a:sym typeface="Wingdings" panose="05000000000000000000" pitchFamily="2" charset="2"/>
                  </a:rPr>
                  <a:t> Constant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Assign Simulink Blocks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Each operation is implemented by one or more Simulink blocks.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BB1B668-EDD3-E577-7970-9B7ED8025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4715522"/>
              </a:xfrm>
              <a:prstGeom prst="rect">
                <a:avLst/>
              </a:prstGeom>
              <a:blipFill>
                <a:blip r:embed="rId2"/>
                <a:stretch>
                  <a:fillRect l="-2865" t="-1423" b="-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6E33F03-3CAA-AEDD-BAE2-B4882DC3815A}"/>
              </a:ext>
            </a:extLst>
          </p:cNvPr>
          <p:cNvSpPr txBox="1"/>
          <p:nvPr/>
        </p:nvSpPr>
        <p:spPr>
          <a:xfrm>
            <a:off x="5043628" y="1487081"/>
            <a:ext cx="210474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Equation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Terms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Identify Operations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algn="ctr"/>
            <a:r>
              <a:rPr lang="en-US" sz="1600" dirty="0"/>
              <a:t>Determine Data Flow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Assign Simulink Blocks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Connect Signals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Generate Output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D09015-B67B-963E-AA26-E4D5E925C653}"/>
                  </a:ext>
                </a:extLst>
              </p:cNvPr>
              <p:cNvSpPr txBox="1"/>
              <p:nvPr/>
            </p:nvSpPr>
            <p:spPr>
              <a:xfrm>
                <a:off x="7604603" y="1487081"/>
                <a:ext cx="3482498" cy="27140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Mathematical Term	Simulink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		Math Function</a:t>
                </a:r>
              </a:p>
              <a:p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+mj-lt"/>
                  </a:rPr>
                  <a:t> 		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Gain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600" dirty="0">
                    <a:latin typeface="+mj-lt"/>
                  </a:rPr>
                  <a:t> 		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Constant Block</a:t>
                </a:r>
              </a:p>
              <a:p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Addition 		Sum Block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Output y		Outport</a:t>
                </a: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5D09015-B67B-963E-AA26-E4D5E925C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03" y="1487081"/>
                <a:ext cx="3482498" cy="2714013"/>
              </a:xfrm>
              <a:prstGeom prst="rect">
                <a:avLst/>
              </a:prstGeom>
              <a:blipFill>
                <a:blip r:embed="rId3"/>
                <a:stretch>
                  <a:fillRect l="-3497" t="-2472" b="-3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58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1E6E-B86C-B2F8-840F-6052C73D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8D7035AA-0DC1-D318-A7AA-AD1F48C21D20}"/>
              </a:ext>
            </a:extLst>
          </p:cNvPr>
          <p:cNvSpPr/>
          <p:nvPr/>
        </p:nvSpPr>
        <p:spPr>
          <a:xfrm>
            <a:off x="7484882" y="4732259"/>
            <a:ext cx="4600281" cy="1489432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843DC-9A5E-34FF-A279-B9D89E4C51E7}"/>
              </a:ext>
            </a:extLst>
          </p:cNvPr>
          <p:cNvSpPr txBox="1"/>
          <p:nvPr/>
        </p:nvSpPr>
        <p:spPr>
          <a:xfrm>
            <a:off x="7604602" y="4823699"/>
            <a:ext cx="4389121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</a:p>
          <a:p>
            <a:pPr marL="0" indent="0">
              <a:buNone/>
            </a:pPr>
            <a:endParaRPr lang="en-US" sz="14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Before selecting blocks, understand how information must flow through the model. Signals represent data moving between mathematical operations.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42A073-3035-F32A-3BAF-4C6932434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0AFFB0-79E5-487E-0D82-54368EFC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From Mathematical Operations to Signal Flow</a:t>
            </a:r>
            <a:endParaRPr lang="en-US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1D4B489-79CE-AF79-1B82-C4CDB3D1684D}"/>
              </a:ext>
            </a:extLst>
          </p:cNvPr>
          <p:cNvSpPr/>
          <p:nvPr/>
        </p:nvSpPr>
        <p:spPr>
          <a:xfrm>
            <a:off x="457200" y="3817856"/>
            <a:ext cx="3200400" cy="2498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73FBB-1F8E-7BC3-DE2D-3D694A61E8A1}"/>
                  </a:ext>
                </a:extLst>
              </p:cNvPr>
              <p:cNvSpPr txBox="1"/>
              <p:nvPr/>
            </p:nvSpPr>
            <p:spPr>
              <a:xfrm>
                <a:off x="395817" y="1487081"/>
                <a:ext cx="4469248" cy="2215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The goal is to understand how information (signals) moves through the model before selecting Simulink blocks.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Starting Variable</a:t>
                </a: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1600" b="1" dirty="0"/>
                  <a:t>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73FBB-1F8E-7BC3-DE2D-3D694A61E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17" y="1487081"/>
                <a:ext cx="4469248" cy="2215991"/>
              </a:xfrm>
              <a:prstGeom prst="rect">
                <a:avLst/>
              </a:prstGeom>
              <a:blipFill>
                <a:blip r:embed="rId2"/>
                <a:stretch>
                  <a:fillRect l="-2865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CA38B-FEC9-8856-0866-BE1F6C10FDA9}"/>
                  </a:ext>
                </a:extLst>
              </p:cNvPr>
              <p:cNvSpPr txBox="1"/>
              <p:nvPr/>
            </p:nvSpPr>
            <p:spPr>
              <a:xfrm>
                <a:off x="5536039" y="1487081"/>
                <a:ext cx="1119922" cy="2708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t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↓               ↓</a:t>
                </a:r>
                <a:endParaRPr lang="en-US" sz="1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               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------+------ </a:t>
                </a:r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rgbClr val="000000"/>
                    </a:solidFill>
                  </a:rPr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9CA38B-FEC9-8856-0866-BE1F6C10F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039" y="1487081"/>
                <a:ext cx="1119922" cy="2708434"/>
              </a:xfrm>
              <a:prstGeom prst="rect">
                <a:avLst/>
              </a:prstGeom>
              <a:blipFill>
                <a:blip r:embed="rId3"/>
                <a:stretch>
                  <a:fillRect l="-8152" t="-2477" r="-8696" b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7DDC40-D461-4E56-E2E1-DBA7B4DE3AA5}"/>
                  </a:ext>
                </a:extLst>
              </p:cNvPr>
              <p:cNvSpPr txBox="1"/>
              <p:nvPr/>
            </p:nvSpPr>
            <p:spPr>
              <a:xfrm>
                <a:off x="7604603" y="1487081"/>
                <a:ext cx="3482498" cy="2462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Signal Paths</a:t>
                </a: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1: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2: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1600" dirty="0">
                    <a:solidFill>
                      <a:srgbClr val="000000"/>
                    </a:solidFill>
                    <a:latin typeface="+mj-lt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Path 3: Constant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endParaRPr lang="en-US" sz="1600" dirty="0">
                  <a:latin typeface="+mj-lt"/>
                </a:endParaRPr>
              </a:p>
              <a:p>
                <a:r>
                  <a:rPr lang="en-US" sz="1600" dirty="0">
                    <a:latin typeface="+mj-lt"/>
                  </a:rPr>
                  <a:t>Final Step:</a:t>
                </a:r>
              </a:p>
              <a:p>
                <a:r>
                  <a:rPr lang="en-US" sz="1600" dirty="0">
                    <a:latin typeface="+mj-lt"/>
                  </a:rPr>
                  <a:t>Combine all three terms to produce y.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7DDC40-D461-4E56-E2E1-DBA7B4DE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603" y="1487081"/>
                <a:ext cx="3482498" cy="2462213"/>
              </a:xfrm>
              <a:prstGeom prst="rect">
                <a:avLst/>
              </a:prstGeom>
              <a:blipFill>
                <a:blip r:embed="rId4"/>
                <a:stretch>
                  <a:fillRect l="-3497" t="-2723" r="-175" b="-4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841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6062AD-E299-671E-50FF-74A1CD12DE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96066" y="1563046"/>
            <a:ext cx="5308975" cy="3657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Mathematical Operation → Simulink Block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17B471-9617-7EB9-2F83-F4BB002A7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Signal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C3A2CE-D369-90A0-6C50-3C1215A43C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817" y="2042465"/>
                <a:ext cx="2055152" cy="4368092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t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               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               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------+------ </a:t>
                </a: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  <a:endParaRPr lang="en-US" sz="1600" dirty="0"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+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+mj-lt"/>
                  </a:rPr>
                  <a:t>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C3A2CE-D369-90A0-6C50-3C1215A43C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817" y="2042465"/>
                <a:ext cx="2055152" cy="4368092"/>
              </a:xfrm>
              <a:blipFill>
                <a:blip r:embed="rId2"/>
                <a:stretch>
                  <a:fillRect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0F9A3C-780B-0B12-AE6F-CA9F2E1B0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Engineers Think About Equations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420798-DB81-4937-93F8-3092A302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Implementing Signal Flow Using Simulink Blocks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F2AAE9-F7C7-A797-A782-2F68D11326A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696066" y="2042465"/>
            <a:ext cx="5308975" cy="436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Power (t²) 	→ Math Function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Multiplication (-4t) 	→ Gain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Constant (21) 	→ Constant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Addition 		→ Sum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Output (y) 	→ Outport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03A66C-4266-F20C-2E94-E1A4BFA011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Implementation Concept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9E576D-D2A7-FB5A-C45C-F2915370F74B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Clock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Math Function → +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                                  ↓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Gain (-4) → → →+ → Sum → 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↓                                  ↑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+ → Constant (21) → +</a:t>
            </a:r>
            <a:endParaRPr lang="en-US" dirty="0"/>
          </a:p>
          <a:p>
            <a:endParaRPr lang="en-US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5D556AA-080D-A2EE-573A-540026EC6E84}"/>
              </a:ext>
            </a:extLst>
          </p:cNvPr>
          <p:cNvSpPr/>
          <p:nvPr/>
        </p:nvSpPr>
        <p:spPr>
          <a:xfrm>
            <a:off x="7484882" y="4732259"/>
            <a:ext cx="4600281" cy="1329176"/>
          </a:xfrm>
          <a:prstGeom prst="roundRect">
            <a:avLst/>
          </a:prstGeom>
          <a:solidFill>
            <a:srgbClr val="FFF2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04CA6-83F1-867A-D413-C4C96CC24157}"/>
              </a:ext>
            </a:extLst>
          </p:cNvPr>
          <p:cNvSpPr txBox="1"/>
          <p:nvPr/>
        </p:nvSpPr>
        <p:spPr>
          <a:xfrm>
            <a:off x="7604602" y="4823699"/>
            <a:ext cx="4389121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IMPORTANT</a:t>
            </a:r>
          </a:p>
          <a:p>
            <a:pPr marL="0" indent="0">
              <a:buNone/>
            </a:pPr>
            <a:endParaRPr lang="en-US" sz="14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The mathematics has not changed. We are replacing each mathematical operation with a corresponding Simulink block.</a:t>
            </a:r>
          </a:p>
        </p:txBody>
      </p:sp>
    </p:spTree>
    <p:extLst>
      <p:ext uri="{BB962C8B-B14F-4D97-AF65-F5344CB8AC3E}">
        <p14:creationId xmlns:p14="http://schemas.microsoft.com/office/powerpoint/2010/main" val="228360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81A3-4616-0889-BB45-456DC536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6F1E3E8-275E-5FD0-96D2-1E73BDBFF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8940" y="842397"/>
            <a:ext cx="4176858" cy="593076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7744BB-2ABE-F909-9DDB-5AFF72A0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Converting an Equation into a Simulink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3C4B110-B917-8C18-6A8E-FC1B014BBE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</p:spPr>
            <p:txBody>
              <a:bodyPr/>
              <a:lstStyle/>
              <a:p>
                <a:r>
                  <a:rPr lang="en-US" sz="1200" b="0" u="sng" dirty="0">
                    <a:latin typeface="+mj-lt"/>
                  </a:rPr>
                  <a:t>Original Equation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I see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+21</m:t>
                    </m:r>
                  </m:oMath>
                </a14:m>
                <a:r>
                  <a:rPr lang="en-US" sz="1200" b="0" dirty="0">
                    <a:latin typeface="+mj-lt"/>
                  </a:rPr>
                  <a:t>, and I mentally decompose it into terms that become blocks.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What's going on in my head after I see original equation: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sz="1200" b="0" dirty="0">
                    <a:latin typeface="+mj-lt"/>
                  </a:rPr>
                  <a:t> 			Original Equation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=1∗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4∗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+21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    		Rearrange the polynomial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b="0" dirty="0">
                    <a:latin typeface="+mj-lt"/>
                  </a:rPr>
                  <a:t>	Add Parenthesis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4.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5.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+ 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𝐶𝑂𝐸𝐹𝐹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sz="1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sz="12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0" dirty="0">
                    <a:latin typeface="+mj-lt"/>
                  </a:rPr>
                  <a:t> 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COEFF_A = 1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COEFF_B = -4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COEFF_C = 21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u="sng" dirty="0">
                    <a:latin typeface="+mj-lt"/>
                  </a:rPr>
                  <a:t>Model Construction Logic: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1: Calculate t²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2: Calculate -4t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3: Apply Constant Term (21)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4: Sum All Terms</a:t>
                </a: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Step 5: Output y</a:t>
                </a: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br>
                  <a:rPr lang="en-US" sz="1200" b="0" dirty="0">
                    <a:latin typeface="+mj-lt"/>
                  </a:rPr>
                </a:br>
                <a:r>
                  <a:rPr lang="en-US" sz="1200" b="0" dirty="0">
                    <a:latin typeface="+mj-lt"/>
                  </a:rPr>
                  <a:t>See next page for final Simulink model.</a:t>
                </a:r>
                <a:br>
                  <a:rPr lang="en-US" sz="1200" b="0" dirty="0">
                    <a:latin typeface="+mj-lt"/>
                  </a:rPr>
                </a:br>
                <a:endParaRPr lang="en-US" sz="12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3C4B110-B917-8C18-6A8E-FC1B014BB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46202" y="1025157"/>
                <a:ext cx="7293204" cy="5535899"/>
              </a:xfrm>
              <a:blipFill>
                <a:blip r:embed="rId3"/>
                <a:stretch>
                  <a:fillRect l="-1253" t="-991" b="-1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050B785-F855-0989-B87A-B63132435C72}"/>
              </a:ext>
            </a:extLst>
          </p:cNvPr>
          <p:cNvSpPr txBox="1"/>
          <p:nvPr/>
        </p:nvSpPr>
        <p:spPr>
          <a:xfrm>
            <a:off x="4669411" y="5713360"/>
            <a:ext cx="3619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Important:</a:t>
            </a:r>
          </a:p>
          <a:p>
            <a:r>
              <a:rPr lang="en-US" dirty="0"/>
              <a:t>Gain Block = Multiplication</a:t>
            </a:r>
            <a:br>
              <a:rPr lang="en-US" dirty="0"/>
            </a:br>
            <a:r>
              <a:rPr lang="en-US" dirty="0"/>
              <a:t>Output = Input × Gain</a:t>
            </a:r>
          </a:p>
        </p:txBody>
      </p:sp>
    </p:spTree>
    <p:extLst>
      <p:ext uri="{BB962C8B-B14F-4D97-AF65-F5344CB8AC3E}">
        <p14:creationId xmlns:p14="http://schemas.microsoft.com/office/powerpoint/2010/main" val="174975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F595-B4A5-DBBA-B315-8E0C4D28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54F3BB-890F-F01A-6E4C-8573EA051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t"/>
            <a:r>
              <a:rPr lang="en-US" dirty="0"/>
              <a:t>Final Simulink Implementation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4DD9A5-DAAD-F613-0426-544387FF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model </a:t>
            </a:r>
            <a:r>
              <a:rPr lang="en-US" dirty="0"/>
              <a:t>implements:</a:t>
            </a:r>
            <a:r>
              <a:rPr lang="fr-FR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y = t² - 4t + 21 (THIS IS THE FINAL IMPLIMENTATION)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Content Placeholder 15">
            <a:extLst>
              <a:ext uri="{FF2B5EF4-FFF2-40B4-BE49-F238E27FC236}">
                <a16:creationId xmlns:a16="http://schemas.microsoft.com/office/drawing/2014/main" id="{7D5CF45C-E2D0-6434-036F-68B12ED94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3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5BDFB-94C2-A959-29C1-318ED12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</p:spTree>
    <p:extLst>
      <p:ext uri="{BB962C8B-B14F-4D97-AF65-F5344CB8AC3E}">
        <p14:creationId xmlns:p14="http://schemas.microsoft.com/office/powerpoint/2010/main" val="200985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02783-68BA-C9C0-1AC5-61F64EFA9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A2E9F-D28F-AE5F-E71B-CCD9CD84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MATLAB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E633BC-D912-875C-0557-4C3E80DA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14" y="3186007"/>
            <a:ext cx="320084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39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490F-4813-44BC-B6D3-A250E7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2A99-A321-FE5D-D57A-865F7F7A5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4A3B1-04A3-5A6B-8091-AFEFD494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MATLAB Window Layout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983052-63F9-5116-2FF5-7171F5374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42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21E-DE66-D67A-DD68-DE3CBB88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0AC230-0A7F-563F-D824-9287DDCAE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2484" y="1992254"/>
            <a:ext cx="2230073" cy="731520"/>
          </a:xfrm>
        </p:spPr>
        <p:txBody>
          <a:bodyPr/>
          <a:lstStyle/>
          <a:p>
            <a:r>
              <a:rPr lang="en-US" b="0" dirty="0"/>
              <a:t>Step 2. Navigate to Chapter 2 folder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56036E-E490-A0AD-5BFE-84FDBED23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Step 1. Navigate to training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58885-1CDA-0A29-BB4B-CB9149FCF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9E6064-7B0E-A51E-E61C-7558DE8D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(Summary)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B05A8-9C31-97E7-DA73-7020581DF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2865" y="1992254"/>
            <a:ext cx="3572740" cy="731520"/>
          </a:xfrm>
        </p:spPr>
        <p:txBody>
          <a:bodyPr>
            <a:normAutofit/>
          </a:bodyPr>
          <a:lstStyle/>
          <a:p>
            <a:r>
              <a:rPr lang="en-US" dirty="0"/>
              <a:t>Step 2. Navigate to sub folder “02_derivative_System”</a:t>
            </a:r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A72C2539-67BC-489D-AED5-2A0331F0A72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3517" b="49791"/>
          <a:stretch>
            <a:fillRect/>
          </a:stretch>
        </p:blipFill>
        <p:spPr>
          <a:xfrm>
            <a:off x="4662484" y="2759075"/>
            <a:ext cx="2230073" cy="365125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6CAE577E-32FC-BEB5-D154-DC2226B7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13" b="53441"/>
          <a:stretch>
            <a:fillRect/>
          </a:stretch>
        </p:blipFill>
        <p:spPr>
          <a:xfrm>
            <a:off x="526528" y="2759075"/>
            <a:ext cx="3178697" cy="365125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4472A4B-77E9-DE77-548E-785BB6900E8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05" b="59273"/>
          <a:stretch>
            <a:fillRect/>
          </a:stretch>
        </p:blipFill>
        <p:spPr>
          <a:xfrm>
            <a:off x="7682865" y="2759075"/>
            <a:ext cx="2316512" cy="36512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55661C-F1B9-AADC-4C93-D3D474445AB9}"/>
              </a:ext>
            </a:extLst>
          </p:cNvPr>
          <p:cNvSpPr txBox="1"/>
          <p:nvPr/>
        </p:nvSpPr>
        <p:spPr>
          <a:xfrm>
            <a:off x="7750963" y="5435356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062E70-BAF6-0219-2B5D-D496BE3FC26B}"/>
              </a:ext>
            </a:extLst>
          </p:cNvPr>
          <p:cNvCxnSpPr>
            <a:cxnSpLocks/>
          </p:cNvCxnSpPr>
          <p:nvPr/>
        </p:nvCxnSpPr>
        <p:spPr>
          <a:xfrm flipV="1">
            <a:off x="8490768" y="4972050"/>
            <a:ext cx="0" cy="463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99190AD-EA39-B361-AD09-85F0AAF350D3}"/>
              </a:ext>
            </a:extLst>
          </p:cNvPr>
          <p:cNvSpPr/>
          <p:nvPr/>
        </p:nvSpPr>
        <p:spPr>
          <a:xfrm>
            <a:off x="7682865" y="4761937"/>
            <a:ext cx="1616256" cy="21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48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216E-1A64-1193-E0B5-50B6D424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9B8E91-3DB6-2C46-0C6D-6BB1A772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</p:spTree>
    <p:extLst>
      <p:ext uri="{BB962C8B-B14F-4D97-AF65-F5344CB8AC3E}">
        <p14:creationId xmlns:p14="http://schemas.microsoft.com/office/powerpoint/2010/main" val="300181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2590-4BD8-311C-33CD-0329ECBA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219BBE-9F11-52B1-95B1-A3481BF99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Click “Add Selected Folders and Subfolders”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B13119-1974-8563-0C63-E19D27CBD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2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1239AD-10C8-65D8-0690-451AB6219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768430-6F99-4758-95FB-03D4339B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“ch02”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4AAF5C-F38E-9775-9A05-4CDC7F6B06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0B9259D-561B-ED3F-65FF-DFE5553BE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44" b="53572"/>
          <a:stretch>
            <a:fillRect/>
          </a:stretch>
        </p:blipFill>
        <p:spPr>
          <a:xfrm>
            <a:off x="508367" y="2256798"/>
            <a:ext cx="3143911" cy="385421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BF6850-634D-78EB-BE1E-3400394772D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17" b="38744"/>
          <a:stretch>
            <a:fillRect/>
          </a:stretch>
        </p:blipFill>
        <p:spPr>
          <a:xfrm>
            <a:off x="4243049" y="2256798"/>
            <a:ext cx="3776663" cy="3585244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1B9865CD-D838-C9AB-FF00-306FC91EA23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" r="81675" b="52697"/>
          <a:stretch>
            <a:fillRect/>
          </a:stretch>
        </p:blipFill>
        <p:spPr>
          <a:xfrm>
            <a:off x="8626677" y="2256798"/>
            <a:ext cx="3056955" cy="4224035"/>
          </a:xfrm>
          <a:prstGeom prst="rect">
            <a:avLst/>
          </a:prstGeom>
          <a:ln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223D70-5C0A-3A3A-A8EE-F21150830694}"/>
              </a:ext>
            </a:extLst>
          </p:cNvPr>
          <p:cNvSpPr/>
          <p:nvPr/>
        </p:nvSpPr>
        <p:spPr>
          <a:xfrm>
            <a:off x="6702458" y="5495827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AFE84E7-7C46-9480-1514-9F671D3CBCA9}"/>
              </a:ext>
            </a:extLst>
          </p:cNvPr>
          <p:cNvSpPr/>
          <p:nvPr/>
        </p:nvSpPr>
        <p:spPr>
          <a:xfrm rot="10800000">
            <a:off x="7162497" y="5703216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5221-6C4E-C805-D258-14D78EA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548A83-BD64-4FB9-FB11-343D3E37F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726" b="74742"/>
          <a:stretch>
            <a:fillRect/>
          </a:stretch>
        </p:blipFill>
        <p:spPr>
          <a:xfrm>
            <a:off x="9129514" y="2723774"/>
            <a:ext cx="1970581" cy="1750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95A65-2D37-64F5-B9E0-3D0FD941E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10" y="1992254"/>
            <a:ext cx="2845658" cy="731520"/>
          </a:xfrm>
        </p:spPr>
        <p:txBody>
          <a:bodyPr/>
          <a:lstStyle/>
          <a:p>
            <a:r>
              <a:rPr lang="en-US" b="0" dirty="0"/>
              <a:t>Step 1. Double Click ch02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092CF3-DE4A-5C94-CEF7-A2088B8D5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87A96-D66C-17EC-3BC0-72C89EFE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Folder “02_derivative_System”</a:t>
            </a:r>
          </a:p>
        </p:txBody>
      </p:sp>
      <p:pic>
        <p:nvPicPr>
          <p:cNvPr id="22" name="Content Placeholder 10">
            <a:extLst>
              <a:ext uri="{FF2B5EF4-FFF2-40B4-BE49-F238E27FC236}">
                <a16:creationId xmlns:a16="http://schemas.microsoft.com/office/drawing/2014/main" id="{419ADDE4-A2DC-16A2-CCC1-D0DF0A833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78967" b="49791"/>
          <a:stretch>
            <a:fillRect/>
          </a:stretch>
        </p:blipFill>
        <p:spPr>
          <a:xfrm>
            <a:off x="69709" y="2723774"/>
            <a:ext cx="2845658" cy="36512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00BD30-6100-DD07-8E50-39ABA0298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16" b="65212"/>
          <a:stretch>
            <a:fillRect/>
          </a:stretch>
        </p:blipFill>
        <p:spPr>
          <a:xfrm>
            <a:off x="3336418" y="2723775"/>
            <a:ext cx="3400678" cy="2514976"/>
          </a:xfrm>
          <a:prstGeom prst="rect">
            <a:avLst/>
          </a:prstGeom>
        </p:spPr>
      </p:pic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6733B86-94A7-3920-6A40-4707789E9E9E}"/>
              </a:ext>
            </a:extLst>
          </p:cNvPr>
          <p:cNvSpPr txBox="1">
            <a:spLocks/>
          </p:cNvSpPr>
          <p:nvPr/>
        </p:nvSpPr>
        <p:spPr>
          <a:xfrm>
            <a:off x="3336418" y="1992254"/>
            <a:ext cx="346462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Right Click on Empty Space and Click “</a:t>
            </a:r>
            <a:r>
              <a:rPr lang="en-US" dirty="0">
                <a:sym typeface="Wingdings" panose="05000000000000000000" pitchFamily="2" charset="2"/>
              </a:rPr>
              <a:t>Folder”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D992CDB-9C34-EA4C-7E03-7C800CB5D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66" b="73837"/>
          <a:stretch>
            <a:fillRect/>
          </a:stretch>
        </p:blipFill>
        <p:spPr>
          <a:xfrm>
            <a:off x="7102700" y="2723774"/>
            <a:ext cx="1045265" cy="1900614"/>
          </a:xfrm>
          <a:prstGeom prst="rect">
            <a:avLst/>
          </a:prstGeom>
        </p:spPr>
      </p:pic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FDC54254-85AE-1002-6FAA-985D021A1410}"/>
              </a:ext>
            </a:extLst>
          </p:cNvPr>
          <p:cNvSpPr txBox="1">
            <a:spLocks/>
          </p:cNvSpPr>
          <p:nvPr/>
        </p:nvSpPr>
        <p:spPr>
          <a:xfrm>
            <a:off x="7102700" y="1992254"/>
            <a:ext cx="1862193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</a:t>
            </a:r>
          </a:p>
          <a:p>
            <a:r>
              <a:rPr lang="en-US" dirty="0"/>
              <a:t>Rename Folder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7D720E4C-5C5F-C340-EF15-3A587C860691}"/>
              </a:ext>
            </a:extLst>
          </p:cNvPr>
          <p:cNvSpPr txBox="1">
            <a:spLocks/>
          </p:cNvSpPr>
          <p:nvPr/>
        </p:nvSpPr>
        <p:spPr>
          <a:xfrm>
            <a:off x="9129514" y="1992254"/>
            <a:ext cx="2804824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4. Rename Folder to</a:t>
            </a:r>
          </a:p>
          <a:p>
            <a:r>
              <a:rPr lang="en-US" dirty="0"/>
              <a:t>02_derivative_System</a:t>
            </a:r>
          </a:p>
        </p:txBody>
      </p:sp>
    </p:spTree>
    <p:extLst>
      <p:ext uri="{BB962C8B-B14F-4D97-AF65-F5344CB8AC3E}">
        <p14:creationId xmlns:p14="http://schemas.microsoft.com/office/powerpoint/2010/main" val="1443200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B480-E006-43A5-928E-4A6AE149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380C1D44-2213-46F2-682D-F7841C4CCCA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23" b="39531"/>
          <a:stretch>
            <a:fillRect/>
          </a:stretch>
        </p:blipFill>
        <p:spPr>
          <a:xfrm>
            <a:off x="4229100" y="2457514"/>
            <a:ext cx="3776663" cy="353841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AC8222-3E40-925D-07AA-EBE792FF1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Add Selected Folders and Subfolders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330400-6B47-B841-85C9-5731670D1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0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732D1-B283-A5FA-6B65-96E65F35A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D13547-E31A-8C53-8433-4FDB66D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“02_derivative_System”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673DE67-2C16-40EB-7B4E-3DEA4FB68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5"/>
            <a:ext cx="3776472" cy="693751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694412-DE9B-C5B9-C32C-4B00345E8D40}"/>
              </a:ext>
            </a:extLst>
          </p:cNvPr>
          <p:cNvSpPr/>
          <p:nvPr/>
        </p:nvSpPr>
        <p:spPr>
          <a:xfrm>
            <a:off x="6702458" y="5656083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7593A93-61C0-6583-7BEB-A1F71C8D4096}"/>
              </a:ext>
            </a:extLst>
          </p:cNvPr>
          <p:cNvSpPr/>
          <p:nvPr/>
        </p:nvSpPr>
        <p:spPr>
          <a:xfrm rot="10800000">
            <a:off x="7162497" y="5863472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460CB81-BFA2-9347-16D9-1027762C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" r="85083" b="74864"/>
          <a:stretch>
            <a:fillRect/>
          </a:stretch>
        </p:blipFill>
        <p:spPr>
          <a:xfrm>
            <a:off x="930786" y="2256798"/>
            <a:ext cx="2705665" cy="24514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B4F7C5-7DFB-C062-A0BD-2902BB9E077A}"/>
              </a:ext>
            </a:extLst>
          </p:cNvPr>
          <p:cNvSpPr txBox="1"/>
          <p:nvPr/>
        </p:nvSpPr>
        <p:spPr>
          <a:xfrm>
            <a:off x="936089" y="5171568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Right Click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82BCA5-D4F2-9BBF-E38D-39E9C2C6EC55}"/>
              </a:ext>
            </a:extLst>
          </p:cNvPr>
          <p:cNvCxnSpPr>
            <a:cxnSpLocks/>
          </p:cNvCxnSpPr>
          <p:nvPr/>
        </p:nvCxnSpPr>
        <p:spPr>
          <a:xfrm flipV="1">
            <a:off x="1675894" y="4708262"/>
            <a:ext cx="0" cy="463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D0151F0-8164-D96C-9CC6-0B0D95C319D5}"/>
              </a:ext>
            </a:extLst>
          </p:cNvPr>
          <p:cNvSpPr/>
          <p:nvPr/>
        </p:nvSpPr>
        <p:spPr>
          <a:xfrm>
            <a:off x="867991" y="4498149"/>
            <a:ext cx="2856284" cy="21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112EB2C8-C101-4502-9B9F-17D0639F0AEC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837" b="74967"/>
          <a:stretch>
            <a:fillRect/>
          </a:stretch>
        </p:blipFill>
        <p:spPr>
          <a:xfrm>
            <a:off x="8128584" y="2457514"/>
            <a:ext cx="2387522" cy="243957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BED7D85-9BFC-5342-1C5A-D4D5DE98E8EC}"/>
              </a:ext>
            </a:extLst>
          </p:cNvPr>
          <p:cNvSpPr/>
          <p:nvPr/>
        </p:nvSpPr>
        <p:spPr>
          <a:xfrm>
            <a:off x="8062554" y="4708262"/>
            <a:ext cx="2496413" cy="188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6BA3C791-A3CD-B7F6-9AF6-C03F8782B078}"/>
              </a:ext>
            </a:extLst>
          </p:cNvPr>
          <p:cNvSpPr/>
          <p:nvPr/>
        </p:nvSpPr>
        <p:spPr>
          <a:xfrm rot="10800000">
            <a:off x="8522594" y="4897089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45D5E-2C70-A874-1B42-AE5ED4DF7703}"/>
              </a:ext>
            </a:extLst>
          </p:cNvPr>
          <p:cNvSpPr txBox="1"/>
          <p:nvPr/>
        </p:nvSpPr>
        <p:spPr>
          <a:xfrm>
            <a:off x="8128584" y="5387284"/>
            <a:ext cx="26016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folder has been added to path</a:t>
            </a:r>
          </a:p>
        </p:txBody>
      </p:sp>
    </p:spTree>
    <p:extLst>
      <p:ext uri="{BB962C8B-B14F-4D97-AF65-F5344CB8AC3E}">
        <p14:creationId xmlns:p14="http://schemas.microsoft.com/office/powerpoint/2010/main" val="3181987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15892E-7778-2D68-D01B-B90F9F732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Empty Folder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B43F2C-2623-03E3-C077-2439516E2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/>
          <a:lstStyle/>
          <a:p>
            <a:r>
              <a:rPr lang="en-US" dirty="0"/>
              <a:t>Step 1. Double Click Folder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076A30-84DC-BF13-92D3-75B2D1BF0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CA2A7B2-086D-4D43-7463-68E0744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“02_derivative_System”</a:t>
            </a:r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C251039-E58B-3510-E37A-A1405543A7E7}"/>
              </a:ext>
            </a:extLst>
          </p:cNvPr>
          <p:cNvSpPr txBox="1">
            <a:spLocks/>
          </p:cNvSpPr>
          <p:nvPr/>
        </p:nvSpPr>
        <p:spPr>
          <a:xfrm>
            <a:off x="6096000" y="2042464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4" name="Content Placeholder 33">
            <a:extLst>
              <a:ext uri="{FF2B5EF4-FFF2-40B4-BE49-F238E27FC236}">
                <a16:creationId xmlns:a16="http://schemas.microsoft.com/office/drawing/2014/main" id="{162BBDBC-84E2-0001-2E89-337F1FA1C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837" b="74967"/>
          <a:stretch>
            <a:fillRect/>
          </a:stretch>
        </p:blipFill>
        <p:spPr>
          <a:xfrm>
            <a:off x="395818" y="2188471"/>
            <a:ext cx="2387522" cy="24395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77A5E1-25F1-630A-806D-351A2FF3558C}"/>
              </a:ext>
            </a:extLst>
          </p:cNvPr>
          <p:cNvSpPr/>
          <p:nvPr/>
        </p:nvSpPr>
        <p:spPr>
          <a:xfrm>
            <a:off x="395817" y="4439219"/>
            <a:ext cx="2496413" cy="188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D69CB72-7C9C-F863-431A-161E4541D594}"/>
              </a:ext>
            </a:extLst>
          </p:cNvPr>
          <p:cNvSpPr/>
          <p:nvPr/>
        </p:nvSpPr>
        <p:spPr>
          <a:xfrm rot="10800000">
            <a:off x="855857" y="4628046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7DE2D-F347-CB8B-BB65-DCACE6C98CB6}"/>
              </a:ext>
            </a:extLst>
          </p:cNvPr>
          <p:cNvSpPr txBox="1"/>
          <p:nvPr/>
        </p:nvSpPr>
        <p:spPr>
          <a:xfrm>
            <a:off x="461847" y="5118241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A64424F-AB70-EDD4-33BC-BD5C5FA95D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875" b="58408"/>
          <a:stretch>
            <a:fillRect/>
          </a:stretch>
        </p:blipFill>
        <p:spPr>
          <a:xfrm>
            <a:off x="6113463" y="2188470"/>
            <a:ext cx="6047208" cy="292976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84CDD3E-EC46-7BD0-E751-65803D3B30B7}"/>
              </a:ext>
            </a:extLst>
          </p:cNvPr>
          <p:cNvSpPr/>
          <p:nvPr/>
        </p:nvSpPr>
        <p:spPr>
          <a:xfrm>
            <a:off x="6113356" y="3653354"/>
            <a:ext cx="2286422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84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DFB6-62FA-C697-2982-FEA9648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D27DD5-B0EE-7BCF-19AD-3A8BF72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586973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EB3153-E9D3-6B78-8C05-BA55FE0D0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EDF59-33EB-340F-6A8D-BA6AD96A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9318-A0AB-00FD-A7EA-8A4E31D2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Creating File (</a:t>
            </a:r>
            <a:r>
              <a:rPr lang="en-US" sz="1800" i="1" dirty="0" err="1"/>
              <a:t>slx</a:t>
            </a:r>
            <a:r>
              <a:rPr lang="en-US" sz="1800" i="1" dirty="0"/>
              <a:t>) 		Create / Rename / Open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7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41CF3-D79F-B9FF-9545-4A80C440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E5D6963-E4A2-F287-2EF2-2B474F87B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44" b="71956"/>
          <a:stretch>
            <a:fillRect/>
          </a:stretch>
        </p:blipFill>
        <p:spPr>
          <a:xfrm>
            <a:off x="1970611" y="2730039"/>
            <a:ext cx="8190454" cy="273301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9142A-8144-1B0B-EA24-3B238A1CDE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437486-8173-D623-6C71-ABE729E1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F4E667-5283-730A-DEC1-6875F2A725A3}"/>
              </a:ext>
            </a:extLst>
          </p:cNvPr>
          <p:cNvSpPr/>
          <p:nvPr/>
        </p:nvSpPr>
        <p:spPr>
          <a:xfrm>
            <a:off x="8714996" y="3208226"/>
            <a:ext cx="650449" cy="7541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EF501-D291-8021-246C-98D3532E8675}"/>
              </a:ext>
            </a:extLst>
          </p:cNvPr>
          <p:cNvSpPr/>
          <p:nvPr/>
        </p:nvSpPr>
        <p:spPr>
          <a:xfrm>
            <a:off x="2002360" y="4829458"/>
            <a:ext cx="2791096" cy="59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64AFB-7CFB-D557-2F0C-52F09E0F1CD0}"/>
              </a:ext>
            </a:extLst>
          </p:cNvPr>
          <p:cNvSpPr/>
          <p:nvPr/>
        </p:nvSpPr>
        <p:spPr>
          <a:xfrm>
            <a:off x="2882975" y="4139293"/>
            <a:ext cx="7085618" cy="3012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57CB25-4315-31CC-0538-7395398CC123}"/>
              </a:ext>
            </a:extLst>
          </p:cNvPr>
          <p:cNvCxnSpPr/>
          <p:nvPr/>
        </p:nvCxnSpPr>
        <p:spPr>
          <a:xfrm>
            <a:off x="6225309" y="4440559"/>
            <a:ext cx="591127" cy="5911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976326E-430C-F548-E32B-EF414DB8C0CD}"/>
              </a:ext>
            </a:extLst>
          </p:cNvPr>
          <p:cNvSpPr/>
          <p:nvPr/>
        </p:nvSpPr>
        <p:spPr>
          <a:xfrm>
            <a:off x="8611945" y="2035482"/>
            <a:ext cx="856550" cy="1081321"/>
          </a:xfrm>
          <a:prstGeom prst="downArrow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88DCCF-1212-5564-A1C9-DCC9D61D6587}"/>
              </a:ext>
            </a:extLst>
          </p:cNvPr>
          <p:cNvSpPr txBox="1"/>
          <p:nvPr/>
        </p:nvSpPr>
        <p:spPr>
          <a:xfrm>
            <a:off x="6447911" y="5124733"/>
            <a:ext cx="44048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Navigate to Chapter 2 Material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7CBAF-C5AA-AC34-ED06-F7C7995B037B}"/>
              </a:ext>
            </a:extLst>
          </p:cNvPr>
          <p:cNvSpPr txBox="1"/>
          <p:nvPr/>
        </p:nvSpPr>
        <p:spPr>
          <a:xfrm>
            <a:off x="7767782" y="1618161"/>
            <a:ext cx="38000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Click Simulink</a:t>
            </a:r>
          </a:p>
        </p:txBody>
      </p:sp>
    </p:spTree>
    <p:extLst>
      <p:ext uri="{BB962C8B-B14F-4D97-AF65-F5344CB8AC3E}">
        <p14:creationId xmlns:p14="http://schemas.microsoft.com/office/powerpoint/2010/main" val="2938119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C240-AA2F-7A31-BD90-DC6E7646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7314A834-7986-9D79-009A-5FA4DCF9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268" b="53875"/>
          <a:stretch>
            <a:fillRect/>
          </a:stretch>
        </p:blipFill>
        <p:spPr>
          <a:xfrm>
            <a:off x="3517525" y="2220298"/>
            <a:ext cx="5096626" cy="37524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EDAB4-FB4D-0697-3FA7-B3A679C4A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0B9548-7F56-ADBF-A014-7357266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7143C-1C22-020E-A0A5-CB8D153E1A85}"/>
              </a:ext>
            </a:extLst>
          </p:cNvPr>
          <p:cNvSpPr/>
          <p:nvPr/>
        </p:nvSpPr>
        <p:spPr>
          <a:xfrm>
            <a:off x="6438506" y="4600280"/>
            <a:ext cx="1611985" cy="509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6BA4DC5-DE63-7C86-1773-EEF56783323B}"/>
              </a:ext>
            </a:extLst>
          </p:cNvPr>
          <p:cNvSpPr/>
          <p:nvPr/>
        </p:nvSpPr>
        <p:spPr>
          <a:xfrm>
            <a:off x="6919273" y="3893270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74E05-7ED7-815A-C46F-E94E020C6983}"/>
              </a:ext>
            </a:extLst>
          </p:cNvPr>
          <p:cNvSpPr txBox="1"/>
          <p:nvPr/>
        </p:nvSpPr>
        <p:spPr>
          <a:xfrm>
            <a:off x="7511216" y="3625295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Click Create Model</a:t>
            </a:r>
          </a:p>
        </p:txBody>
      </p:sp>
    </p:spTree>
    <p:extLst>
      <p:ext uri="{BB962C8B-B14F-4D97-AF65-F5344CB8AC3E}">
        <p14:creationId xmlns:p14="http://schemas.microsoft.com/office/powerpoint/2010/main" val="2716624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35E2-810E-99A8-E9A0-4AF7C04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61C2108B-8DFB-97A9-C867-DD8638441E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tretch>
            <a:fillRect/>
          </a:stretch>
        </p:blipFill>
        <p:spPr>
          <a:xfrm>
            <a:off x="6113463" y="2079332"/>
            <a:ext cx="5622925" cy="316809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42BD8E-B637-584F-A885-BC3B13EA1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288" y="2079332"/>
            <a:ext cx="5624512" cy="429477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87FA05-819D-E43A-0A90-2CA65962F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Save As “</a:t>
            </a:r>
            <a:r>
              <a:rPr lang="en-US" dirty="0" err="1"/>
              <a:t>continuous_Derivative_System</a:t>
            </a:r>
            <a:r>
              <a:rPr lang="en-US" dirty="0"/>
              <a:t>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918E5C-C65B-5468-5F9C-1FDF1B947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34184B-420C-19D5-190E-E74257A5B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EECE9D-6219-EA09-8F15-A2E11398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Simulink File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BB9AA2-1FE1-95C9-037A-1A5823CD8B07}"/>
              </a:ext>
            </a:extLst>
          </p:cNvPr>
          <p:cNvCxnSpPr>
            <a:cxnSpLocks/>
          </p:cNvCxnSpPr>
          <p:nvPr/>
        </p:nvCxnSpPr>
        <p:spPr>
          <a:xfrm>
            <a:off x="131338" y="2620652"/>
            <a:ext cx="4762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094EF3-A026-DCC6-C3EA-B4BD3631E1D8}"/>
              </a:ext>
            </a:extLst>
          </p:cNvPr>
          <p:cNvCxnSpPr>
            <a:cxnSpLocks/>
          </p:cNvCxnSpPr>
          <p:nvPr/>
        </p:nvCxnSpPr>
        <p:spPr>
          <a:xfrm>
            <a:off x="216179" y="3082564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2D1588-2BC5-7A66-9B48-D042193FAA9E}"/>
              </a:ext>
            </a:extLst>
          </p:cNvPr>
          <p:cNvCxnSpPr>
            <a:cxnSpLocks/>
          </p:cNvCxnSpPr>
          <p:nvPr/>
        </p:nvCxnSpPr>
        <p:spPr>
          <a:xfrm>
            <a:off x="6113356" y="44510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7E8B29-F65A-8016-A55E-00676D4833F5}"/>
              </a:ext>
            </a:extLst>
          </p:cNvPr>
          <p:cNvCxnSpPr>
            <a:cxnSpLocks/>
          </p:cNvCxnSpPr>
          <p:nvPr/>
        </p:nvCxnSpPr>
        <p:spPr>
          <a:xfrm>
            <a:off x="6265756" y="4603421"/>
            <a:ext cx="3914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669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28CF-9D9A-5601-24DA-0DC3C2DB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F2A794-2B64-8229-E66E-D1D7D1C78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833B23-4A8B-F197-FA34-7EB79709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File has been Renamed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FA04D19F-F058-F0E3-5294-CA4B70BD2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4500" b="43785"/>
          <a:stretch>
            <a:fillRect/>
          </a:stretch>
        </p:blipFill>
        <p:spPr>
          <a:xfrm>
            <a:off x="423198" y="1838325"/>
            <a:ext cx="1128528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71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C9AB-A703-9E2F-F787-CC1A039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69A52B-51AC-CFB6-0C11-D2DE4A77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</a:t>
            </a:r>
          </a:p>
        </p:txBody>
      </p:sp>
    </p:spTree>
    <p:extLst>
      <p:ext uri="{BB962C8B-B14F-4D97-AF65-F5344CB8AC3E}">
        <p14:creationId xmlns:p14="http://schemas.microsoft.com/office/powerpoint/2010/main" val="108808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678B9-02E4-3024-860C-85FA9DFC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A3B32-66DF-E323-60A9-773FDB8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70C1-2543-6C35-7A94-35DAD45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 / Resolve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313797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D5D7-3777-4FA2-B82C-EB10C58B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C8D82CE-ACBA-44AD-D973-489CE218B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08" b="18743"/>
          <a:stretch>
            <a:fillRect/>
          </a:stretch>
        </p:blipFill>
        <p:spPr>
          <a:xfrm>
            <a:off x="1694520" y="2043113"/>
            <a:ext cx="3026047" cy="436721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4E768C-F7B7-C99C-580B-22366A3684BB}"/>
              </a:ext>
            </a:extLst>
          </p:cNvPr>
          <p:cNvCxnSpPr>
            <a:cxnSpLocks/>
          </p:cNvCxnSpPr>
          <p:nvPr/>
        </p:nvCxnSpPr>
        <p:spPr>
          <a:xfrm>
            <a:off x="2522740" y="3658791"/>
            <a:ext cx="722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32F8E5-5EDB-E44D-92E8-A60FD5CB1A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2. Click </a:t>
            </a:r>
            <a:r>
              <a:rPr lang="el-GR" dirty="0"/>
              <a:t>Σ</a:t>
            </a:r>
            <a:r>
              <a:rPr lang="en-US" dirty="0"/>
              <a:t> and type “z = \frac{d y}{d t}” and press ok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6F17FF-7943-4402-3EB9-68ACD447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on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3C0259-D0E5-AD47-1E8D-CEF4483D0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B5B86A4-9A54-6C7F-3240-3522AD5A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Annotation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726BAE9-83CC-3B6B-5EF3-21E5ABB9287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35" b="45278"/>
          <a:stretch>
            <a:fillRect/>
          </a:stretch>
        </p:blipFill>
        <p:spPr>
          <a:xfrm>
            <a:off x="6783169" y="2043113"/>
            <a:ext cx="2803889" cy="301453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1F428A7-4BB3-3A00-8D62-493F1D551882}"/>
              </a:ext>
            </a:extLst>
          </p:cNvPr>
          <p:cNvSpPr/>
          <p:nvPr/>
        </p:nvSpPr>
        <p:spPr>
          <a:xfrm>
            <a:off x="2497931" y="3614738"/>
            <a:ext cx="88107" cy="8810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8A23DA-AA3C-0271-D35E-B7EFC2183B0F}"/>
              </a:ext>
            </a:extLst>
          </p:cNvPr>
          <p:cNvSpPr txBox="1"/>
          <p:nvPr/>
        </p:nvSpPr>
        <p:spPr>
          <a:xfrm>
            <a:off x="3270452" y="3566458"/>
            <a:ext cx="26032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Double Click empty Space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C4B18C-59EA-2E05-93F8-4400895D4E5E}"/>
              </a:ext>
            </a:extLst>
          </p:cNvPr>
          <p:cNvSpPr/>
          <p:nvPr/>
        </p:nvSpPr>
        <p:spPr>
          <a:xfrm>
            <a:off x="2326884" y="3985966"/>
            <a:ext cx="2496413" cy="188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F189D4D2-05A7-C857-07B7-9B57A5C390DA}"/>
              </a:ext>
            </a:extLst>
          </p:cNvPr>
          <p:cNvSpPr/>
          <p:nvPr/>
        </p:nvSpPr>
        <p:spPr>
          <a:xfrm rot="10800000">
            <a:off x="2786924" y="4174793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E7002C-02F6-1D4E-4CC6-33D66C13AE8B}"/>
              </a:ext>
            </a:extLst>
          </p:cNvPr>
          <p:cNvSpPr txBox="1"/>
          <p:nvPr/>
        </p:nvSpPr>
        <p:spPr>
          <a:xfrm>
            <a:off x="2672786" y="4684224"/>
            <a:ext cx="340146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2. Click “Create Annotation”</a:t>
            </a:r>
          </a:p>
        </p:txBody>
      </p:sp>
    </p:spTree>
    <p:extLst>
      <p:ext uri="{BB962C8B-B14F-4D97-AF65-F5344CB8AC3E}">
        <p14:creationId xmlns:p14="http://schemas.microsoft.com/office/powerpoint/2010/main" val="35959111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09611E-6A5C-369C-C6CB-27B4CEE74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F4F125-59B1-21AC-8208-B14EFA639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F811A-28C9-9622-3FF1-4F022E2D6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66167-634F-B75D-F4EB-269F9B7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0D08D-3437-A339-73E2-D928E187B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Clock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1BB7C19B-7652-D7B0-E394-FA5CF142C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68" t="58122" r="74969" b="4203"/>
          <a:stretch>
            <a:fillRect/>
          </a:stretch>
        </p:blipFill>
        <p:spPr>
          <a:xfrm>
            <a:off x="631707" y="2374772"/>
            <a:ext cx="3303823" cy="3703894"/>
          </a:xfrm>
          <a:prstGeom prst="rect">
            <a:avLst/>
          </a:prstGeom>
        </p:spPr>
      </p:pic>
      <p:pic>
        <p:nvPicPr>
          <p:cNvPr id="35" name="Content Placeholder 28">
            <a:extLst>
              <a:ext uri="{FF2B5EF4-FFF2-40B4-BE49-F238E27FC236}">
                <a16:creationId xmlns:a16="http://schemas.microsoft.com/office/drawing/2014/main" id="{1E5BDBF7-748E-E093-A564-61DFE1CE32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689" t="47598" r="85180" b="34384"/>
          <a:stretch>
            <a:fillRect/>
          </a:stretch>
        </p:blipFill>
        <p:spPr>
          <a:xfrm>
            <a:off x="5190923" y="3341028"/>
            <a:ext cx="1853016" cy="177138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FC588A5-4B1B-BA2F-500A-75C58C73599F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150CAF-C7AB-7A7E-8D51-D7E139AB86A1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7BF03E3-94CF-D224-AFCB-9A0DCE28C6B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clo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B16B8F-85D8-AA4C-87A3-A039704DAF2F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E787C0-9CF7-A735-58EB-ECB4A8845539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CAED23-ABF2-7124-A5D1-542236319505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729DA54-2502-2FAE-6528-E4ED38C7D4C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4" t="43311" r="85084" b="37827"/>
          <a:stretch>
            <a:fillRect/>
          </a:stretch>
        </p:blipFill>
        <p:spPr>
          <a:xfrm>
            <a:off x="9290563" y="3657600"/>
            <a:ext cx="1320455" cy="130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10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9C2D0C-0BCC-3B49-12B1-96573AF49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82" b="33575"/>
          <a:stretch>
            <a:fillRect/>
          </a:stretch>
        </p:blipFill>
        <p:spPr>
          <a:xfrm>
            <a:off x="2339313" y="1838325"/>
            <a:ext cx="7453049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AA4CD5-339B-4901-1AD7-8FA54B07D3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6A6AB41-B3B5-7260-787A-58F5CED8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Clock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B01E9-EF94-77CF-05FE-2830100A811B}"/>
              </a:ext>
            </a:extLst>
          </p:cNvPr>
          <p:cNvSpPr/>
          <p:nvPr/>
        </p:nvSpPr>
        <p:spPr>
          <a:xfrm>
            <a:off x="3159551" y="4935530"/>
            <a:ext cx="893975" cy="975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69BE-D113-1120-AF7F-4920B3E2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Content Placeholder 21">
            <a:extLst>
              <a:ext uri="{FF2B5EF4-FFF2-40B4-BE49-F238E27FC236}">
                <a16:creationId xmlns:a16="http://schemas.microsoft.com/office/drawing/2014/main" id="{06C5FBA8-AF7B-5F93-1111-E65D27CBA9C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7" t="42019" r="69549" b="38312"/>
          <a:stretch>
            <a:fillRect/>
          </a:stretch>
        </p:blipFill>
        <p:spPr>
          <a:xfrm>
            <a:off x="5311880" y="3429000"/>
            <a:ext cx="1508972" cy="146304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E5A71E-A141-86D0-20FA-FC84AE07B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69" y="2559611"/>
            <a:ext cx="2857899" cy="333421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5D21C6D-269D-DB8E-18D4-ABB0FF7E06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Derivative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C09129-CAA7-F5B3-DB74-2401D8520B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0C711E-2C4F-4FAC-CD5D-BFB360187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B5E4D2-ACFA-2C69-BDAF-79E30E50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Add Derivative 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the Continuous Derivative Block. </a:t>
            </a:r>
            <a:r>
              <a:rPr lang="en-US" sz="1200" i="1" dirty="0">
                <a:solidFill>
                  <a:srgbClr val="FF0000"/>
                </a:solidFill>
              </a:rPr>
              <a:t>Continuous is not used at work!!!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A9BC640-D351-65A6-38E4-2662766FE0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Derivative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8EF0FD-C8BC-C68E-08F8-B736D65277DB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6C3771-405E-3411-2CB0-C69CD09967AA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ECC59B-042F-952B-55E6-765D49499E6B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A37A55-4625-81FF-E7AE-4E92D8A3A553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638B9C-BF8B-D088-C424-8058C160CE88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7BBB71-1387-5823-8FE6-6F8776C99469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2" name="Content Placeholder 41">
            <a:extLst>
              <a:ext uri="{FF2B5EF4-FFF2-40B4-BE49-F238E27FC236}">
                <a16:creationId xmlns:a16="http://schemas.microsoft.com/office/drawing/2014/main" id="{97DB949B-2B78-DF91-8978-4E62798A130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3" t="42019" r="67157" b="37737"/>
          <a:stretch>
            <a:fillRect/>
          </a:stretch>
        </p:blipFill>
        <p:spPr>
          <a:xfrm>
            <a:off x="8882448" y="3429000"/>
            <a:ext cx="1945584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01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E6A38-20D2-ECD2-0111-B861ED10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8F31A6-26D5-39FD-EE04-9E8DFC285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28A4B6-E03A-1F32-005C-34E8D7699B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76D755-D378-ADA0-6DFC-3377BFBF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Derivative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26077-1B58-EC03-1FC2-F84C2CAE10A9}"/>
              </a:ext>
            </a:extLst>
          </p:cNvPr>
          <p:cNvSpPr/>
          <p:nvPr/>
        </p:nvSpPr>
        <p:spPr>
          <a:xfrm>
            <a:off x="3442354" y="3813740"/>
            <a:ext cx="1129645" cy="786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165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6B18-BD15-2807-B291-BCD6208C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4DB063-EAC2-E448-683A-C7D6F4E7E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568F342-F866-BFA6-67D7-E777490E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Square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B00BF-6E92-1460-7298-D5C933679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032C02-A309-22C3-C808-8C7264FF4EAF}"/>
              </a:ext>
            </a:extLst>
          </p:cNvPr>
          <p:cNvSpPr/>
          <p:nvPr/>
        </p:nvSpPr>
        <p:spPr>
          <a:xfrm>
            <a:off x="3225538" y="4096544"/>
            <a:ext cx="988244" cy="786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24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D6D5-6838-E756-7B5D-AA37CC7C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F4DBE0-A13E-B24C-0302-7852B41E4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Gain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3C338F-3438-0ED4-BD45-C62CF0C06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7B191-6D80-5058-932A-FE63CDD8F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A4DB15B-088C-0AE6-C51B-F2B11EA7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B63847-FFD9-DCA3-D8C1-16001471B9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7D5C8484-316F-6384-445E-C8BBB5DE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52149" r="50811" b="5592"/>
          <a:stretch>
            <a:fillRect/>
          </a:stretch>
        </p:blipFill>
        <p:spPr>
          <a:xfrm>
            <a:off x="457490" y="2149441"/>
            <a:ext cx="3652258" cy="4154555"/>
          </a:xfrm>
          <a:prstGeom prst="rect">
            <a:avLst/>
          </a:prstGeom>
        </p:spPr>
      </p:pic>
      <p:pic>
        <p:nvPicPr>
          <p:cNvPr id="23" name="Content Placeholder 6">
            <a:extLst>
              <a:ext uri="{FF2B5EF4-FFF2-40B4-BE49-F238E27FC236}">
                <a16:creationId xmlns:a16="http://schemas.microsoft.com/office/drawing/2014/main" id="{EE8742CD-E707-8784-AC7B-17333BBBC99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32043" t="46112" r="58971" b="31133"/>
          <a:stretch>
            <a:fillRect/>
          </a:stretch>
        </p:blipFill>
        <p:spPr>
          <a:xfrm>
            <a:off x="5295637" y="3108177"/>
            <a:ext cx="1643589" cy="2237083"/>
          </a:xfrm>
          <a:prstGeom prst="rect">
            <a:avLst/>
          </a:prstGeom>
        </p:spPr>
      </p:pic>
      <p:pic>
        <p:nvPicPr>
          <p:cNvPr id="26" name="Content Placeholder 15">
            <a:extLst>
              <a:ext uri="{FF2B5EF4-FFF2-40B4-BE49-F238E27FC236}">
                <a16:creationId xmlns:a16="http://schemas.microsoft.com/office/drawing/2014/main" id="{B0C18C85-C8BF-E6D9-1168-E01842701E2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122" t="49920" r="58894" b="32062"/>
          <a:stretch>
            <a:fillRect/>
          </a:stretch>
        </p:blipFill>
        <p:spPr>
          <a:xfrm>
            <a:off x="9038179" y="3341028"/>
            <a:ext cx="182612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D1FBDF-A38C-9562-C003-57F7126E78FC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26EB1-4D78-D8BC-E5A4-1EEB576D176C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0BF486-22C6-D3A3-E879-3C45CAD4F29E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gain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C570F0-7472-EC00-27D0-FBEBF66EB422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7F65D4F-C05A-2645-F894-A89843C83127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CA3964-0ACF-4E11-25B7-DC20451AD89E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424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5125-86D5-64C7-92A9-ADA21AC7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461205-3645-42A2-84C8-DD256A132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5B82FF-4D08-ECA8-8F85-CBEBEC14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945FB-9EE9-3F56-69F6-BF28D3D2F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43DDB0-8A38-0E3A-8C00-3E85CBB1F214}"/>
              </a:ext>
            </a:extLst>
          </p:cNvPr>
          <p:cNvSpPr/>
          <p:nvPr/>
        </p:nvSpPr>
        <p:spPr>
          <a:xfrm>
            <a:off x="4479303" y="4162532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55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76A-794D-1072-FFF3-335D3BA5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7BFC26-A8C4-9D38-215D-505074426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Observe Duplication Result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23053D-C9BF-3610-C02C-44B1D60A1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1. Duplicate Gain block by Holding ctrl and Dragging gain block down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3059B1-1F33-2C99-08B3-F50D0132DC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2AFF8-43AB-50BA-A5B3-7268D1A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3BE9B1-0BEA-0CC0-2F69-3E9F2AC6C1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Gain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376C3414-4208-A25E-7AB8-8D089B6C3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46577" r="56481" b="16778"/>
          <a:stretch>
            <a:fillRect/>
          </a:stretch>
        </p:blipFill>
        <p:spPr>
          <a:xfrm>
            <a:off x="976027" y="2425402"/>
            <a:ext cx="2615183" cy="36026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41FE7F-7024-7299-4472-2770CF96E2AB}"/>
              </a:ext>
            </a:extLst>
          </p:cNvPr>
          <p:cNvSpPr/>
          <p:nvPr/>
        </p:nvSpPr>
        <p:spPr>
          <a:xfrm>
            <a:off x="1461155" y="3016577"/>
            <a:ext cx="1593130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2B2871-82C2-1EB6-0B55-6291E218B584}"/>
              </a:ext>
            </a:extLst>
          </p:cNvPr>
          <p:cNvSpPr txBox="1"/>
          <p:nvPr/>
        </p:nvSpPr>
        <p:spPr>
          <a:xfrm>
            <a:off x="557768" y="2462579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Hold ctrl and drag gain block down</a:t>
            </a:r>
          </a:p>
        </p:txBody>
      </p:sp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659B470D-D6CF-334E-5193-F5121F80EA8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8" t="48898" r="55476" b="15395"/>
          <a:stretch>
            <a:fillRect/>
          </a:stretch>
        </p:blipFill>
        <p:spPr>
          <a:xfrm>
            <a:off x="4747835" y="2471510"/>
            <a:ext cx="2739193" cy="351041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F8372-CFF7-C408-F89D-F756E6753F58}"/>
              </a:ext>
            </a:extLst>
          </p:cNvPr>
          <p:cNvCxnSpPr/>
          <p:nvPr/>
        </p:nvCxnSpPr>
        <p:spPr>
          <a:xfrm>
            <a:off x="2667786" y="4072379"/>
            <a:ext cx="0" cy="386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5DD59-8A8B-95B6-0A41-9A27108D5E90}"/>
              </a:ext>
            </a:extLst>
          </p:cNvPr>
          <p:cNvSpPr/>
          <p:nvPr/>
        </p:nvSpPr>
        <p:spPr>
          <a:xfrm>
            <a:off x="4941215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F7C6BF-EEEF-6187-E420-D96BAAF0973D}"/>
              </a:ext>
            </a:extLst>
          </p:cNvPr>
          <p:cNvSpPr txBox="1"/>
          <p:nvPr/>
        </p:nvSpPr>
        <p:spPr>
          <a:xfrm>
            <a:off x="4370150" y="5555843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New Gain block that was generated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19649FFF-DE41-AD4B-FED1-FFE83BF5AD0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0123" t="48434" r="57896" b="15394"/>
          <a:stretch>
            <a:fillRect/>
          </a:stretch>
        </p:blipFill>
        <p:spPr>
          <a:xfrm>
            <a:off x="8855548" y="2448653"/>
            <a:ext cx="2191391" cy="355613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5F9D355-3218-4CD4-AFF4-945FC87F7AE8}"/>
              </a:ext>
            </a:extLst>
          </p:cNvPr>
          <p:cNvSpPr/>
          <p:nvPr/>
        </p:nvSpPr>
        <p:spPr>
          <a:xfrm>
            <a:off x="8990042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483B7-1282-7CAE-7DBB-CF7ED508146A}"/>
              </a:ext>
            </a:extLst>
          </p:cNvPr>
          <p:cNvSpPr txBox="1"/>
          <p:nvPr/>
        </p:nvSpPr>
        <p:spPr>
          <a:xfrm>
            <a:off x="8339379" y="5555843"/>
            <a:ext cx="34516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Rename Gain Block</a:t>
            </a:r>
          </a:p>
        </p:txBody>
      </p:sp>
    </p:spTree>
    <p:extLst>
      <p:ext uri="{BB962C8B-B14F-4D97-AF65-F5344CB8AC3E}">
        <p14:creationId xmlns:p14="http://schemas.microsoft.com/office/powerpoint/2010/main" val="23769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0944-CEE5-A63B-92F5-DDC2DE76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257100-7B45-2E01-CAB7-1F4FB37DB2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079C82-4059-70AA-4757-5056A4B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51F759-3F58-E0F9-F2E7-AD7EAF2EA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53AC6E-64AB-4572-EC2A-FF9A034FBFDE}"/>
              </a:ext>
            </a:extLst>
          </p:cNvPr>
          <p:cNvSpPr/>
          <p:nvPr/>
        </p:nvSpPr>
        <p:spPr>
          <a:xfrm>
            <a:off x="4479303" y="4860116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19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3EFC-D4A1-EDAB-C9A9-10072CF4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55E283-90BC-42E6-C721-A49099BE52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Constant Block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C5CDBA-9A90-EBCA-C277-7E9E82614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0A3795-FB00-93AB-AFCF-65977C7A4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8B2217-E786-64E4-A7E3-0EB14500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Constant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41F1F-AEBA-47A5-A054-172408F2A1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Constant Block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D1DA4F-CF02-3E24-1C3C-685991D8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17" t="63759" r="50561"/>
          <a:stretch>
            <a:fillRect/>
          </a:stretch>
        </p:blipFill>
        <p:spPr>
          <a:xfrm>
            <a:off x="617166" y="2445261"/>
            <a:ext cx="3332905" cy="3562915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EFA79947-EB87-1A82-F4AC-1F7BA9C53B9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29547" t="79101" r="61467" b="2881"/>
          <a:stretch>
            <a:fillRect/>
          </a:stretch>
        </p:blipFill>
        <p:spPr>
          <a:xfrm>
            <a:off x="5295637" y="3341028"/>
            <a:ext cx="1643589" cy="1771381"/>
          </a:xfrm>
          <a:prstGeom prst="rect">
            <a:avLst/>
          </a:prstGeom>
        </p:spPr>
      </p:pic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436F22B3-B45D-39ED-B994-07EEA047DE9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870" t="78619" r="58645" b="3363"/>
          <a:stretch>
            <a:fillRect/>
          </a:stretch>
        </p:blipFill>
        <p:spPr>
          <a:xfrm>
            <a:off x="9083814" y="3341028"/>
            <a:ext cx="173485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473693-B217-6122-5EEC-071A9FA79F19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con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32B0F5-639C-AB7C-80FD-FC6D6CB36D9E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A534A-F19B-C76B-C3B3-0D24E3614631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F94DBD-9988-7F2E-DAC5-49B282A0B083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C1F93A8-2822-D104-13A3-A46E0C0ECC1C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CD7A7A-A08F-A89D-8D60-61625191546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43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0ECA-035C-1CBC-5E7D-B0CA40B9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A012D-BD9F-A4D6-D26D-45EF7E7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C11EE3-B43D-A06E-0C9E-09773E21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CCA64-00CF-02A1-416B-1168B506A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64C31A-6312-E8DD-DAAF-61B7C8E75ADB}"/>
              </a:ext>
            </a:extLst>
          </p:cNvPr>
          <p:cNvSpPr/>
          <p:nvPr/>
        </p:nvSpPr>
        <p:spPr>
          <a:xfrm>
            <a:off x="4479303" y="5491419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2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BA4F-A143-B8C5-FA99-1CF258AF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664FF0-1958-3C36-18EC-E5B63493B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765372"/>
          </a:xfrm>
        </p:spPr>
        <p:txBody>
          <a:bodyPr>
            <a:normAutofit/>
          </a:bodyPr>
          <a:lstStyle/>
          <a:p>
            <a:r>
              <a:rPr lang="en-US" dirty="0"/>
              <a:t>Step 2. Add Sum Block &amp; Edit Block Parameters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447E42-B395-FDD2-4000-249687A83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59F120-450E-B98C-A7A9-5160D0508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D98883-1119-68A6-2E47-4E8E4589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Sum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0C6E6E-20F0-CEE5-146E-FBE17D8FD5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and resize Sum Block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174C42-5BDC-374D-F137-4451F6BC5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11" t="54207" r="36211" b="10643"/>
          <a:stretch>
            <a:fillRect/>
          </a:stretch>
        </p:blipFill>
        <p:spPr>
          <a:xfrm>
            <a:off x="749224" y="2498890"/>
            <a:ext cx="3068789" cy="3455657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8D0E44D4-571B-09C0-85C7-BA1BF2D612E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9433" t="48880" r="22928" b="37359"/>
          <a:stretch>
            <a:fillRect/>
          </a:stretch>
        </p:blipFill>
        <p:spPr>
          <a:xfrm>
            <a:off x="4415266" y="2757043"/>
            <a:ext cx="3417483" cy="9145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F88534-DCFC-2F61-03E7-5D7B5C211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3" t="49442" r="22835" b="18891"/>
          <a:stretch>
            <a:fillRect/>
          </a:stretch>
        </p:blipFill>
        <p:spPr>
          <a:xfrm>
            <a:off x="4415266" y="3952874"/>
            <a:ext cx="3403077" cy="207514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12EB01-C49C-399C-A53F-A5FCA9E81986}"/>
              </a:ext>
            </a:extLst>
          </p:cNvPr>
          <p:cNvSpPr/>
          <p:nvPr/>
        </p:nvSpPr>
        <p:spPr>
          <a:xfrm>
            <a:off x="4850778" y="4105275"/>
            <a:ext cx="1178547" cy="590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98F6B-AC4D-AC99-CABF-736AB7240B91}"/>
              </a:ext>
            </a:extLst>
          </p:cNvPr>
          <p:cNvSpPr txBox="1"/>
          <p:nvPr/>
        </p:nvSpPr>
        <p:spPr>
          <a:xfrm>
            <a:off x="4869175" y="2433771"/>
            <a:ext cx="29635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 Sum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DBF9E-E5C0-A954-5430-E8DA326A613B}"/>
              </a:ext>
            </a:extLst>
          </p:cNvPr>
          <p:cNvSpPr txBox="1"/>
          <p:nvPr/>
        </p:nvSpPr>
        <p:spPr>
          <a:xfrm>
            <a:off x="4956801" y="4722018"/>
            <a:ext cx="2558424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Update Icon Shape “rectangular” &amp; list signs “+++”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A121C7-9469-F05F-36FD-00B568EADDEE}"/>
              </a:ext>
            </a:extLst>
          </p:cNvPr>
          <p:cNvSpPr/>
          <p:nvPr/>
        </p:nvSpPr>
        <p:spPr>
          <a:xfrm>
            <a:off x="7191374" y="5657850"/>
            <a:ext cx="626969" cy="416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936FD7-E5F1-F78A-0AEE-C68AA45BDCC4}"/>
              </a:ext>
            </a:extLst>
          </p:cNvPr>
          <p:cNvCxnSpPr>
            <a:cxnSpLocks/>
          </p:cNvCxnSpPr>
          <p:nvPr/>
        </p:nvCxnSpPr>
        <p:spPr>
          <a:xfrm flipH="1">
            <a:off x="4695825" y="2710770"/>
            <a:ext cx="222056" cy="428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89E99-360A-E2E5-D6AF-3115FE32B9D8}"/>
              </a:ext>
            </a:extLst>
          </p:cNvPr>
          <p:cNvCxnSpPr>
            <a:cxnSpLocks/>
          </p:cNvCxnSpPr>
          <p:nvPr/>
        </p:nvCxnSpPr>
        <p:spPr>
          <a:xfrm flipH="1" flipV="1">
            <a:off x="6029178" y="4400550"/>
            <a:ext cx="206835" cy="25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6430FE-6409-7413-8F54-010D3449ACEF}"/>
              </a:ext>
            </a:extLst>
          </p:cNvPr>
          <p:cNvCxnSpPr>
            <a:cxnSpLocks/>
            <a:stCxn id="48" idx="3"/>
            <a:endCxn id="41" idx="2"/>
          </p:cNvCxnSpPr>
          <p:nvPr/>
        </p:nvCxnSpPr>
        <p:spPr>
          <a:xfrm flipV="1">
            <a:off x="6962775" y="6074294"/>
            <a:ext cx="542084" cy="281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750D880-2467-5D7B-DD5D-A454E4E67D4E}"/>
              </a:ext>
            </a:extLst>
          </p:cNvPr>
          <p:cNvSpPr txBox="1"/>
          <p:nvPr/>
        </p:nvSpPr>
        <p:spPr>
          <a:xfrm>
            <a:off x="4917881" y="6217086"/>
            <a:ext cx="20448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3. Click Apply</a:t>
            </a:r>
          </a:p>
        </p:txBody>
      </p:sp>
      <p:pic>
        <p:nvPicPr>
          <p:cNvPr id="63" name="Content Placeholder 56">
            <a:extLst>
              <a:ext uri="{FF2B5EF4-FFF2-40B4-BE49-F238E27FC236}">
                <a16:creationId xmlns:a16="http://schemas.microsoft.com/office/drawing/2014/main" id="{1E1E000B-8E2F-D285-3C0C-64BBB90A636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rcRect l="47541" t="46615" r="45650" b="5843"/>
          <a:stretch>
            <a:fillRect/>
          </a:stretch>
        </p:blipFill>
        <p:spPr>
          <a:xfrm>
            <a:off x="9369406" y="2043113"/>
            <a:ext cx="1163675" cy="436721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06BA660-50C9-229F-9924-498C1B236C9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sum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BAA66F-3281-49B3-EA0D-33503074F7E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5DABAD-DD42-729E-AF36-E4E8924EB422}"/>
              </a:ext>
            </a:extLst>
          </p:cNvPr>
          <p:cNvSpPr txBox="1"/>
          <p:nvPr/>
        </p:nvSpPr>
        <p:spPr>
          <a:xfrm>
            <a:off x="2732830" y="2823842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5AE238-8397-2210-6E0F-C23E5641E899}"/>
              </a:ext>
            </a:extLst>
          </p:cNvPr>
          <p:cNvCxnSpPr>
            <a:cxnSpLocks/>
          </p:cNvCxnSpPr>
          <p:nvPr/>
        </p:nvCxnSpPr>
        <p:spPr>
          <a:xfrm flipH="1">
            <a:off x="2256322" y="2962341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168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6981-3740-BA4B-1BC5-6F24A6EA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213EC-D3A8-F56D-DA79-A7F702ED4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E0DFA9-0ECC-DEBC-3A35-4DD7E0B76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1ED3CA-6589-274E-27C2-6E84BC4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08FD0-1699-A2DB-3213-25D120A5D9EB}"/>
              </a:ext>
            </a:extLst>
          </p:cNvPr>
          <p:cNvSpPr/>
          <p:nvPr/>
        </p:nvSpPr>
        <p:spPr>
          <a:xfrm>
            <a:off x="5800725" y="3900744"/>
            <a:ext cx="737549" cy="2271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882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ADCF-DBB9-B3A1-09F4-217AD548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AF2B5B-659A-2950-1452-3BF8F27DE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Data Type Conversion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FC13BA-B404-C43C-E4A1-2B4A32129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239A67-D0BC-F5E3-8968-F0D381D47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7302A2-FB73-F8C9-5F0F-8603DD36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 Type Conversion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C6301E-93BE-4E31-3B7E-6A1F53C9DC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Data Type Conversion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4B9CE80-FC8B-F843-3282-A080C1F1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908" t="64663" r="21116"/>
          <a:stretch>
            <a:fillRect/>
          </a:stretch>
        </p:blipFill>
        <p:spPr>
          <a:xfrm>
            <a:off x="639664" y="2489698"/>
            <a:ext cx="3287910" cy="3474041"/>
          </a:xfrm>
          <a:prstGeom prst="rect">
            <a:avLst/>
          </a:prstGeom>
        </p:spPr>
      </p:pic>
      <p:pic>
        <p:nvPicPr>
          <p:cNvPr id="20" name="Content Placeholder 8">
            <a:extLst>
              <a:ext uri="{FF2B5EF4-FFF2-40B4-BE49-F238E27FC236}">
                <a16:creationId xmlns:a16="http://schemas.microsoft.com/office/drawing/2014/main" id="{65CB63D5-7397-3A13-0284-F6BE02B1514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61791" t="63940" r="24590" b="22480"/>
          <a:stretch>
            <a:fillRect/>
          </a:stretch>
        </p:blipFill>
        <p:spPr>
          <a:xfrm>
            <a:off x="4871936" y="3559182"/>
            <a:ext cx="2490990" cy="1335073"/>
          </a:xfrm>
          <a:prstGeom prst="rect">
            <a:avLst/>
          </a:prstGeom>
        </p:spPr>
      </p:pic>
      <p:pic>
        <p:nvPicPr>
          <p:cNvPr id="32" name="Content Placeholder 23">
            <a:extLst>
              <a:ext uri="{FF2B5EF4-FFF2-40B4-BE49-F238E27FC236}">
                <a16:creationId xmlns:a16="http://schemas.microsoft.com/office/drawing/2014/main" id="{975FFB3A-4581-8CAB-5AEB-F4E4CA31F37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61665" t="62910" r="24968" b="21313"/>
          <a:stretch>
            <a:fillRect/>
          </a:stretch>
        </p:blipFill>
        <p:spPr>
          <a:xfrm>
            <a:off x="8728795" y="3451187"/>
            <a:ext cx="2444898" cy="15510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E3DF3F8-31C4-5553-FB90-4BBB43039FE7}"/>
              </a:ext>
            </a:extLst>
          </p:cNvPr>
          <p:cNvSpPr txBox="1"/>
          <p:nvPr/>
        </p:nvSpPr>
        <p:spPr>
          <a:xfrm>
            <a:off x="3892330" y="5010859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2B18F6-3FDD-B8AB-41FF-663C05D32658}"/>
              </a:ext>
            </a:extLst>
          </p:cNvPr>
          <p:cNvCxnSpPr>
            <a:cxnSpLocks/>
          </p:cNvCxnSpPr>
          <p:nvPr/>
        </p:nvCxnSpPr>
        <p:spPr>
          <a:xfrm flipH="1">
            <a:off x="3415822" y="5149358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9D28DF-2F26-E2C1-8EEE-7D2679466964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conve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9D37A1-A0EC-437F-C631-DD30952E919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27F96AB-58FF-97DE-3C2F-3CC9F93B829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D71F5A-3DE9-4440-B3AA-595FFA3B157A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327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06A8-9B5F-9347-3E82-3B7F3F65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F7AB7E-7CAB-DB30-5876-7D97D8FCC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D5AA0A-1F9F-F93D-6623-18A6EB6931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07812EE-800C-1813-AA26-C1513181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Data Type Conversion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88734-FCDA-4FF3-B40B-5FE0C174427D}"/>
              </a:ext>
            </a:extLst>
          </p:cNvPr>
          <p:cNvSpPr/>
          <p:nvPr/>
        </p:nvSpPr>
        <p:spPr>
          <a:xfrm>
            <a:off x="7067550" y="4619625"/>
            <a:ext cx="1104900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4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1560-4567-39EF-C394-3EB2D31C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B5F1A6-7746-1D49-8123-436B8294F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Outport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EDE4D-98B0-4034-1256-9141D62F1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B2EFAE-BE40-CC04-B573-66F25F9B0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5CD9FB-B14F-ABFE-7F9A-C653BC00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Outport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99ACAF-48A6-1395-214A-B68F614496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Rename Outport</a:t>
            </a:r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D7325BFE-74B7-2374-5B3D-BC118C87C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233" t="64663" r="2288"/>
          <a:stretch>
            <a:fillRect/>
          </a:stretch>
        </p:blipFill>
        <p:spPr>
          <a:xfrm>
            <a:off x="776569" y="2489698"/>
            <a:ext cx="3014100" cy="3474041"/>
          </a:xfrm>
          <a:prstGeom prst="rect">
            <a:avLst/>
          </a:prstGeom>
        </p:spPr>
      </p:pic>
      <p:pic>
        <p:nvPicPr>
          <p:cNvPr id="23" name="Content Placeholder 18">
            <a:extLst>
              <a:ext uri="{FF2B5EF4-FFF2-40B4-BE49-F238E27FC236}">
                <a16:creationId xmlns:a16="http://schemas.microsoft.com/office/drawing/2014/main" id="{C17DF8A9-C6EB-1858-729A-D93438768C3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80454" t="63256" r="11223" b="18726"/>
          <a:stretch>
            <a:fillRect/>
          </a:stretch>
        </p:blipFill>
        <p:spPr>
          <a:xfrm>
            <a:off x="5356270" y="3341028"/>
            <a:ext cx="1522323" cy="1771381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901B303A-40D9-1B8F-C838-1DFF8061D01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79571" t="64194" r="11231" b="21260"/>
          <a:stretch>
            <a:fillRect/>
          </a:stretch>
        </p:blipFill>
        <p:spPr>
          <a:xfrm>
            <a:off x="9110061" y="3511698"/>
            <a:ext cx="1682365" cy="14300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872EEA-14E3-50FC-E273-4ABD563DD33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out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009DFE-2300-2C0D-1A96-B22C0AC4A6B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63C97B-1430-2641-5EC5-4E91C92ECAAA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CDDBD0-9F30-1166-AFA8-4B91045E7969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2D0802-7B65-7D3C-FAB8-6A882B3E6B8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85362-9121-663D-4526-CAB18A5C8BB3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89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812D-7049-49EC-EFE6-C62F5842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DF343-C012-7012-55D0-DFBAAB5FC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48BF0C-FFC6-E468-6425-46EB6A0EC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7E5A7C6-D714-8EDA-91A6-C2C29EA4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Outport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A9870-57D3-9E9F-9099-E4914619F7DB}"/>
              </a:ext>
            </a:extLst>
          </p:cNvPr>
          <p:cNvSpPr/>
          <p:nvPr/>
        </p:nvSpPr>
        <p:spPr>
          <a:xfrm>
            <a:off x="8610600" y="4829175"/>
            <a:ext cx="723900" cy="447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54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1B87-ED33-D8D8-3E4B-4F11F950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7F5C40-1671-6B31-FA4B-63FEC6C0B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86FABD-8518-F49A-158D-979F34C35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FBF57D-7EA5-785B-FCA1-976990CB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Signal Lines</a:t>
            </a:r>
          </a:p>
        </p:txBody>
      </p:sp>
    </p:spTree>
    <p:extLst>
      <p:ext uri="{BB962C8B-B14F-4D97-AF65-F5344CB8AC3E}">
        <p14:creationId xmlns:p14="http://schemas.microsoft.com/office/powerpoint/2010/main" val="14003287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0CB0-6DD3-D26A-8FFD-65FC6D9B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523437-E704-4C48-A3F8-16049A49E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1E84D18-D98E-0C9E-EA35-57C6A53D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Blocks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8DDD72D-01BB-2773-6D70-62D00E68B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967"/>
          <a:stretch>
            <a:fillRect/>
          </a:stretch>
        </p:blipFill>
        <p:spPr>
          <a:xfrm>
            <a:off x="1864500" y="1838325"/>
            <a:ext cx="6893001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187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0349-137A-C2C9-ECCD-302C7223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216F6A-29FA-185D-AC17-CE270A914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863BE3-48C8-3999-FFA2-62165B14E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0FDCC7-5BCB-92D0-3DCA-68B7C8B38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D868AF4-39C9-6DE2-7B92-2EE979B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80D98-8E03-AB74-023C-C512C397F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3AFDC3-C64F-6CC4-8022-681923A074E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389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9147-4720-91AA-3B67-24D36E8D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67D1470-E2CF-FFDE-BB5C-D358DBD5D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959530-9D48-BA8A-C34A-6CFC0A44A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5C29391-D595-529A-BB4A-9BF18BAEE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1740B05-3AF3-10E2-D771-96767F5E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23CEA93-0238-FB6D-1485-6F4BFE7A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44AA834-AD99-AE80-B286-8F04BC691E2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031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07B6D6-9588-D2D0-D244-F32146A57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5F8D6B-1DC2-B7E4-88FB-E643B2164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BD03F9-F2D7-C30B-DB88-D3C42A3A8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5B3CD6-1109-C9B1-49B1-F60D65FC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</a:t>
            </a:r>
          </a:p>
        </p:txBody>
      </p:sp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66866470-B333-8A26-1F88-99CF270B7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473"/>
          <a:stretch>
            <a:fillRect/>
          </a:stretch>
        </p:blipFill>
        <p:spPr>
          <a:xfrm>
            <a:off x="395818" y="2043113"/>
            <a:ext cx="3130336" cy="4367212"/>
          </a:xfrm>
          <a:prstGeom prst="rect">
            <a:avLst/>
          </a:prstGeom>
        </p:spPr>
      </p:pic>
      <p:pic>
        <p:nvPicPr>
          <p:cNvPr id="27" name="Content Placeholder 22">
            <a:extLst>
              <a:ext uri="{FF2B5EF4-FFF2-40B4-BE49-F238E27FC236}">
                <a16:creationId xmlns:a16="http://schemas.microsoft.com/office/drawing/2014/main" id="{27ECEE7E-0879-6EBC-8C4F-6C252B1A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36" r="186"/>
          <a:stretch>
            <a:fillRect/>
          </a:stretch>
        </p:blipFill>
        <p:spPr>
          <a:xfrm>
            <a:off x="3514090" y="2042465"/>
            <a:ext cx="1290107" cy="43672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C69E35-757A-D624-85D2-32D3B74C7E51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A30B6004-827E-8E4C-57A8-C672BE8A33F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1695"/>
          <a:stretch>
            <a:fillRect/>
          </a:stretch>
        </p:blipFill>
        <p:spPr>
          <a:xfrm>
            <a:off x="6113356" y="2043113"/>
            <a:ext cx="3112298" cy="4367212"/>
          </a:xfrm>
          <a:prstGeom prst="rect">
            <a:avLst/>
          </a:prstGeom>
        </p:spPr>
      </p:pic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E8218858-1B7A-5CB8-2741-5ED09D05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15" t="15" r="-186" b="-15"/>
          <a:stretch>
            <a:fillRect/>
          </a:stretch>
        </p:blipFill>
        <p:spPr>
          <a:xfrm>
            <a:off x="9226551" y="2042464"/>
            <a:ext cx="1338316" cy="436721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358467F-021E-D794-5BE8-C0F66DD03EA6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4DA15-F33C-691E-1FC2-A71E487E2BBB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F260EB-64D5-8607-1E76-11661792434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5076825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D37861-051E-3391-2CB8-F1C3589ACFF3}"/>
              </a:ext>
            </a:extLst>
          </p:cNvPr>
          <p:cNvCxnSpPr>
            <a:cxnSpLocks/>
          </p:cNvCxnSpPr>
          <p:nvPr/>
        </p:nvCxnSpPr>
        <p:spPr>
          <a:xfrm flipV="1">
            <a:off x="7121142" y="4666268"/>
            <a:ext cx="0" cy="67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3953B9-C600-2368-BD23-B7E071EE25E6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EEF3FF-98EC-5714-1D32-71994DBE6974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B0FDF80-D4C3-016E-2469-C56688C23E4B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0165A7-145E-AA45-944D-3C0E753D4207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</p:spTree>
    <p:extLst>
      <p:ext uri="{BB962C8B-B14F-4D97-AF65-F5344CB8AC3E}">
        <p14:creationId xmlns:p14="http://schemas.microsoft.com/office/powerpoint/2010/main" val="7665429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873E-A7A8-9D39-AD08-E1116BAC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7ECAE493-CBFA-59F8-F517-5A26B247964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61269"/>
          <a:stretch>
            <a:fillRect/>
          </a:stretch>
        </p:blipFill>
        <p:spPr>
          <a:xfrm>
            <a:off x="6113356" y="2043113"/>
            <a:ext cx="3146911" cy="4367212"/>
          </a:xfrm>
          <a:prstGeom prst="rect">
            <a:avLst/>
          </a:prstGeom>
        </p:spPr>
      </p:pic>
      <p:pic>
        <p:nvPicPr>
          <p:cNvPr id="22" name="Content Placeholder 17">
            <a:extLst>
              <a:ext uri="{FF2B5EF4-FFF2-40B4-BE49-F238E27FC236}">
                <a16:creationId xmlns:a16="http://schemas.microsoft.com/office/drawing/2014/main" id="{2CB8BBDE-F306-8C1C-A3B4-3F1DDA2E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4"/>
          <a:stretch>
            <a:fillRect/>
          </a:stretch>
        </p:blipFill>
        <p:spPr>
          <a:xfrm>
            <a:off x="9232659" y="2041815"/>
            <a:ext cx="1329762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6EEB031-3252-7BD0-C157-4FC4957F9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44"/>
          <a:stretch>
            <a:fillRect/>
          </a:stretch>
        </p:blipFill>
        <p:spPr>
          <a:xfrm>
            <a:off x="395818" y="2043113"/>
            <a:ext cx="3116478" cy="4367212"/>
          </a:xfrm>
          <a:prstGeom prst="rect">
            <a:avLst/>
          </a:prstGeom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91A7D5A3-8825-EFAF-74D7-6B181E3E9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8" r="183"/>
          <a:stretch>
            <a:fillRect/>
          </a:stretch>
        </p:blipFill>
        <p:spPr>
          <a:xfrm>
            <a:off x="3501139" y="2042464"/>
            <a:ext cx="1317068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5C2DFF-860B-33AE-3998-D5558D22F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91BBE-8180-27B2-667C-949F53695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EC1750-C257-0575-2C6B-FA272E4EE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23795A-02C5-6E66-B986-78B8300E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C674DB-1EFF-B9D5-A849-B447A3F99829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A98256-FBBA-0167-5FF5-3B2DA786FC69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7706AEB-0E49-4CBF-2024-F0355F0D4AC6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37E342-D220-F5C3-FF3F-B697DC064EF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4505325"/>
            <a:ext cx="869950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B8B629-6AB6-423D-285F-2F9EF5B6A69B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503962-BECB-EABD-B17E-9B34D4A9D5E7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FF81A1-D402-811B-6654-4B73675E0E38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115F63-1B52-C79D-C28E-9C025C1B340A}"/>
              </a:ext>
            </a:extLst>
          </p:cNvPr>
          <p:cNvCxnSpPr>
            <a:cxnSpLocks/>
          </p:cNvCxnSpPr>
          <p:nvPr/>
        </p:nvCxnSpPr>
        <p:spPr>
          <a:xfrm flipV="1">
            <a:off x="7121142" y="4609707"/>
            <a:ext cx="1202726" cy="733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454DE5-FDC0-F65E-3F69-201CE4216D1D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28187536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24AE-5EE8-F5FF-5BFC-3D3CE837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DCB139D5-0253-6550-3605-2C4175A0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3"/>
          <a:stretch>
            <a:fillRect/>
          </a:stretch>
        </p:blipFill>
        <p:spPr>
          <a:xfrm>
            <a:off x="9636406" y="2050325"/>
            <a:ext cx="1329762" cy="4367212"/>
          </a:xfrm>
          <a:prstGeom prst="rect">
            <a:avLst/>
          </a:prstGeom>
        </p:spPr>
      </p:pic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6F244062-152E-6C0A-E97F-720AE5EC30F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88"/>
          <a:stretch>
            <a:fillRect/>
          </a:stretch>
        </p:blipFill>
        <p:spPr>
          <a:xfrm>
            <a:off x="6113356" y="2043113"/>
            <a:ext cx="3575995" cy="4367212"/>
          </a:xfrm>
          <a:prstGeom prst="rect">
            <a:avLst/>
          </a:prstGeom>
        </p:spPr>
      </p:pic>
      <p:pic>
        <p:nvPicPr>
          <p:cNvPr id="24" name="Content Placeholder 18">
            <a:extLst>
              <a:ext uri="{FF2B5EF4-FFF2-40B4-BE49-F238E27FC236}">
                <a16:creationId xmlns:a16="http://schemas.microsoft.com/office/drawing/2014/main" id="{80841AE4-CBA8-46EC-7118-7BB8A423C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8113"/>
          <a:stretch>
            <a:fillRect/>
          </a:stretch>
        </p:blipFill>
        <p:spPr>
          <a:xfrm>
            <a:off x="116974" y="2040898"/>
            <a:ext cx="3403337" cy="4367212"/>
          </a:xfrm>
          <a:prstGeom prst="rect">
            <a:avLst/>
          </a:prstGeom>
        </p:spPr>
      </p:pic>
      <p:pic>
        <p:nvPicPr>
          <p:cNvPr id="33" name="Content Placeholder 18">
            <a:extLst>
              <a:ext uri="{FF2B5EF4-FFF2-40B4-BE49-F238E27FC236}">
                <a16:creationId xmlns:a16="http://schemas.microsoft.com/office/drawing/2014/main" id="{826AAA3E-F964-ACFD-E3A9-B801276C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32" r="53"/>
          <a:stretch>
            <a:fillRect/>
          </a:stretch>
        </p:blipFill>
        <p:spPr>
          <a:xfrm>
            <a:off x="3492797" y="2040898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128649-00B9-C3FF-33F9-C7111372C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renamed parameter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982E64-FDC3-B81C-471C-761DD31AB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Parameter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4142F7-A142-0F93-6A90-11DE299EB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CEE622-7321-659A-E345-70647850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Parameter: COEFF_A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55B44E-C182-5212-69F3-013D1B3DF092}"/>
              </a:ext>
            </a:extLst>
          </p:cNvPr>
          <p:cNvSpPr txBox="1"/>
          <p:nvPr/>
        </p:nvSpPr>
        <p:spPr>
          <a:xfrm>
            <a:off x="395818" y="5343525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ECE212-43EA-09D9-8E3D-9A71DD439DBA}"/>
              </a:ext>
            </a:extLst>
          </p:cNvPr>
          <p:cNvSpPr/>
          <p:nvPr/>
        </p:nvSpPr>
        <p:spPr>
          <a:xfrm>
            <a:off x="9644700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283782-FA49-48D9-2D76-04D8AEAA41C8}"/>
              </a:ext>
            </a:extLst>
          </p:cNvPr>
          <p:cNvSpPr/>
          <p:nvPr/>
        </p:nvSpPr>
        <p:spPr>
          <a:xfrm>
            <a:off x="3513193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280927-4DC6-20DB-4C94-370D459C6F7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579828" y="4515439"/>
            <a:ext cx="1351905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0BC074-691A-0601-9AA7-0C5397A2B860}"/>
              </a:ext>
            </a:extLst>
          </p:cNvPr>
          <p:cNvCxnSpPr>
            <a:cxnSpLocks/>
          </p:cNvCxnSpPr>
          <p:nvPr/>
        </p:nvCxnSpPr>
        <p:spPr>
          <a:xfrm>
            <a:off x="10306575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AFD5B-10EF-10CD-61B4-46B5AEEB3EF0}"/>
              </a:ext>
            </a:extLst>
          </p:cNvPr>
          <p:cNvSpPr txBox="1"/>
          <p:nvPr/>
        </p:nvSpPr>
        <p:spPr>
          <a:xfrm>
            <a:off x="9984285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063B56-172E-0726-0A76-ECFD78DFAB0C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6FF9D9-8F6B-0347-80A2-5289A1A85817}"/>
              </a:ext>
            </a:extLst>
          </p:cNvPr>
          <p:cNvCxnSpPr>
            <a:cxnSpLocks/>
          </p:cNvCxnSpPr>
          <p:nvPr/>
        </p:nvCxnSpPr>
        <p:spPr>
          <a:xfrm flipV="1">
            <a:off x="7121142" y="4515439"/>
            <a:ext cx="1872029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F64D432-33AA-A59E-24A3-520F7D62E467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36074498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66E3-EA91-7CB7-BED6-5A1D0071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Content Placeholder 21">
            <a:extLst>
              <a:ext uri="{FF2B5EF4-FFF2-40B4-BE49-F238E27FC236}">
                <a16:creationId xmlns:a16="http://schemas.microsoft.com/office/drawing/2014/main" id="{1A183AF8-C344-0338-F147-2CEF17046CE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95"/>
          <a:stretch>
            <a:fillRect/>
          </a:stretch>
        </p:blipFill>
        <p:spPr>
          <a:xfrm>
            <a:off x="4329718" y="2043113"/>
            <a:ext cx="3575426" cy="4367212"/>
          </a:xfrm>
          <a:prstGeom prst="rect">
            <a:avLst/>
          </a:prstGeom>
        </p:spPr>
      </p:pic>
      <p:pic>
        <p:nvPicPr>
          <p:cNvPr id="46" name="Content Placeholder 9">
            <a:extLst>
              <a:ext uri="{FF2B5EF4-FFF2-40B4-BE49-F238E27FC236}">
                <a16:creationId xmlns:a16="http://schemas.microsoft.com/office/drawing/2014/main" id="{3D44271F-EE91-1000-93BD-F5B9FD76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6052"/>
          <a:stretch>
            <a:fillRect/>
          </a:stretch>
        </p:blipFill>
        <p:spPr>
          <a:xfrm>
            <a:off x="498221" y="2043113"/>
            <a:ext cx="3570795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CBC477-1D86-C7F0-2583-FFD0B34FD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Select Final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48EDAD-8AB5-E767-1F71-F21098C13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8AB16A-DC79-C36F-F387-6F1FA44DD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CCE39A-C30F-33F1-6034-F7C8B7A4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19825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b="0" i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08898DE-6C6D-FE56-BF35-BE7080AE94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Format Blocks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4E3E0-BB72-8659-CFD4-861CF9F642BA}"/>
              </a:ext>
            </a:extLst>
          </p:cNvPr>
          <p:cNvSpPr/>
          <p:nvPr/>
        </p:nvSpPr>
        <p:spPr>
          <a:xfrm>
            <a:off x="3026004" y="4790982"/>
            <a:ext cx="801278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5C631-E3F1-A4FC-6706-1DE290FA5AB2}"/>
              </a:ext>
            </a:extLst>
          </p:cNvPr>
          <p:cNvSpPr txBox="1"/>
          <p:nvPr/>
        </p:nvSpPr>
        <p:spPr>
          <a:xfrm>
            <a:off x="794694" y="5360906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7D69A6-0E49-A9E1-A474-DC99DFFE1BBC}"/>
              </a:ext>
            </a:extLst>
          </p:cNvPr>
          <p:cNvSpPr/>
          <p:nvPr/>
        </p:nvSpPr>
        <p:spPr>
          <a:xfrm>
            <a:off x="6883137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F6F76C-1931-32D6-DC26-0DC84F0A1842}"/>
              </a:ext>
            </a:extLst>
          </p:cNvPr>
          <p:cNvSpPr txBox="1"/>
          <p:nvPr/>
        </p:nvSpPr>
        <p:spPr>
          <a:xfrm>
            <a:off x="5746674" y="3603223"/>
            <a:ext cx="2237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Shift Hold Select Block</a:t>
            </a:r>
          </a:p>
        </p:txBody>
      </p:sp>
      <p:pic>
        <p:nvPicPr>
          <p:cNvPr id="55" name="Content Placeholder 50">
            <a:extLst>
              <a:ext uri="{FF2B5EF4-FFF2-40B4-BE49-F238E27FC236}">
                <a16:creationId xmlns:a16="http://schemas.microsoft.com/office/drawing/2014/main" id="{A8A6E3EA-A6CF-A79F-CFC9-C063A5E65FA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55649"/>
          <a:stretch>
            <a:fillRect/>
          </a:stretch>
        </p:blipFill>
        <p:spPr>
          <a:xfrm>
            <a:off x="8149475" y="2043113"/>
            <a:ext cx="3603538" cy="436721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61AA7CE-B297-0381-D085-6ED18CCE3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8" t="5076" r="46340" b="86187"/>
          <a:stretch>
            <a:fillRect/>
          </a:stretch>
        </p:blipFill>
        <p:spPr>
          <a:xfrm>
            <a:off x="10157774" y="1807521"/>
            <a:ext cx="2034226" cy="876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0EEA088-1DFE-DAA4-E86B-CD833DF95826}"/>
              </a:ext>
            </a:extLst>
          </p:cNvPr>
          <p:cNvSpPr/>
          <p:nvPr/>
        </p:nvSpPr>
        <p:spPr>
          <a:xfrm>
            <a:off x="11603521" y="2268862"/>
            <a:ext cx="470534" cy="43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D071A-9384-C1A7-D43C-11C5A620C68F}"/>
              </a:ext>
            </a:extLst>
          </p:cNvPr>
          <p:cNvSpPr txBox="1"/>
          <p:nvPr/>
        </p:nvSpPr>
        <p:spPr>
          <a:xfrm>
            <a:off x="9681464" y="2973198"/>
            <a:ext cx="22371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Match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AB068C-438D-99D0-7595-4ECF08B06004}"/>
              </a:ext>
            </a:extLst>
          </p:cNvPr>
          <p:cNvSpPr/>
          <p:nvPr/>
        </p:nvSpPr>
        <p:spPr>
          <a:xfrm>
            <a:off x="10458563" y="4722829"/>
            <a:ext cx="325701" cy="12631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27529-BE55-0EC0-2730-BDC501F98D68}"/>
              </a:ext>
            </a:extLst>
          </p:cNvPr>
          <p:cNvSpPr txBox="1"/>
          <p:nvPr/>
        </p:nvSpPr>
        <p:spPr>
          <a:xfrm>
            <a:off x="8611388" y="51564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188DB43-CE67-0869-9EB4-3C0AC32CD80C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1359299" y="2701884"/>
            <a:ext cx="479489" cy="271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7295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DF0E-F69A-6C3D-0010-E6DF8403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C94FD-4136-AE21-308A-B06C2B8A5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Aligned Blocks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EB4C0-6D54-5261-ED3C-6D60FAA73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DB73E7-AF6F-2DA4-6247-88E05B7F7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B40461-6998-AC1F-6E47-C9E3A136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dirty="0"/>
          </a:p>
        </p:txBody>
      </p:sp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F1786C8F-86F2-0AB2-B16C-698870F4AA1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45768"/>
          <a:stretch>
            <a:fillRect/>
          </a:stretch>
        </p:blipFill>
        <p:spPr>
          <a:xfrm>
            <a:off x="6721738" y="2043113"/>
            <a:ext cx="4406374" cy="4367212"/>
          </a:xfrm>
          <a:prstGeom prst="rect">
            <a:avLst/>
          </a:prstGeom>
        </p:spPr>
      </p:pic>
      <p:pic>
        <p:nvPicPr>
          <p:cNvPr id="21" name="Content Placeholder 13">
            <a:extLst>
              <a:ext uri="{FF2B5EF4-FFF2-40B4-BE49-F238E27FC236}">
                <a16:creationId xmlns:a16="http://schemas.microsoft.com/office/drawing/2014/main" id="{C4150920-A959-EB72-CE1C-6601A9536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063"/>
          <a:stretch>
            <a:fillRect/>
          </a:stretch>
        </p:blipFill>
        <p:spPr>
          <a:xfrm>
            <a:off x="1016341" y="2043113"/>
            <a:ext cx="4382406" cy="43672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46D945-4A6C-A7CE-F84A-9B3DC962518A}"/>
              </a:ext>
            </a:extLst>
          </p:cNvPr>
          <p:cNvSpPr/>
          <p:nvPr/>
        </p:nvSpPr>
        <p:spPr>
          <a:xfrm>
            <a:off x="10313193" y="2466694"/>
            <a:ext cx="139173" cy="15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5930E-1A81-01E4-3215-C47BB2D9A042}"/>
              </a:ext>
            </a:extLst>
          </p:cNvPr>
          <p:cNvCxnSpPr>
            <a:cxnSpLocks/>
          </p:cNvCxnSpPr>
          <p:nvPr/>
        </p:nvCxnSpPr>
        <p:spPr>
          <a:xfrm flipV="1">
            <a:off x="10375106" y="2621756"/>
            <a:ext cx="0" cy="483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4D59E0F-CD1A-FFBC-CEC6-F038894E36E6}"/>
              </a:ext>
            </a:extLst>
          </p:cNvPr>
          <p:cNvSpPr/>
          <p:nvPr/>
        </p:nvSpPr>
        <p:spPr>
          <a:xfrm>
            <a:off x="3536544" y="4790982"/>
            <a:ext cx="875436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ACEC74-E7DF-4C72-FBB8-B5FE24265D61}"/>
              </a:ext>
            </a:extLst>
          </p:cNvPr>
          <p:cNvSpPr/>
          <p:nvPr/>
        </p:nvSpPr>
        <p:spPr>
          <a:xfrm>
            <a:off x="3536544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B2B2B2-C7C1-4B47-2DC5-E95F46026AA7}"/>
              </a:ext>
            </a:extLst>
          </p:cNvPr>
          <p:cNvSpPr txBox="1"/>
          <p:nvPr/>
        </p:nvSpPr>
        <p:spPr>
          <a:xfrm>
            <a:off x="1353334" y="54621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F5D0D5-8D08-5813-04E4-138A372C185C}"/>
              </a:ext>
            </a:extLst>
          </p:cNvPr>
          <p:cNvSpPr txBox="1"/>
          <p:nvPr/>
        </p:nvSpPr>
        <p:spPr>
          <a:xfrm>
            <a:off x="2190045" y="3765915"/>
            <a:ext cx="33954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Shift Hold Select Block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B63DCC4-81D6-69DC-15E0-4C37E307EAD5}"/>
              </a:ext>
            </a:extLst>
          </p:cNvPr>
          <p:cNvCxnSpPr>
            <a:cxnSpLocks/>
          </p:cNvCxnSpPr>
          <p:nvPr/>
        </p:nvCxnSpPr>
        <p:spPr>
          <a:xfrm flipV="1">
            <a:off x="2453640" y="5247797"/>
            <a:ext cx="1082904" cy="183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266AE2-C288-8B0F-A45E-196873DC0A6D}"/>
              </a:ext>
            </a:extLst>
          </p:cNvPr>
          <p:cNvCxnSpPr>
            <a:cxnSpLocks/>
          </p:cNvCxnSpPr>
          <p:nvPr/>
        </p:nvCxnSpPr>
        <p:spPr>
          <a:xfrm>
            <a:off x="2644140" y="4074146"/>
            <a:ext cx="892404" cy="282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2152F052-481D-984F-103D-D907AAE79C8E}"/>
              </a:ext>
            </a:extLst>
          </p:cNvPr>
          <p:cNvSpPr/>
          <p:nvPr/>
        </p:nvSpPr>
        <p:spPr>
          <a:xfrm>
            <a:off x="9147923" y="4157221"/>
            <a:ext cx="325701" cy="191364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4B9960-8417-30A2-8ED6-D3A75529D3A7}"/>
              </a:ext>
            </a:extLst>
          </p:cNvPr>
          <p:cNvSpPr txBox="1"/>
          <p:nvPr/>
        </p:nvSpPr>
        <p:spPr>
          <a:xfrm>
            <a:off x="7370340" y="5109297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0F3E2-0B7E-BF05-9532-BC552884F7A9}"/>
              </a:ext>
            </a:extLst>
          </p:cNvPr>
          <p:cNvSpPr txBox="1"/>
          <p:nvPr/>
        </p:nvSpPr>
        <p:spPr>
          <a:xfrm>
            <a:off x="9673696" y="3170433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Align</a:t>
            </a:r>
          </a:p>
        </p:txBody>
      </p:sp>
    </p:spTree>
    <p:extLst>
      <p:ext uri="{BB962C8B-B14F-4D97-AF65-F5344CB8AC3E}">
        <p14:creationId xmlns:p14="http://schemas.microsoft.com/office/powerpoint/2010/main" val="24312074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CD90-EDBA-FF23-8323-CBB94C3B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Content Placeholder 63">
            <a:extLst>
              <a:ext uri="{FF2B5EF4-FFF2-40B4-BE49-F238E27FC236}">
                <a16:creationId xmlns:a16="http://schemas.microsoft.com/office/drawing/2014/main" id="{43F5996E-17F5-6CA6-5F0C-A3D598DFF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5333"/>
          <a:stretch>
            <a:fillRect/>
          </a:stretch>
        </p:blipFill>
        <p:spPr>
          <a:xfrm>
            <a:off x="446051" y="2043113"/>
            <a:ext cx="3629226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A8C4C4-EE7B-031E-99AF-D3A803DB6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624952"/>
            <a:ext cx="5623560" cy="365760"/>
          </a:xfrm>
        </p:spPr>
        <p:txBody>
          <a:bodyPr/>
          <a:lstStyle/>
          <a:p>
            <a:r>
              <a:rPr lang="en-US" dirty="0"/>
              <a:t>Step 2. Update Constant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700BB7-F0B2-0248-B7EC-2A4DD2281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Update Gain block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81E4D-BF09-30FF-17ED-2ED433B3A1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FF7E2F-C17A-83C8-624C-56F8D8A3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Update Parameters: COEFF_B &amp; COEFF_C</a:t>
            </a:r>
            <a:endParaRPr lang="en-US" sz="1200" dirty="0"/>
          </a:p>
        </p:txBody>
      </p:sp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D5522F12-777A-EC96-0111-E0DB87DF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28" r="-342"/>
          <a:stretch>
            <a:fillRect/>
          </a:stretch>
        </p:blipFill>
        <p:spPr>
          <a:xfrm>
            <a:off x="4071422" y="2043113"/>
            <a:ext cx="1366125" cy="4367212"/>
          </a:xfrm>
          <a:prstGeom prst="rect">
            <a:avLst/>
          </a:prstGeom>
        </p:spPr>
      </p:pic>
      <p:pic>
        <p:nvPicPr>
          <p:cNvPr id="26" name="Content Placeholder 14">
            <a:extLst>
              <a:ext uri="{FF2B5EF4-FFF2-40B4-BE49-F238E27FC236}">
                <a16:creationId xmlns:a16="http://schemas.microsoft.com/office/drawing/2014/main" id="{61442044-767E-E371-F2EC-E5FBF6189E9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5759"/>
          <a:stretch>
            <a:fillRect/>
          </a:stretch>
        </p:blipFill>
        <p:spPr>
          <a:xfrm>
            <a:off x="6113356" y="2043113"/>
            <a:ext cx="3594601" cy="4367212"/>
          </a:xfrm>
          <a:prstGeom prst="rect">
            <a:avLst/>
          </a:prstGeom>
        </p:spPr>
      </p:pic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FC1CA6D1-C89A-49D6-1ECA-3D220B84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7" r="-1"/>
          <a:stretch>
            <a:fillRect/>
          </a:stretch>
        </p:blipFill>
        <p:spPr>
          <a:xfrm>
            <a:off x="9707957" y="2043113"/>
            <a:ext cx="1366125" cy="43672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2545E0-B4D1-5EDE-71A1-03158269F0BD}"/>
              </a:ext>
            </a:extLst>
          </p:cNvPr>
          <p:cNvSpPr/>
          <p:nvPr/>
        </p:nvSpPr>
        <p:spPr>
          <a:xfrm>
            <a:off x="3026003" y="4790982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ED329D-431A-6032-B792-0C4B6F7CCC01}"/>
              </a:ext>
            </a:extLst>
          </p:cNvPr>
          <p:cNvSpPr/>
          <p:nvPr/>
        </p:nvSpPr>
        <p:spPr>
          <a:xfrm>
            <a:off x="407527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B32E6D-50CC-5F20-6CD0-EAE5A04A4CF7}"/>
              </a:ext>
            </a:extLst>
          </p:cNvPr>
          <p:cNvSpPr/>
          <p:nvPr/>
        </p:nvSpPr>
        <p:spPr>
          <a:xfrm>
            <a:off x="970795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B8767D-D891-B0C2-9AFC-357B609D3B66}"/>
              </a:ext>
            </a:extLst>
          </p:cNvPr>
          <p:cNvSpPr/>
          <p:nvPr/>
        </p:nvSpPr>
        <p:spPr>
          <a:xfrm>
            <a:off x="8769535" y="5410200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832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6F0D-5783-3D48-7656-27C17DED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5507B908-8574-19FE-F6C3-B13CB136037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726"/>
          <a:stretch>
            <a:fillRect/>
          </a:stretch>
        </p:blipFill>
        <p:spPr>
          <a:xfrm>
            <a:off x="6113356" y="2043113"/>
            <a:ext cx="4328455" cy="4367212"/>
          </a:xfrm>
          <a:prstGeom prst="rect">
            <a:avLst/>
          </a:prstGeom>
        </p:spPr>
      </p:pic>
      <p:pic>
        <p:nvPicPr>
          <p:cNvPr id="35" name="Content Placeholder 33">
            <a:extLst>
              <a:ext uri="{FF2B5EF4-FFF2-40B4-BE49-F238E27FC236}">
                <a16:creationId xmlns:a16="http://schemas.microsoft.com/office/drawing/2014/main" id="{0DAAAE56-6051-F24E-E423-A62E3A2C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9" r="45"/>
          <a:stretch>
            <a:fillRect/>
          </a:stretch>
        </p:blipFill>
        <p:spPr>
          <a:xfrm>
            <a:off x="10363052" y="2040898"/>
            <a:ext cx="1329762" cy="4367212"/>
          </a:xfrm>
          <a:prstGeom prst="rect">
            <a:avLst/>
          </a:prstGeom>
        </p:spPr>
      </p:pic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FB279468-86BF-E068-F166-D5C855DA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55" r="30"/>
          <a:stretch>
            <a:fillRect/>
          </a:stretch>
        </p:blipFill>
        <p:spPr>
          <a:xfrm>
            <a:off x="4380272" y="2040898"/>
            <a:ext cx="1333752" cy="436721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BB2BCB9-CC9F-205A-2B45-0C58FD71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8032"/>
          <a:stretch>
            <a:fillRect/>
          </a:stretch>
        </p:blipFill>
        <p:spPr>
          <a:xfrm>
            <a:off x="186316" y="2040898"/>
            <a:ext cx="422242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32928F-FA46-2AF5-B9D5-AA2F64057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1E210B-5DAE-9590-FB0D-8F47B2676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F7F559-D476-86D7-5178-F3D750A20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49A6D2-A741-B216-3513-998D4E4C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F0E7C-07AC-EE5F-E2BF-AA085D435A5D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B76ADA-5C88-EB13-5230-AFBB05AC6D1D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902799-7195-7858-7617-8B46238B5AAF}"/>
              </a:ext>
            </a:extLst>
          </p:cNvPr>
          <p:cNvSpPr/>
          <p:nvPr/>
        </p:nvSpPr>
        <p:spPr>
          <a:xfrm>
            <a:off x="4408739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5D0FF8-B410-0CD5-7E8B-7F85392C5761}"/>
              </a:ext>
            </a:extLst>
          </p:cNvPr>
          <p:cNvCxnSpPr>
            <a:cxnSpLocks/>
          </p:cNvCxnSpPr>
          <p:nvPr/>
        </p:nvCxnSpPr>
        <p:spPr>
          <a:xfrm>
            <a:off x="3836706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86B066-4F66-D600-5AC5-362CBC79CB5E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F97DEC-D68B-F51D-9CA4-278771457DCD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7965DF-BD94-1F7D-C3D2-AB6D461EA199}"/>
              </a:ext>
            </a:extLst>
          </p:cNvPr>
          <p:cNvCxnSpPr>
            <a:cxnSpLocks/>
          </p:cNvCxnSpPr>
          <p:nvPr/>
        </p:nvCxnSpPr>
        <p:spPr>
          <a:xfrm>
            <a:off x="5015059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FD9342-B0F7-BBCB-54AC-6237E006ADBA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DFE505-8584-FBE1-F9FB-44879395A86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75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68C1-25CF-FE87-6A64-CF509648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7C0DE909-EA22-6442-5A87-EB2EBE473F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7"/>
          <a:stretch>
            <a:fillRect/>
          </a:stretch>
        </p:blipFill>
        <p:spPr>
          <a:xfrm>
            <a:off x="6113356" y="2043113"/>
            <a:ext cx="4433268" cy="4367212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9F1F1D9-A92F-63E1-6280-DCA5AD63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3" r="301"/>
          <a:stretch>
            <a:fillRect/>
          </a:stretch>
        </p:blipFill>
        <p:spPr>
          <a:xfrm>
            <a:off x="10366347" y="2050423"/>
            <a:ext cx="1329762" cy="4367212"/>
          </a:xfrm>
          <a:prstGeom prst="rect">
            <a:avLst/>
          </a:prstGeo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EC5A9019-8618-7095-C35A-FEDA8AE5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499"/>
          <a:stretch>
            <a:fillRect/>
          </a:stretch>
        </p:blipFill>
        <p:spPr>
          <a:xfrm>
            <a:off x="186316" y="2043113"/>
            <a:ext cx="4346980" cy="4367212"/>
          </a:xfrm>
          <a:prstGeom prst="rect">
            <a:avLst/>
          </a:prstGeom>
        </p:spPr>
      </p:pic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8CD7667-B4D6-92C9-6E4F-6CDC0321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42" r="-157"/>
          <a:stretch>
            <a:fillRect/>
          </a:stretch>
        </p:blipFill>
        <p:spPr>
          <a:xfrm>
            <a:off x="4533226" y="2042803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F5AE7B-5935-4164-8922-03A8A8BCA0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8F6E6-727F-C58C-ABA2-360C9DE7BE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D7802D-6650-6D9B-AAB1-48A7820A8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4A484C-8C52-94BE-DA92-7CA56782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neg_4t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C22268-11F6-B1AF-4CCB-C084B47F11A6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C82BDD-38C8-A623-6A94-18E5A808723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B646D2-148B-7AFD-BE79-61341A220097}"/>
              </a:ext>
            </a:extLst>
          </p:cNvPr>
          <p:cNvSpPr/>
          <p:nvPr/>
        </p:nvSpPr>
        <p:spPr>
          <a:xfrm>
            <a:off x="4539141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33CDB0-1B18-EB27-8263-410352798A64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47DBC4-097D-EF45-B92C-0D080C0D5766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ABD57E8-B9DD-3033-EF91-FF023F22555B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8689C-FBD1-F954-5431-6C2A11EC43D1}"/>
              </a:ext>
            </a:extLst>
          </p:cNvPr>
          <p:cNvCxnSpPr>
            <a:cxnSpLocks/>
          </p:cNvCxnSpPr>
          <p:nvPr/>
        </p:nvCxnSpPr>
        <p:spPr>
          <a:xfrm>
            <a:off x="5145461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540196-DE9F-B4E2-183F-35998B84C6E5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3D8A1-960A-6901-7E11-ECD1C9442251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844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F3F5-D2E6-51C1-F987-6AE90242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29">
            <a:extLst>
              <a:ext uri="{FF2B5EF4-FFF2-40B4-BE49-F238E27FC236}">
                <a16:creationId xmlns:a16="http://schemas.microsoft.com/office/drawing/2014/main" id="{447B048C-71DA-5436-5C7C-3FEB87CC755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2"/>
          <a:stretch>
            <a:fillRect/>
          </a:stretch>
        </p:blipFill>
        <p:spPr>
          <a:xfrm>
            <a:off x="6113356" y="2043113"/>
            <a:ext cx="4332924" cy="4367212"/>
          </a:xfrm>
          <a:prstGeom prst="rect">
            <a:avLst/>
          </a:prstGeom>
        </p:spPr>
      </p:pic>
      <p:pic>
        <p:nvPicPr>
          <p:cNvPr id="35" name="Content Placeholder 29">
            <a:extLst>
              <a:ext uri="{FF2B5EF4-FFF2-40B4-BE49-F238E27FC236}">
                <a16:creationId xmlns:a16="http://schemas.microsoft.com/office/drawing/2014/main" id="{64D0F88D-1FB0-F803-19DC-3671F829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6" r="448"/>
          <a:stretch>
            <a:fillRect/>
          </a:stretch>
        </p:blipFill>
        <p:spPr>
          <a:xfrm>
            <a:off x="10357208" y="2043113"/>
            <a:ext cx="1329763" cy="4367212"/>
          </a:xfrm>
          <a:prstGeom prst="rect">
            <a:avLst/>
          </a:prstGeom>
        </p:spPr>
      </p:pic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3D036F95-F44A-31BE-65A2-DC3490AF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2"/>
          <a:stretch>
            <a:fillRect/>
          </a:stretch>
        </p:blipFill>
        <p:spPr>
          <a:xfrm>
            <a:off x="395818" y="2043113"/>
            <a:ext cx="4341862" cy="4367212"/>
          </a:xfrm>
          <a:prstGeom prst="rect">
            <a:avLst/>
          </a:prstGeom>
        </p:spPr>
      </p:pic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A71BAA48-DBF4-BF03-6BAC-861012BC8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41" r="584"/>
          <a:stretch>
            <a:fillRect/>
          </a:stretch>
        </p:blipFill>
        <p:spPr>
          <a:xfrm>
            <a:off x="4626056" y="2043113"/>
            <a:ext cx="1257297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8C8CF9-8EA2-17B2-2E8B-899E447F67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CAA1EA-541B-60DB-77A8-0DA1B3EDB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FBE855-6788-108E-1B6F-EDA4013F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A05AC0-1F98-646F-6B2F-4232A3DA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const_21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B602-C586-A749-2F98-1A484E99D907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53DFC7-7D57-3EE2-FF30-C2D55E948FAB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F691D-8235-FB13-78DA-BC365B460E4A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F137FE-770A-0FBC-9088-36DB9F1096B1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46BC20-D7E8-07FA-6546-D0A332E5DC17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9170075-92A1-C12B-8407-2EAE29EE2E67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DE7027-5369-2D87-7360-B9F235545456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0F89CE-8643-5861-B50A-13C29AEE945E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77B4BF-D994-F6DE-7043-C25F3AA31C9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9696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0750-DC0E-AF87-2956-49CAD4BB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5DAD28C6-0235-DBCA-9FDE-B095005D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2" r="-193"/>
          <a:stretch>
            <a:fillRect/>
          </a:stretch>
        </p:blipFill>
        <p:spPr>
          <a:xfrm>
            <a:off x="10357208" y="2043113"/>
            <a:ext cx="1371601" cy="4367212"/>
          </a:xfrm>
          <a:prstGeom prst="rect">
            <a:avLst/>
          </a:prstGeom>
        </p:spPr>
      </p:pic>
      <p:pic>
        <p:nvPicPr>
          <p:cNvPr id="21" name="Content Placeholder 25">
            <a:extLst>
              <a:ext uri="{FF2B5EF4-FFF2-40B4-BE49-F238E27FC236}">
                <a16:creationId xmlns:a16="http://schemas.microsoft.com/office/drawing/2014/main" id="{CC0EBDC0-4694-E32B-E7B6-E98D81E013E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34894"/>
          <a:stretch>
            <a:fillRect/>
          </a:stretch>
        </p:blipFill>
        <p:spPr>
          <a:xfrm>
            <a:off x="6096000" y="2043113"/>
            <a:ext cx="4296630" cy="4367212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99A85653-822B-6047-D257-5107EE8E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7" r="36108"/>
          <a:stretch>
            <a:fillRect/>
          </a:stretch>
        </p:blipFill>
        <p:spPr>
          <a:xfrm>
            <a:off x="395817" y="2043113"/>
            <a:ext cx="4210903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15C10678-8C15-901A-0725-5FE857DF4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CAE106-820F-7CA0-66C7-76615535C0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48BE4E-2F53-900C-D930-2F1BFEC2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17B13A-9A63-4715-51F8-89A755BE9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9B3398-9698-EE52-F796-383F2E0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C745EC-9762-8452-2B7D-4F2A73503490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FBCCE8-30ED-524F-7AB8-3B1ABF47DC83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8BAB3-32FD-680B-DE59-356982E0885C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A72A4A-8F9E-E16B-90DB-4A8FC43E6800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32739F1-2C68-4F97-F53E-9D8524C7CE2C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23CB14-62C5-4207-04CB-749747193501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FB7C23-FE4B-F1EA-DF11-2B1E42CB7397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F110D8-BA88-6FC1-9269-FF7848659080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93711B-ADDA-0429-6F86-502AF6AB6253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046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D6C7-A479-5C9F-A2B3-DED10837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18CAB177-1644-16C2-F4B7-1BF714846A6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2" r="23072"/>
          <a:stretch>
            <a:fillRect/>
          </a:stretch>
        </p:blipFill>
        <p:spPr>
          <a:xfrm>
            <a:off x="6440640" y="2043113"/>
            <a:ext cx="3920821" cy="4367212"/>
          </a:xfrm>
          <a:prstGeom prst="rect">
            <a:avLst/>
          </a:prstGeom>
        </p:spPr>
      </p:pic>
      <p:pic>
        <p:nvPicPr>
          <p:cNvPr id="30" name="Content Placeholder 24">
            <a:extLst>
              <a:ext uri="{FF2B5EF4-FFF2-40B4-BE49-F238E27FC236}">
                <a16:creationId xmlns:a16="http://schemas.microsoft.com/office/drawing/2014/main" id="{D7205DCA-B298-7793-57EF-587AE4CF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9" r="21"/>
          <a:stretch>
            <a:fillRect/>
          </a:stretch>
        </p:blipFill>
        <p:spPr>
          <a:xfrm>
            <a:off x="10357208" y="2043113"/>
            <a:ext cx="1326100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CDD5D6-344A-CA2A-30BD-F66EB720E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r="23072"/>
          <a:stretch>
            <a:fillRect/>
          </a:stretch>
        </p:blipFill>
        <p:spPr>
          <a:xfrm>
            <a:off x="395817" y="2043113"/>
            <a:ext cx="4183549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B73BC5DC-09D4-C28A-CA91-A3A6B1DEC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DC89D5-D262-73EF-E040-D681630C2A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EF6A2B-7075-F02F-5559-5A760C99D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C769E4-E5D3-1993-3120-D57017D81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E2044-486F-A20F-0B06-8C81457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9400A-2769-0978-09D8-F3ADB0EF4D78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14C647-FC01-FD62-3BAD-003F941A97F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45EA-EB23-DF52-3B32-E958D005E709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2DBEBB-2D15-9128-708E-B6493B26E99B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107323-3FA3-C69B-52FB-C211C37FD1DA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05AE4A3-D53D-10DE-C7E0-390400B842BE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AD2AA7-E99D-8B20-CCE9-625431263638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E6942F-23DE-AB67-F4D1-AA078CC2DC49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2A5BA6-DA62-9309-5B68-23D071CCD0AE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165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BB10BEDC-AAEE-B70D-4CC0-5FABBA569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3BE471-7646-15C1-3448-728DDE9EC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EB47-9DD0-DF7A-C744-0AC335FE7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4C0B9-B0D0-E958-D626-486EB4924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F0A180-3696-BE47-4152-536EF697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F4464-07EE-C95C-7502-E60274A6A16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73FE39-5312-6A86-D8E2-DE2619F8A1BF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3B8A1C-1A79-A68A-6411-B9638ECC66A5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2AD4D-D001-0748-BA38-717D66CC4A98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E0E17C70-2FBB-21CF-304B-47DB0C26457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18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D065-67AD-3876-76CD-E6ED395C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728D0-4990-6D72-9AAA-A070E306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597397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AFA3-817D-41C6-4786-CEFEE98E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4AA3-8B15-9F21-FDF7-783742459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21E8C-5B96-8CDF-FD7B-E185DDC2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9DC8-57C5-0E07-A6EE-B41C1FA7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Settings		Edit</a:t>
            </a:r>
          </a:p>
        </p:txBody>
      </p:sp>
    </p:spTree>
    <p:extLst>
      <p:ext uri="{BB962C8B-B14F-4D97-AF65-F5344CB8AC3E}">
        <p14:creationId xmlns:p14="http://schemas.microsoft.com/office/powerpoint/2010/main" val="41153443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C692F250-25B8-C9EB-3F11-8D599EB56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opened Model Configuration.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DBA2CDD-89D7-2E44-F9FD-21790DD22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Model Settings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2F2FF527-7D67-0020-6750-AD27426A1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AC50DE8-3B40-5A9A-0833-59A3998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1)</a:t>
            </a:r>
          </a:p>
        </p:txBody>
      </p:sp>
      <p:pic>
        <p:nvPicPr>
          <p:cNvPr id="64" name="Content Placeholder 53">
            <a:extLst>
              <a:ext uri="{FF2B5EF4-FFF2-40B4-BE49-F238E27FC236}">
                <a16:creationId xmlns:a16="http://schemas.microsoft.com/office/drawing/2014/main" id="{9A6B6D03-01B6-F361-7354-CDB7F89EDCC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2592" t="23359" r="29977" b="6298"/>
          <a:stretch>
            <a:fillRect/>
          </a:stretch>
        </p:blipFill>
        <p:spPr>
          <a:xfrm>
            <a:off x="6185640" y="2043113"/>
            <a:ext cx="5478570" cy="4367212"/>
          </a:xfrm>
          <a:prstGeom prst="rect">
            <a:avLst/>
          </a:prstGeom>
        </p:spPr>
      </p:pic>
      <p:pic>
        <p:nvPicPr>
          <p:cNvPr id="70" name="Content Placeholder 66">
            <a:extLst>
              <a:ext uri="{FF2B5EF4-FFF2-40B4-BE49-F238E27FC236}">
                <a16:creationId xmlns:a16="http://schemas.microsoft.com/office/drawing/2014/main" id="{6B28507E-70AC-6A98-3D63-DB5BB8933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8480" b="82233"/>
          <a:stretch>
            <a:fillRect/>
          </a:stretch>
        </p:blipFill>
        <p:spPr>
          <a:xfrm>
            <a:off x="395288" y="2043113"/>
            <a:ext cx="5624512" cy="170408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22E07C9-E2F5-CF5D-929A-DE0BD69285C3}"/>
              </a:ext>
            </a:extLst>
          </p:cNvPr>
          <p:cNvSpPr/>
          <p:nvPr/>
        </p:nvSpPr>
        <p:spPr>
          <a:xfrm>
            <a:off x="4967926" y="2522530"/>
            <a:ext cx="725864" cy="906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6B93BD-71A0-DC51-EDD1-E320C61D17D3}"/>
              </a:ext>
            </a:extLst>
          </p:cNvPr>
          <p:cNvCxnSpPr>
            <a:cxnSpLocks/>
          </p:cNvCxnSpPr>
          <p:nvPr/>
        </p:nvCxnSpPr>
        <p:spPr>
          <a:xfrm>
            <a:off x="5339660" y="1772239"/>
            <a:ext cx="0" cy="750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41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6BB7D1-340A-25B1-C7D2-1A659A8F1E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Stop time after clicking apply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0B510-AC28-DB66-DDB9-4A18226CD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 Update Model Configuration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06EA-2EBC-A6C5-1868-52F123A1A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F2971-54BB-0C0D-FE6B-2A72FA9E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2)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A025A954-D700-2C12-A357-484BC33B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593" y="2043113"/>
            <a:ext cx="5535902" cy="436721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6EC734-2095-1C87-08EF-D481E2D6A931}"/>
              </a:ext>
            </a:extLst>
          </p:cNvPr>
          <p:cNvCxnSpPr>
            <a:cxnSpLocks/>
          </p:cNvCxnSpPr>
          <p:nvPr/>
        </p:nvCxnSpPr>
        <p:spPr>
          <a:xfrm flipH="1">
            <a:off x="4742368" y="2796602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5A9C6-E356-CA6C-1154-E6F2DB685E8E}"/>
              </a:ext>
            </a:extLst>
          </p:cNvPr>
          <p:cNvCxnSpPr>
            <a:cxnSpLocks/>
          </p:cNvCxnSpPr>
          <p:nvPr/>
        </p:nvCxnSpPr>
        <p:spPr>
          <a:xfrm flipH="1">
            <a:off x="4742368" y="3231806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B26BF9-8CB8-0776-BDA7-C6C4D2B47A10}"/>
              </a:ext>
            </a:extLst>
          </p:cNvPr>
          <p:cNvCxnSpPr>
            <a:cxnSpLocks/>
          </p:cNvCxnSpPr>
          <p:nvPr/>
        </p:nvCxnSpPr>
        <p:spPr>
          <a:xfrm flipH="1">
            <a:off x="4742368" y="3732998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DC3559-2FC4-AAAB-CDA5-DCEEB1D57EE3}"/>
              </a:ext>
            </a:extLst>
          </p:cNvPr>
          <p:cNvCxnSpPr>
            <a:cxnSpLocks/>
          </p:cNvCxnSpPr>
          <p:nvPr/>
        </p:nvCxnSpPr>
        <p:spPr>
          <a:xfrm flipV="1">
            <a:off x="1517715" y="3335468"/>
            <a:ext cx="637493" cy="397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A264423-D565-095F-EF06-868F65592735}"/>
              </a:ext>
            </a:extLst>
          </p:cNvPr>
          <p:cNvSpPr txBox="1"/>
          <p:nvPr/>
        </p:nvSpPr>
        <p:spPr>
          <a:xfrm>
            <a:off x="522582" y="3732998"/>
            <a:ext cx="11689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2. Set Type to Fixed-step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E5424-91A7-AC90-A3DF-D48AAEA4C763}"/>
              </a:ext>
            </a:extLst>
          </p:cNvPr>
          <p:cNvSpPr txBox="1"/>
          <p:nvPr/>
        </p:nvSpPr>
        <p:spPr>
          <a:xfrm>
            <a:off x="3409359" y="2484649"/>
            <a:ext cx="22863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Set Type to 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8C9263-657F-630C-D7CF-A5BB656EEBD4}"/>
              </a:ext>
            </a:extLst>
          </p:cNvPr>
          <p:cNvSpPr txBox="1"/>
          <p:nvPr/>
        </p:nvSpPr>
        <p:spPr>
          <a:xfrm>
            <a:off x="3409359" y="297925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3. Set Solver to discrete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57C3-1C91-686A-F203-7442A09EFBE2}"/>
              </a:ext>
            </a:extLst>
          </p:cNvPr>
          <p:cNvSpPr txBox="1"/>
          <p:nvPr/>
        </p:nvSpPr>
        <p:spPr>
          <a:xfrm>
            <a:off x="3409359" y="344190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4. Set Fixed-step size to 0.25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57960D-8493-5B0A-2B7A-6C0FCF611D8B}"/>
              </a:ext>
            </a:extLst>
          </p:cNvPr>
          <p:cNvCxnSpPr>
            <a:cxnSpLocks/>
          </p:cNvCxnSpPr>
          <p:nvPr/>
        </p:nvCxnSpPr>
        <p:spPr>
          <a:xfrm>
            <a:off x="5741609" y="5947132"/>
            <a:ext cx="0" cy="227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3C6AE9B-ABC0-7682-CEF0-123EA506A5BB}"/>
              </a:ext>
            </a:extLst>
          </p:cNvPr>
          <p:cNvSpPr txBox="1"/>
          <p:nvPr/>
        </p:nvSpPr>
        <p:spPr>
          <a:xfrm>
            <a:off x="4568858" y="5724758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5. Click Apply</a:t>
            </a:r>
          </a:p>
        </p:txBody>
      </p:sp>
      <p:pic>
        <p:nvPicPr>
          <p:cNvPr id="45" name="Content Placeholder 41">
            <a:extLst>
              <a:ext uri="{FF2B5EF4-FFF2-40B4-BE49-F238E27FC236}">
                <a16:creationId xmlns:a16="http://schemas.microsoft.com/office/drawing/2014/main" id="{91643041-145A-3B67-8593-8353EA9ECA1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54902" r="17100" b="82919"/>
          <a:stretch>
            <a:fillRect/>
          </a:stretch>
        </p:blipFill>
        <p:spPr>
          <a:xfrm>
            <a:off x="6364431" y="3387088"/>
            <a:ext cx="5120989" cy="167926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E3C1D7-5022-AFB3-4B09-53B283C88E6A}"/>
              </a:ext>
            </a:extLst>
          </p:cNvPr>
          <p:cNvCxnSpPr>
            <a:cxnSpLocks/>
          </p:cNvCxnSpPr>
          <p:nvPr/>
        </p:nvCxnSpPr>
        <p:spPr>
          <a:xfrm>
            <a:off x="9513901" y="3361847"/>
            <a:ext cx="0" cy="521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15CA643-8888-5B6B-696D-4A73BFD90FAC}"/>
              </a:ext>
            </a:extLst>
          </p:cNvPr>
          <p:cNvSpPr txBox="1"/>
          <p:nvPr/>
        </p:nvSpPr>
        <p:spPr>
          <a:xfrm>
            <a:off x="8341149" y="3139473"/>
            <a:ext cx="306528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Observe Stop Time was Updated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14FC7E-8921-21A8-76D0-51883F224EC8}"/>
              </a:ext>
            </a:extLst>
          </p:cNvPr>
          <p:cNvCxnSpPr/>
          <p:nvPr/>
        </p:nvCxnSpPr>
        <p:spPr>
          <a:xfrm>
            <a:off x="5373278" y="2796602"/>
            <a:ext cx="3855563" cy="1087241"/>
          </a:xfrm>
          <a:prstGeom prst="straightConnector1">
            <a:avLst/>
          </a:prstGeom>
          <a:ln>
            <a:solidFill>
              <a:srgbClr val="92D050"/>
            </a:solidFill>
            <a:prstDash val="sysDot"/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4622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5DE-00DB-23CB-C54E-CE0C7953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4C10BA90-60B7-33BB-C51F-8DD1D8DC7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B829F-BCF0-7A34-5DAF-613A801D9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9376-1647-D147-95F3-22E35ACE5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555B1-5573-9B79-5DAC-4DF6226FF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8720BF-6165-B77A-402A-2D2A9D23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C9B08-7356-BEAE-A394-59FB14F78F9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A3C19-E2A8-C485-1CA0-A8170A038B24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11D6AE-ED94-B52D-4EA8-6570DCBEDF48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B51B4A-2ADC-D5CD-A864-D13EC2084C41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40D658D6-3FF9-7C63-8154-06FB4344284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729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B210-3699-7A48-73F7-F337EAE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C3D40-CE56-0FF6-13D1-C7987DA8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</p:spTree>
    <p:extLst>
      <p:ext uri="{BB962C8B-B14F-4D97-AF65-F5344CB8AC3E}">
        <p14:creationId xmlns:p14="http://schemas.microsoft.com/office/powerpoint/2010/main" val="18844099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411-7D46-E6DA-3EE2-CC6ADE9B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DE9EE-2708-DCC2-921D-49F84701C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5A4A6-FF83-CD51-D3D0-0CC913D5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A697-C136-48DF-BFCF-12AE5B9F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Data Dictionary (</a:t>
            </a:r>
            <a:r>
              <a:rPr lang="en-US" sz="1800" i="1" dirty="0" err="1"/>
              <a:t>sldd</a:t>
            </a:r>
            <a:r>
              <a:rPr lang="en-US" sz="1800" i="1" dirty="0"/>
              <a:t>)	Create / Edit</a:t>
            </a:r>
          </a:p>
        </p:txBody>
      </p:sp>
    </p:spTree>
    <p:extLst>
      <p:ext uri="{BB962C8B-B14F-4D97-AF65-F5344CB8AC3E}">
        <p14:creationId xmlns:p14="http://schemas.microsoft.com/office/powerpoint/2010/main" val="38651395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0D61F4-83A6-87DD-F4CC-1B0FFD6EF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Model Explorer Window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5AAB5-9C59-CB32-8394-48F4C2C0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“MODELING” Tab and Click “Model Explorer”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AA4820-D472-79CC-7585-DE0AEE449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FA85-C487-33F7-D82E-267779C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Model Explorer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1BC440-8EFC-10B7-71D6-146CE5CCB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9588" b="78044"/>
          <a:stretch>
            <a:fillRect/>
          </a:stretch>
        </p:blipFill>
        <p:spPr>
          <a:xfrm>
            <a:off x="1340810" y="2794345"/>
            <a:ext cx="3733468" cy="215865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47047D-E895-FEBE-6072-5397F79AE354}"/>
              </a:ext>
            </a:extLst>
          </p:cNvPr>
          <p:cNvCxnSpPr>
            <a:cxnSpLocks/>
          </p:cNvCxnSpPr>
          <p:nvPr/>
        </p:nvCxnSpPr>
        <p:spPr>
          <a:xfrm flipV="1">
            <a:off x="4496387" y="3902697"/>
            <a:ext cx="0" cy="1253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ED6623-F460-98B5-A62D-0D87ECD255F2}"/>
              </a:ext>
            </a:extLst>
          </p:cNvPr>
          <p:cNvCxnSpPr>
            <a:cxnSpLocks/>
          </p:cNvCxnSpPr>
          <p:nvPr/>
        </p:nvCxnSpPr>
        <p:spPr>
          <a:xfrm flipV="1">
            <a:off x="3828655" y="3297447"/>
            <a:ext cx="0" cy="1859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44A58C-CD40-98A2-EAD3-F40728DACB7A}"/>
              </a:ext>
            </a:extLst>
          </p:cNvPr>
          <p:cNvSpPr txBox="1"/>
          <p:nvPr/>
        </p:nvSpPr>
        <p:spPr>
          <a:xfrm>
            <a:off x="2144642" y="5156462"/>
            <a:ext cx="3368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“MODELING” Tab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Click “Model Explorer”</a:t>
            </a:r>
          </a:p>
        </p:txBody>
      </p:sp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7FA3BCB9-4A53-A675-5755-37235C90814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7336" b="69135"/>
          <a:stretch>
            <a:fillRect/>
          </a:stretch>
        </p:blipFill>
        <p:spPr>
          <a:xfrm>
            <a:off x="6113463" y="2794345"/>
            <a:ext cx="5622925" cy="21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343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AFB61AA-618D-8E62-AE46-ED8BE54C6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Drill Down to “External Data” and then Click “New”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A85813-BB2A-1807-DD64-113483C0F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5A10B2-9764-1090-723D-8A0D2FA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96252"/>
          </a:xfrm>
        </p:spPr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F476DD-C88A-B019-109D-0E0F36B8E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50" b="68377"/>
          <a:stretch>
            <a:fillRect/>
          </a:stretch>
        </p:blipFill>
        <p:spPr>
          <a:xfrm>
            <a:off x="395288" y="2759075"/>
            <a:ext cx="11339512" cy="2599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6F97AF-4974-2C6B-3D9C-C116EDEB5004}"/>
              </a:ext>
            </a:extLst>
          </p:cNvPr>
          <p:cNvCxnSpPr>
            <a:cxnSpLocks/>
          </p:cNvCxnSpPr>
          <p:nvPr/>
        </p:nvCxnSpPr>
        <p:spPr>
          <a:xfrm flipV="1">
            <a:off x="8776156" y="4104660"/>
            <a:ext cx="0" cy="1523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DB09D-BEFE-E785-39AB-506A220A3D0F}"/>
              </a:ext>
            </a:extLst>
          </p:cNvPr>
          <p:cNvCxnSpPr>
            <a:cxnSpLocks/>
          </p:cNvCxnSpPr>
          <p:nvPr/>
        </p:nvCxnSpPr>
        <p:spPr>
          <a:xfrm flipV="1">
            <a:off x="1387112" y="4737827"/>
            <a:ext cx="0" cy="889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500AB5-0D67-7FB5-38A8-7CBB583B1EAC}"/>
              </a:ext>
            </a:extLst>
          </p:cNvPr>
          <p:cNvSpPr txBox="1"/>
          <p:nvPr/>
        </p:nvSpPr>
        <p:spPr>
          <a:xfrm>
            <a:off x="395288" y="5712643"/>
            <a:ext cx="33680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Drill Down to “External Data”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99728-2D8C-86ED-F63A-9A8FCCB994E4}"/>
              </a:ext>
            </a:extLst>
          </p:cNvPr>
          <p:cNvSpPr txBox="1"/>
          <p:nvPr/>
        </p:nvSpPr>
        <p:spPr>
          <a:xfrm>
            <a:off x="7664924" y="5709731"/>
            <a:ext cx="452707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New to create a new 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10726103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EA34-1529-D8B2-7A32-C836E6D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Content Placeholder 30">
            <a:extLst>
              <a:ext uri="{FF2B5EF4-FFF2-40B4-BE49-F238E27FC236}">
                <a16:creationId xmlns:a16="http://schemas.microsoft.com/office/drawing/2014/main" id="{18D653EA-6301-AB05-8F77-E2E00AF18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00" t="86241" r="-159" b="2289"/>
          <a:stretch>
            <a:fillRect/>
          </a:stretch>
        </p:blipFill>
        <p:spPr>
          <a:xfrm>
            <a:off x="9219968" y="5373457"/>
            <a:ext cx="2516420" cy="1135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2E0A88C3-D431-446A-60EF-699B15C4FB9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6" t="6067" r="27010" b="58263"/>
          <a:stretch>
            <a:fillRect/>
          </a:stretch>
        </p:blipFill>
        <p:spPr>
          <a:xfrm>
            <a:off x="6113463" y="2108976"/>
            <a:ext cx="5622925" cy="3264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FD06E56-E64F-2EE3-CAA7-B92724D08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2) Apply Changes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67F8A8-D5E3-F1C2-5714-11558CBC5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Save file as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75D9FF-D8FF-358E-6955-2BE3FF83F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A85F825-140B-B1A1-A7C1-5A3C1933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6372CC-6A5F-00CB-68BC-16EEFB8F0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0" y="2302859"/>
            <a:ext cx="5624512" cy="31689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2CC76-2C52-ABDB-7D18-4B5E7BC7D897}"/>
              </a:ext>
            </a:extLst>
          </p:cNvPr>
          <p:cNvCxnSpPr>
            <a:cxnSpLocks/>
          </p:cNvCxnSpPr>
          <p:nvPr/>
        </p:nvCxnSpPr>
        <p:spPr>
          <a:xfrm>
            <a:off x="1706252" y="3978112"/>
            <a:ext cx="0" cy="584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09FD84-E6B8-2E48-D51E-379A0E0C2716}"/>
              </a:ext>
            </a:extLst>
          </p:cNvPr>
          <p:cNvSpPr txBox="1"/>
          <p:nvPr/>
        </p:nvSpPr>
        <p:spPr>
          <a:xfrm>
            <a:off x="1541667" y="3731891"/>
            <a:ext cx="40261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Create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CD288-3CC6-3330-09C5-F7AAC609E73E}"/>
              </a:ext>
            </a:extLst>
          </p:cNvPr>
          <p:cNvSpPr txBox="1"/>
          <p:nvPr/>
        </p:nvSpPr>
        <p:spPr>
          <a:xfrm>
            <a:off x="3874415" y="572279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Save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17109-28CA-1577-3DC1-88225C2FE7DA}"/>
              </a:ext>
            </a:extLst>
          </p:cNvPr>
          <p:cNvCxnSpPr>
            <a:cxnSpLocks/>
          </p:cNvCxnSpPr>
          <p:nvPr/>
        </p:nvCxnSpPr>
        <p:spPr>
          <a:xfrm flipV="1">
            <a:off x="5081047" y="5364071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393854-D0D8-EAC7-9C82-E9A157DD1538}"/>
              </a:ext>
            </a:extLst>
          </p:cNvPr>
          <p:cNvCxnSpPr>
            <a:cxnSpLocks/>
          </p:cNvCxnSpPr>
          <p:nvPr/>
        </p:nvCxnSpPr>
        <p:spPr>
          <a:xfrm flipV="1">
            <a:off x="7975076" y="3289955"/>
            <a:ext cx="0" cy="876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F52FA0-3D56-4D64-1739-FC53DF9E7C46}"/>
              </a:ext>
            </a:extLst>
          </p:cNvPr>
          <p:cNvSpPr txBox="1"/>
          <p:nvPr/>
        </p:nvSpPr>
        <p:spPr>
          <a:xfrm>
            <a:off x="6231217" y="4204354"/>
            <a:ext cx="551866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our created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This will hold our signal definitions and more 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8F0EC5-515F-01A7-6114-67DDE933DDBF}"/>
              </a:ext>
            </a:extLst>
          </p:cNvPr>
          <p:cNvCxnSpPr>
            <a:cxnSpLocks/>
          </p:cNvCxnSpPr>
          <p:nvPr/>
        </p:nvCxnSpPr>
        <p:spPr>
          <a:xfrm>
            <a:off x="11219469" y="5845901"/>
            <a:ext cx="0" cy="303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CF8168-0E37-C793-16FB-B3C7B8385675}"/>
              </a:ext>
            </a:extLst>
          </p:cNvPr>
          <p:cNvSpPr txBox="1"/>
          <p:nvPr/>
        </p:nvSpPr>
        <p:spPr>
          <a:xfrm>
            <a:off x="9873244" y="558662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Apply</a:t>
            </a:r>
          </a:p>
        </p:txBody>
      </p:sp>
    </p:spTree>
    <p:extLst>
      <p:ext uri="{BB962C8B-B14F-4D97-AF65-F5344CB8AC3E}">
        <p14:creationId xmlns:p14="http://schemas.microsoft.com/office/powerpoint/2010/main" val="38447001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651F84-34C0-60AF-3BBE-7875FC021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/>
          <a:lstStyle/>
          <a:p>
            <a:r>
              <a:rPr lang="en-US" dirty="0"/>
              <a:t>Step 2. Drill down to Design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451B5-59ED-C507-94FE-B602E2056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307F5C-C328-4FDE-C5EC-9D2BDB177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7909E-CD13-75DB-9574-1F6CA50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8CC08A-73A2-A990-0A93-319F93075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Design Data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E67F74-7FAE-7712-75AC-B5DC173AA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916" b="68233"/>
          <a:stretch>
            <a:fillRect/>
          </a:stretch>
        </p:blipFill>
        <p:spPr>
          <a:xfrm>
            <a:off x="934882" y="2050798"/>
            <a:ext cx="2027393" cy="3123068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86AF99E6-FD39-5BA0-7436-47C290D285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" r="87397" b="64205"/>
          <a:stretch>
            <a:fillRect/>
          </a:stretch>
        </p:blipFill>
        <p:spPr>
          <a:xfrm>
            <a:off x="4525317" y="2050798"/>
            <a:ext cx="2353080" cy="3519068"/>
          </a:xfrm>
          <a:prstGeom prst="rect">
            <a:avLst/>
          </a:prstGeom>
        </p:spPr>
      </p:pic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72CA315-4B3A-EDFF-2594-AC4ADA4927E5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92" b="63054"/>
          <a:stretch>
            <a:fillRect/>
          </a:stretch>
        </p:blipFill>
        <p:spPr>
          <a:xfrm>
            <a:off x="8904719" y="2050798"/>
            <a:ext cx="2488978" cy="363222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4E65D3-DF2B-759B-2E87-BEB3CEB5C827}"/>
              </a:ext>
            </a:extLst>
          </p:cNvPr>
          <p:cNvCxnSpPr>
            <a:cxnSpLocks/>
          </p:cNvCxnSpPr>
          <p:nvPr/>
        </p:nvCxnSpPr>
        <p:spPr>
          <a:xfrm flipH="1">
            <a:off x="2564092" y="4326902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4D5051-CD18-58CD-9A97-3DBD103CC3F5}"/>
              </a:ext>
            </a:extLst>
          </p:cNvPr>
          <p:cNvSpPr txBox="1"/>
          <p:nvPr/>
        </p:nvSpPr>
        <p:spPr>
          <a:xfrm>
            <a:off x="3189322" y="4188402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C19EF5-7AEF-C7E4-00E6-679BE519943C}"/>
              </a:ext>
            </a:extLst>
          </p:cNvPr>
          <p:cNvCxnSpPr>
            <a:cxnSpLocks/>
          </p:cNvCxnSpPr>
          <p:nvPr/>
        </p:nvCxnSpPr>
        <p:spPr>
          <a:xfrm flipH="1">
            <a:off x="6520983" y="4790696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865463-C3AA-B597-6FB6-7171001300DE}"/>
              </a:ext>
            </a:extLst>
          </p:cNvPr>
          <p:cNvSpPr txBox="1"/>
          <p:nvPr/>
        </p:nvSpPr>
        <p:spPr>
          <a:xfrm>
            <a:off x="7146213" y="4652196"/>
            <a:ext cx="157735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Expand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163050-50E1-0F3B-DF4A-5512CF6D98A6}"/>
              </a:ext>
            </a:extLst>
          </p:cNvPr>
          <p:cNvCxnSpPr>
            <a:cxnSpLocks/>
          </p:cNvCxnSpPr>
          <p:nvPr/>
        </p:nvCxnSpPr>
        <p:spPr>
          <a:xfrm flipH="1">
            <a:off x="6520983" y="5067695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559EFAE-918C-75F0-132C-91C420FC136B}"/>
              </a:ext>
            </a:extLst>
          </p:cNvPr>
          <p:cNvSpPr txBox="1"/>
          <p:nvPr/>
        </p:nvSpPr>
        <p:spPr>
          <a:xfrm>
            <a:off x="7146213" y="4929195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Click</a:t>
            </a:r>
          </a:p>
        </p:txBody>
      </p:sp>
    </p:spTree>
    <p:extLst>
      <p:ext uri="{BB962C8B-B14F-4D97-AF65-F5344CB8AC3E}">
        <p14:creationId xmlns:p14="http://schemas.microsoft.com/office/powerpoint/2010/main" val="1767271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7077EE-55DB-A77C-1D79-7D840E86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Signal” x6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D28EAC-92AA-5D75-4ADD-3E59EDFD0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D8F10B-A291-1F5A-FC2D-03FDBC7D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1628"/>
          </a:xfrm>
        </p:spPr>
        <p:txBody>
          <a:bodyPr/>
          <a:lstStyle/>
          <a:p>
            <a:r>
              <a:rPr lang="en-US" dirty="0"/>
              <a:t>Add Simulink Signal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signal for now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6C1C0E9-35CC-A027-0FF8-61C087B06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501" b="64290"/>
          <a:stretch>
            <a:fillRect/>
          </a:stretch>
        </p:blipFill>
        <p:spPr>
          <a:xfrm>
            <a:off x="395288" y="2763583"/>
            <a:ext cx="11339512" cy="30441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FEAA8-BADC-0CFF-651C-940C550270D7}"/>
              </a:ext>
            </a:extLst>
          </p:cNvPr>
          <p:cNvSpPr txBox="1"/>
          <p:nvPr/>
        </p:nvSpPr>
        <p:spPr>
          <a:xfrm>
            <a:off x="1951348" y="3696028"/>
            <a:ext cx="16934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Signal”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x6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9A96B2-A68B-B377-C9AC-E41348FE8594}"/>
              </a:ext>
            </a:extLst>
          </p:cNvPr>
          <p:cNvCxnSpPr>
            <a:cxnSpLocks/>
          </p:cNvCxnSpPr>
          <p:nvPr/>
        </p:nvCxnSpPr>
        <p:spPr>
          <a:xfrm flipV="1">
            <a:off x="2554664" y="3337308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4A49E-FB27-1F44-F37C-2743A6F5ED58}"/>
              </a:ext>
            </a:extLst>
          </p:cNvPr>
          <p:cNvSpPr/>
          <p:nvPr/>
        </p:nvSpPr>
        <p:spPr>
          <a:xfrm>
            <a:off x="3644792" y="3949831"/>
            <a:ext cx="8151919" cy="11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78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3806-0A08-E9CB-36E2-5B49FBF6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FFF884-C6ED-60FF-E623-6EC8129EC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57" b="64925"/>
          <a:stretch>
            <a:fillRect/>
          </a:stretch>
        </p:blipFill>
        <p:spPr>
          <a:xfrm>
            <a:off x="395288" y="2763583"/>
            <a:ext cx="11339512" cy="29923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B90882-3C49-3B07-BA6E-CB3599BD53EB}"/>
              </a:ext>
            </a:extLst>
          </p:cNvPr>
          <p:cNvSpPr txBox="1"/>
          <p:nvPr/>
        </p:nvSpPr>
        <p:spPr>
          <a:xfrm>
            <a:off x="1818643" y="3687322"/>
            <a:ext cx="19897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Parameter”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x3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273AD23-4DAA-8B14-A4BE-FB7FF6911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Parameter” x3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AD2310-4B7E-B6AE-FAB4-B2BF00097D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76583B-9628-AC88-6967-C66FCD3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Add Simulink Parameter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parameter for now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49D3AF-D658-0709-7AA9-7EC5E6D1DF8A}"/>
              </a:ext>
            </a:extLst>
          </p:cNvPr>
          <p:cNvCxnSpPr>
            <a:cxnSpLocks/>
          </p:cNvCxnSpPr>
          <p:nvPr/>
        </p:nvCxnSpPr>
        <p:spPr>
          <a:xfrm flipV="1">
            <a:off x="1979628" y="3328602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C3CB-55E9-B961-46AF-DA18111E01E5}"/>
              </a:ext>
            </a:extLst>
          </p:cNvPr>
          <p:cNvSpPr/>
          <p:nvPr/>
        </p:nvSpPr>
        <p:spPr>
          <a:xfrm>
            <a:off x="3644792" y="5022221"/>
            <a:ext cx="8151919" cy="537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355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A029-D7E3-C468-3541-135D81D7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7A9C15-365D-4EBF-A16E-F1A40877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15" b="65495"/>
          <a:stretch>
            <a:fillRect/>
          </a:stretch>
        </p:blipFill>
        <p:spPr>
          <a:xfrm>
            <a:off x="395288" y="2763583"/>
            <a:ext cx="11339512" cy="29215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363FD1-1C31-733B-6F3B-2BC838A019EE}"/>
              </a:ext>
            </a:extLst>
          </p:cNvPr>
          <p:cNvSpPr txBox="1"/>
          <p:nvPr/>
        </p:nvSpPr>
        <p:spPr>
          <a:xfrm>
            <a:off x="1601827" y="3678776"/>
            <a:ext cx="215946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Update Names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BD9504E-879A-8CE0-9C9E-5351700DC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each row and update the Name of each signal and parameter</a:t>
            </a:r>
            <a:br>
              <a:rPr lang="en-US" dirty="0"/>
            </a:br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1AACD1-9508-2A78-9FE2-95AC0ED52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004E71-19C9-41D9-87C1-8F4EE1B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Rename Signals and Parameters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E518CD-D318-386A-33C2-801AF3659DE9}"/>
              </a:ext>
            </a:extLst>
          </p:cNvPr>
          <p:cNvCxnSpPr>
            <a:cxnSpLocks/>
          </p:cNvCxnSpPr>
          <p:nvPr/>
        </p:nvCxnSpPr>
        <p:spPr>
          <a:xfrm>
            <a:off x="3271101" y="3924997"/>
            <a:ext cx="386499" cy="326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059F802-1513-1F03-39CE-E6A73FB7AF40}"/>
              </a:ext>
            </a:extLst>
          </p:cNvPr>
          <p:cNvSpPr/>
          <p:nvPr/>
        </p:nvSpPr>
        <p:spPr>
          <a:xfrm>
            <a:off x="3761293" y="3924997"/>
            <a:ext cx="1093511" cy="163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CD32775-FEF0-9547-0FAB-C597A6D8C3A0}"/>
              </a:ext>
            </a:extLst>
          </p:cNvPr>
          <p:cNvCxnSpPr>
            <a:cxnSpLocks/>
          </p:cNvCxnSpPr>
          <p:nvPr/>
        </p:nvCxnSpPr>
        <p:spPr>
          <a:xfrm flipV="1">
            <a:off x="5740922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4746AF-FE8C-95DA-D073-37C4A2F417DF}"/>
              </a:ext>
            </a:extLst>
          </p:cNvPr>
          <p:cNvCxnSpPr>
            <a:cxnSpLocks/>
          </p:cNvCxnSpPr>
          <p:nvPr/>
        </p:nvCxnSpPr>
        <p:spPr>
          <a:xfrm flipV="1">
            <a:off x="617298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9C1F41-84ED-7057-E85D-66EEEFA7FE9D}"/>
              </a:ext>
            </a:extLst>
          </p:cNvPr>
          <p:cNvCxnSpPr>
            <a:cxnSpLocks/>
          </p:cNvCxnSpPr>
          <p:nvPr/>
        </p:nvCxnSpPr>
        <p:spPr>
          <a:xfrm flipV="1">
            <a:off x="858781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B2F594-5147-947A-1175-222F7D32E93D}"/>
              </a:ext>
            </a:extLst>
          </p:cNvPr>
          <p:cNvSpPr txBox="1"/>
          <p:nvPr/>
        </p:nvSpPr>
        <p:spPr>
          <a:xfrm>
            <a:off x="3799002" y="6213316"/>
            <a:ext cx="76828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Observe Columns prior to Update (Next 3 slides will update these columns)</a:t>
            </a:r>
          </a:p>
        </p:txBody>
      </p:sp>
    </p:spTree>
    <p:extLst>
      <p:ext uri="{BB962C8B-B14F-4D97-AF65-F5344CB8AC3E}">
        <p14:creationId xmlns:p14="http://schemas.microsoft.com/office/powerpoint/2010/main" val="9872833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9536-25D7-22F5-399E-25C6F8D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Content Placeholder 43">
            <a:extLst>
              <a:ext uri="{FF2B5EF4-FFF2-40B4-BE49-F238E27FC236}">
                <a16:creationId xmlns:a16="http://schemas.microsoft.com/office/drawing/2014/main" id="{95A62CCF-6A0F-FC9B-9ACA-15F1C9C57B6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1060" t="13353" r="71109" b="66603"/>
          <a:stretch>
            <a:fillRect/>
          </a:stretch>
        </p:blipFill>
        <p:spPr>
          <a:xfrm>
            <a:off x="4228569" y="2103145"/>
            <a:ext cx="1432333" cy="1970560"/>
          </a:xfrm>
          <a:prstGeom prst="rect">
            <a:avLst/>
          </a:prstGeom>
        </p:spPr>
      </p:pic>
      <p:pic>
        <p:nvPicPr>
          <p:cNvPr id="64" name="Content Placeholder 43">
            <a:extLst>
              <a:ext uri="{FF2B5EF4-FFF2-40B4-BE49-F238E27FC236}">
                <a16:creationId xmlns:a16="http://schemas.microsoft.com/office/drawing/2014/main" id="{F761FFD4-FC2C-5F9A-AB8D-8AD70D2B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15" t="13353" r="59126" b="49244"/>
          <a:stretch>
            <a:fillRect/>
          </a:stretch>
        </p:blipFill>
        <p:spPr>
          <a:xfrm>
            <a:off x="5654405" y="2103144"/>
            <a:ext cx="1473941" cy="3677153"/>
          </a:xfrm>
          <a:prstGeom prst="rect">
            <a:avLst/>
          </a:prstGeom>
        </p:spPr>
      </p:pic>
      <p:pic>
        <p:nvPicPr>
          <p:cNvPr id="55" name="Content Placeholder 25">
            <a:extLst>
              <a:ext uri="{FF2B5EF4-FFF2-40B4-BE49-F238E27FC236}">
                <a16:creationId xmlns:a16="http://schemas.microsoft.com/office/drawing/2014/main" id="{EA53685F-896B-7E41-7E96-7486A953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82" t="13828" r="64187" b="63469"/>
          <a:stretch>
            <a:fillRect/>
          </a:stretch>
        </p:blipFill>
        <p:spPr>
          <a:xfrm>
            <a:off x="1803014" y="2103144"/>
            <a:ext cx="554421" cy="2231971"/>
          </a:xfrm>
          <a:prstGeom prst="rect">
            <a:avLst/>
          </a:prstGeom>
        </p:spPr>
      </p:pic>
      <p:pic>
        <p:nvPicPr>
          <p:cNvPr id="52" name="Content Placeholder 25">
            <a:extLst>
              <a:ext uri="{FF2B5EF4-FFF2-40B4-BE49-F238E27FC236}">
                <a16:creationId xmlns:a16="http://schemas.microsoft.com/office/drawing/2014/main" id="{D66FCA3E-30A3-5C15-23BC-858A0FA57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130" t="13828" r="71180" b="63469"/>
          <a:stretch>
            <a:fillRect/>
          </a:stretch>
        </p:blipFill>
        <p:spPr>
          <a:xfrm>
            <a:off x="395818" y="2103144"/>
            <a:ext cx="1406507" cy="2231971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B193591-1D28-4389-87FA-A76B22D8F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CAF4A3E-71BC-114E-0E2B-D9BA61A0D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28800B8-FE82-86E3-029C-21C3C603C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956CFD53-B342-E56B-B49D-751A1F43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887"/>
          </a:xfrm>
        </p:spPr>
        <p:txBody>
          <a:bodyPr/>
          <a:lstStyle/>
          <a:p>
            <a:r>
              <a:rPr lang="en-US" dirty="0"/>
              <a:t>Mass Update Data Type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Mandatory</a:t>
            </a:r>
            <a:endParaRPr lang="en-US" b="0" i="1" dirty="0">
              <a:solidFill>
                <a:srgbClr val="FF0000"/>
              </a:solidFill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D4FE82-451A-218B-FABA-EFF8B62A8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9B35EE-0FA5-F0C3-F62F-3ED32B0A8A0F}"/>
              </a:ext>
            </a:extLst>
          </p:cNvPr>
          <p:cNvSpPr/>
          <p:nvPr/>
        </p:nvSpPr>
        <p:spPr>
          <a:xfrm>
            <a:off x="6231118" y="2074864"/>
            <a:ext cx="946431" cy="1705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8C560A-890A-141E-5DEA-69BA9F039AF9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Before Update is “auto”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C6F6A5-950E-0C59-4551-C727379C92E8}"/>
              </a:ext>
            </a:extLst>
          </p:cNvPr>
          <p:cNvSpPr txBox="1"/>
          <p:nvPr/>
        </p:nvSpPr>
        <p:spPr>
          <a:xfrm>
            <a:off x="806255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After Update is “double”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037F7F-5D6F-8035-A517-15C32F8BC4BF}"/>
              </a:ext>
            </a:extLst>
          </p:cNvPr>
          <p:cNvSpPr txBox="1"/>
          <p:nvPr/>
        </p:nvSpPr>
        <p:spPr>
          <a:xfrm>
            <a:off x="4380322" y="4389417"/>
            <a:ext cx="19868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 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A31B84-F04D-5A73-C1AD-C953B316D18A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512B33-DD09-942D-3CE0-59E829A3282A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DAEED6-894B-FFA5-DB73-E7568AC41518}"/>
              </a:ext>
            </a:extLst>
          </p:cNvPr>
          <p:cNvCxnSpPr>
            <a:cxnSpLocks/>
          </p:cNvCxnSpPr>
          <p:nvPr/>
        </p:nvCxnSpPr>
        <p:spPr>
          <a:xfrm flipV="1">
            <a:off x="536393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2" name="Content Placeholder 50">
            <a:extLst>
              <a:ext uri="{FF2B5EF4-FFF2-40B4-BE49-F238E27FC236}">
                <a16:creationId xmlns:a16="http://schemas.microsoft.com/office/drawing/2014/main" id="{21E83550-A448-F106-F58A-572041E28C0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21343" t="13458" r="71198" b="66498"/>
          <a:stretch>
            <a:fillRect/>
          </a:stretch>
        </p:blipFill>
        <p:spPr>
          <a:xfrm>
            <a:off x="8062556" y="2103144"/>
            <a:ext cx="1364246" cy="1970560"/>
          </a:xfrm>
          <a:prstGeom prst="rect">
            <a:avLst/>
          </a:prstGeom>
        </p:spPr>
      </p:pic>
      <p:pic>
        <p:nvPicPr>
          <p:cNvPr id="83" name="Content Placeholder 50">
            <a:extLst>
              <a:ext uri="{FF2B5EF4-FFF2-40B4-BE49-F238E27FC236}">
                <a16:creationId xmlns:a16="http://schemas.microsoft.com/office/drawing/2014/main" id="{EB320961-8DC5-CD5C-C528-2067DBF2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08" t="13458" r="63943" b="66498"/>
          <a:stretch>
            <a:fillRect/>
          </a:stretch>
        </p:blipFill>
        <p:spPr>
          <a:xfrm>
            <a:off x="9425688" y="2103144"/>
            <a:ext cx="594309" cy="1970560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70CA08-A686-1A78-9953-02FA148162AD}"/>
              </a:ext>
            </a:extLst>
          </p:cNvPr>
          <p:cNvCxnSpPr>
            <a:cxnSpLocks/>
          </p:cNvCxnSpPr>
          <p:nvPr/>
        </p:nvCxnSpPr>
        <p:spPr>
          <a:xfrm flipV="1">
            <a:off x="9645192" y="3941721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8240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341D-9490-280C-0BC2-ECE96C99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7141F012-EFAF-1487-5C27-EB24639EFF6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811" t="13270" r="71171" b="65583"/>
          <a:stretch>
            <a:fillRect/>
          </a:stretch>
        </p:blipFill>
        <p:spPr>
          <a:xfrm>
            <a:off x="4248228" y="2103144"/>
            <a:ext cx="1466585" cy="2079037"/>
          </a:xfrm>
          <a:prstGeom prst="rect">
            <a:avLst/>
          </a:prstGeom>
        </p:spPr>
      </p:pic>
      <p:pic>
        <p:nvPicPr>
          <p:cNvPr id="31" name="Content Placeholder 6">
            <a:extLst>
              <a:ext uri="{FF2B5EF4-FFF2-40B4-BE49-F238E27FC236}">
                <a16:creationId xmlns:a16="http://schemas.microsoft.com/office/drawing/2014/main" id="{028B1786-1818-5E63-EDB1-D393670D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29" t="13270" r="59497" b="62247"/>
          <a:stretch>
            <a:fillRect/>
          </a:stretch>
        </p:blipFill>
        <p:spPr>
          <a:xfrm>
            <a:off x="5714610" y="2103144"/>
            <a:ext cx="854943" cy="2406919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32EE6F9-5E09-E182-E315-94731773A2EE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13541" r="71353" b="66108"/>
          <a:stretch>
            <a:fillRect/>
          </a:stretch>
        </p:blipFill>
        <p:spPr>
          <a:xfrm>
            <a:off x="8062555" y="2103144"/>
            <a:ext cx="1364894" cy="2000763"/>
          </a:xfrm>
          <a:prstGeom prst="rect">
            <a:avLst/>
          </a:prstGeom>
        </p:spPr>
      </p:pic>
      <p:pic>
        <p:nvPicPr>
          <p:cNvPr id="4" name="Content Placeholder 50">
            <a:extLst>
              <a:ext uri="{FF2B5EF4-FFF2-40B4-BE49-F238E27FC236}">
                <a16:creationId xmlns:a16="http://schemas.microsoft.com/office/drawing/2014/main" id="{5C879EC9-8AB9-4B15-FD56-1337EBCC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1026" t="13820" r="71195" b="65033"/>
          <a:stretch>
            <a:fillRect/>
          </a:stretch>
        </p:blipFill>
        <p:spPr>
          <a:xfrm>
            <a:off x="395818" y="2103144"/>
            <a:ext cx="1422823" cy="2079037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DD05D41-6A8A-93E5-AEDF-38967FA8DF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1360D36-E5C6-93FE-7A79-A062B43C3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9177FCE-1E2A-B00B-5D15-C91A0066A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1B28A070-E67E-BBBA-5E9D-5D6E1F34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92442"/>
          </a:xfrm>
        </p:spPr>
        <p:txBody>
          <a:bodyPr/>
          <a:lstStyle/>
          <a:p>
            <a:r>
              <a:rPr lang="en-US" dirty="0"/>
              <a:t>Mass Update Dimensions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1741C5F-DEF0-B0DE-13F5-F565D0CDC0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920BA8-D56E-2AF9-1A11-5F6F87E3241F}"/>
              </a:ext>
            </a:extLst>
          </p:cNvPr>
          <p:cNvSpPr/>
          <p:nvPr/>
        </p:nvSpPr>
        <p:spPr>
          <a:xfrm>
            <a:off x="6367160" y="2103145"/>
            <a:ext cx="337429" cy="197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090375-79DD-6937-A213-5D9E62D18D2E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Before Update is -1 or [0 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014D85-D6B0-E845-DD52-B660D418EFD8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After Update is 1 or [1 1]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FCE7BF-C7D9-40EB-2D05-59B2B865AE2F}"/>
              </a:ext>
            </a:extLst>
          </p:cNvPr>
          <p:cNvSpPr txBox="1"/>
          <p:nvPr/>
        </p:nvSpPr>
        <p:spPr>
          <a:xfrm>
            <a:off x="4807670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Type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26E7AFD-B0A6-FE8B-145C-8650547B3BE5}"/>
              </a:ext>
            </a:extLst>
          </p:cNvPr>
          <p:cNvCxnSpPr>
            <a:cxnSpLocks/>
          </p:cNvCxnSpPr>
          <p:nvPr/>
        </p:nvCxnSpPr>
        <p:spPr>
          <a:xfrm flipV="1">
            <a:off x="5774817" y="3996283"/>
            <a:ext cx="0" cy="393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4" name="Content Placeholder 50">
            <a:extLst>
              <a:ext uri="{FF2B5EF4-FFF2-40B4-BE49-F238E27FC236}">
                <a16:creationId xmlns:a16="http://schemas.microsoft.com/office/drawing/2014/main" id="{4C63DAEE-A50B-94F7-F4DA-BE22338A6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3" t="13820" r="60750" b="65033"/>
          <a:stretch>
            <a:fillRect/>
          </a:stretch>
        </p:blipFill>
        <p:spPr>
          <a:xfrm>
            <a:off x="1802325" y="2103144"/>
            <a:ext cx="645107" cy="207903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6A0B0-B849-95AE-AB4A-5D7D85CF5FE6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9" name="Content Placeholder 22">
            <a:extLst>
              <a:ext uri="{FF2B5EF4-FFF2-40B4-BE49-F238E27FC236}">
                <a16:creationId xmlns:a16="http://schemas.microsoft.com/office/drawing/2014/main" id="{03D2B809-CF97-5B1E-EB1A-9D6CDC99C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6" t="13541" r="60681" b="66108"/>
          <a:stretch>
            <a:fillRect/>
          </a:stretch>
        </p:blipFill>
        <p:spPr>
          <a:xfrm>
            <a:off x="9426802" y="2103144"/>
            <a:ext cx="649853" cy="200076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7CA9C9-62BC-D1A7-6FDA-30BFC364E1D1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524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0376-CF57-8172-2B35-B1FFD83D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DC14F9D7-3604-BB69-8EAD-6EA00EDE34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1" t="13318" r="71573" b="66938"/>
          <a:stretch>
            <a:fillRect/>
          </a:stretch>
        </p:blipFill>
        <p:spPr>
          <a:xfrm>
            <a:off x="8062555" y="2103144"/>
            <a:ext cx="1279607" cy="1941067"/>
          </a:xfrm>
          <a:prstGeom prst="rect">
            <a:avLst/>
          </a:prstGeom>
        </p:spPr>
      </p:pic>
      <p:pic>
        <p:nvPicPr>
          <p:cNvPr id="33" name="Content Placeholder 31">
            <a:extLst>
              <a:ext uri="{FF2B5EF4-FFF2-40B4-BE49-F238E27FC236}">
                <a16:creationId xmlns:a16="http://schemas.microsoft.com/office/drawing/2014/main" id="{438147D6-0CF6-6E01-5FF5-825366FB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8" t="13318" r="44691" b="66938"/>
          <a:stretch>
            <a:fillRect/>
          </a:stretch>
        </p:blipFill>
        <p:spPr>
          <a:xfrm>
            <a:off x="9310677" y="2103144"/>
            <a:ext cx="852486" cy="1941067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CBBFE37-8937-20B8-1AA8-AB9D6D3079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0" t="13318" r="71169" b="66331"/>
          <a:stretch>
            <a:fillRect/>
          </a:stretch>
        </p:blipFill>
        <p:spPr>
          <a:xfrm>
            <a:off x="4228569" y="2103144"/>
            <a:ext cx="1353684" cy="2000763"/>
          </a:xfrm>
          <a:prstGeom prst="rect">
            <a:avLst/>
          </a:prstGeom>
        </p:spPr>
      </p:pic>
      <p:pic>
        <p:nvPicPr>
          <p:cNvPr id="18" name="Content Placeholder 16">
            <a:extLst>
              <a:ext uri="{FF2B5EF4-FFF2-40B4-BE49-F238E27FC236}">
                <a16:creationId xmlns:a16="http://schemas.microsoft.com/office/drawing/2014/main" id="{FC9134CD-4B22-12AA-FFE6-6C3C6E8A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7" t="13318" r="40824" b="52036"/>
          <a:stretch>
            <a:fillRect/>
          </a:stretch>
        </p:blipFill>
        <p:spPr>
          <a:xfrm>
            <a:off x="5576579" y="2103144"/>
            <a:ext cx="1570980" cy="3406116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C28B1318-DEA7-EAF4-88F2-E0ED271D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13318" r="71250" b="66108"/>
          <a:stretch>
            <a:fillRect/>
          </a:stretch>
        </p:blipFill>
        <p:spPr>
          <a:xfrm>
            <a:off x="395818" y="2103144"/>
            <a:ext cx="1422822" cy="202266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419157-EA52-37CF-4735-1634CCB7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7" t="13318" r="44872" b="66108"/>
          <a:stretch>
            <a:fillRect/>
          </a:stretch>
        </p:blipFill>
        <p:spPr>
          <a:xfrm>
            <a:off x="1818683" y="2103144"/>
            <a:ext cx="814031" cy="2022665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EBD3C71-B1B6-2250-1DD8-B83DFFC7A2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87735F-ABE7-CC73-6538-60158370C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7FE72C2-3935-50A0-FE25-D06F593FF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5A98AA66-FC46-255B-D932-1A5D3600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Update Storage Class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0BED3CF-2E2D-9D8E-DEF4-97CDDE4272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9DAEDC-8472-38BC-5525-2B19B095DA7F}"/>
              </a:ext>
            </a:extLst>
          </p:cNvPr>
          <p:cNvSpPr/>
          <p:nvPr/>
        </p:nvSpPr>
        <p:spPr>
          <a:xfrm>
            <a:off x="6417184" y="2103145"/>
            <a:ext cx="773478" cy="189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F3E88C-500E-E514-B19A-80AE599E79B8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Before Update is auto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85A95E-84E3-4DD7-0100-0CDC4C927DF0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After Update is </a:t>
            </a:r>
            <a:r>
              <a:rPr lang="en-US" sz="1600" dirty="0" err="1">
                <a:solidFill>
                  <a:srgbClr val="FF0000"/>
                </a:solidFill>
              </a:rPr>
              <a:t>ExportedGlobal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4F500D-6D82-ADBF-9ECD-B2890F79A8B5}"/>
              </a:ext>
            </a:extLst>
          </p:cNvPr>
          <p:cNvSpPr txBox="1"/>
          <p:nvPr/>
        </p:nvSpPr>
        <p:spPr>
          <a:xfrm>
            <a:off x="4228569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1FDF2A-614E-9442-1FA7-07353600F21C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AFD0D2-76C6-2B47-359C-5EC8022B11C5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DD56B0-70CA-817E-6DD1-57D00677C34C}"/>
              </a:ext>
            </a:extLst>
          </p:cNvPr>
          <p:cNvCxnSpPr>
            <a:cxnSpLocks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F43D3-57D0-74D2-0D77-BEDB4EA15E7A}"/>
              </a:ext>
            </a:extLst>
          </p:cNvPr>
          <p:cNvCxnSpPr>
            <a:cxnSpLocks/>
          </p:cNvCxnSpPr>
          <p:nvPr/>
        </p:nvCxnSpPr>
        <p:spPr>
          <a:xfrm flipV="1">
            <a:off x="518867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60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062B-8284-CB26-57F8-48EEE752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D6A0D7-9AF1-D4B3-C54B-D2A8E69A6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34" b="66363"/>
          <a:stretch>
            <a:fillRect/>
          </a:stretch>
        </p:blipFill>
        <p:spPr>
          <a:xfrm>
            <a:off x="395288" y="2763583"/>
            <a:ext cx="11339512" cy="2872755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747D60B-1456-8336-B4AC-A2E0B0AE5A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Observe Updated Columns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9F5B44-7F0F-F589-8451-FBB89E5F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4D1428-A9A4-7219-BF70-6EDD4EC5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Observe Data Dictionary After Mass 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6448A2-36D3-C546-11A7-D747A9F273A9}"/>
              </a:ext>
            </a:extLst>
          </p:cNvPr>
          <p:cNvSpPr txBox="1"/>
          <p:nvPr/>
        </p:nvSpPr>
        <p:spPr>
          <a:xfrm>
            <a:off x="5684362" y="6213316"/>
            <a:ext cx="35821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Updated Columns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A1489-F5D7-C7D1-8DDB-2C832A792131}"/>
              </a:ext>
            </a:extLst>
          </p:cNvPr>
          <p:cNvCxnSpPr>
            <a:cxnSpLocks/>
          </p:cNvCxnSpPr>
          <p:nvPr/>
        </p:nvCxnSpPr>
        <p:spPr>
          <a:xfrm flipV="1">
            <a:off x="5740922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5BD0EF-BE0E-18C7-1BBD-668630E175BB}"/>
              </a:ext>
            </a:extLst>
          </p:cNvPr>
          <p:cNvCxnSpPr>
            <a:cxnSpLocks/>
          </p:cNvCxnSpPr>
          <p:nvPr/>
        </p:nvCxnSpPr>
        <p:spPr>
          <a:xfrm flipV="1">
            <a:off x="617298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3F6F4F-DED4-E9A6-F027-0B3AB3B5D00A}"/>
              </a:ext>
            </a:extLst>
          </p:cNvPr>
          <p:cNvCxnSpPr>
            <a:cxnSpLocks/>
          </p:cNvCxnSpPr>
          <p:nvPr/>
        </p:nvCxnSpPr>
        <p:spPr>
          <a:xfrm flipV="1">
            <a:off x="858781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7352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97B9-13B9-16C0-86B9-DE65224B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98DD01F-E80D-58C5-ED04-235128F67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954" b="64134"/>
          <a:stretch>
            <a:fillRect/>
          </a:stretch>
        </p:blipFill>
        <p:spPr>
          <a:xfrm>
            <a:off x="395288" y="2763583"/>
            <a:ext cx="11339512" cy="27655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A23C167-537C-851C-E562-AAA523E97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F5BF51-FFE3-1001-848F-FB8686DCC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9B9A7B-9F0A-D23D-F041-4FFD5E47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1D0B05-724D-372E-DE4E-896DD90FEC3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64BC2E-BAC1-DC22-598B-A1A82D87A43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6625F-6B13-7D2E-D344-BA4E294A17D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DD2924-6E0B-A824-A6B9-E182C3703EB9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BC6380-6106-E155-D05E-06F8801F9CC1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EDCA9-8ECC-B460-AB6E-2FFBCA83A6B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20C5FD-4617-1E78-5A22-6FCB449F6BDD}"/>
              </a:ext>
            </a:extLst>
          </p:cNvPr>
          <p:cNvCxnSpPr>
            <a:cxnSpLocks/>
          </p:cNvCxnSpPr>
          <p:nvPr/>
        </p:nvCxnSpPr>
        <p:spPr>
          <a:xfrm flipV="1">
            <a:off x="887690" y="4146339"/>
            <a:ext cx="0" cy="1807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0481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AAA-021D-779C-128F-548C6CBC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15A8A2D-BEC2-6D21-2481-7D4758835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4534"/>
          <a:stretch>
            <a:fillRect/>
          </a:stretch>
        </p:blipFill>
        <p:spPr>
          <a:xfrm>
            <a:off x="395288" y="2763583"/>
            <a:ext cx="11339512" cy="2748090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1122EA8-51EA-B45A-F146-54E9ACCF9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7C73A4-85D1-C333-8A65-77CFD9F8B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FFCA54-4FA2-CFF5-D95F-EDAFD84C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9F42C-6B13-0503-A824-3E4085FBC6D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B8E3777-7B74-F88B-3CC0-C5D82AC3914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BD4E-1EBF-318A-E242-54E9CB842C5F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48AAED-4B8C-A0BE-5832-EBB9F77E740E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62F6B0-F769-37A1-6328-D319B359978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F2F45-75F2-FA05-E45D-9BD20EA25A0D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E5E648-322C-3742-E9C3-C8AE9E7CABF7}"/>
              </a:ext>
            </a:extLst>
          </p:cNvPr>
          <p:cNvCxnSpPr>
            <a:cxnSpLocks/>
          </p:cNvCxnSpPr>
          <p:nvPr/>
        </p:nvCxnSpPr>
        <p:spPr>
          <a:xfrm flipV="1">
            <a:off x="887690" y="4298623"/>
            <a:ext cx="0" cy="1655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489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BB11-2140-4236-6043-502BDFD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8200C0-6F8C-E12B-8AC6-48A5C0F0F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40" b="63911"/>
          <a:stretch>
            <a:fillRect/>
          </a:stretch>
        </p:blipFill>
        <p:spPr>
          <a:xfrm>
            <a:off x="395288" y="2763583"/>
            <a:ext cx="11339512" cy="279636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EF27A45-BFA3-89CF-BB72-F6E0C32392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D1B7B6-2D0E-98AD-21FA-2D77888E6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B71A4E-B2B2-268F-AF66-4B0BCF55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45BDAD-3114-9D71-9D53-6807EFF14CB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48610C-2D98-F8EB-59C2-83F2B13F0357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0FF69-E108-8E09-2E8F-12E3A563223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F9C79-4489-1ED6-6BFC-2BB05120DDCA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D37553-BDCF-41FF-0EA5-494813B7C65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213F17-2699-3C54-0AC9-C196A765C41A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7AE268-1F16-8A83-CD34-07A0E05B450F}"/>
              </a:ext>
            </a:extLst>
          </p:cNvPr>
          <p:cNvCxnSpPr>
            <a:cxnSpLocks/>
          </p:cNvCxnSpPr>
          <p:nvPr/>
        </p:nvCxnSpPr>
        <p:spPr>
          <a:xfrm flipV="1">
            <a:off x="887690" y="4471752"/>
            <a:ext cx="0" cy="1482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0397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4D5F-9141-1017-B4EC-1C08A0E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9E44B3-FABD-76BF-A0E1-B411E7FB6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6168"/>
          <a:stretch>
            <a:fillRect/>
          </a:stretch>
        </p:blipFill>
        <p:spPr>
          <a:xfrm>
            <a:off x="395288" y="2763583"/>
            <a:ext cx="11339512" cy="262923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8C43E1C-DD45-0FCE-996C-1972FA3C6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07CC6-B563-9632-2643-D0CA36E8C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F4620BD-4806-282E-C8C4-B12DAC31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38AA6-6E1D-B919-9C29-CEE8F5358936}"/>
              </a:ext>
            </a:extLst>
          </p:cNvPr>
          <p:cNvSpPr/>
          <p:nvPr/>
        </p:nvSpPr>
        <p:spPr>
          <a:xfrm>
            <a:off x="3431355" y="4462325"/>
            <a:ext cx="763572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74CBC-D81D-7911-B5B7-BBEAACF852D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EF2C70-4D69-7AAD-087C-50194A271055}"/>
              </a:ext>
            </a:extLst>
          </p:cNvPr>
          <p:cNvCxnSpPr>
            <a:cxnSpLocks/>
          </p:cNvCxnSpPr>
          <p:nvPr/>
        </p:nvCxnSpPr>
        <p:spPr>
          <a:xfrm flipV="1">
            <a:off x="887690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C8F78-7936-B7B3-57BB-558996743A8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9650A7-EC80-85DB-2B51-88E4219F5387}"/>
              </a:ext>
            </a:extLst>
          </p:cNvPr>
          <p:cNvCxnSpPr>
            <a:cxnSpLocks/>
          </p:cNvCxnSpPr>
          <p:nvPr/>
        </p:nvCxnSpPr>
        <p:spPr>
          <a:xfrm flipV="1">
            <a:off x="3651315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828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45A-3564-7321-F724-994F6805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1B06F4-8108-9BF9-3D61-6FA50C15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5212"/>
          <a:stretch>
            <a:fillRect/>
          </a:stretch>
        </p:blipFill>
        <p:spPr>
          <a:xfrm>
            <a:off x="395288" y="2763583"/>
            <a:ext cx="11339512" cy="2703529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DBC6E96-A207-3A6F-B637-4DCE7067F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3BFAB8-C701-3C6F-FEFA-39A071CAA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476083E-91D3-7094-1A0F-2D9629B6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neg_4t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94D14-474E-9985-45B7-0EF6DBB01F2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63FEF8-2D9F-BD2A-CDB7-1296737475F5}"/>
              </a:ext>
            </a:extLst>
          </p:cNvPr>
          <p:cNvSpPr/>
          <p:nvPr/>
        </p:nvSpPr>
        <p:spPr>
          <a:xfrm>
            <a:off x="3431355" y="4613155"/>
            <a:ext cx="45720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D6291-F449-D4B7-6B56-44B8F48070C4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42740-13CD-1138-AE3E-7533044F681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14C2D-F84C-1661-0943-2223E7083A39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4A9F52-E483-2370-2CD5-C0A0061F477A}"/>
              </a:ext>
            </a:extLst>
          </p:cNvPr>
          <p:cNvCxnSpPr>
            <a:cxnSpLocks/>
          </p:cNvCxnSpPr>
          <p:nvPr/>
        </p:nvCxnSpPr>
        <p:spPr>
          <a:xfrm flipV="1">
            <a:off x="887690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77D274-81EF-B832-A38D-C11E284285A9}"/>
              </a:ext>
            </a:extLst>
          </p:cNvPr>
          <p:cNvCxnSpPr>
            <a:cxnSpLocks/>
          </p:cNvCxnSpPr>
          <p:nvPr/>
        </p:nvCxnSpPr>
        <p:spPr>
          <a:xfrm flipV="1">
            <a:off x="3651315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E2D280-B00E-314B-CC5A-63557F26788F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 &amp; Max</a:t>
            </a:r>
          </a:p>
        </p:txBody>
      </p:sp>
    </p:spTree>
    <p:extLst>
      <p:ext uri="{BB962C8B-B14F-4D97-AF65-F5344CB8AC3E}">
        <p14:creationId xmlns:p14="http://schemas.microsoft.com/office/powerpoint/2010/main" val="26741378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D207-C0B4-1667-F3BE-6C486BE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03A181-83F0-17C9-CCA5-FC7821E93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3911"/>
          <a:stretch>
            <a:fillRect/>
          </a:stretch>
        </p:blipFill>
        <p:spPr>
          <a:xfrm>
            <a:off x="395288" y="2763583"/>
            <a:ext cx="11339512" cy="2804636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A9147B2-0AC5-2E11-F7ED-49C2510A8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15B2-DE40-D65A-3C49-350AF295E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259CA1-F1E6-AFA9-F7E1-581CFF45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49395-482F-4E8E-8300-9ADADF46482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CDA7C52-D690-C394-351E-E464472D74B9}"/>
              </a:ext>
            </a:extLst>
          </p:cNvPr>
          <p:cNvSpPr/>
          <p:nvPr/>
        </p:nvSpPr>
        <p:spPr>
          <a:xfrm>
            <a:off x="3431355" y="4754560"/>
            <a:ext cx="73152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C244D-5575-8B46-B83B-01724A225CEA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5A3CB-851E-0670-8CCA-96D37B450B4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7F618-2F54-B7FB-19F6-67E1E8482C42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80208-54B4-11CA-2BCE-4E8D20E12909}"/>
              </a:ext>
            </a:extLst>
          </p:cNvPr>
          <p:cNvCxnSpPr>
            <a:cxnSpLocks/>
          </p:cNvCxnSpPr>
          <p:nvPr/>
        </p:nvCxnSpPr>
        <p:spPr>
          <a:xfrm flipV="1">
            <a:off x="887690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8C6CC-0363-E437-6B5A-9B2DBE69DFE3}"/>
              </a:ext>
            </a:extLst>
          </p:cNvPr>
          <p:cNvCxnSpPr>
            <a:cxnSpLocks/>
          </p:cNvCxnSpPr>
          <p:nvPr/>
        </p:nvCxnSpPr>
        <p:spPr>
          <a:xfrm flipV="1">
            <a:off x="3651315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AF6720-589F-4FAB-12F1-1214B39B70B8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</p:spTree>
    <p:extLst>
      <p:ext uri="{BB962C8B-B14F-4D97-AF65-F5344CB8AC3E}">
        <p14:creationId xmlns:p14="http://schemas.microsoft.com/office/powerpoint/2010/main" val="16853069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90E2-E65B-B80C-A147-63BA111C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F20114-5DCC-1475-4122-08AE2ACB6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7" b="63911"/>
          <a:stretch>
            <a:fillRect/>
          </a:stretch>
        </p:blipFill>
        <p:spPr>
          <a:xfrm>
            <a:off x="395288" y="2763583"/>
            <a:ext cx="11339512" cy="279910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AB71915-A146-C526-66DC-6FB8B15AE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93CD8E-C362-2757-F2EE-007394D43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6741A6-ACA0-D8F1-362D-9DAAB527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0C4C4-5F1E-33EF-FDE4-2619408410A9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D400FB8-E1FD-1F18-F760-E0F42D22440B}"/>
              </a:ext>
            </a:extLst>
          </p:cNvPr>
          <p:cNvSpPr/>
          <p:nvPr/>
        </p:nvSpPr>
        <p:spPr>
          <a:xfrm>
            <a:off x="1728877" y="4889024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8D03F-77EF-E2EC-5F7F-9D376B1BC7ED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7AAC5-39E5-8E7A-FA54-1F9EFA2911B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C78AD-7483-CAEF-4D79-E579CF49D2D0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E08E9-AA0C-9548-E5F5-A6E3AF8AE149}"/>
              </a:ext>
            </a:extLst>
          </p:cNvPr>
          <p:cNvCxnSpPr>
            <a:cxnSpLocks/>
          </p:cNvCxnSpPr>
          <p:nvPr/>
        </p:nvCxnSpPr>
        <p:spPr>
          <a:xfrm flipV="1">
            <a:off x="887690" y="5081047"/>
            <a:ext cx="0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27F04A-359A-E2E8-F408-E971BDBBA5AC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081047"/>
            <a:ext cx="1210411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7B97BF-028E-0890-0058-8813E4F83744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37770155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80D6-1783-3ED6-E82E-2B0456AB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A40390A-1795-0D92-664F-2D5D608FF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5068"/>
          <a:stretch>
            <a:fillRect/>
          </a:stretch>
        </p:blipFill>
        <p:spPr>
          <a:xfrm>
            <a:off x="395288" y="2763583"/>
            <a:ext cx="11339512" cy="27067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0FD9EC6-CE0E-2177-5745-6452BC2613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141BA6-76B6-48D0-D41E-E6A49D088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DE6ADA6-E828-9CDF-CD91-C6484DB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DEB42-FAF3-69E1-7F86-E712F1DB4770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FB3914F-5E41-E149-5FA7-4FEB2536F426}"/>
              </a:ext>
            </a:extLst>
          </p:cNvPr>
          <p:cNvSpPr/>
          <p:nvPr/>
        </p:nvSpPr>
        <p:spPr>
          <a:xfrm>
            <a:off x="1728877" y="5039856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3436E-0191-05F3-B621-E78CA0DE845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3245F-0C94-6F62-31BC-A933F2D51D4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689D-A739-3C04-9841-8DE2D802D698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A9DBDD-9257-6D5D-D541-7FA954B78A39}"/>
              </a:ext>
            </a:extLst>
          </p:cNvPr>
          <p:cNvCxnSpPr>
            <a:cxnSpLocks/>
          </p:cNvCxnSpPr>
          <p:nvPr/>
        </p:nvCxnSpPr>
        <p:spPr>
          <a:xfrm flipV="1">
            <a:off x="887690" y="5222452"/>
            <a:ext cx="0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BCF120-C409-9CB4-7665-D76644B09254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222452"/>
            <a:ext cx="1210411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8CCCD6-EAFF-6C2A-B788-2E08295F7E6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2511410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741B-47CD-F1AF-1DE9-FED66D48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B52207-1101-5714-956F-95A4420F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417" b="64925"/>
          <a:stretch>
            <a:fillRect/>
          </a:stretch>
        </p:blipFill>
        <p:spPr>
          <a:xfrm>
            <a:off x="395288" y="2763583"/>
            <a:ext cx="11339512" cy="2720457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E8A8584-25D2-AA2A-41FD-00F6DDFB3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1291BB-B162-3901-2872-CE721BE4F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444719-FB01-34EB-9359-A293D3C9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D10063-E618-CED8-0C10-1AAB98DC6F1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9E84A4-7C8D-72AA-C97C-21C4FAF2E411}"/>
              </a:ext>
            </a:extLst>
          </p:cNvPr>
          <p:cNvSpPr/>
          <p:nvPr/>
        </p:nvSpPr>
        <p:spPr>
          <a:xfrm>
            <a:off x="1728877" y="5181260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85290-4301-D700-CC39-7224F641432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8BB86-8FC1-1E3C-D07B-0493F3AD2C22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1F459-EF4C-CF50-718C-CFEB23B3CEEE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1F9CF4-4157-3670-341D-98B7D2383DBB}"/>
              </a:ext>
            </a:extLst>
          </p:cNvPr>
          <p:cNvCxnSpPr>
            <a:cxnSpLocks/>
          </p:cNvCxnSpPr>
          <p:nvPr/>
        </p:nvCxnSpPr>
        <p:spPr>
          <a:xfrm flipV="1">
            <a:off x="887690" y="5363856"/>
            <a:ext cx="0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132E06-F006-E5E5-F18E-38B5C26C769D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363856"/>
            <a:ext cx="1210411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17DC02-0D7B-20CC-73A9-F377E0ABC06B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1491493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70633D7F-3D78-AF7E-1369-A39267105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49" b="65788"/>
          <a:stretch>
            <a:fillRect/>
          </a:stretch>
        </p:blipFill>
        <p:spPr>
          <a:xfrm>
            <a:off x="395818" y="2222225"/>
            <a:ext cx="1829274" cy="2838448"/>
          </a:xfrm>
          <a:prstGeom prst="rect">
            <a:avLst/>
          </a:prstGeom>
        </p:spPr>
      </p:pic>
      <p:pic>
        <p:nvPicPr>
          <p:cNvPr id="52" name="Content Placeholder 51">
            <a:extLst>
              <a:ext uri="{FF2B5EF4-FFF2-40B4-BE49-F238E27FC236}">
                <a16:creationId xmlns:a16="http://schemas.microsoft.com/office/drawing/2014/main" id="{867BF82A-0AEC-FC46-55C8-6862CD5CEA8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5" b="65212"/>
          <a:stretch>
            <a:fillRect/>
          </a:stretch>
        </p:blipFill>
        <p:spPr>
          <a:xfrm>
            <a:off x="9520960" y="2222225"/>
            <a:ext cx="1860672" cy="2876550"/>
          </a:xfrm>
          <a:prstGeom prst="rect">
            <a:avLst/>
          </a:prstGeom>
        </p:spPr>
      </p:pic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80F4257A-BF6C-DCFC-470E-286164FC010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47231"/>
          <a:stretch>
            <a:fillRect/>
          </a:stretch>
        </p:blipFill>
        <p:spPr>
          <a:xfrm>
            <a:off x="4228569" y="2222225"/>
            <a:ext cx="3415140" cy="4367212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9AB96A-1EB6-E7A9-B289-92E11BA9A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921268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Right Click &amp; Save Changes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F55E2-A749-39D7-6BBC-88324B1F2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21268"/>
            <a:ext cx="3776472" cy="365760"/>
          </a:xfrm>
        </p:spPr>
        <p:txBody>
          <a:bodyPr/>
          <a:lstStyle/>
          <a:p>
            <a:r>
              <a:rPr lang="en-US" dirty="0"/>
              <a:t>Step 1. Click </a:t>
            </a:r>
            <a:r>
              <a:rPr lang="en-US" dirty="0" err="1"/>
              <a:t>polynomial_System</a:t>
            </a:r>
            <a:r>
              <a:rPr lang="en-US" dirty="0"/>
              <a:t>*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949DF5-A370-7AE4-EC24-ED8D3E53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F06266-B6CA-E30E-001F-F9FDC85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698773" cy="884420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US" dirty="0"/>
              <a:t>Save Changes made to Data Dictionary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Changes made to the data dictionary must be saved from Model Explorer. Otherwise, the changes will not be applied and may be lost.</a:t>
            </a:r>
            <a:br>
              <a:rPr lang="en-US" sz="1200" b="0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Pressing </a:t>
            </a:r>
            <a:r>
              <a:rPr lang="en-US" sz="1200" i="1" dirty="0" err="1">
                <a:solidFill>
                  <a:srgbClr val="FF0000"/>
                </a:solidFill>
              </a:rPr>
              <a:t>Ctrl+S</a:t>
            </a:r>
            <a:r>
              <a:rPr lang="en-US" sz="1200" b="0" i="1" dirty="0">
                <a:solidFill>
                  <a:srgbClr val="FF0000"/>
                </a:solidFill>
              </a:rPr>
              <a:t> in Model Explorer does </a:t>
            </a:r>
            <a:r>
              <a:rPr lang="en-US" sz="1200" i="1" dirty="0">
                <a:solidFill>
                  <a:srgbClr val="FF0000"/>
                </a:solidFill>
              </a:rPr>
              <a:t>not</a:t>
            </a:r>
            <a:r>
              <a:rPr lang="en-US" sz="1200" b="0" i="1" dirty="0">
                <a:solidFill>
                  <a:srgbClr val="FF0000"/>
                </a:solidFill>
              </a:rPr>
              <a:t> save data dictionary changes. Instead, it may create a new signal or have a different action than expected. To save dictionary changes, right-click the data dictionary and select </a:t>
            </a:r>
            <a:r>
              <a:rPr lang="en-US" sz="1200" i="1" dirty="0">
                <a:solidFill>
                  <a:srgbClr val="FF0000"/>
                </a:solidFill>
              </a:rPr>
              <a:t>Save Changes</a:t>
            </a:r>
            <a:r>
              <a:rPr lang="en-US" sz="1200" b="0" i="1" dirty="0">
                <a:solidFill>
                  <a:srgbClr val="FF0000"/>
                </a:solidFill>
              </a:rPr>
              <a:t>. Yes, this behavior surprises everyone at least once.</a:t>
            </a:r>
            <a:br>
              <a:rPr lang="en-US" sz="1200" b="0" dirty="0">
                <a:solidFill>
                  <a:srgbClr val="FF0000"/>
                </a:solidFill>
              </a:rPr>
            </a:b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F57FF2-97AF-77A2-1B55-D74BEE48D1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921268"/>
            <a:ext cx="3776472" cy="365760"/>
          </a:xfrm>
        </p:spPr>
        <p:txBody>
          <a:bodyPr/>
          <a:lstStyle/>
          <a:p>
            <a:pPr algn="r"/>
            <a:r>
              <a:rPr lang="en-US" dirty="0"/>
              <a:t>Step 3. Observe Saved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E8407-BBF8-2717-67EC-792305C074A1}"/>
              </a:ext>
            </a:extLst>
          </p:cNvPr>
          <p:cNvSpPr txBox="1"/>
          <p:nvPr/>
        </p:nvSpPr>
        <p:spPr>
          <a:xfrm>
            <a:off x="2569110" y="4352435"/>
            <a:ext cx="1004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0E1B59-5DF5-AFEF-1697-A2F74BEC191B}"/>
              </a:ext>
            </a:extLst>
          </p:cNvPr>
          <p:cNvCxnSpPr>
            <a:cxnSpLocks/>
          </p:cNvCxnSpPr>
          <p:nvPr/>
        </p:nvCxnSpPr>
        <p:spPr>
          <a:xfrm flipH="1">
            <a:off x="5927197" y="4544070"/>
            <a:ext cx="1764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45498-EA4B-9C87-0F76-FB6247014CBF}"/>
              </a:ext>
            </a:extLst>
          </p:cNvPr>
          <p:cNvCxnSpPr>
            <a:cxnSpLocks/>
          </p:cNvCxnSpPr>
          <p:nvPr/>
        </p:nvCxnSpPr>
        <p:spPr>
          <a:xfrm flipH="1">
            <a:off x="6809642" y="5150635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6E1DD-81B4-3F2C-6EBD-79DE5C786FC0}"/>
              </a:ext>
            </a:extLst>
          </p:cNvPr>
          <p:cNvSpPr txBox="1"/>
          <p:nvPr/>
        </p:nvSpPr>
        <p:spPr>
          <a:xfrm>
            <a:off x="7692088" y="4359404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Right Click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EC681-BC7F-0C8F-9FEE-7508C6FEF80D}"/>
              </a:ext>
            </a:extLst>
          </p:cNvPr>
          <p:cNvSpPr txBox="1"/>
          <p:nvPr/>
        </p:nvSpPr>
        <p:spPr>
          <a:xfrm>
            <a:off x="7692088" y="4965969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Save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DBBAC8-5239-E102-8F2C-612F21375684}"/>
              </a:ext>
            </a:extLst>
          </p:cNvPr>
          <p:cNvCxnSpPr>
            <a:cxnSpLocks/>
          </p:cNvCxnSpPr>
          <p:nvPr/>
        </p:nvCxnSpPr>
        <p:spPr>
          <a:xfrm flipH="1">
            <a:off x="11313384" y="4504057"/>
            <a:ext cx="5484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6955DC-3FFF-237B-17F6-499A26CC3CF8}"/>
              </a:ext>
            </a:extLst>
          </p:cNvPr>
          <p:cNvCxnSpPr>
            <a:cxnSpLocks/>
          </p:cNvCxnSpPr>
          <p:nvPr/>
        </p:nvCxnSpPr>
        <p:spPr>
          <a:xfrm flipH="1">
            <a:off x="2141842" y="4537101"/>
            <a:ext cx="4582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5638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95F5-7676-FA21-7871-7359A974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7499F052-7A00-F457-A1E1-1A3F77EB5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C37B28-B275-3859-A599-22EF5EB7F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AB7E-BCF6-A3F2-7A8B-F12AFA4E3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82792-361B-0D18-9759-A41C44134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CE6114-E0E3-27C7-9C29-311E3692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30A1F-56BD-7FD3-5AE8-F40BF5311838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7D9048-787C-D81D-8DCD-9981E6DAE5A5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51D588-A7BE-BE17-1684-370E462A34FA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45620-4FD8-BAD2-694A-CC884FAF4AB2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8D7D1E24-5768-F8B8-8329-C0842927C92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093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7386-0D8C-4646-E970-73A935B7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3CAA9-0F9B-F905-B9DA-D24FF412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</p:spTree>
    <p:extLst>
      <p:ext uri="{BB962C8B-B14F-4D97-AF65-F5344CB8AC3E}">
        <p14:creationId xmlns:p14="http://schemas.microsoft.com/office/powerpoint/2010/main" val="19427917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389C-A617-C504-AE55-1468D7D73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2A067-03DF-2C1B-8C59-87F9DE5F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3E58-98B9-3985-D9CB-87E98C96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Run		Shortcut (CTRL+T)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198604631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4BC4-A1DB-1B38-CAB4-BADC98C3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4514A-9B22-3091-29BC-822E2BF80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0FE5B-6AB6-B891-1592-0E25D743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Run or press CTRL+T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FD8D9D-1BEE-B792-F7DE-C63E0140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7D32130-00E7-DC09-E4C0-A73EE327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2822A-F304-8B01-4947-FB746146F6D7}"/>
              </a:ext>
            </a:extLst>
          </p:cNvPr>
          <p:cNvSpPr/>
          <p:nvPr/>
        </p:nvSpPr>
        <p:spPr>
          <a:xfrm>
            <a:off x="7984502" y="3266639"/>
            <a:ext cx="499619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5E592F-832E-94D7-00DC-9FC1467555A3}"/>
              </a:ext>
            </a:extLst>
          </p:cNvPr>
          <p:cNvCxnSpPr>
            <a:cxnSpLocks/>
          </p:cNvCxnSpPr>
          <p:nvPr/>
        </p:nvCxnSpPr>
        <p:spPr>
          <a:xfrm flipV="1">
            <a:off x="8238827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177E5B-6CDC-D0A8-41EB-D4F31B5849ED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Run or press CTRL+T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5C5E-80DC-C347-5731-89ED045577A3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FB9BA6-7410-C27E-D7FD-80A42610E7F6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2303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1615-0473-6AF2-6A66-0254DA51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7A326D-AF3E-2ABD-F88A-B055C80E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</p:spTree>
    <p:extLst>
      <p:ext uri="{BB962C8B-B14F-4D97-AF65-F5344CB8AC3E}">
        <p14:creationId xmlns:p14="http://schemas.microsoft.com/office/powerpoint/2010/main" val="30608125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CF9B-7E7E-7CCE-4617-016B4525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0EB84-73BF-1E5D-89F5-1BE34CBB1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6F613-CCB4-ABE2-D716-C7974F21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6BDD-F972-1020-18E1-375EC0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Graph 		Graph Data / Edit Grid / Use Cursors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48241497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810F-E35A-39FE-4074-C4CC52C1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17A1F-87D4-89CA-7FC8-5FCCBC3A6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307700-CDCE-E85D-192E-5E8C6FA94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Data Inspector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673E1E-E566-D635-06E9-BDD8F7C66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BD56D86-68FA-DF61-75A3-4EF54C96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3332"/>
          </a:xfrm>
        </p:spPr>
        <p:txBody>
          <a:bodyPr/>
          <a:lstStyle/>
          <a:p>
            <a:r>
              <a:rPr lang="en-US" dirty="0"/>
              <a:t>Open Data Inspector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Simulation must be run prior to opening Data inspector to observe raw values.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D1CD6-33BB-C72B-0C7A-49330314B7B0}"/>
              </a:ext>
            </a:extLst>
          </p:cNvPr>
          <p:cNvSpPr/>
          <p:nvPr/>
        </p:nvSpPr>
        <p:spPr>
          <a:xfrm>
            <a:off x="9643619" y="3266639"/>
            <a:ext cx="848413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459727-E430-F99D-A90C-75937C39129C}"/>
              </a:ext>
            </a:extLst>
          </p:cNvPr>
          <p:cNvCxnSpPr>
            <a:cxnSpLocks/>
          </p:cNvCxnSpPr>
          <p:nvPr/>
        </p:nvCxnSpPr>
        <p:spPr>
          <a:xfrm flipV="1">
            <a:off x="10105333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560EE-5B75-8140-AEAA-1B249351F639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Data Inspector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66D39-FA0D-75D8-737A-7BFDB8F8C867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9EFA9C-CEF4-91C8-3688-6081ECD647BE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3089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211D-CFD6-75DF-F2C5-D9A7E233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A921C4-F40A-66DA-0EB5-035A470C4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AFA06D-91EF-F3A3-CBDD-0A1B7E0E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787406-0385-3789-946E-22C82F93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Data Inspector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87822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33B-6490-CC0E-F3B4-E1C8223E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BD9AED-A0B9-412E-8941-7854AAD240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A05A9CF-EDDC-7AB2-0676-089111F6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Cursor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81158-47E0-B1EB-7C65-14A739B2B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7766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23FA09-5A4D-F5DB-DDA8-DF0724F2AD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Save / Save As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C94AA0-A811-7D26-A7B7-EE86C208C6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Click Save Icon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959635-F12C-0753-7118-71D822279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72B97B-3D8C-C99E-479F-17C20DB1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Data Inspector File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06DF845-60F0-440A-AF10-80C117A67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Save File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DD893973-2549-BBFF-8EF0-7D4CACFAEF9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1720" b="72255"/>
          <a:stretch>
            <a:fillRect/>
          </a:stretch>
        </p:blipFill>
        <p:spPr>
          <a:xfrm>
            <a:off x="4445675" y="2416603"/>
            <a:ext cx="3343513" cy="2727659"/>
          </a:xfrm>
          <a:prstGeom prst="rect">
            <a:avLst/>
          </a:prstGeom>
        </p:spPr>
      </p:pic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51E0382E-4B32-08F2-C76C-FC34F47E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9999" b="63176"/>
          <a:stretch>
            <a:fillRect/>
          </a:stretch>
        </p:blipFill>
        <p:spPr>
          <a:xfrm>
            <a:off x="1369000" y="2416603"/>
            <a:ext cx="1829238" cy="3620231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D6D3B-1311-BDAD-A20D-8889C4B2C4F7}"/>
              </a:ext>
            </a:extLst>
          </p:cNvPr>
          <p:cNvCxnSpPr>
            <a:cxnSpLocks/>
          </p:cNvCxnSpPr>
          <p:nvPr/>
        </p:nvCxnSpPr>
        <p:spPr>
          <a:xfrm>
            <a:off x="590595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C5FEE-E47A-16CC-ACE8-D247B5FC37B4}"/>
              </a:ext>
            </a:extLst>
          </p:cNvPr>
          <p:cNvCxnSpPr>
            <a:cxnSpLocks/>
          </p:cNvCxnSpPr>
          <p:nvPr/>
        </p:nvCxnSpPr>
        <p:spPr>
          <a:xfrm>
            <a:off x="3667270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0" name="Content Placeholder 36">
            <a:extLst>
              <a:ext uri="{FF2B5EF4-FFF2-40B4-BE49-F238E27FC236}">
                <a16:creationId xmlns:a16="http://schemas.microsoft.com/office/drawing/2014/main" id="{C1E61F67-C2C1-453B-4368-A61C3A7804B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67630"/>
          <a:stretch>
            <a:fillRect/>
          </a:stretch>
        </p:blipFill>
        <p:spPr>
          <a:xfrm>
            <a:off x="8696714" y="2043113"/>
            <a:ext cx="2509059" cy="43672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0FCC-14CA-80A5-2C92-B96C6A90BB18}"/>
              </a:ext>
            </a:extLst>
          </p:cNvPr>
          <p:cNvCxnSpPr>
            <a:cxnSpLocks/>
          </p:cNvCxnSpPr>
          <p:nvPr/>
        </p:nvCxnSpPr>
        <p:spPr>
          <a:xfrm>
            <a:off x="8419951" y="52994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3" name="Content Placeholder 36">
            <a:extLst>
              <a:ext uri="{FF2B5EF4-FFF2-40B4-BE49-F238E27FC236}">
                <a16:creationId xmlns:a16="http://schemas.microsoft.com/office/drawing/2014/main" id="{BFE0DABE-B113-6326-B179-383888EF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67" r="11651"/>
          <a:stretch>
            <a:fillRect/>
          </a:stretch>
        </p:blipFill>
        <p:spPr>
          <a:xfrm>
            <a:off x="11163299" y="2043113"/>
            <a:ext cx="866775" cy="436721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D148F4-998C-0941-E82F-2F30A1D25761}"/>
              </a:ext>
            </a:extLst>
          </p:cNvPr>
          <p:cNvCxnSpPr>
            <a:cxnSpLocks/>
          </p:cNvCxnSpPr>
          <p:nvPr/>
        </p:nvCxnSpPr>
        <p:spPr>
          <a:xfrm>
            <a:off x="10384894" y="61757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61043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5036-8039-0E98-32EC-937893C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48D9542-37E8-803E-1BD9-2D546D9B869C}"/>
              </a:ext>
            </a:extLst>
          </p:cNvPr>
          <p:cNvSpPr/>
          <p:nvPr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Launch Quiz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9401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08710-C0EB-4FD2-A9EA-A8F1281D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4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Icon for Microsoft Power BI.">
            <a:extLst>
              <a:ext uri="{FF2B5EF4-FFF2-40B4-BE49-F238E27FC236}">
                <a16:creationId xmlns:a16="http://schemas.microsoft.com/office/drawing/2014/main" id="{5D58D801-6773-16C9-A8D2-FFC7EBB3E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448806" y="471750"/>
            <a:ext cx="291465" cy="291465"/>
          </a:xfrm>
          <a:prstGeom prst="rect">
            <a:avLst/>
          </a:prstGeom>
          <a:noFill/>
        </p:spPr>
      </p:pic>
      <p:sp>
        <p:nvSpPr>
          <p:cNvPr id="9" name="InstallationHelpContent">
            <a:extLst>
              <a:ext uri="{FF2B5EF4-FFF2-40B4-BE49-F238E27FC236}">
                <a16:creationId xmlns:a16="http://schemas.microsoft.com/office/drawing/2014/main" id="{7546BC82-82B0-1DA5-83A8-832E247AECA0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InstallationHelpHeader">
            <a:extLst>
              <a:ext uri="{FF2B5EF4-FFF2-40B4-BE49-F238E27FC236}">
                <a16:creationId xmlns:a16="http://schemas.microsoft.com/office/drawing/2014/main" id="{16E6AD5B-209B-8FCB-3F9E-7AB7B48E2B16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1" name="LaunchHelpImage" descr="Office ribbon open on the Home tab.">
            <a:extLst>
              <a:ext uri="{FF2B5EF4-FFF2-40B4-BE49-F238E27FC236}">
                <a16:creationId xmlns:a16="http://schemas.microsoft.com/office/drawing/2014/main" id="{6E6B97A0-7151-814C-B11C-2F769C4B650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12" name="MyAdd-ins">
            <a:extLst>
              <a:ext uri="{FF2B5EF4-FFF2-40B4-BE49-F238E27FC236}">
                <a16:creationId xmlns:a16="http://schemas.microsoft.com/office/drawing/2014/main" id="{E02A9CC5-71EF-ECF3-5B79-196434B384F0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abName">
            <a:extLst>
              <a:ext uri="{FF2B5EF4-FFF2-40B4-BE49-F238E27FC236}">
                <a16:creationId xmlns:a16="http://schemas.microsoft.com/office/drawing/2014/main" id="{20F738CC-6671-7BF5-89CF-590043DB1285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LaunchHelpContent2">
            <a:extLst>
              <a:ext uri="{FF2B5EF4-FFF2-40B4-BE49-F238E27FC236}">
                <a16:creationId xmlns:a16="http://schemas.microsoft.com/office/drawing/2014/main" id="{3D8CBDB8-9B83-3EA9-3404-247171A3877A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LaunchHelpContent1">
            <a:extLst>
              <a:ext uri="{FF2B5EF4-FFF2-40B4-BE49-F238E27FC236}">
                <a16:creationId xmlns:a16="http://schemas.microsoft.com/office/drawing/2014/main" id="{40F34F9B-9A7C-0B18-CF10-40A6EA5E951F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LaunchHelpHeader">
            <a:extLst>
              <a:ext uri="{FF2B5EF4-FFF2-40B4-BE49-F238E27FC236}">
                <a16:creationId xmlns:a16="http://schemas.microsoft.com/office/drawing/2014/main" id="{3B2EDEE1-3260-050C-41BB-338682ADD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</p:spTree>
    <p:extLst>
      <p:ext uri="{BB962C8B-B14F-4D97-AF65-F5344CB8AC3E}">
        <p14:creationId xmlns:p14="http://schemas.microsoft.com/office/powerpoint/2010/main" val="124243603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1480-D393-77EF-BB60-969A418F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C893AA-EB94-1B8F-75A6-1D2921812E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 </a:t>
            </a:r>
            <a:r>
              <a:rPr lang="en-US" dirty="0"/>
              <a:t>Test Results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5288" y="1133475"/>
              <a:ext cx="11341100" cy="52212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8" y="1133475"/>
                <a:ext cx="11341100" cy="52212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60128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7B0-FC76-9619-3B40-9CDC0B72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Only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C65C-2639-7A58-9087-D07C4959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Quiz – Summary Page</a:t>
            </a:r>
            <a:r>
              <a:rPr lang="en-US" dirty="0"/>
              <a:t> 		METRICS for Mike and Brandon</a:t>
            </a:r>
          </a:p>
          <a:p>
            <a:r>
              <a:rPr lang="en-US" dirty="0">
                <a:hlinkClick r:id="rId3"/>
              </a:rPr>
              <a:t>Quiz – Responses Overview</a:t>
            </a:r>
            <a:endParaRPr lang="en-US" dirty="0"/>
          </a:p>
          <a:p>
            <a:r>
              <a:rPr lang="en-US" dirty="0">
                <a:hlinkClick r:id="rId4"/>
              </a:rPr>
              <a:t>Quiz – Excel Log</a:t>
            </a:r>
            <a:r>
              <a:rPr lang="en-US" dirty="0"/>
              <a:t> </a:t>
            </a:r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My files – OneDrive</a:t>
            </a:r>
            <a:r>
              <a:rPr lang="en-US" dirty="0"/>
              <a:t> 		Where Excel Log is stored</a:t>
            </a:r>
          </a:p>
          <a:p>
            <a:endParaRPr lang="en-US" dirty="0">
              <a:hlinkClick r:id="rId6"/>
            </a:endParaRPr>
          </a:p>
          <a:p>
            <a:r>
              <a:rPr lang="en-US" dirty="0">
                <a:hlinkClick r:id="rId6"/>
              </a:rPr>
              <a:t>Power BI – Workspace</a:t>
            </a:r>
            <a:r>
              <a:rPr lang="en-US" dirty="0"/>
              <a:t>		My workspace</a:t>
            </a:r>
          </a:p>
          <a:p>
            <a:r>
              <a:rPr lang="en-US" dirty="0">
                <a:hlinkClick r:id="rId7"/>
              </a:rPr>
              <a:t>Power BI – Semantic Model</a:t>
            </a:r>
            <a:r>
              <a:rPr lang="en-US" dirty="0"/>
              <a:t>	Training Quiz Results Master 	Power Queries</a:t>
            </a:r>
          </a:p>
          <a:p>
            <a:r>
              <a:rPr lang="en-US" dirty="0">
                <a:hlinkClick r:id="rId8"/>
              </a:rPr>
              <a:t>Power BI – Results</a:t>
            </a:r>
            <a:r>
              <a:rPr lang="en-US" dirty="0"/>
              <a:t> 		Training Performance Dashboard 	Power BI Dashboard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C46-32C2-B2A7-07C7-0E38FAB7F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Only the Admin uses these links</a:t>
            </a:r>
          </a:p>
        </p:txBody>
      </p:sp>
    </p:spTree>
    <p:extLst>
      <p:ext uri="{BB962C8B-B14F-4D97-AF65-F5344CB8AC3E}">
        <p14:creationId xmlns:p14="http://schemas.microsoft.com/office/powerpoint/2010/main" val="396209242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49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xdrrT4J0C1fnz5aAV6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B4lW1kl025PsSgEWBr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3kfiwG_mkuGI2Bt.8ob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32741"/>
      </a:accent1>
      <a:accent2>
        <a:srgbClr val="003B5D"/>
      </a:accent2>
      <a:accent3>
        <a:srgbClr val="7487A7"/>
      </a:accent3>
      <a:accent4>
        <a:srgbClr val="0254A1"/>
      </a:accent4>
      <a:accent5>
        <a:srgbClr val="007FC1"/>
      </a:accent5>
      <a:accent6>
        <a:srgbClr val="F36C38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BD08961-5BEB-4455-B46A-2F6F50DDC40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7F7F7&quot;"/>
    <we:property name="bookmark" value="&quot;H4sIAAAAAAAAA+1Y32/bNhD+VwwBQ1+8gaR+UXlr3BQYsBVZE2QPQx5O5MlhK4sCRSdxA//vPYlO0qS227RDoGDLQyAdj8f7vjuKH30TadO1NazewQKjg+jQ2o8LcB8nPJpGTbAh5CByTGOuRV6yRKpU06htvbFNFx3cRB7cHP2Z6ZZQ94HI+M/5NGoddugu8R1ehTH6b0pTG7+KDrxb4jSCuj6GeT+hgrojQ4uusw3U5hOGOV1wXU8jvG5r66Bf9cSDx37lS3Knd8qS/xZTUqC8ucQTVD5YMUvyOMVCChEnIs51zhS5dcFhSH6rSx96WH5mGw+moWV6WwE6rTJeFalgTGGa6Jj19srUfuNSro6uW0cEEC2rtufvtb6ERmHPGUEgTkLGN9Hr+dzhHPzm9ejB4MzWy8UW+4ldOoXvsRqGGj+QGZ06StI088lfS/Np8h67Ze27yZ/QUVpkQ7eK1kThsbNE8DDjaAGmHoxvl82GLtG/XtirmUPiV0cHbH1Olo4C15ty3DNzGtApcHozRD1RfiBmex5omnUa3eFqoOKNcbc1EdNHiMZIA+Emk4aq0mmSSgkZxKpULIUXWu5T66GetNY0VJ6HcPl/r+r72QjFxwJEJZlgWZyUJQKDTL7o4h9bClzWSA//d8ETaAntUAIrqiypYohlljOGuvx2O8yIyrl1Rg0M4bOim11AS4PRD9S1q42imV/WNFognfH9wxzpNOwnEcw2LGewu6fi4dPZ7QFNpX/r7GKYthEbnlZ4CsBpFPIjBNPo7wt0OESjI1qb2w76/RGj3cblO7gOL0NeO6mkhc+gXg4Kh+L+YXzg4iaYyffVxnnCxOTXCePUVvWqsQtDrXayIjSLV32c89BXQ0QNHrbQubB6IByHptq+2Buaoe1V08e87dSggSj9D1+onLusn7PxeoDTSOZllgmppChjLkWcylyMeuf06nLZ/esb5yfKfAidUWOq8R1FocQFas5VyjToTMZFmfGesF0l3twrsjiLVa5KlJDoPM9VInptPoIGmNlFW2PP68QbyvXrTpjeocghJZ2AmGiOShWaMQnjQDF8ZfelzhMNMecspkIwTjcfTJJxpH6vynfSXmlZslwqoRLGGCcg4j73McuwraqT7cNKt9ICqpLumkoUeUp7jbGXgXW/ttoLWvBSQipiEatM5FmuZTF60OGrOPnlKTg10NeSYUkHo6BtSB2djeQruPMYvE8ecp1xrkvBszRNJVOFkuNI/ifUrwfq2KPr77zS8MdXmudDFqQAV8jinHaHUkwjktZK9py9IyjN7nNpBMntOnl+rGuGv+1q0C5914LCY2hwiyok1NDooKL2KMPhV9M7XbhefwYRAmYi0BUAAA==&quot;"/>
    <we:property name="creatorSessionId" value="&quot;a7e0b918-ffee-490a-8028-7f3e6a3baddd&quot;"/>
    <we:property name="creatorTenantId" value="&quot;64ff49ba-62b0-46de-b74b-cc4d370ce341&quot;"/>
    <we:property name="creatorUserId" value="&quot;10032006298BAD65&quot;"/>
    <we:property name="datasetId" value="&quot;9b03b459-3eeb-4c13-8cb9-9748bd494699&quot;"/>
    <we:property name="embedUrl" value="&quot;/reportEmbed?reportId=e42aa0e6-717e-407a-ac45-5ac0ef73007d&amp;config=eyJjbHVzdGVyVXJsIjoiaHR0cHM6Ly9XQUJJLVVTLU5PUlRILUNFTlRSQUwtQi1yZWRpcmVjdC5hbmFseXNpcy53aW5kb3dzLm5ldCIsImVtYmVkRmVhdHVyZXMiOnsidXNhZ2VNZXRyaWNzVk5leHQiOnRydWV9fQ%3D%3D&amp;disableSensitivityBanner=true&amp;storytellingChangeViewModeShortcutKeys=true&quot;"/>
    <we:property name="initialStateBookmark" value="&quot;H4sIAAAAAAAAA+1Y227bOBD9FYPAoi/GghddqLwlrvelmzSbBH1ZFIsROXLZyqJASU7cIP/ekeQ2vcTuZYFAwa4fDGuG5Mw5M9Ic+ZZZ19QlbM9gjeyInXj/bg3h3UywOat2tpcvX5weX7z45+z4dElmX7fOVw07umUthBW2r1zTQdmfQMa/X89ZHbDBsMEzvB599O1yV7p2y47a0OGcQVmew6rfUEDZkKHG0PgKSvcexz3NuPRuzvCmLn2APuplCy32kTe0nK4pPfG7oqTAtG6Dl2ja0YpJlKoYMy2liqRKbcoNLWvGBUPyDy7pjx7CL3zVgqsoTG/LwMZFIooslpwbjCOreG8vXNnuluTb5U0diACiZVv3xB3bDVQGLRsgECdjxrfseLUKuIJ2d7n8wrnwZbd+wH7pu2DwAovBVbUDmewqUJKuWs3+6tz72QU2Xdk2s1NoKC2yYdiyO6LwPHgieNixXIMrB+MfXbWjS/aXb/z1IiDxa9kRv3tNloYOLnfluGfmakRnINidi3oif0vM9jzQNh8shpPtQMVzFz7WRM6/QjRFGgg3mSwUhY2jWGtIQJnc8BieaLmvfAvlrPauovJ8CVf896p+mI2x+JiBLDSXPFFRniNwSPSTLv65p4PzEunH/13wE7SM7ZADz4okKhQonaSco82/3w4LonLlgzMDQ/io6BZvoCYn+4W6NqUztPPzmrI10ozvf1hoYcBYj7Ecjn5vBzcOFNyyPx0FH89+BWXXH/vsOe2w/rp6Rkl95HWc2JT3289m8rCjGaI8Hk2UDrl0mieJ1EbLXAktVaxTOek691qoa6ZU5hNonJlSjT9RNJY4QyuEibkFm2iV5YnoCdtX4p38TVSiTGpy1BDZNE1NJHslOYEGWPh1XWLP66x1lOu3nTD/hCKFmKYaYmQFGpNZzjVMA8Xw5nEodRFZUEJwRYXggnQ6RtE0Ur/XkHtpL6zOeaqNNBHnXBAQeZ/7lEXDgxqJH8JK71AZFDm9GRmZpTHda5w/DayHlcBB0FLkGmKppDKJTJPU6mzyoMen4uy3n8FpgZ6WHHMajJJuQ+roZCJPwb1j8D55SG0ihM2lSOI41txkRk8j+X+h1Vqgjl3e/KAAF18L8MdDNkoBYZCrlO4OY7hFJK0VHZi9EyjN/rk0geT2TZ5f65rh87Aa9F3b1GDwHCp8QBUSaqjsqKIOKMP+jzw2xNi44Un7g+tH4Xb3AcVkRHumFAAA&quot;"/>
    <we:property name="isFiltersActionButtonVisible" value="true"/>
    <we:property name="isVisualContainerHeaderHidden" value="false"/>
    <we:property name="pageDisplayName" value="&quot;Page 1&quot;"/>
    <we:property name="pageName" value="&quot;e64735e982234237d70c&quot;"/>
    <we:property name="reportEmbeddedTime" value="&quot;2026-09-16T18:33:10.358Z&quot;"/>
    <we:property name="reportName" value="&quot;Training Performance Dashboard&quot;"/>
    <we:property name="reportState" value="&quot;CONNECTED&quot;"/>
    <we:property name="reportUrl" value="&quot;/groups/a3d2b873-adca-46a9-ad6d-c1d5a20aa3e0/reports/e42aa0e6-717e-407a-ac45-5ac0ef73007d/e64735e982234237d70c?bookmarkGuid=dee5032c-36e5-4c62-b7b9-204153444a11&amp;bookmarkUsage=1&amp;ctid=64ff49ba-62b0-46de-b74b-cc4d370ce341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BF5D2CCC9BE4EBBD35A8004C48EA3" ma:contentTypeVersion="9" ma:contentTypeDescription="Create a new document." ma:contentTypeScope="" ma:versionID="9eada2b7c4bdaa665e90d0121b8e42d2">
  <xsd:schema xmlns:xsd="http://www.w3.org/2001/XMLSchema" xmlns:xs="http://www.w3.org/2001/XMLSchema" xmlns:p="http://schemas.microsoft.com/office/2006/metadata/properties" xmlns:ns2="2d6c60d3-f5d7-4053-bda5-60231931954e" xmlns:ns3="0873cd69-40f1-433c-bf93-e1d73619fdb5" targetNamespace="http://schemas.microsoft.com/office/2006/metadata/properties" ma:root="true" ma:fieldsID="993ddfcb2f17b45b1238621a2ab33d08" ns2:_="" ns3:_="">
    <xsd:import namespace="2d6c60d3-f5d7-4053-bda5-60231931954e"/>
    <xsd:import namespace="0873cd69-40f1-433c-bf93-e1d73619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60d3-f5d7-4053-bda5-6023193195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3cd69-40f1-433c-bf93-e1d73619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itus xmlns="http://schemas.titus.com/TitusProperties/">
  <TitusGUID xmlns="">b9d3699b-1b82-4d1e-9754-f4d831e9b74a</TitusGUID>
  <TitusMetadata xmlns="">eyJucyI6Imh0dHA6XC9cL3d3dy50aXR1cy5jb21cL25zXC9OQVJBQ1VJIiwicHJvcHMiOlt7Im4iOiJEZXNpZ25hdGlvbiIsInZhbHMiOlt7InZhbHVlIjoiTlRETkNVSSJ9XX1dfQ==</TitusMetadata>
</titus>
</file>

<file path=customXml/itemProps1.xml><?xml version="1.0" encoding="utf-8"?>
<ds:datastoreItem xmlns:ds="http://schemas.openxmlformats.org/officeDocument/2006/customXml" ds:itemID="{4B2EC94B-890F-4F06-B798-4B4DED8D1AEE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0873cd69-40f1-433c-bf93-e1d73619fdb5"/>
    <ds:schemaRef ds:uri="2d6c60d3-f5d7-4053-bda5-60231931954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EE2F036-3CB6-498C-987A-D68D448BB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FACC39-F032-45A3-9C45-73967BBFF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c60d3-f5d7-4053-bda5-60231931954e"/>
    <ds:schemaRef ds:uri="0873cd69-40f1-433c-bf93-e1d73619fd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1506775-A450-4DA8-B0A8-D0F0CE449F59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134388</TotalTime>
  <Words>5244</Words>
  <Application>Microsoft Office PowerPoint</Application>
  <PresentationFormat>Widescreen</PresentationFormat>
  <Paragraphs>748</Paragraphs>
  <Slides>119</Slides>
  <Notes>2</Notes>
  <HiddenSlides>2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35" baseType="lpstr">
      <vt:lpstr>.AppleSystemUIFont</vt:lpstr>
      <vt:lpstr>Aptos</vt:lpstr>
      <vt:lpstr>Aptos Display</vt:lpstr>
      <vt:lpstr>Arial</vt:lpstr>
      <vt:lpstr>Arial Black</vt:lpstr>
      <vt:lpstr>Barlow ExtraBold</vt:lpstr>
      <vt:lpstr>Calibri</vt:lpstr>
      <vt:lpstr>Cambria Math</vt:lpstr>
      <vt:lpstr>Microsoft Sans Serif</vt:lpstr>
      <vt:lpstr>Segoe UI</vt:lpstr>
      <vt:lpstr>Segoe UI Light</vt:lpstr>
      <vt:lpstr>Segoe UI Semibold</vt:lpstr>
      <vt:lpstr>Times New Roman</vt:lpstr>
      <vt:lpstr>Wingdings</vt:lpstr>
      <vt:lpstr>2_Office Theme</vt:lpstr>
      <vt:lpstr>think-cell Slide</vt:lpstr>
      <vt:lpstr>Chapter 2 01 Polynomial System</vt:lpstr>
      <vt:lpstr>Git Hub Training Repo</vt:lpstr>
      <vt:lpstr>Success looks like knowing how to …</vt:lpstr>
      <vt:lpstr>Final Model (This summarizes all work created thru the powerpoint)</vt:lpstr>
      <vt:lpstr>Original Equation… Start with the discrete derivative  z[k]  =(y[k]-y[k-1])/T_s   When I see the discrete derivative equation, I decompose it into mathematical operations that map directly to Simulink blocks. y[k-1] indicates a Unit Delay, the difference indicates a subtraction block, and 1/T_s​ indicates a Gain block.  How I translate:  Step 1. z[k]  =(y[k]-y[k-1])/T_s    Original Equation Step 2. z[k]  =(y[k]-y[k-1])  1/T_s   Rearrange into block-friendly form  Model Construction Logic: Step     Operation Mathematical Term Simulink Block Step 1: Delay  y[k]" → " y[k-1]  → Unit Delay Step 2: Subtract y[k]-y[k-1] → Sum/Subtract block Step 3: Scale  (∙)  1/T_s   → Gain block =1/T_s  ​ Step 4: Output  z[k]  →Outport block  k              = discrete sample index  T_s​              = sample time (seconds)  y[k]         =current sample  y[k-1]=previous sample, one T_s ​ earlier  </vt:lpstr>
      <vt:lpstr>Original Equation  y = t^2-4t+21   I see y=t^2-4t+21, and I mentally decompose it into terms that become blocks.   What's going on in my head after I see original equation: Step 1. y =t^2-4t +21    Original Equation Step 2. y =1∗t^2-4∗t^1  +21∗t^0      Rearrange the polynomial Step 3. y =(1)∗t^2+(-4)∗t^1  +(21)∗t^0 Add Parenthesis Step 4. y =(1)                  ∗(t^2 )   + (-4)               ∗(t^1 )  + (21)                ∗(t^0 )  Step 5. y = (COEFF_A)∗(t^2 )  + (COEFF_B)∗(t^1 )  + (COEFF_C)  ∗(t^0 )     COEFF_A = 1 COEFF_B = -4 COEFF_C = 21  Model Construction Logic:  Step 1: Calculate t² Step 2: Calculate -4t Step 3: Apply Constant Term (21) Step 4: Sum All Terms Step 5: Output y   See next page for final Simulink model. See Slide 11 – 17 for more details </vt:lpstr>
      <vt:lpstr>polynomial_System.slx (Model File) Note: How your Model Should look when Finished</vt:lpstr>
      <vt:lpstr>derivative_System.slx (Model File) … Discrete Derivative is the focus of this lesson. Note: How your Model Should look when Finished</vt:lpstr>
      <vt:lpstr>polynomial_System.sldd (Data Dictionary)  Note: Contains Signals &amp; Parameters   Note: Contains Signals &amp; Parameters</vt:lpstr>
      <vt:lpstr>polynomial_System.slx (Model Settings) Note: How you Models Settings should be setup.</vt:lpstr>
      <vt:lpstr>Data Inspector</vt:lpstr>
      <vt:lpstr>Continuous vs. Discrete Derivative</vt:lpstr>
      <vt:lpstr>Continuous vs. Discrete Derivative Equation Same rate-of-change concept, different implementation for sampled systems.</vt:lpstr>
      <vt:lpstr>Continuous vs. Discrete Derivative Relationship Same rate-of-change concept, different implementation for sampled systems.</vt:lpstr>
      <vt:lpstr>Continuous vs. Discrete Derivative Implementation Continuous Implementation:  Calculates the instantaneous rate of change in continuous time.  Discrete       Implementation:  Approximates the rate of change using current and previous samples.</vt:lpstr>
      <vt:lpstr>derivative_System.slx (Model Settings) Note: Recommended model settings for the discrete implementation.  Final Discrete Configuration Solver:   Fixed-step Solver selection:  Discrete (no continuous states) Fixed-step size:  0.01 s </vt:lpstr>
      <vt:lpstr>Verification: continuous and discrete results match Ramp input test confirms the discrete implementation after correcting the Unit Delay sample time.</vt:lpstr>
      <vt:lpstr>Discrete Derivative Implementation (This is what we will focus on in the lesson.)</vt:lpstr>
      <vt:lpstr>How Engineers Think About Equations</vt:lpstr>
      <vt:lpstr>How Engineers Think About Equations</vt:lpstr>
      <vt:lpstr>Equation Decomposition</vt:lpstr>
      <vt:lpstr>From Mathematical Operations to Signal Flow</vt:lpstr>
      <vt:lpstr>Implementing Signal Flow Using Simulink Blocks</vt:lpstr>
      <vt:lpstr>Original Equation  y = t^2-4t+21   I see y=t^2-4t+21, and I mentally decompose it into terms that become blocks.   What's going on in my head after I see original equation: Step 1. y =t^2-4t +21    Original Equation Step 2. y =1∗t^2-4∗t^1  +21∗t^0      Rearrange the polynomial Step 3. y =(1)∗t^2+(-4)∗t^1  +(21)∗t^0 Add Parenthesis Step 4. y =(1)                  ∗(t^2 )   + (-4)               ∗(t^1 )  + (21)                ∗(t^0 )  Step 5. y = (COEFF_A)∗(t^2 )  + (COEFF_B)∗(t^1 )  + (COEFF_C)  ∗(t^0 )     COEFF_A = 1 COEFF_B = -4 COEFF_C = 21  Model Construction Logic:  Step 1: Calculate t² Step 2: Calculate -4t Step 3: Apply Constant Term (21) Step 4: Sum All Terms Step 5: Output y     See next page for final Simulink model. </vt:lpstr>
      <vt:lpstr>The model implements: y = t² - 4t + 21 (THIS IS THE FINAL IMPLIMENTATION)</vt:lpstr>
      <vt:lpstr>How to Open MATLAB &amp; SIMULINK</vt:lpstr>
      <vt:lpstr>Open MATLAB</vt:lpstr>
      <vt:lpstr>Review the MATLAB Window Layout</vt:lpstr>
      <vt:lpstr>Navigate to training folder (Summary)</vt:lpstr>
      <vt:lpstr>How to Add To Project</vt:lpstr>
      <vt:lpstr>Add “ch02” Folder and Sub Folders to Project</vt:lpstr>
      <vt:lpstr>Create New Folder “02_derivative_System”</vt:lpstr>
      <vt:lpstr>Add “02_derivative_System” Folder and Sub Folders to Project</vt:lpstr>
      <vt:lpstr>Navigate to training folder “02_derivative_System”</vt:lpstr>
      <vt:lpstr>How to Create a new Simulink Model</vt:lpstr>
      <vt:lpstr>Detailed Success in this section looks like knowing how to …</vt:lpstr>
      <vt:lpstr>Navigate to training folder &amp; create Simulink Model</vt:lpstr>
      <vt:lpstr>Navigate to training folder &amp; create Simulink Model</vt:lpstr>
      <vt:lpstr>Rename Simulink File</vt:lpstr>
      <vt:lpstr>Observe File has been Renamed</vt:lpstr>
      <vt:lpstr>How to Use blocks</vt:lpstr>
      <vt:lpstr>Detailed Success in this section looks like knowing how to …</vt:lpstr>
      <vt:lpstr>Add Annotation</vt:lpstr>
      <vt:lpstr>Add Clock</vt:lpstr>
      <vt:lpstr>Add Clock</vt:lpstr>
      <vt:lpstr>Add Derivative  Note: This is the Continuous Derivative Block. Continuous is not used at work!!!</vt:lpstr>
      <vt:lpstr>Add Derivative</vt:lpstr>
      <vt:lpstr>Added Square</vt:lpstr>
      <vt:lpstr>Add 1st Gain Block</vt:lpstr>
      <vt:lpstr>Added 1st Gain Block</vt:lpstr>
      <vt:lpstr>Add 2nd Gain Block</vt:lpstr>
      <vt:lpstr>Added 2nd Gain Block</vt:lpstr>
      <vt:lpstr>Add Constant Block</vt:lpstr>
      <vt:lpstr>Added Constant Block</vt:lpstr>
      <vt:lpstr>Add Sum Block</vt:lpstr>
      <vt:lpstr>Added Constant Block</vt:lpstr>
      <vt:lpstr>Add Data Type Conversion Block</vt:lpstr>
      <vt:lpstr>Added Data Type Conversion Block</vt:lpstr>
      <vt:lpstr>Add Outport Block</vt:lpstr>
      <vt:lpstr>Added Outport Block</vt:lpstr>
      <vt:lpstr>Add Signal Lines</vt:lpstr>
      <vt:lpstr>Align Blocks</vt:lpstr>
      <vt:lpstr>Show Property Inspector (Method 1) Note: This is my preferred method </vt:lpstr>
      <vt:lpstr>Show Property Inspector (Method 2) Note: This method will force property Inspector to activate</vt:lpstr>
      <vt:lpstr>Update Signal: t</vt:lpstr>
      <vt:lpstr>Update Signal: t_squared</vt:lpstr>
      <vt:lpstr>Update Parameter: COEFF_A</vt:lpstr>
      <vt:lpstr>Format Blocks to Same Size Note: The last block you select is used as the formatting reference. All other selected blocks will be formatted to match it.</vt:lpstr>
      <vt:lpstr>Format Blocks to Same Size Note: The last block you select is used as the formatting reference. All other selected blocks will be formatted to match it.</vt:lpstr>
      <vt:lpstr>Update Parameters: COEFF_B &amp; COEFF_C</vt:lpstr>
      <vt:lpstr>Update Signal: coeffA_t_squared</vt:lpstr>
      <vt:lpstr>Update Signal: neg_4t</vt:lpstr>
      <vt:lpstr>Update Signal: const_21</vt:lpstr>
      <vt:lpstr>Update Signal: y_raw</vt:lpstr>
      <vt:lpstr>Update Signal: y</vt:lpstr>
      <vt:lpstr>Save Model File</vt:lpstr>
      <vt:lpstr>How to Use Model Configuration</vt:lpstr>
      <vt:lpstr>Detailed Success in this section looks like knowing how to …</vt:lpstr>
      <vt:lpstr>Update Model Configurations (Part 1)</vt:lpstr>
      <vt:lpstr>Update Model Configurations (Part 2)</vt:lpstr>
      <vt:lpstr>Save Model File</vt:lpstr>
      <vt:lpstr>How to Use Model Explorer</vt:lpstr>
      <vt:lpstr>Detailed Success in this section looks like knowing how to …</vt:lpstr>
      <vt:lpstr>Open Model Explorer</vt:lpstr>
      <vt:lpstr>Create Data Dictionary File (.sldd)</vt:lpstr>
      <vt:lpstr>Create Data Dictionary File (.sldd)</vt:lpstr>
      <vt:lpstr>Open Design Data</vt:lpstr>
      <vt:lpstr>Add Simulink Signal Note: Just Create the blank signal for now</vt:lpstr>
      <vt:lpstr>Add Simulink Parameter Note: Just Create the blank parameter for now</vt:lpstr>
      <vt:lpstr>Rename Signals and Parameters</vt:lpstr>
      <vt:lpstr>Mass Update Data Type Note: Mandatory</vt:lpstr>
      <vt:lpstr>Mass Update Dimensions Note: Optional</vt:lpstr>
      <vt:lpstr>Mass Update Storage Class Note: Optional</vt:lpstr>
      <vt:lpstr>Observe Data Dictionary After Mass Update</vt:lpstr>
      <vt:lpstr>Update Signal: y_raw</vt:lpstr>
      <vt:lpstr>Update Signal: y</vt:lpstr>
      <vt:lpstr>Update Signal: t_squared</vt:lpstr>
      <vt:lpstr>Update Signal: t</vt:lpstr>
      <vt:lpstr>Update Signal: neg_4t</vt:lpstr>
      <vt:lpstr>Update Signal: coeffA_t_squared</vt:lpstr>
      <vt:lpstr>Update Parameter: COEFF_C</vt:lpstr>
      <vt:lpstr>Update Parameter: COEFF_B</vt:lpstr>
      <vt:lpstr>Update Parameter: COEFF_A</vt:lpstr>
      <vt:lpstr>Save Changes made to Data Dictionary (.sldd) Note: Changes made to the data dictionary must be saved from Model Explorer. Otherwise, the changes will not be applied and may be lost. Note: Pressing Ctrl+S in Model Explorer does not save data dictionary changes. Instead, it may create a new signal or have a different action than expected. To save dictionary changes, right-click the data dictionary and select Save Changes. Yes, this behavior surprises everyone at least once. </vt:lpstr>
      <vt:lpstr>Save Model File</vt:lpstr>
      <vt:lpstr>How to Run a simulation</vt:lpstr>
      <vt:lpstr>Detailed Success in this section looks like knowing how to …</vt:lpstr>
      <vt:lpstr>Run Simulation</vt:lpstr>
      <vt:lpstr>How to Use Data inspector</vt:lpstr>
      <vt:lpstr>Detailed Success in this section looks like knowing how to …</vt:lpstr>
      <vt:lpstr>Open Data Inspector Note: Simulation must be run prior to opening Data inspector to observe raw values.</vt:lpstr>
      <vt:lpstr>Setup Data Inspector</vt:lpstr>
      <vt:lpstr>Add Cursor</vt:lpstr>
      <vt:lpstr>Save Data Inspector File</vt:lpstr>
      <vt:lpstr>PowerPoint Presentation</vt:lpstr>
      <vt:lpstr>Relaunch the add-in</vt:lpstr>
      <vt:lpstr>PowerPoint Presentation</vt:lpstr>
      <vt:lpstr>Admin Only Links</vt:lpstr>
      <vt:lpstr>PowerPoint Presentation</vt:lpstr>
    </vt:vector>
  </TitlesOfParts>
  <Company>Belcan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Capabilities for Spirit Aerosystems Defense Group 1-15-21</dc:title>
  <dc:creator>Juraco, Devra D.</dc:creator>
  <cp:keywords/>
  <dc:description>Structural Analysis Capabilities</dc:description>
  <cp:lastModifiedBy>Tyler, Nathaniel</cp:lastModifiedBy>
  <cp:revision>2524</cp:revision>
  <cp:lastPrinted>2026-03-04T20:38:48Z</cp:lastPrinted>
  <dcterms:created xsi:type="dcterms:W3CDTF">2017-05-22T13:23:52Z</dcterms:created>
  <dcterms:modified xsi:type="dcterms:W3CDTF">2026-10-19T17:09:22Z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0x010100280BF5D2CCC9BE4EBBD35A8004C48EA3</vt:lpwstr>
  </property>
  <property fmtid="{D5CDD505-2E9C-101B-9397-08002B2CF9AE}" pid="3" name="docIndexRef">
    <vt:lpwstr>35f620e0-3dd2-4867-83d5-d9af9c72e9e3</vt:lpwstr>
  </property>
  <property fmtid="{D5CDD505-2E9C-101B-9397-08002B2CF9AE}" pid="4" name="bjDocumentSecurityLabel">
    <vt:lpwstr>No Marking</vt:lpwstr>
  </property>
  <property fmtid="{D5CDD505-2E9C-101B-9397-08002B2CF9AE}" pid="5" name="bjSaver">
    <vt:lpwstr>iVCgZez7e+NedMZW8m0dhRZDBR035PuE</vt:lpwstr>
  </property>
  <property fmtid="{D5CDD505-2E9C-101B-9397-08002B2CF9AE}" pid="6" name="Presentation">
    <vt:lpwstr>Aircraft Capabilities for Spirit Aerosystems Defense Group 1-15-21</vt:lpwstr>
  </property>
  <property fmtid="{D5CDD505-2E9C-101B-9397-08002B2CF9AE}" pid="7" name="SlideDescription">
    <vt:lpwstr>Structural Analysis Capabilities</vt:lpwstr>
  </property>
  <property fmtid="{D5CDD505-2E9C-101B-9397-08002B2CF9AE}" pid="8" name="bjClsUserRVM">
    <vt:lpwstr>[]</vt:lpwstr>
  </property>
  <property fmtid="{D5CDD505-2E9C-101B-9397-08002B2CF9AE}" pid="9" name="bjLabelHistoryID">
    <vt:lpwstr>{46014CD1-4077-46EA-8F24-7482198939F9}</vt:lpwstr>
  </property>
  <property fmtid="{D5CDD505-2E9C-101B-9397-08002B2CF9AE}" pid="10" name="TitusGUID">
    <vt:lpwstr>b9d3699b-1b82-4d1e-9754-f4d831e9b74a</vt:lpwstr>
  </property>
  <property fmtid="{D5CDD505-2E9C-101B-9397-08002B2CF9AE}" pid="11" name="TitusDesignation">
    <vt:lpwstr>NTDNCUI</vt:lpwstr>
  </property>
</Properties>
</file>