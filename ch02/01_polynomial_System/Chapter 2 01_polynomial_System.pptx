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5"/>
  </p:sldMasterIdLst>
  <p:notesMasterIdLst>
    <p:notesMasterId r:id="rId108"/>
  </p:notesMasterIdLst>
  <p:handoutMasterIdLst>
    <p:handoutMasterId r:id="rId109"/>
  </p:handoutMasterIdLst>
  <p:sldIdLst>
    <p:sldId id="256" r:id="rId6"/>
    <p:sldId id="3714" r:id="rId7"/>
    <p:sldId id="3764" r:id="rId8"/>
    <p:sldId id="3715" r:id="rId9"/>
    <p:sldId id="3717" r:id="rId10"/>
    <p:sldId id="3815" r:id="rId11"/>
    <p:sldId id="3814" r:id="rId12"/>
    <p:sldId id="3811" r:id="rId13"/>
    <p:sldId id="3810" r:id="rId14"/>
    <p:sldId id="3633" r:id="rId15"/>
    <p:sldId id="3718" r:id="rId16"/>
    <p:sldId id="3719" r:id="rId17"/>
    <p:sldId id="3822" r:id="rId18"/>
    <p:sldId id="3823" r:id="rId19"/>
    <p:sldId id="3820" r:id="rId20"/>
    <p:sldId id="3816" r:id="rId21"/>
    <p:sldId id="3819" r:id="rId22"/>
    <p:sldId id="3821" r:id="rId23"/>
    <p:sldId id="3634" r:id="rId24"/>
    <p:sldId id="3721" r:id="rId25"/>
    <p:sldId id="3722" r:id="rId26"/>
    <p:sldId id="3813" r:id="rId27"/>
    <p:sldId id="3812" r:id="rId28"/>
    <p:sldId id="3724" r:id="rId29"/>
    <p:sldId id="3635" r:id="rId30"/>
    <p:sldId id="3725" r:id="rId31"/>
    <p:sldId id="3730" r:id="rId32"/>
    <p:sldId id="3824" r:id="rId33"/>
    <p:sldId id="3827" r:id="rId34"/>
    <p:sldId id="3825" r:id="rId35"/>
    <p:sldId id="3828" r:id="rId36"/>
    <p:sldId id="3826" r:id="rId37"/>
    <p:sldId id="3829" r:id="rId38"/>
    <p:sldId id="3831" r:id="rId39"/>
    <p:sldId id="3830" r:id="rId40"/>
    <p:sldId id="3832" r:id="rId41"/>
    <p:sldId id="3833" r:id="rId42"/>
    <p:sldId id="3834" r:id="rId43"/>
    <p:sldId id="3835" r:id="rId44"/>
    <p:sldId id="3838" r:id="rId45"/>
    <p:sldId id="3837" r:id="rId46"/>
    <p:sldId id="3839" r:id="rId47"/>
    <p:sldId id="3840" r:id="rId48"/>
    <p:sldId id="3841" r:id="rId49"/>
    <p:sldId id="3842" r:id="rId50"/>
    <p:sldId id="3862" r:id="rId51"/>
    <p:sldId id="3861" r:id="rId52"/>
    <p:sldId id="3843" r:id="rId53"/>
    <p:sldId id="3844" r:id="rId54"/>
    <p:sldId id="3845" r:id="rId55"/>
    <p:sldId id="3846" r:id="rId56"/>
    <p:sldId id="3847" r:id="rId57"/>
    <p:sldId id="3848" r:id="rId58"/>
    <p:sldId id="3849" r:id="rId59"/>
    <p:sldId id="3850" r:id="rId60"/>
    <p:sldId id="3851" r:id="rId61"/>
    <p:sldId id="3853" r:id="rId62"/>
    <p:sldId id="3854" r:id="rId63"/>
    <p:sldId id="3855" r:id="rId64"/>
    <p:sldId id="3859" r:id="rId65"/>
    <p:sldId id="3860" r:id="rId66"/>
    <p:sldId id="3856" r:id="rId67"/>
    <p:sldId id="3857" r:id="rId68"/>
    <p:sldId id="3858" r:id="rId69"/>
    <p:sldId id="3638" r:id="rId70"/>
    <p:sldId id="3894" r:id="rId71"/>
    <p:sldId id="3761" r:id="rId72"/>
    <p:sldId id="3762" r:id="rId73"/>
    <p:sldId id="3765" r:id="rId74"/>
    <p:sldId id="3766" r:id="rId75"/>
    <p:sldId id="3769" r:id="rId76"/>
    <p:sldId id="3770" r:id="rId77"/>
    <p:sldId id="3863" r:id="rId78"/>
    <p:sldId id="3864" r:id="rId79"/>
    <p:sldId id="3866" r:id="rId80"/>
    <p:sldId id="3869" r:id="rId81"/>
    <p:sldId id="3870" r:id="rId82"/>
    <p:sldId id="3871" r:id="rId83"/>
    <p:sldId id="3874" r:id="rId84"/>
    <p:sldId id="3875" r:id="rId85"/>
    <p:sldId id="3878" r:id="rId86"/>
    <p:sldId id="3879" r:id="rId87"/>
    <p:sldId id="3880" r:id="rId88"/>
    <p:sldId id="3881" r:id="rId89"/>
    <p:sldId id="3884" r:id="rId90"/>
    <p:sldId id="3885" r:id="rId91"/>
    <p:sldId id="3886" r:id="rId92"/>
    <p:sldId id="3776" r:id="rId93"/>
    <p:sldId id="3887" r:id="rId94"/>
    <p:sldId id="3636" r:id="rId95"/>
    <p:sldId id="3747" r:id="rId96"/>
    <p:sldId id="3889" r:id="rId97"/>
    <p:sldId id="3637" r:id="rId98"/>
    <p:sldId id="3749" r:id="rId99"/>
    <p:sldId id="3890" r:id="rId100"/>
    <p:sldId id="3891" r:id="rId101"/>
    <p:sldId id="3892" r:id="rId102"/>
    <p:sldId id="3893" r:id="rId103"/>
    <p:sldId id="3782" r:id="rId104"/>
    <p:sldId id="3784" r:id="rId105"/>
    <p:sldId id="3783" r:id="rId106"/>
    <p:sldId id="3786" r:id="rId107"/>
  </p:sldIdLst>
  <p:sldSz cx="12192000" cy="6858000"/>
  <p:notesSz cx="6950075" cy="9236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01A4A7-E4B7-46E5-93DE-A146A072A09E}">
          <p14:sldIdLst>
            <p14:sldId id="256"/>
          </p14:sldIdLst>
        </p14:section>
        <p14:section name="What is MATLAB and Simulink?" id="{08094596-2F79-407D-957C-27286169ABE8}">
          <p14:sldIdLst>
            <p14:sldId id="3714"/>
            <p14:sldId id="3764"/>
          </p14:sldIdLst>
        </p14:section>
        <p14:section name="What does success look like?" id="{2184ACB6-BC5A-45A7-AA08-0CFF90079FF3}">
          <p14:sldIdLst>
            <p14:sldId id="3715"/>
          </p14:sldIdLst>
        </p14:section>
        <p14:section name="Final Model(s)" id="{DD7E7087-D4C1-49C4-90BA-FD121933CBC3}">
          <p14:sldIdLst>
            <p14:sldId id="3717"/>
            <p14:sldId id="3815"/>
            <p14:sldId id="3814"/>
            <p14:sldId id="3811"/>
            <p14:sldId id="3810"/>
          </p14:sldIdLst>
        </p14:section>
        <p14:section name="How to Open MATLAB &amp; SIMULINK" id="{C8DF2CCC-DF37-4452-A9BD-12549E5D36D1}">
          <p14:sldIdLst>
            <p14:sldId id="3633"/>
            <p14:sldId id="3718"/>
            <p14:sldId id="3719"/>
            <p14:sldId id="3822"/>
            <p14:sldId id="3823"/>
            <p14:sldId id="3820"/>
            <p14:sldId id="3816"/>
            <p14:sldId id="3819"/>
            <p14:sldId id="3821"/>
          </p14:sldIdLst>
        </p14:section>
        <p14:section name="How to Create a new Simulink Model" id="{82C3D226-D794-4489-92A1-E620DEDFB2A5}">
          <p14:sldIdLst>
            <p14:sldId id="3634"/>
            <p14:sldId id="3721"/>
            <p14:sldId id="3722"/>
            <p14:sldId id="3813"/>
            <p14:sldId id="3812"/>
            <p14:sldId id="3724"/>
          </p14:sldIdLst>
        </p14:section>
        <p14:section name="How to Use blocks" id="{000E4B64-D857-4ECD-81C8-90C1508B930D}">
          <p14:sldIdLst>
            <p14:sldId id="3635"/>
            <p14:sldId id="3725"/>
            <p14:sldId id="3730"/>
            <p14:sldId id="3824"/>
            <p14:sldId id="3827"/>
            <p14:sldId id="3825"/>
            <p14:sldId id="3828"/>
            <p14:sldId id="3826"/>
            <p14:sldId id="3829"/>
            <p14:sldId id="3831"/>
            <p14:sldId id="3830"/>
            <p14:sldId id="3832"/>
            <p14:sldId id="3833"/>
            <p14:sldId id="3834"/>
            <p14:sldId id="3835"/>
            <p14:sldId id="3838"/>
            <p14:sldId id="3837"/>
            <p14:sldId id="3839"/>
            <p14:sldId id="3840"/>
            <p14:sldId id="3841"/>
            <p14:sldId id="3842"/>
            <p14:sldId id="3862"/>
            <p14:sldId id="3861"/>
            <p14:sldId id="3843"/>
            <p14:sldId id="3844"/>
            <p14:sldId id="3845"/>
            <p14:sldId id="3846"/>
            <p14:sldId id="3847"/>
            <p14:sldId id="3848"/>
            <p14:sldId id="3849"/>
            <p14:sldId id="3850"/>
            <p14:sldId id="3851"/>
            <p14:sldId id="3853"/>
            <p14:sldId id="3854"/>
            <p14:sldId id="3855"/>
          </p14:sldIdLst>
        </p14:section>
        <p14:section name="How to Use Model Configuration" id="{8357885E-9705-4CB7-9C5B-5D62DAD8AE5C}">
          <p14:sldIdLst>
            <p14:sldId id="3859"/>
            <p14:sldId id="3860"/>
            <p14:sldId id="3856"/>
            <p14:sldId id="3857"/>
            <p14:sldId id="3858"/>
          </p14:sldIdLst>
        </p14:section>
        <p14:section name="How to Use Model Explorer" id="{84EACC95-D6FF-4E20-90C5-FE2F477BB695}">
          <p14:sldIdLst>
            <p14:sldId id="3638"/>
            <p14:sldId id="3894"/>
            <p14:sldId id="3761"/>
            <p14:sldId id="3762"/>
            <p14:sldId id="3765"/>
            <p14:sldId id="3766"/>
            <p14:sldId id="3769"/>
            <p14:sldId id="3770"/>
            <p14:sldId id="3863"/>
            <p14:sldId id="3864"/>
            <p14:sldId id="3866"/>
            <p14:sldId id="3869"/>
            <p14:sldId id="3870"/>
            <p14:sldId id="3871"/>
            <p14:sldId id="3874"/>
            <p14:sldId id="3875"/>
            <p14:sldId id="3878"/>
            <p14:sldId id="3879"/>
            <p14:sldId id="3880"/>
            <p14:sldId id="3881"/>
            <p14:sldId id="3884"/>
            <p14:sldId id="3885"/>
            <p14:sldId id="3886"/>
            <p14:sldId id="3776"/>
            <p14:sldId id="3887"/>
          </p14:sldIdLst>
        </p14:section>
        <p14:section name="How to Run a simulation" id="{3F1A5FEB-EFB7-4B88-A875-0798919095F3}">
          <p14:sldIdLst>
            <p14:sldId id="3636"/>
            <p14:sldId id="3747"/>
            <p14:sldId id="3889"/>
          </p14:sldIdLst>
        </p14:section>
        <p14:section name="How to Use Data inspector" id="{62385923-6401-41CB-84E6-D309E1EB289F}">
          <p14:sldIdLst>
            <p14:sldId id="3637"/>
            <p14:sldId id="3749"/>
            <p14:sldId id="3890"/>
            <p14:sldId id="3891"/>
            <p14:sldId id="3892"/>
            <p14:sldId id="3893"/>
            <p14:sldId id="3782"/>
            <p14:sldId id="3784"/>
            <p14:sldId id="3783"/>
            <p14:sldId id="37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4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548" autoAdjust="0"/>
  </p:normalViewPr>
  <p:slideViewPr>
    <p:cSldViewPr snapToGrid="0">
      <p:cViewPr varScale="1">
        <p:scale>
          <a:sx n="102" d="100"/>
          <a:sy n="102" d="100"/>
        </p:scale>
        <p:origin x="948" y="114"/>
      </p:cViewPr>
      <p:guideLst>
        <p:guide orient="horz" pos="348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22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12" Type="http://schemas.openxmlformats.org/officeDocument/2006/relationships/theme" Target="theme/theme1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5" Type="http://schemas.openxmlformats.org/officeDocument/2006/relationships/slideMaster" Target="slideMasters/slideMaster1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tableStyles" Target="tableStyles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presProps" Target="presProps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98D98F-175E-78A3-B8F6-CC7AB77352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1D7EE-CF92-23B0-51BA-B4DDAA57D6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A40AAD2-F4DE-46BB-9F99-83A578C04AFF}" type="datetimeFigureOut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8C0E3-C851-CE37-FD1B-A70FC4954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3D36C-A4BC-55F4-6B23-377481141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3CA2B0F-1A0A-4562-9947-C246A40584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087F94-3C40-5DB6-5E60-B61FB53A37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7044B-4DF8-C000-1661-91CAF8D24A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6D71FA5-8285-4D80-ACF0-ECBE044B5E2B}" type="datetimeFigureOut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6DFA5B-B99B-0C95-58EF-202B53A6DC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771CE75-06FE-FE26-DCC2-2C570D11B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278A4-2710-CFD8-CEF4-4DA98B66B4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5B7C4-2ABE-6434-8EA6-9A0B3F434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A04150-874A-42E2-8795-B6E7E15918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2F4B7EE4-2ED7-D686-41CF-29D23845D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AA4ED621-05FA-44A0-34EE-D9D763AA7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C449068-0203-BD64-465A-32FB5765F33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CD74A-8049-1673-A412-BC69A5A452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66" name="Slide Number Placeholder 5">
            <a:extLst>
              <a:ext uri="{FF2B5EF4-FFF2-40B4-BE49-F238E27FC236}">
                <a16:creationId xmlns:a16="http://schemas.microsoft.com/office/drawing/2014/main" id="{26FCB2B9-C5D1-C952-5E9B-F3FCF35F80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B3D759-A5EF-4211-AF68-8970C468B8A9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A04150-874A-42E2-8795-B6E7E159182C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7760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40ED5-7920-DBF0-0710-202F3E84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E03AB-5EFD-710F-C778-33B39990F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D9577-B4FE-FB3B-06EA-8E569064D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1125078-3ED4-83CA-BE64-9311D58E55A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2F7B7-BA6A-0BE0-10EA-B1C2FD9298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44F00-9566-380B-961A-C0C0560B2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A04150-874A-42E2-8795-B6E7E159182C}" type="slidenum">
              <a:rPr lang="en-US" altLang="en-US" smtClean="0"/>
              <a:pPr>
                <a:defRPr/>
              </a:pPr>
              <a:t>66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6429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6.xml"/><Relationship Id="rId7" Type="http://schemas.openxmlformats.org/officeDocument/2006/relationships/image" Target="../media/image2.emf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7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1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1 - 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79C1A729-D5B7-CA1C-AF00-7DFA55FDD3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051" name="Object 2" hidden="1">
                        <a:extLst>
                          <a:ext uri="{FF2B5EF4-FFF2-40B4-BE49-F238E27FC236}">
                            <a16:creationId xmlns:a16="http://schemas.microsoft.com/office/drawing/2014/main" id="{5136F095-8153-4125-4D5B-2AFDD07C32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BBA21-8225-20C1-5BDF-C71464D2B24F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D9CA5D-BC3B-E8C1-603F-390C5EFC2740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95288" y="6584950"/>
            <a:ext cx="8240712" cy="215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 dirty="0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 dirty="0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pic>
        <p:nvPicPr>
          <p:cNvPr id="7" name="Picture 5" descr="Purpose &amp; principles PPT 2.png">
            <a:extLst>
              <a:ext uri="{FF2B5EF4-FFF2-40B4-BE49-F238E27FC236}">
                <a16:creationId xmlns:a16="http://schemas.microsoft.com/office/drawing/2014/main" id="{7B4C6C15-5B35-83EE-4D10-265906990F7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Purpose &amp; principles PPT.png">
            <a:extLst>
              <a:ext uri="{FF2B5EF4-FFF2-40B4-BE49-F238E27FC236}">
                <a16:creationId xmlns:a16="http://schemas.microsoft.com/office/drawing/2014/main" id="{492F9D93-D16B-9D12-9F50-8CC0D72452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3537E1-CF04-9648-0FD9-4F21DA1FFB2A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27ABA1CE-7F1E-4C0A-AB66-66670BD6FC9C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226001" y="398463"/>
            <a:ext cx="9635800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816" y="1134000"/>
            <a:ext cx="11341101" cy="522076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hcSlideMaster.1_Layout 1 - Title, Subtitle and ContentHeader" descr=" ">
            <a:extLst>
              <a:ext uri="{FF2B5EF4-FFF2-40B4-BE49-F238E27FC236}">
                <a16:creationId xmlns:a16="http://schemas.microsoft.com/office/drawing/2014/main" id="{C72B11F0-4474-8A6E-7B76-99B15B2E189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fcSlideMaster.1_Layout 1 - Title, Subtitle and ContentFooter" descr=" ">
            <a:extLst>
              <a:ext uri="{FF2B5EF4-FFF2-40B4-BE49-F238E27FC236}">
                <a16:creationId xmlns:a16="http://schemas.microsoft.com/office/drawing/2014/main" id="{AAEECE00-2F49-7A8D-181F-BB579B75B4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33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075" name="Object 2" hidden="1">
                        <a:extLst>
                          <a:ext uri="{FF2B5EF4-FFF2-40B4-BE49-F238E27FC236}">
                            <a16:creationId xmlns:a16="http://schemas.microsoft.com/office/drawing/2014/main" id="{FCB7C648-B77C-442A-E153-A1351F8DB2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89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333C370-613B-3E3D-3647-7A8D70B2A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6" y="1531941"/>
            <a:ext cx="11341101" cy="482282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1 Comparison B1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1 Comparison B1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38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4008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333C370-613B-3E3D-3647-7A8D70B2A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6" y="1838484"/>
            <a:ext cx="11341101" cy="45162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cSlideMaster.1_1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1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1 Comparison B2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1 Comparison B2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95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11338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11338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1 Comparison B3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1 Comparison B3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102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992254"/>
            <a:ext cx="5623560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5623560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3192313"/>
            <a:ext cx="5623560" cy="32182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3192313"/>
            <a:ext cx="5623560" cy="32182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1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1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72DFA65D-B2CE-3E05-BE20-8537C69FFD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818" y="2420888"/>
            <a:ext cx="5623560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82DB8494-3814-E0E3-27A9-B12017EEF9F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13356" y="2420888"/>
            <a:ext cx="5623560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3" name="hcSlideMaster.2 Comparison AHeader" descr=" ">
            <a:extLst>
              <a:ext uri="{FF2B5EF4-FFF2-40B4-BE49-F238E27FC236}">
                <a16:creationId xmlns:a16="http://schemas.microsoft.com/office/drawing/2014/main" id="{F1F89A26-CD57-2053-40B7-B51CDAB9FC3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4" name="fcSlideMaster.2 Comparison AFooter" descr=" ">
            <a:extLst>
              <a:ext uri="{FF2B5EF4-FFF2-40B4-BE49-F238E27FC236}">
                <a16:creationId xmlns:a16="http://schemas.microsoft.com/office/drawing/2014/main" id="{06CEAAAD-DA45-4350-D5CA-363F379592A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93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992254"/>
            <a:ext cx="5623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5623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5623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2758381"/>
            <a:ext cx="5623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2 Comparison B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2 Comparison B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98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563046"/>
            <a:ext cx="5623560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563046"/>
            <a:ext cx="5623560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042465"/>
            <a:ext cx="5623560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2042465"/>
            <a:ext cx="5623560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2 Comparison B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2 Comparison B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2 Comparison CHeader" descr=" ">
            <a:extLst>
              <a:ext uri="{FF2B5EF4-FFF2-40B4-BE49-F238E27FC236}">
                <a16:creationId xmlns:a16="http://schemas.microsoft.com/office/drawing/2014/main" id="{508F0E3E-452A-401E-E954-91090E28AE5A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2 Comparison CFooter" descr=" ">
            <a:extLst>
              <a:ext uri="{FF2B5EF4-FFF2-40B4-BE49-F238E27FC236}">
                <a16:creationId xmlns:a16="http://schemas.microsoft.com/office/drawing/2014/main" id="{DDC17D0F-3F44-4B9C-2CD1-64DE756AF4C5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750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51FD2A61-A021-DDFD-0B3D-2758D5276C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817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3138034"/>
            <a:ext cx="3776472" cy="327252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3CAE348C-CA9B-6DA5-85C0-6EA00EA90E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5818" y="1992254"/>
            <a:ext cx="3776472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A6ABB32-3570-2D77-6ACA-8DA3FA3849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992254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049E229-D6A4-F87E-AB12-4C2B517E737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3137004"/>
            <a:ext cx="3776472" cy="32735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64FEF03-992E-3B70-A2B4-51080444E6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992254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A037C432-8FB9-320B-3A82-ECDB6E29C13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3137004"/>
            <a:ext cx="3776472" cy="32735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hcSlideMaster.3 Comparison BHeader" descr=" ">
            <a:extLst>
              <a:ext uri="{FF2B5EF4-FFF2-40B4-BE49-F238E27FC236}">
                <a16:creationId xmlns:a16="http://schemas.microsoft.com/office/drawing/2014/main" id="{9BC8C6B8-4E01-9ECA-E6B8-4C91558F0286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1" name="fcSlideMaster.3 Comparison BFooter" descr=" ">
            <a:extLst>
              <a:ext uri="{FF2B5EF4-FFF2-40B4-BE49-F238E27FC236}">
                <a16:creationId xmlns:a16="http://schemas.microsoft.com/office/drawing/2014/main" id="{B211ACB9-3DF6-7317-BC04-482FCC5ED1C2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7B9245E7-4718-498D-130B-89CF21FC23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28569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4F32C694-8B96-B9CD-8392-C42EBEE5E2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2555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2" name="hcSlideMaster.3 Comparison AHeader" descr=" ">
            <a:extLst>
              <a:ext uri="{FF2B5EF4-FFF2-40B4-BE49-F238E27FC236}">
                <a16:creationId xmlns:a16="http://schemas.microsoft.com/office/drawing/2014/main" id="{F7626623-CDA9-2F4D-A611-475B9A1A7A16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3" name="fcSlideMaster.3 Comparison AFooter" descr=" ">
            <a:extLst>
              <a:ext uri="{FF2B5EF4-FFF2-40B4-BE49-F238E27FC236}">
                <a16:creationId xmlns:a16="http://schemas.microsoft.com/office/drawing/2014/main" id="{F2F70BF1-CED2-7175-F3A4-BAD6CF4704CB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150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43F772C-E4D1-DD5B-2BFB-769C4F9F2F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F9773B9-3F0D-5222-F270-22C325B35B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3 Comparison B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3 Comparison B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12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43F772C-E4D1-DD5B-2BFB-769C4F9F2F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F9773B9-3F0D-5222-F270-22C325B35B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3 Comparison B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3 Comparison B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8" name="hcSlideMaster.3 Comparison CHeader" descr=" ">
            <a:extLst>
              <a:ext uri="{FF2B5EF4-FFF2-40B4-BE49-F238E27FC236}">
                <a16:creationId xmlns:a16="http://schemas.microsoft.com/office/drawing/2014/main" id="{023C4D99-3769-1404-CB20-C1B6E0FF34DF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9" name="fcSlideMaster.3 Comparison CFooter" descr=" ">
            <a:extLst>
              <a:ext uri="{FF2B5EF4-FFF2-40B4-BE49-F238E27FC236}">
                <a16:creationId xmlns:a16="http://schemas.microsoft.com/office/drawing/2014/main" id="{71634C75-08A0-7D05-C922-CF82463F608D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485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 Quiz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76433-AA70-59B8-4D99-440E2D803904}"/>
              </a:ext>
            </a:extLst>
          </p:cNvPr>
          <p:cNvSpPr/>
          <p:nvPr userDrawn="1"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b="1" dirty="0">
                <a:solidFill>
                  <a:schemeClr val="bg1"/>
                </a:solidFill>
              </a:rPr>
              <a:t>▶ </a:t>
            </a:r>
            <a:r>
              <a:rPr lang="es-AR" sz="2400" b="1" dirty="0" err="1">
                <a:solidFill>
                  <a:schemeClr val="bg1"/>
                </a:solidFill>
              </a:rPr>
              <a:t>Launch</a:t>
            </a:r>
            <a:r>
              <a:rPr lang="es-AR" sz="2400" b="1" dirty="0">
                <a:solidFill>
                  <a:schemeClr val="bg1"/>
                </a:solidFill>
              </a:rPr>
              <a:t> Quiz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F5667-CE5B-120C-380F-678C096FAD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325" y="3709988"/>
            <a:ext cx="5563446" cy="6771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s-AR" altLang="en-US" sz="44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Knowledge Check</a:t>
            </a:r>
            <a:endParaRPr lang="en-US" altLang="en-US" sz="44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4" descr="Purpose &amp; principles PPT 2.png">
            <a:extLst>
              <a:ext uri="{FF2B5EF4-FFF2-40B4-BE49-F238E27FC236}">
                <a16:creationId xmlns:a16="http://schemas.microsoft.com/office/drawing/2014/main" id="{46D4E8BB-AD1C-A1E8-223D-24B86B99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48700" y="3276600"/>
            <a:ext cx="3087688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hcSlideMaster.Thank You SlideHeader" descr=" ">
            <a:extLst>
              <a:ext uri="{FF2B5EF4-FFF2-40B4-BE49-F238E27FC236}">
                <a16:creationId xmlns:a16="http://schemas.microsoft.com/office/drawing/2014/main" id="{0BA0FA88-0FE3-196E-FEF7-C1256271ABF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fcSlideMaster.Thank You SlideFooter" descr=" ">
            <a:extLst>
              <a:ext uri="{FF2B5EF4-FFF2-40B4-BE49-F238E27FC236}">
                <a16:creationId xmlns:a16="http://schemas.microsoft.com/office/drawing/2014/main" id="{E40DC28D-0777-5350-09F1-18E83F9E760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hcSlideMaster.Take Quiz SlideHeader" descr=" ">
            <a:extLst>
              <a:ext uri="{FF2B5EF4-FFF2-40B4-BE49-F238E27FC236}">
                <a16:creationId xmlns:a16="http://schemas.microsoft.com/office/drawing/2014/main" id="{2F20B705-9D19-FFB5-2EC6-5DA534BDA5B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Take Quiz SlideFooter" descr=" ">
            <a:extLst>
              <a:ext uri="{FF2B5EF4-FFF2-40B4-BE49-F238E27FC236}">
                <a16:creationId xmlns:a16="http://schemas.microsoft.com/office/drawing/2014/main" id="{742A4D41-DBE7-74FE-259C-CCF3B3650CEB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857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76433-AA70-59B8-4D99-440E2D803904}"/>
              </a:ext>
            </a:extLst>
          </p:cNvPr>
          <p:cNvSpPr/>
          <p:nvPr userDrawn="1"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b="1" dirty="0">
                <a:solidFill>
                  <a:schemeClr val="bg1"/>
                </a:solidFill>
              </a:rPr>
              <a:t>Belcan.com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F5667-CE5B-120C-380F-678C096FAD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325" y="3709988"/>
            <a:ext cx="3787775" cy="6778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s-AR" altLang="en-US" sz="4400" b="1">
                <a:solidFill>
                  <a:schemeClr val="accent1"/>
                </a:solidFill>
                <a:latin typeface="Arial Black" panose="020B0A04020102020204" pitchFamily="34" charset="0"/>
              </a:rPr>
              <a:t>THANK YOU</a:t>
            </a:r>
            <a:endParaRPr lang="en-US" altLang="en-US" sz="4400" b="1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4" descr="Purpose &amp; principles PPT 2.png">
            <a:extLst>
              <a:ext uri="{FF2B5EF4-FFF2-40B4-BE49-F238E27FC236}">
                <a16:creationId xmlns:a16="http://schemas.microsoft.com/office/drawing/2014/main" id="{46D4E8BB-AD1C-A1E8-223D-24B86B99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48700" y="3276600"/>
            <a:ext cx="3087688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hcSlideMaster.Thank You SlideHeader" descr=" ">
            <a:extLst>
              <a:ext uri="{FF2B5EF4-FFF2-40B4-BE49-F238E27FC236}">
                <a16:creationId xmlns:a16="http://schemas.microsoft.com/office/drawing/2014/main" id="{0BA0FA88-0FE3-196E-FEF7-C1256271ABF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fcSlideMaster.Thank You SlideFooter" descr=" ">
            <a:extLst>
              <a:ext uri="{FF2B5EF4-FFF2-40B4-BE49-F238E27FC236}">
                <a16:creationId xmlns:a16="http://schemas.microsoft.com/office/drawing/2014/main" id="{E40DC28D-0777-5350-09F1-18E83F9E760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100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920A949A-9641-2D5F-E932-01EC50A583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60" imgH="360" progId="TCLayout.ActiveDocument.1">
                  <p:embed/>
                </p:oleObj>
              </mc:Choice>
              <mc:Fallback>
                <p:oleObj name="think-cell Slide" r:id="rId6" imgW="360" imgH="360" progId="TCLayout.ActiveDocument.1">
                  <p:embed/>
                  <p:pic>
                    <p:nvPicPr>
                      <p:cNvPr id="5123" name="Object 2" hidden="1">
                        <a:extLst>
                          <a:ext uri="{FF2B5EF4-FFF2-40B4-BE49-F238E27FC236}">
                            <a16:creationId xmlns:a16="http://schemas.microsoft.com/office/drawing/2014/main" id="{FD3C687B-20BB-B94B-C3D8-30BAC96F25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FC0342D-A2E8-D410-05B0-8135E3CC221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1342688" y="6513513"/>
            <a:ext cx="542925" cy="3508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cs typeface="Arial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07EAE52-ED7C-039E-F134-7453006A00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01275" y="6513513"/>
            <a:ext cx="1141413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508000" y="1219200"/>
            <a:ext cx="11379200" cy="452438"/>
          </a:xfr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DE81475-0E4A-A3CD-15F2-7CBFCBD8C58F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3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A9157AA-27E1-5C1C-6CB4-6CD176EB7815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4"/>
            </p:custDataLst>
          </p:nvPr>
        </p:nvSpPr>
        <p:spPr>
          <a:xfrm>
            <a:off x="11342688" y="6626225"/>
            <a:ext cx="542925" cy="131763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89E7ACC-C495-45C7-BB8A-D2912D09B9D9}" type="slidenum">
              <a:rPr lang="es-AR" altLang="en-US"/>
              <a:pPr>
                <a:defRPr/>
              </a:pPr>
              <a:t>‹#›</a:t>
            </a:fld>
            <a:endParaRPr lang="es-AR" altLang="en-US"/>
          </a:p>
        </p:txBody>
      </p:sp>
      <p:sp>
        <p:nvSpPr>
          <p:cNvPr id="7" name="hcSlideMaster.1_Title and ContentHeader" descr=" ">
            <a:extLst>
              <a:ext uri="{FF2B5EF4-FFF2-40B4-BE49-F238E27FC236}">
                <a16:creationId xmlns:a16="http://schemas.microsoft.com/office/drawing/2014/main" id="{1915600B-5545-1EF0-E6A9-56A36431466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fcSlideMaster.1_Title and ContentFooter" descr=" ">
            <a:extLst>
              <a:ext uri="{FF2B5EF4-FFF2-40B4-BE49-F238E27FC236}">
                <a16:creationId xmlns:a16="http://schemas.microsoft.com/office/drawing/2014/main" id="{24377476-82F4-ADCE-8376-8A58D6FAAB6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951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30" y="457201"/>
            <a:ext cx="11199941" cy="67506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96029" y="1183066"/>
            <a:ext cx="11204664" cy="495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cap="all" baseline="0">
                <a:solidFill>
                  <a:schemeClr val="bg1">
                    <a:lumMod val="50000"/>
                  </a:schemeClr>
                </a:solidFill>
                <a:latin typeface="Barlow ExtraBold" pitchFamily="2" charset="77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496030" y="1728931"/>
            <a:ext cx="11199941" cy="4443270"/>
          </a:xfrm>
        </p:spPr>
        <p:txBody>
          <a:bodyPr lIns="0" tIns="0" rIns="0" bIns="0"/>
          <a:lstStyle>
            <a:lvl1pPr>
              <a:defRPr sz="2400"/>
            </a:lvl1pPr>
            <a:lvl2pPr marL="685663" marR="0" indent="-228554" algn="l" defTabSz="91421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80000"/>
              <a:buFont typeface=".AppleSystemUIFont"/>
              <a:buChar char="-"/>
              <a:tabLst/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4B855-6D8E-4F4E-2B27-FB8DF8EEBEF3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F4A2603D-B5BA-45A7-8ADE-B68B0FC5AE6C}" type="datetime3">
              <a:rPr lang="en-US"/>
              <a:pPr>
                <a:defRPr/>
              </a:pPr>
              <a:t>14 September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7E28E-5579-CAD5-6F6F-876A35EBCA6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Proprietary &amp; Confidential | Customize footer text under Home &gt; Insert &gt; Header and Footer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F557EBB-7561-A327-2E0E-318AFE9ABA7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28388" y="6356350"/>
            <a:ext cx="468312" cy="36512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B8DF716-EA0E-4412-80E4-FDA1B3962B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" name="hcSlideMaster.1 ColumnHeader" descr=" ">
            <a:extLst>
              <a:ext uri="{FF2B5EF4-FFF2-40B4-BE49-F238E27FC236}">
                <a16:creationId xmlns:a16="http://schemas.microsoft.com/office/drawing/2014/main" id="{B228FA16-0987-3567-2B38-C145F35271EE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" name="fcSlideMaster.1 ColumnFooter" descr=" ">
            <a:extLst>
              <a:ext uri="{FF2B5EF4-FFF2-40B4-BE49-F238E27FC236}">
                <a16:creationId xmlns:a16="http://schemas.microsoft.com/office/drawing/2014/main" id="{43DE6FB4-96AE-3A8B-CFDD-F17C516E4F64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275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ayout 1 - 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D53A8410-8A7D-2046-830B-9C9A397FDA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8195" name="Object 2" hidden="1">
                        <a:extLst>
                          <a:ext uri="{FF2B5EF4-FFF2-40B4-BE49-F238E27FC236}">
                            <a16:creationId xmlns:a16="http://schemas.microsoft.com/office/drawing/2014/main" id="{4EFECE96-FB42-7C76-1BC4-F04D47A5EE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6F5FFF-9DCB-F57A-144E-9C5CFA22034E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179704-AC9F-B5B4-7A2B-54F1CBDE24C5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95288" y="6584950"/>
            <a:ext cx="8240712" cy="215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pic>
        <p:nvPicPr>
          <p:cNvPr id="9" name="Picture 5" descr="Purpose &amp; principles PPT 2.png">
            <a:extLst>
              <a:ext uri="{FF2B5EF4-FFF2-40B4-BE49-F238E27FC236}">
                <a16:creationId xmlns:a16="http://schemas.microsoft.com/office/drawing/2014/main" id="{51BB7C9D-805C-A9E3-7F29-75437C0BB7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 descr="Purpose &amp; principles PPT.png">
            <a:extLst>
              <a:ext uri="{FF2B5EF4-FFF2-40B4-BE49-F238E27FC236}">
                <a16:creationId xmlns:a16="http://schemas.microsoft.com/office/drawing/2014/main" id="{4A549EA2-D760-58AA-3107-A35416BAC1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5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816" y="1989138"/>
            <a:ext cx="11341101" cy="436562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95818" y="1538289"/>
            <a:ext cx="11339925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95817" y="6440102"/>
            <a:ext cx="11341099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9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13855" y="398463"/>
            <a:ext cx="67225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 defTabSz="914400" rtl="0" eaLnBrk="1" latinLnBrk="0" hangingPunct="1">
              <a:buNone/>
              <a:defRPr lang="en-US" sz="1800" kern="1200" dirty="0">
                <a:solidFill>
                  <a:srgbClr val="011C32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EF6118B1-6479-5C3A-1BDD-18614384E3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20488" y="6492875"/>
            <a:ext cx="6715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6F9664B-027D-4AEE-9671-4928BEA615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hcSlideMaster.3_Layout 1 - Title, Subtitle and ContentHeader" descr=" ">
            <a:extLst>
              <a:ext uri="{FF2B5EF4-FFF2-40B4-BE49-F238E27FC236}">
                <a16:creationId xmlns:a16="http://schemas.microsoft.com/office/drawing/2014/main" id="{94E5FAC6-9A0A-44F8-B9B3-D4501D93AD7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3_Layout 1 - Title, Subtitle and ContentFooter" descr=" ">
            <a:extLst>
              <a:ext uri="{FF2B5EF4-FFF2-40B4-BE49-F238E27FC236}">
                <a16:creationId xmlns:a16="http://schemas.microsoft.com/office/drawing/2014/main" id="{A97D2C51-3152-88B0-1B22-941262CECD8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385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bg1">
            <a:alpha val="9019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erospace engineering reviewing specifications on laptop">
            <a:extLst>
              <a:ext uri="{FF2B5EF4-FFF2-40B4-BE49-F238E27FC236}">
                <a16:creationId xmlns:a16="http://schemas.microsoft.com/office/drawing/2014/main" id="{6CF2200A-7965-A251-2FC7-3DB369B6FB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1013A9-9FBD-7644-61FF-9DDB201427EA}"/>
              </a:ext>
            </a:extLst>
          </p:cNvPr>
          <p:cNvSpPr/>
          <p:nvPr userDrawn="1"/>
        </p:nvSpPr>
        <p:spPr>
          <a:xfrm>
            <a:off x="0" y="4714875"/>
            <a:ext cx="12192000" cy="1285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7C041D6-A600-9DE5-86C4-03E906F683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60" imgH="360" progId="TCLayout.ActiveDocument.1">
                  <p:embed/>
                </p:oleObj>
              </mc:Choice>
              <mc:Fallback>
                <p:oleObj name="think-cell Slide" r:id="rId5" imgW="360" imgH="360" progId="TCLayout.ActiveDocument.1">
                  <p:embed/>
                  <p:pic>
                    <p:nvPicPr>
                      <p:cNvPr id="10244" name="Object 3" hidden="1">
                        <a:extLst>
                          <a:ext uri="{FF2B5EF4-FFF2-40B4-BE49-F238E27FC236}">
                            <a16:creationId xmlns:a16="http://schemas.microsoft.com/office/drawing/2014/main" id="{19D95245-B891-C7CD-1861-1B8BA77DB5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B2067C8-39F1-F65C-8D0E-5A7657CB6BC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746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8A159E-64D9-393E-C348-B4CE33A50B31}"/>
              </a:ext>
            </a:extLst>
          </p:cNvPr>
          <p:cNvSpPr/>
          <p:nvPr userDrawn="1"/>
        </p:nvSpPr>
        <p:spPr>
          <a:xfrm>
            <a:off x="0" y="4711700"/>
            <a:ext cx="12192000" cy="84138"/>
          </a:xfrm>
          <a:prstGeom prst="rect">
            <a:avLst/>
          </a:prstGeom>
          <a:solidFill>
            <a:srgbClr val="186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35CF18-49A8-8E1A-2AEC-9E1217ACA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981200"/>
            <a:ext cx="237966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9398C1-6466-6836-4718-870188C345F9}"/>
              </a:ext>
            </a:extLst>
          </p:cNvPr>
          <p:cNvCxnSpPr/>
          <p:nvPr userDrawn="1"/>
        </p:nvCxnSpPr>
        <p:spPr>
          <a:xfrm>
            <a:off x="1695450" y="5445125"/>
            <a:ext cx="66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itle 8"/>
          <p:cNvSpPr>
            <a:spLocks noGrp="1"/>
          </p:cNvSpPr>
          <p:nvPr>
            <p:ph type="title"/>
          </p:nvPr>
        </p:nvSpPr>
        <p:spPr>
          <a:xfrm>
            <a:off x="2356222" y="5014045"/>
            <a:ext cx="9394363" cy="8713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0" rIns="91440" bIns="0" anchor="ctr">
            <a:noAutofit/>
          </a:bodyPr>
          <a:lstStyle>
            <a:lvl1pPr marL="0" algn="l" defTabSz="914377" rtl="0" eaLnBrk="1" latinLnBrk="0" hangingPunct="1">
              <a:lnSpc>
                <a:spcPct val="100000"/>
              </a:lnSpc>
              <a:defRPr lang="en-US" sz="1600" b="1" kern="1200" cap="all" baseline="0" dirty="0">
                <a:solidFill>
                  <a:schemeClr val="bg1"/>
                </a:solidFill>
                <a:latin typeface="+mj-lt"/>
                <a:ea typeface="+mn-ea"/>
                <a:cs typeface="Dreaming Outloud Script Pro" panose="020B0604020202020204" pitchFamily="66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hcSlideMaster.Divider 1Header" descr=" ">
            <a:extLst>
              <a:ext uri="{FF2B5EF4-FFF2-40B4-BE49-F238E27FC236}">
                <a16:creationId xmlns:a16="http://schemas.microsoft.com/office/drawing/2014/main" id="{2C1E635C-C015-3BA3-32CF-77754B0010BF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Divider 1Footer" descr=" ">
            <a:extLst>
              <a:ext uri="{FF2B5EF4-FFF2-40B4-BE49-F238E27FC236}">
                <a16:creationId xmlns:a16="http://schemas.microsoft.com/office/drawing/2014/main" id="{D07816B1-6DE0-6C9C-157C-B661009C5397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108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" hidden="1">
            <a:extLst>
              <a:ext uri="{FF2B5EF4-FFF2-40B4-BE49-F238E27FC236}">
                <a16:creationId xmlns:a16="http://schemas.microsoft.com/office/drawing/2014/main" id="{7208E0D4-98E9-DD31-1ADD-B670E23C41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60" imgH="360" progId="TCLayout.ActiveDocument.1">
                  <p:embed/>
                </p:oleObj>
              </mc:Choice>
              <mc:Fallback>
                <p:oleObj name="think-cell Slide" r:id="rId20" imgW="360" imgH="360" progId="TCLayout.ActiveDocument.1">
                  <p:embed/>
                  <p:pic>
                    <p:nvPicPr>
                      <p:cNvPr id="0" name="Object 9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4792" r:id="rId1"/>
    <p:sldLayoutId id="2147484793" r:id="rId2"/>
    <p:sldLayoutId id="2147484806" r:id="rId3"/>
    <p:sldLayoutId id="2147484807" r:id="rId4"/>
    <p:sldLayoutId id="2147484808" r:id="rId5"/>
    <p:sldLayoutId id="2147484801" r:id="rId6"/>
    <p:sldLayoutId id="2147484802" r:id="rId7"/>
    <p:sldLayoutId id="2147484809" r:id="rId8"/>
    <p:sldLayoutId id="2147484803" r:id="rId9"/>
    <p:sldLayoutId id="2147484804" r:id="rId10"/>
    <p:sldLayoutId id="2147484810" r:id="rId11"/>
    <p:sldLayoutId id="2147484811" r:id="rId12"/>
    <p:sldLayoutId id="2147484794" r:id="rId13"/>
    <p:sldLayoutId id="2147484795" r:id="rId14"/>
    <p:sldLayoutId id="2147484796" r:id="rId15"/>
    <p:sldLayoutId id="2147484798" r:id="rId16"/>
    <p:sldLayoutId id="2147484800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en-US"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tylerbelcan/aviation-controls-simulink-training-Belcan.git" TargetMode="External"/><Relationship Id="rId2" Type="http://schemas.openxmlformats.org/officeDocument/2006/relationships/hyperlink" Target="https://github.com/ntylerbelcan/aviation-controls-simulink-training-Belcan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7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5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9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4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cloud.microsoft/Pages/ResponsePage.aspx?id=ukn_ZLBi3ka3S8xNNwzjQfYqP4xcaORCpJj8zDxV2HpUMDhVUlNZSEVCTjc0RlhXOEFJMEU4TUtHNi4u" TargetMode="Externa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store.office.com/addinsinstallpage.aspx?rs=en-US&amp;assetid=WA200003233&amp;isWac=True&amp;ui=en-US&amp;ad=US" TargetMode="External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cloud.microsoft/Pages/DesignPageV2.aspx?origin=NeoPortalPage&amp;subpage=design&amp;collectionid=1poezbja8ui7pddb2eif43&amp;id=ukn_ZLBi3ka3S8xNNwzjQfYqP4xcaORCpJj8zDxV2HpUMDhVUlNZSEVCTjc0RlhXOEFJMEU4TUtHNi4u&amp;analysis=true" TargetMode="External"/><Relationship Id="rId7" Type="http://schemas.openxmlformats.org/officeDocument/2006/relationships/hyperlink" Target="https://app.powerbi.com/links/1k5VPLd_w6?ctid=64ff49ba-62b0-46de-b74b-cc4d370ce341&amp;pbi_source=linkShare&amp;bookmarkGuid=f12a252e-8152-4017-b945-1a8bfbe012c8" TargetMode="External"/><Relationship Id="rId2" Type="http://schemas.openxmlformats.org/officeDocument/2006/relationships/hyperlink" Target="https://forms.cloud.microsoft/Pages/AnalysisPage.aspx?AnalyzerToken=F7BYU3UBwOCWdaqgHwvXhoPkFZJvQxS6&amp;id=ukn_ZLBi3ka3S8xNNwzjQfYqP4xcaORCpJj8zDxV2HpUMDhVUlNZSEVCTjc0RlhXOEFJMEU4TUtHNi4u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app.powerbi.com/groups/me/list?ctid=64ff49ba-62b0-46de-b74b-cc4d370ce341&amp;experience=power-bi" TargetMode="External"/><Relationship Id="rId5" Type="http://schemas.openxmlformats.org/officeDocument/2006/relationships/hyperlink" Target="https://belcan-my.sharepoint.com/my" TargetMode="External"/><Relationship Id="rId4" Type="http://schemas.openxmlformats.org/officeDocument/2006/relationships/hyperlink" Target="https://belcan-my.sharepoint.com/:x:/p/ntyler/IQAg-n7jhW28RLkogSs-LlnmAQVm5xgNX9Nok0s08ehBME0?e=MsB9Wo" TargetMode="Externa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594AB9-2C9A-954E-9F92-62EFB7D0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4130" y="4947338"/>
            <a:ext cx="9394825" cy="871538"/>
          </a:xfrm>
        </p:spPr>
        <p:txBody>
          <a:bodyPr/>
          <a:lstStyle/>
          <a:p>
            <a:pPr>
              <a:defRPr/>
            </a:pPr>
            <a:r>
              <a:rPr dirty="0"/>
              <a:t>Chapter 1 </a:t>
            </a:r>
            <a:r>
              <a:rPr lang="en-US" altLang="en-US" dirty="0"/>
              <a:t>The Basics</a:t>
            </a:r>
            <a:endParaRPr dirty="0"/>
          </a:p>
        </p:txBody>
      </p:sp>
      <p:sp>
        <p:nvSpPr>
          <p:cNvPr id="14339" name="TextBox 3">
            <a:extLst>
              <a:ext uri="{FF2B5EF4-FFF2-40B4-BE49-F238E27FC236}">
                <a16:creationId xmlns:a16="http://schemas.microsoft.com/office/drawing/2014/main" id="{5987A8B9-2167-D53B-8086-29D2671D8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7342" y="5310188"/>
            <a:ext cx="268451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How to Use MATLAB/SIMULINK</a:t>
            </a:r>
          </a:p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09 September 2026</a:t>
            </a:r>
          </a:p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By Nathaniel Tyler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D16E5-FC70-4956-3DB3-2BE8C9924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5" y="2019503"/>
            <a:ext cx="4637020" cy="8715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78E31C-38C2-F6ED-D037-C3E408D0FD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Simulink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EA7C0-0E57-D7BE-A136-2E1865F80C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MATLAB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021B32-8A88-1517-3AA4-EBB431004A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MATLAB and Simulink?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F7FE4CC-3FAC-FA81-E419-C9CF5944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649223"/>
          </a:xfrm>
        </p:spPr>
        <p:txBody>
          <a:bodyPr/>
          <a:lstStyle/>
          <a:p>
            <a:r>
              <a:rPr lang="en-US" dirty="0"/>
              <a:t>What is MATLAB and Simulink?</a:t>
            </a:r>
            <a:br>
              <a:rPr lang="en-US" sz="3600" b="0" i="1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400" b="0" i="1" dirty="0">
                <a:solidFill>
                  <a:srgbClr val="17324A"/>
                </a:solidFill>
                <a:latin typeface="Aptos"/>
                <a:ea typeface="Aptos"/>
                <a:cs typeface="Aptos"/>
              </a:rPr>
              <a:t>MATLAB and Simulink provide a unified environment for model-based development, simulation, and verification of complex engineering systems.</a:t>
            </a:r>
            <a:endParaRPr lang="en-US" sz="1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392E0B-4393-7176-D5FA-886403E421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Numerical computing, analysis, and algorithm development.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23897C-2DAD-DF99-DD6F-0B5E873A69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Graphical modeling and simulation of dynamic systems.</a:t>
            </a:r>
          </a:p>
        </p:txBody>
      </p:sp>
      <p:pic>
        <p:nvPicPr>
          <p:cNvPr id="11" name="Content Placeholder 9">
            <a:extLst>
              <a:ext uri="{FF2B5EF4-FFF2-40B4-BE49-F238E27FC236}">
                <a16:creationId xmlns:a16="http://schemas.microsoft.com/office/drawing/2014/main" id="{DC21BC19-A3FF-ADEF-AC92-2B1A01941D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957" y="3192463"/>
            <a:ext cx="5157174" cy="3217862"/>
          </a:xfrm>
          <a:prstGeom prst="rect">
            <a:avLst/>
          </a:prstGeom>
        </p:spPr>
      </p:pic>
      <p:pic>
        <p:nvPicPr>
          <p:cNvPr id="13" name="Content Placeholder 11">
            <a:extLst>
              <a:ext uri="{FF2B5EF4-FFF2-40B4-BE49-F238E27FC236}">
                <a16:creationId xmlns:a16="http://schemas.microsoft.com/office/drawing/2014/main" id="{6CB1E81D-46BC-7BB7-55D7-6307B0DA6175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tretch>
            <a:fillRect/>
          </a:stretch>
        </p:blipFill>
        <p:spPr>
          <a:xfrm>
            <a:off x="6113463" y="3192463"/>
            <a:ext cx="5622925" cy="3217862"/>
          </a:xfrm>
          <a:prstGeom prst="rect">
            <a:avLst/>
          </a:prstGeom>
        </p:spPr>
      </p:pic>
      <p:pic>
        <p:nvPicPr>
          <p:cNvPr id="15" name="Picture 14" descr="MATLAB Logo, symbol, meaning, history, PNG, brand">
            <a:extLst>
              <a:ext uri="{FF2B5EF4-FFF2-40B4-BE49-F238E27FC236}">
                <a16:creationId xmlns:a16="http://schemas.microsoft.com/office/drawing/2014/main" id="{9747FE6E-CA9C-F29C-CB51-C3F96B2C1C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097" r="65520" b="27886"/>
          <a:stretch>
            <a:fillRect/>
          </a:stretch>
        </p:blipFill>
        <p:spPr>
          <a:xfrm>
            <a:off x="1695657" y="1848159"/>
            <a:ext cx="779850" cy="572729"/>
          </a:xfrm>
          <a:prstGeom prst="rect">
            <a:avLst/>
          </a:prstGeom>
        </p:spPr>
      </p:pic>
      <p:pic>
        <p:nvPicPr>
          <p:cNvPr id="17" name="Picture 16" descr="Logotipo De Simulink De Matlab MATLAB® And Simulink® | Microchip">
            <a:extLst>
              <a:ext uri="{FF2B5EF4-FFF2-40B4-BE49-F238E27FC236}">
                <a16:creationId xmlns:a16="http://schemas.microsoft.com/office/drawing/2014/main" id="{78B1D84A-992E-6675-1A93-9DE876134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126" y="1871893"/>
            <a:ext cx="525259" cy="52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69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375A9C-B21F-B38B-3502-4636ED670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7B20CA-58FF-AEB0-87F6-A37AEEE12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Simulink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E1638-BF47-BE36-C601-85E440C65F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MATLAB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51350-A8BF-681B-53F2-80727248E9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are some useful commands for MATLAB and Simulink?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518CF53-993E-CFE4-39CA-1E28C731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649223"/>
          </a:xfrm>
        </p:spPr>
        <p:txBody>
          <a:bodyPr/>
          <a:lstStyle/>
          <a:p>
            <a:r>
              <a:rPr lang="en-US" dirty="0"/>
              <a:t>What are some useful commands for MATLAB and Simulink?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FA8D9D-0A3E-C11D-0DC6-608DD32245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What are some useful commands?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EAB3D3-D37C-6958-5669-E969D46C5C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What are some useful shortcuts?</a:t>
            </a:r>
          </a:p>
        </p:txBody>
      </p:sp>
      <p:pic>
        <p:nvPicPr>
          <p:cNvPr id="15" name="Picture 14" descr="MATLAB Logo, symbol, meaning, history, PNG, brand">
            <a:extLst>
              <a:ext uri="{FF2B5EF4-FFF2-40B4-BE49-F238E27FC236}">
                <a16:creationId xmlns:a16="http://schemas.microsoft.com/office/drawing/2014/main" id="{39EFD516-368B-342D-3536-58C10602E3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97" r="65520" b="27886"/>
          <a:stretch>
            <a:fillRect/>
          </a:stretch>
        </p:blipFill>
        <p:spPr>
          <a:xfrm>
            <a:off x="1695657" y="1848159"/>
            <a:ext cx="779850" cy="572729"/>
          </a:xfrm>
          <a:prstGeom prst="rect">
            <a:avLst/>
          </a:prstGeom>
        </p:spPr>
      </p:pic>
      <p:pic>
        <p:nvPicPr>
          <p:cNvPr id="17" name="Picture 16" descr="Logotipo De Simulink De Matlab MATLAB® And Simulink® | Microchip">
            <a:extLst>
              <a:ext uri="{FF2B5EF4-FFF2-40B4-BE49-F238E27FC236}">
                <a16:creationId xmlns:a16="http://schemas.microsoft.com/office/drawing/2014/main" id="{D196EAA9-D59B-F616-4735-805961161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126" y="1871893"/>
            <a:ext cx="525259" cy="525259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25AD302-DF14-EADF-F91A-A5FECCDC2690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Save			CTRL + S</a:t>
            </a:r>
          </a:p>
          <a:p>
            <a:r>
              <a:rPr lang="en-US" dirty="0"/>
              <a:t>Cancel Action 		CTRL + C	</a:t>
            </a:r>
          </a:p>
          <a:p>
            <a:r>
              <a:rPr lang="en-US" dirty="0"/>
              <a:t>Compile		CTRL + D</a:t>
            </a:r>
          </a:p>
          <a:p>
            <a:r>
              <a:rPr lang="en-US" dirty="0"/>
              <a:t>Build			CTRL + B</a:t>
            </a:r>
          </a:p>
          <a:p>
            <a:r>
              <a:rPr lang="en-US" dirty="0"/>
              <a:t>Run Sim		CTRL + T</a:t>
            </a:r>
          </a:p>
          <a:p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C3BBA-95F9-FAE3-9F55-055808976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 workspace	clear</a:t>
            </a:r>
          </a:p>
          <a:p>
            <a:r>
              <a:rPr lang="en-US" dirty="0"/>
              <a:t>Clean window		</a:t>
            </a:r>
            <a:r>
              <a:rPr lang="en-US" dirty="0" err="1"/>
              <a:t>clc</a:t>
            </a:r>
            <a:endParaRPr lang="en-US" dirty="0"/>
          </a:p>
          <a:p>
            <a:r>
              <a:rPr lang="en-US" dirty="0"/>
              <a:t>Cancel Action		CTRL + C</a:t>
            </a:r>
          </a:p>
        </p:txBody>
      </p:sp>
    </p:spTree>
    <p:extLst>
      <p:ext uri="{BB962C8B-B14F-4D97-AF65-F5344CB8AC3E}">
        <p14:creationId xmlns:p14="http://schemas.microsoft.com/office/powerpoint/2010/main" val="2384426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886766-355D-FAB3-7FBD-0DD4D63364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does success look like?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608F93-F47F-FA51-3F4B-69DE4430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B8FD5-671E-7696-712F-662D72BB1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Open MATLAB &amp; SIMULINK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Create a new Simulink Model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Run a simulation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Data inspector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Model Explorer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Requirements editor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Slide 5 Shows a final product of the Example we will be walking thru.</a:t>
            </a:r>
          </a:p>
        </p:txBody>
      </p:sp>
    </p:spTree>
    <p:extLst>
      <p:ext uri="{BB962C8B-B14F-4D97-AF65-F5344CB8AC3E}">
        <p14:creationId xmlns:p14="http://schemas.microsoft.com/office/powerpoint/2010/main" val="3427441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9C3D62-E170-20C9-A762-81F86C9126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B440D6-4257-B20F-9554-6BCBB4FA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polynomial_System.slx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(Model Settings)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4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How you Models Settings should be setup.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3C343365-B3C3-C70A-AE39-8A70FD748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6588"/>
          <a:stretch>
            <a:fillRect/>
          </a:stretch>
        </p:blipFill>
        <p:spPr>
          <a:xfrm>
            <a:off x="1778990" y="2628416"/>
            <a:ext cx="8573696" cy="293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93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A4371-CE9F-CC6E-AFC4-0B2D6F62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440B6C-ADF7-B7AD-FF28-4AFA56028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622BBB-8889-10C0-7FDF-4008002F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polynomial_System.slx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(Model File)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4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How your Model Should look when Finished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22" name="Content Placeholder 15">
            <a:extLst>
              <a:ext uri="{FF2B5EF4-FFF2-40B4-BE49-F238E27FC236}">
                <a16:creationId xmlns:a16="http://schemas.microsoft.com/office/drawing/2014/main" id="{874AB148-8D5B-8E2D-1D8C-E918E6E79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47" t="20668" r="19484" b="5308"/>
          <a:stretch>
            <a:fillRect/>
          </a:stretch>
        </p:blipFill>
        <p:spPr>
          <a:xfrm>
            <a:off x="1697353" y="1838325"/>
            <a:ext cx="8736970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971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3751B-F565-D665-3040-EB47D8754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BA6A7E-46CE-ED59-71EF-36146F2B03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9C4CF1-FBBD-268D-178B-97770DED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polynomial_System.sldd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(Data Dictionary) 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2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Contains Signals &amp; Parameters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7436D383-7843-4F59-4792-908D94EF6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4474" b="64780"/>
          <a:stretch>
            <a:fillRect/>
          </a:stretch>
        </p:blipFill>
        <p:spPr>
          <a:xfrm>
            <a:off x="395288" y="1525140"/>
            <a:ext cx="11341100" cy="2842670"/>
          </a:xfrm>
          <a:prstGeom prst="rect">
            <a:avLst/>
          </a:prstGeom>
        </p:spPr>
      </p:pic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0083755B-0066-7E77-7BEF-378CCA2A47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9949940"/>
              </p:ext>
            </p:extLst>
          </p:nvPr>
        </p:nvGraphicFramePr>
        <p:xfrm>
          <a:off x="395288" y="4455809"/>
          <a:ext cx="11341101" cy="1905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40566">
                  <a:extLst>
                    <a:ext uri="{9D8B030D-6E8A-4147-A177-3AD203B41FA5}">
                      <a16:colId xmlns:a16="http://schemas.microsoft.com/office/drawing/2014/main" val="4229777910"/>
                    </a:ext>
                  </a:extLst>
                </a:gridCol>
                <a:gridCol w="1811074">
                  <a:extLst>
                    <a:ext uri="{9D8B030D-6E8A-4147-A177-3AD203B41FA5}">
                      <a16:colId xmlns:a16="http://schemas.microsoft.com/office/drawing/2014/main" val="4151209554"/>
                    </a:ext>
                  </a:extLst>
                </a:gridCol>
                <a:gridCol w="921666">
                  <a:extLst>
                    <a:ext uri="{9D8B030D-6E8A-4147-A177-3AD203B41FA5}">
                      <a16:colId xmlns:a16="http://schemas.microsoft.com/office/drawing/2014/main" val="1463850620"/>
                    </a:ext>
                  </a:extLst>
                </a:gridCol>
                <a:gridCol w="1124432">
                  <a:extLst>
                    <a:ext uri="{9D8B030D-6E8A-4147-A177-3AD203B41FA5}">
                      <a16:colId xmlns:a16="http://schemas.microsoft.com/office/drawing/2014/main" val="1697874259"/>
                    </a:ext>
                  </a:extLst>
                </a:gridCol>
                <a:gridCol w="442399">
                  <a:extLst>
                    <a:ext uri="{9D8B030D-6E8A-4147-A177-3AD203B41FA5}">
                      <a16:colId xmlns:a16="http://schemas.microsoft.com/office/drawing/2014/main" val="3376427272"/>
                    </a:ext>
                  </a:extLst>
                </a:gridCol>
                <a:gridCol w="479267">
                  <a:extLst>
                    <a:ext uri="{9D8B030D-6E8A-4147-A177-3AD203B41FA5}">
                      <a16:colId xmlns:a16="http://schemas.microsoft.com/office/drawing/2014/main" val="292903287"/>
                    </a:ext>
                  </a:extLst>
                </a:gridCol>
                <a:gridCol w="479267">
                  <a:extLst>
                    <a:ext uri="{9D8B030D-6E8A-4147-A177-3AD203B41FA5}">
                      <a16:colId xmlns:a16="http://schemas.microsoft.com/office/drawing/2014/main" val="230030369"/>
                    </a:ext>
                  </a:extLst>
                </a:gridCol>
                <a:gridCol w="4442430">
                  <a:extLst>
                    <a:ext uri="{9D8B030D-6E8A-4147-A177-3AD203B41FA5}">
                      <a16:colId xmlns:a16="http://schemas.microsoft.com/office/drawing/2014/main" val="24875507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Name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EntryType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DataType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Dimensions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Min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Max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Unit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Description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91874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coeffA_t_squared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Simulink.Signal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225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s^2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Coefficient A multiplied by the squared time term.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88650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neg_4t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Simulink.Signal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-60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-4 multiplied by time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61616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Simulink.Signal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double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63780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t_squared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Simulink.Signal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225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Square of time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4361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Simulink.Signal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186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Polynomial output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35826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y_raw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Simulink.Signal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186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Intermediate polynomial result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82425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COEFF_A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Simulink.Parameter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[1 1]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Coefficient applied to the squared time term.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9461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COEFF_B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Simulink.Parameter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[1 1]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Coefficient applied to the time term.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5406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COEFF_C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Simulink.Parameter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double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[1 1]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Constant offset applied to the polynomial equation.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1374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276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95185-60E3-60E5-534D-B4A8C998B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5EB541-9D77-7D61-2920-21EA69EED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Download the Git Repo</a:t>
            </a:r>
          </a:p>
        </p:txBody>
      </p:sp>
    </p:spTree>
    <p:extLst>
      <p:ext uri="{BB962C8B-B14F-4D97-AF65-F5344CB8AC3E}">
        <p14:creationId xmlns:p14="http://schemas.microsoft.com/office/powerpoint/2010/main" val="3762716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314FF-2564-999F-BED9-492F98DB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0340D-8F5A-6BA5-E23E-F12C8CFC05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Download the Git Repo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332D48-5BEE-725D-1184-2B0774D12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Hub Training Repo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43337-5D2F-AE14-065E-F984C3C15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Hub Webpage</a:t>
            </a:r>
          </a:p>
          <a:p>
            <a:pPr lvl="1"/>
            <a:r>
              <a:rPr lang="en-US" dirty="0" err="1">
                <a:hlinkClick r:id="rId2"/>
              </a:rPr>
              <a:t>ntylerbelcan</a:t>
            </a:r>
            <a:r>
              <a:rPr lang="en-US" dirty="0">
                <a:hlinkClick r:id="rId2"/>
              </a:rPr>
              <a:t>/aviation-controls-</a:t>
            </a:r>
            <a:r>
              <a:rPr lang="en-US" dirty="0" err="1">
                <a:hlinkClick r:id="rId2"/>
              </a:rPr>
              <a:t>simulink</a:t>
            </a:r>
            <a:r>
              <a:rPr lang="en-US" dirty="0">
                <a:hlinkClick r:id="rId2"/>
              </a:rPr>
              <a:t>-training-Belcan</a:t>
            </a:r>
            <a:endParaRPr lang="en-US" dirty="0"/>
          </a:p>
          <a:p>
            <a:endParaRPr lang="en-US" dirty="0"/>
          </a:p>
          <a:p>
            <a:r>
              <a:rPr lang="en-US" dirty="0"/>
              <a:t>Ensure you are in a folder called “GitHub” before your run either of the following commands:</a:t>
            </a:r>
          </a:p>
          <a:p>
            <a:pPr marL="400050" lvl="1" indent="0">
              <a:buNone/>
            </a:pPr>
            <a:endParaRPr lang="en-US" dirty="0"/>
          </a:p>
          <a:p>
            <a:pPr lvl="1"/>
            <a:r>
              <a:rPr lang="en-US" dirty="0"/>
              <a:t>In </a:t>
            </a:r>
            <a:r>
              <a:rPr lang="en-US" b="1" dirty="0"/>
              <a:t>Git Bash </a:t>
            </a:r>
            <a:r>
              <a:rPr lang="en-US" dirty="0"/>
              <a:t>/ Terminal you can run</a:t>
            </a:r>
          </a:p>
          <a:p>
            <a:pPr lvl="2"/>
            <a:r>
              <a:rPr lang="en-US" dirty="0"/>
              <a:t>git clone </a:t>
            </a:r>
            <a:r>
              <a:rPr lang="en-US" dirty="0">
                <a:hlinkClick r:id="rId3"/>
              </a:rPr>
              <a:t>https://github.com/ntylerbelcan/aviation-controls-simulink-training-Belcan.git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OR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In </a:t>
            </a:r>
            <a:r>
              <a:rPr lang="en-US" b="1" dirty="0"/>
              <a:t>MATLAB</a:t>
            </a:r>
          </a:p>
          <a:p>
            <a:pPr lvl="2"/>
            <a:r>
              <a:rPr lang="en-US" dirty="0"/>
              <a:t>You can clone directly from the MATLAB command </a:t>
            </a:r>
            <a:r>
              <a:rPr lang="en-US" dirty="0" err="1"/>
              <a:t>window:MATLAB</a:t>
            </a:r>
            <a:endParaRPr lang="en-US" dirty="0"/>
          </a:p>
          <a:p>
            <a:pPr lvl="2"/>
            <a:r>
              <a:rPr lang="en-US" dirty="0"/>
              <a:t>system('git clone https://github.com/ntylerbelcan/aviation-controls-simulink-training-Belcan.git')</a:t>
            </a:r>
          </a:p>
        </p:txBody>
      </p:sp>
    </p:spTree>
    <p:extLst>
      <p:ext uri="{BB962C8B-B14F-4D97-AF65-F5344CB8AC3E}">
        <p14:creationId xmlns:p14="http://schemas.microsoft.com/office/powerpoint/2010/main" val="4054241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25BDFB-94C2-A959-29C1-318ED12D8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</p:spTree>
    <p:extLst>
      <p:ext uri="{BB962C8B-B14F-4D97-AF65-F5344CB8AC3E}">
        <p14:creationId xmlns:p14="http://schemas.microsoft.com/office/powerpoint/2010/main" val="200985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402783-68BA-C9C0-1AC5-61F64EFA9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6A2E9F-D28F-AE5F-E71B-CCD9CD844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MATLAB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68E633BC-D912-875C-0557-4C3E80DAE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414" y="3186007"/>
            <a:ext cx="3200847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39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9490F-4813-44BC-B6D3-A250E715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002A99-A321-FE5D-D57A-865F7F7A5A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04A3B1-04A3-5A6B-8091-AFEFD494A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the MATLAB Window Layout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983052-63F9-5116-2FF5-7171F5374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342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3121E-DE66-D67A-DD68-DE3CBB88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0AC230-0A7F-563F-D824-9287DDCAEF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2484" y="1992254"/>
            <a:ext cx="2230073" cy="731520"/>
          </a:xfrm>
        </p:spPr>
        <p:txBody>
          <a:bodyPr/>
          <a:lstStyle/>
          <a:p>
            <a:r>
              <a:rPr lang="en-US" b="0" dirty="0"/>
              <a:t>Step 2. Navigate to Chapter 2 folder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56036E-E490-A0AD-5BFE-84FDBED236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0" dirty="0"/>
              <a:t>Step 1. Navigate to training folder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758885-1CDA-0A29-BB4B-CB9149FCF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9E6064-7B0E-A51E-E61C-7558DE8D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(Summary)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5B05A8-9C31-97E7-DA73-7020581DF2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82865" y="1992254"/>
            <a:ext cx="3572740" cy="731520"/>
          </a:xfrm>
        </p:spPr>
        <p:txBody>
          <a:bodyPr>
            <a:normAutofit/>
          </a:bodyPr>
          <a:lstStyle/>
          <a:p>
            <a:r>
              <a:rPr lang="en-US" dirty="0"/>
              <a:t>Step 2. Navigate to sub folder “01_polynomial_System”</a:t>
            </a:r>
          </a:p>
        </p:txBody>
      </p:sp>
      <p:pic>
        <p:nvPicPr>
          <p:cNvPr id="10" name="Content Placeholder 10">
            <a:extLst>
              <a:ext uri="{FF2B5EF4-FFF2-40B4-BE49-F238E27FC236}">
                <a16:creationId xmlns:a16="http://schemas.microsoft.com/office/drawing/2014/main" id="{A72C2539-67BC-489D-AED5-2A0331F0A72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83517" b="49791"/>
          <a:stretch>
            <a:fillRect/>
          </a:stretch>
        </p:blipFill>
        <p:spPr>
          <a:xfrm>
            <a:off x="4662484" y="2759075"/>
            <a:ext cx="2230073" cy="3651250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6CAE577E-32FC-BEB5-D154-DC2226B74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13" b="53441"/>
          <a:stretch>
            <a:fillRect/>
          </a:stretch>
        </p:blipFill>
        <p:spPr>
          <a:xfrm>
            <a:off x="526528" y="2759075"/>
            <a:ext cx="3178697" cy="3651250"/>
          </a:xfrm>
          <a:prstGeom prst="rect">
            <a:avLst/>
          </a:prstGeom>
        </p:spPr>
      </p:pic>
      <p:pic>
        <p:nvPicPr>
          <p:cNvPr id="16" name="Content Placeholder 16">
            <a:extLst>
              <a:ext uri="{FF2B5EF4-FFF2-40B4-BE49-F238E27FC236}">
                <a16:creationId xmlns:a16="http://schemas.microsoft.com/office/drawing/2014/main" id="{EC370DD4-0BB2-5E68-0C67-A2AFD8F3EDE0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r="86387" b="58535"/>
          <a:stretch>
            <a:fillRect/>
          </a:stretch>
        </p:blipFill>
        <p:spPr>
          <a:xfrm>
            <a:off x="7682865" y="2759075"/>
            <a:ext cx="2230073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4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8216E-1A64-1193-E0B5-50B6D424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9B8E91-3DB6-2C46-0C6D-6BB1A772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</p:spTree>
    <p:extLst>
      <p:ext uri="{BB962C8B-B14F-4D97-AF65-F5344CB8AC3E}">
        <p14:creationId xmlns:p14="http://schemas.microsoft.com/office/powerpoint/2010/main" val="300181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2590-4BD8-311C-33CD-0329ECBA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4219BBE-9F11-52B1-95B1-A3481BF997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693752"/>
          </a:xfrm>
        </p:spPr>
        <p:txBody>
          <a:bodyPr>
            <a:normAutofit/>
          </a:bodyPr>
          <a:lstStyle/>
          <a:p>
            <a:r>
              <a:rPr lang="en-US" dirty="0"/>
              <a:t>Step 2. Click “Add Selected Folders and Subfolders”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6B13119-1974-8563-0C63-E19D27CBD7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693752"/>
          </a:xfrm>
        </p:spPr>
        <p:txBody>
          <a:bodyPr/>
          <a:lstStyle/>
          <a:p>
            <a:r>
              <a:rPr lang="en-US" dirty="0"/>
              <a:t>Step 1. Right Click Folder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1239AD-10C8-65D8-0690-451AB62194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0768430-6F99-4758-95FB-03D4339B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“ch02” Folder and Sub Folders to Project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E4AAF5C-F38E-9775-9A05-4CDC7F6B06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693752"/>
          </a:xfrm>
        </p:spPr>
        <p:txBody>
          <a:bodyPr>
            <a:normAutofit/>
          </a:bodyPr>
          <a:lstStyle/>
          <a:p>
            <a:r>
              <a:rPr lang="en-US" dirty="0"/>
              <a:t>Step 3. Observe Folder has been added to path</a:t>
            </a:r>
          </a:p>
        </p:txBody>
      </p:sp>
      <p:pic>
        <p:nvPicPr>
          <p:cNvPr id="4" name="Content Placeholder 10">
            <a:extLst>
              <a:ext uri="{FF2B5EF4-FFF2-40B4-BE49-F238E27FC236}">
                <a16:creationId xmlns:a16="http://schemas.microsoft.com/office/drawing/2014/main" id="{30B9259D-561B-ED3F-65FF-DFE5553BE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644" b="53572"/>
          <a:stretch>
            <a:fillRect/>
          </a:stretch>
        </p:blipFill>
        <p:spPr>
          <a:xfrm>
            <a:off x="508367" y="2256798"/>
            <a:ext cx="3143911" cy="3854217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3BF6850-634D-78EB-BE1E-3400394772D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317" b="38744"/>
          <a:stretch>
            <a:fillRect/>
          </a:stretch>
        </p:blipFill>
        <p:spPr>
          <a:xfrm>
            <a:off x="4243049" y="2256798"/>
            <a:ext cx="3776663" cy="3585244"/>
          </a:xfrm>
          <a:prstGeom prst="rect">
            <a:avLst/>
          </a:prstGeom>
        </p:spPr>
      </p:pic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1B9865CD-D838-C9AB-FF00-306FC91EA232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" r="81675" b="52697"/>
          <a:stretch>
            <a:fillRect/>
          </a:stretch>
        </p:blipFill>
        <p:spPr>
          <a:xfrm>
            <a:off x="8626677" y="2256798"/>
            <a:ext cx="3056955" cy="4224035"/>
          </a:xfrm>
          <a:prstGeom prst="rect">
            <a:avLst/>
          </a:prstGeom>
          <a:ln>
            <a:noFill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E223D70-5C0A-3A3A-A8EE-F21150830694}"/>
              </a:ext>
            </a:extLst>
          </p:cNvPr>
          <p:cNvSpPr/>
          <p:nvPr/>
        </p:nvSpPr>
        <p:spPr>
          <a:xfrm>
            <a:off x="6702458" y="5495827"/>
            <a:ext cx="1317254" cy="207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AFE84E7-7C46-9480-1514-9F671D3CBCA9}"/>
              </a:ext>
            </a:extLst>
          </p:cNvPr>
          <p:cNvSpPr/>
          <p:nvPr/>
        </p:nvSpPr>
        <p:spPr>
          <a:xfrm rot="10800000">
            <a:off x="7162497" y="5703216"/>
            <a:ext cx="397175" cy="490194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48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05221-6C4E-C805-D258-14D78EA9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B95A65-2D37-64F5-B9E0-3D0FD941E8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10" y="1992254"/>
            <a:ext cx="2845658" cy="731520"/>
          </a:xfrm>
        </p:spPr>
        <p:txBody>
          <a:bodyPr/>
          <a:lstStyle/>
          <a:p>
            <a:r>
              <a:rPr lang="en-US" b="0" dirty="0"/>
              <a:t>Step 1. Double Click ch02 Folder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092CF3-DE4A-5C94-CEF7-A2088B8D54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487A96-D66C-17EC-3BC0-72C89EFE1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Folder “01_polynomial_System”</a:t>
            </a:r>
          </a:p>
        </p:txBody>
      </p:sp>
      <p:pic>
        <p:nvPicPr>
          <p:cNvPr id="22" name="Content Placeholder 10">
            <a:extLst>
              <a:ext uri="{FF2B5EF4-FFF2-40B4-BE49-F238E27FC236}">
                <a16:creationId xmlns:a16="http://schemas.microsoft.com/office/drawing/2014/main" id="{419ADDE4-A2DC-16A2-CCC1-D0DF0A833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8967" b="49791"/>
          <a:stretch>
            <a:fillRect/>
          </a:stretch>
        </p:blipFill>
        <p:spPr>
          <a:xfrm>
            <a:off x="69709" y="2723774"/>
            <a:ext cx="2845658" cy="36512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E00BD30-6100-DD07-8E50-39ABA0298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716" b="65212"/>
          <a:stretch>
            <a:fillRect/>
          </a:stretch>
        </p:blipFill>
        <p:spPr>
          <a:xfrm>
            <a:off x="3336418" y="2723775"/>
            <a:ext cx="3400678" cy="2514976"/>
          </a:xfrm>
          <a:prstGeom prst="rect">
            <a:avLst/>
          </a:prstGeom>
        </p:spPr>
      </p:pic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6733B86-94A7-3920-6A40-4707789E9E9E}"/>
              </a:ext>
            </a:extLst>
          </p:cNvPr>
          <p:cNvSpPr txBox="1">
            <a:spLocks/>
          </p:cNvSpPr>
          <p:nvPr/>
        </p:nvSpPr>
        <p:spPr>
          <a:xfrm>
            <a:off x="3336418" y="1992254"/>
            <a:ext cx="346462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2. Right Click on Empty Space and Click “</a:t>
            </a:r>
            <a:r>
              <a:rPr lang="en-US" dirty="0">
                <a:sym typeface="Wingdings" panose="05000000000000000000" pitchFamily="2" charset="2"/>
              </a:rPr>
              <a:t>Folder”</a:t>
            </a:r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D992CDB-9C34-EA4C-7E03-7C800CB5DE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266" b="73837"/>
          <a:stretch>
            <a:fillRect/>
          </a:stretch>
        </p:blipFill>
        <p:spPr>
          <a:xfrm>
            <a:off x="7102700" y="2723774"/>
            <a:ext cx="1045265" cy="1900614"/>
          </a:xfrm>
          <a:prstGeom prst="rect">
            <a:avLst/>
          </a:prstGeom>
        </p:spPr>
      </p:pic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FDC54254-85AE-1002-6FAA-985D021A1410}"/>
              </a:ext>
            </a:extLst>
          </p:cNvPr>
          <p:cNvSpPr txBox="1">
            <a:spLocks/>
          </p:cNvSpPr>
          <p:nvPr/>
        </p:nvSpPr>
        <p:spPr>
          <a:xfrm>
            <a:off x="7102700" y="1992254"/>
            <a:ext cx="1862193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3. </a:t>
            </a:r>
          </a:p>
          <a:p>
            <a:r>
              <a:rPr lang="en-US" dirty="0"/>
              <a:t>Rename Folder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3C1B4144-CCE2-3321-FB9B-58A60B75D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396" b="74706"/>
          <a:stretch>
            <a:fillRect/>
          </a:stretch>
        </p:blipFill>
        <p:spPr>
          <a:xfrm>
            <a:off x="9100685" y="2723774"/>
            <a:ext cx="1693011" cy="1826306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7D720E4C-5C5F-C340-EF15-3A587C860691}"/>
              </a:ext>
            </a:extLst>
          </p:cNvPr>
          <p:cNvSpPr txBox="1">
            <a:spLocks/>
          </p:cNvSpPr>
          <p:nvPr/>
        </p:nvSpPr>
        <p:spPr>
          <a:xfrm>
            <a:off x="9129514" y="1992254"/>
            <a:ext cx="2804824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4. Rename Folder to</a:t>
            </a:r>
          </a:p>
          <a:p>
            <a:r>
              <a:rPr lang="en-US" dirty="0"/>
              <a:t>01_polynomial_System</a:t>
            </a:r>
          </a:p>
        </p:txBody>
      </p:sp>
    </p:spTree>
    <p:extLst>
      <p:ext uri="{BB962C8B-B14F-4D97-AF65-F5344CB8AC3E}">
        <p14:creationId xmlns:p14="http://schemas.microsoft.com/office/powerpoint/2010/main" val="1443200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B480-E006-43A5-928E-4A6AE1493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AC8222-3E40-925D-07AA-EBE792FF15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693752"/>
          </a:xfrm>
        </p:spPr>
        <p:txBody>
          <a:bodyPr>
            <a:normAutofit/>
          </a:bodyPr>
          <a:lstStyle/>
          <a:p>
            <a:r>
              <a:rPr lang="en-US" dirty="0"/>
              <a:t>Step 2. Add Selected Folders and Subfolders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4330400-6B47-B841-85C9-5731670D1E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693750"/>
          </a:xfrm>
        </p:spPr>
        <p:txBody>
          <a:bodyPr/>
          <a:lstStyle/>
          <a:p>
            <a:r>
              <a:rPr lang="en-US" dirty="0"/>
              <a:t>Step 1. Right Click Folder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B732D1-B283-A5FA-6B65-96E65F35A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ED13547-E31A-8C53-8433-4FDB66D4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“01_polynomial_System” Folder and Sub Folders to Project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673DE67-2C16-40EB-7B4E-3DEA4FB68E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5"/>
            <a:ext cx="3776472" cy="693751"/>
          </a:xfrm>
        </p:spPr>
        <p:txBody>
          <a:bodyPr>
            <a:normAutofit/>
          </a:bodyPr>
          <a:lstStyle/>
          <a:p>
            <a:r>
              <a:rPr lang="en-US" dirty="0"/>
              <a:t>Step 3. Observe Folder has been added to path</a:t>
            </a:r>
          </a:p>
        </p:txBody>
      </p:sp>
      <p:pic>
        <p:nvPicPr>
          <p:cNvPr id="33" name="Content Placeholder 32">
            <a:extLst>
              <a:ext uri="{FF2B5EF4-FFF2-40B4-BE49-F238E27FC236}">
                <a16:creationId xmlns:a16="http://schemas.microsoft.com/office/drawing/2014/main" id="{431E3DC2-4123-8628-16B5-8B6D34339713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2"/>
          <a:srcRect r="81057" b="60762"/>
          <a:stretch>
            <a:fillRect/>
          </a:stretch>
        </p:blipFill>
        <p:spPr>
          <a:xfrm>
            <a:off x="8218854" y="2256798"/>
            <a:ext cx="3464779" cy="3857555"/>
          </a:xfrm>
          <a:prstGeom prst="rect">
            <a:avLst/>
          </a:prstGeom>
        </p:spPr>
      </p:pic>
      <p:pic>
        <p:nvPicPr>
          <p:cNvPr id="43" name="Content Placeholder 18">
            <a:extLst>
              <a:ext uri="{FF2B5EF4-FFF2-40B4-BE49-F238E27FC236}">
                <a16:creationId xmlns:a16="http://schemas.microsoft.com/office/drawing/2014/main" id="{5ECB70FC-2C59-D8A0-F0E5-4ED42FAB510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68706" b="40583"/>
          <a:stretch>
            <a:fillRect/>
          </a:stretch>
        </p:blipFill>
        <p:spPr>
          <a:xfrm>
            <a:off x="4229100" y="2256798"/>
            <a:ext cx="3776663" cy="3854217"/>
          </a:xfrm>
          <a:prstGeom prst="rect">
            <a:avLst/>
          </a:prstGeom>
        </p:spPr>
      </p:pic>
      <p:pic>
        <p:nvPicPr>
          <p:cNvPr id="46" name="Content Placeholder 8">
            <a:extLst>
              <a:ext uri="{FF2B5EF4-FFF2-40B4-BE49-F238E27FC236}">
                <a16:creationId xmlns:a16="http://schemas.microsoft.com/office/drawing/2014/main" id="{CF1840E2-CE98-1A4A-3242-71FD7E245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r="84507" b="59925"/>
          <a:stretch>
            <a:fillRect/>
          </a:stretch>
        </p:blipFill>
        <p:spPr>
          <a:xfrm>
            <a:off x="866741" y="2256798"/>
            <a:ext cx="2833755" cy="3939842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F4694412-DE9B-C5B9-C32C-4B00345E8D40}"/>
              </a:ext>
            </a:extLst>
          </p:cNvPr>
          <p:cNvSpPr/>
          <p:nvPr/>
        </p:nvSpPr>
        <p:spPr>
          <a:xfrm>
            <a:off x="6702458" y="5656083"/>
            <a:ext cx="1317254" cy="207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57593A93-61C0-6583-7BEB-A1F71C8D4096}"/>
              </a:ext>
            </a:extLst>
          </p:cNvPr>
          <p:cNvSpPr/>
          <p:nvPr/>
        </p:nvSpPr>
        <p:spPr>
          <a:xfrm rot="10800000">
            <a:off x="7162497" y="5863472"/>
            <a:ext cx="397175" cy="490194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987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215892E-7778-2D68-D01B-B90F9F7320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Empty Folder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5B43F2C-2623-03E3-C077-2439516E2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Folder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076A30-84DC-BF13-92D3-75B2D1BF0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CA2A7B2-086D-4D43-7463-68E0744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“01_polynomial_System”</a:t>
            </a:r>
          </a:p>
        </p:txBody>
      </p:sp>
      <p:pic>
        <p:nvPicPr>
          <p:cNvPr id="20" name="Content Placeholder 16">
            <a:extLst>
              <a:ext uri="{FF2B5EF4-FFF2-40B4-BE49-F238E27FC236}">
                <a16:creationId xmlns:a16="http://schemas.microsoft.com/office/drawing/2014/main" id="{92FC4D27-9B13-39DB-EE1F-8533732FB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3396" b="58535"/>
          <a:stretch>
            <a:fillRect/>
          </a:stretch>
        </p:blipFill>
        <p:spPr>
          <a:xfrm>
            <a:off x="1689062" y="2188471"/>
            <a:ext cx="3036963" cy="4076495"/>
          </a:xfrm>
          <a:prstGeom prst="rect">
            <a:avLst/>
          </a:prstGeom>
        </p:spPr>
      </p:pic>
      <p:sp>
        <p:nvSpPr>
          <p:cNvPr id="24" name="Content Placeholder 22">
            <a:extLst>
              <a:ext uri="{FF2B5EF4-FFF2-40B4-BE49-F238E27FC236}">
                <a16:creationId xmlns:a16="http://schemas.microsoft.com/office/drawing/2014/main" id="{8C251039-E58B-3510-E37A-A1405543A7E7}"/>
              </a:ext>
            </a:extLst>
          </p:cNvPr>
          <p:cNvSpPr txBox="1">
            <a:spLocks/>
          </p:cNvSpPr>
          <p:nvPr/>
        </p:nvSpPr>
        <p:spPr>
          <a:xfrm>
            <a:off x="6096000" y="2042464"/>
            <a:ext cx="5623560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26" name="Content Placeholder 20">
            <a:extLst>
              <a:ext uri="{FF2B5EF4-FFF2-40B4-BE49-F238E27FC236}">
                <a16:creationId xmlns:a16="http://schemas.microsoft.com/office/drawing/2014/main" id="{598E5FB1-2960-7575-EAA9-C6E050FEC05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54743" b="70721"/>
          <a:stretch>
            <a:fillRect/>
          </a:stretch>
        </p:blipFill>
        <p:spPr>
          <a:xfrm>
            <a:off x="6113463" y="2188471"/>
            <a:ext cx="5622925" cy="195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84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9DFB6-62FA-C697-2982-FEA96484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D27DD5-B0EE-7BCF-19AD-3A8BF7266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</p:spTree>
    <p:extLst>
      <p:ext uri="{BB962C8B-B14F-4D97-AF65-F5344CB8AC3E}">
        <p14:creationId xmlns:p14="http://schemas.microsoft.com/office/powerpoint/2010/main" val="1586973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EB3153-E9D3-6B78-8C05-BA55FE0D0E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7EDF59-33EB-340F-6A8D-BA6AD96A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C9318-A0AB-00FD-A7EA-8A4E31D28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Create a new Simulink Model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Creating File (</a:t>
            </a:r>
            <a:r>
              <a:rPr lang="en-US" sz="1800" i="1" dirty="0" err="1"/>
              <a:t>slx</a:t>
            </a:r>
            <a:r>
              <a:rPr lang="en-US" sz="1800" i="1" dirty="0"/>
              <a:t>) 		Create / Rename / Open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879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5396D6-CC26-F8ED-A396-D7179DEE3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82484C-C605-D0D9-B234-DE13CCD08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&amp; create Simulink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3F052E-9E8F-04B2-E2AC-454C708373E6}"/>
              </a:ext>
            </a:extLst>
          </p:cNvPr>
          <p:cNvSpPr/>
          <p:nvPr/>
        </p:nvSpPr>
        <p:spPr>
          <a:xfrm>
            <a:off x="8135332" y="3167405"/>
            <a:ext cx="650449" cy="754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4E96B71-1D66-6274-2675-875E1DAF34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567" y="2186515"/>
            <a:ext cx="10688542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44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7C240-AA2F-7A31-BD90-DC6E7646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8">
            <a:extLst>
              <a:ext uri="{FF2B5EF4-FFF2-40B4-BE49-F238E27FC236}">
                <a16:creationId xmlns:a16="http://schemas.microsoft.com/office/drawing/2014/main" id="{7314A834-7986-9D79-009A-5FA4DCF92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8268" b="53875"/>
          <a:stretch>
            <a:fillRect/>
          </a:stretch>
        </p:blipFill>
        <p:spPr>
          <a:xfrm>
            <a:off x="3517525" y="2220298"/>
            <a:ext cx="5096626" cy="37524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BEDAB4-FB4D-0697-3FA7-B3A679C4A0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0B9548-7F56-ADBF-A014-73572667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&amp; create Simulink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77143C-1C22-020E-A0A5-CB8D153E1A85}"/>
              </a:ext>
            </a:extLst>
          </p:cNvPr>
          <p:cNvSpPr/>
          <p:nvPr/>
        </p:nvSpPr>
        <p:spPr>
          <a:xfrm>
            <a:off x="6438506" y="4600280"/>
            <a:ext cx="1611985" cy="509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6BA4DC5-DE63-7C86-1773-EEF56783323B}"/>
              </a:ext>
            </a:extLst>
          </p:cNvPr>
          <p:cNvSpPr/>
          <p:nvPr/>
        </p:nvSpPr>
        <p:spPr>
          <a:xfrm>
            <a:off x="6919273" y="3893270"/>
            <a:ext cx="650449" cy="707010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E74E05-7ED7-815A-C46F-E94E020C6983}"/>
              </a:ext>
            </a:extLst>
          </p:cNvPr>
          <p:cNvSpPr txBox="1"/>
          <p:nvPr/>
        </p:nvSpPr>
        <p:spPr>
          <a:xfrm>
            <a:off x="7511216" y="3625295"/>
            <a:ext cx="268663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Click Create Model</a:t>
            </a:r>
          </a:p>
        </p:txBody>
      </p:sp>
    </p:spTree>
    <p:extLst>
      <p:ext uri="{BB962C8B-B14F-4D97-AF65-F5344CB8AC3E}">
        <p14:creationId xmlns:p14="http://schemas.microsoft.com/office/powerpoint/2010/main" val="2716624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35E2-810E-99A8-E9A0-4AF7C04E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87FA05-819D-E43A-0A90-2CA65962FA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Save As “</a:t>
            </a:r>
            <a:r>
              <a:rPr lang="en-US" dirty="0" err="1"/>
              <a:t>polynomial_System</a:t>
            </a:r>
            <a:r>
              <a:rPr lang="en-US" dirty="0"/>
              <a:t>”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6918E5C-C65B-5468-5F9C-1FDF1B9472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Save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42BD8E-B637-584F-A885-BC3B13EA1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288" y="2079332"/>
            <a:ext cx="5624512" cy="4294773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34184B-420C-19D5-190E-E74257A5B2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EECE9D-6219-EA09-8F15-A2E11398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 Simulink File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42AD44E-942D-E82B-A0ED-BA78F3AD8D0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tretch>
            <a:fillRect/>
          </a:stretch>
        </p:blipFill>
        <p:spPr>
          <a:xfrm>
            <a:off x="6113463" y="2079332"/>
            <a:ext cx="5622925" cy="3168096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BB9AA2-1FE1-95C9-037A-1A5823CD8B07}"/>
              </a:ext>
            </a:extLst>
          </p:cNvPr>
          <p:cNvCxnSpPr>
            <a:cxnSpLocks/>
          </p:cNvCxnSpPr>
          <p:nvPr/>
        </p:nvCxnSpPr>
        <p:spPr>
          <a:xfrm>
            <a:off x="131338" y="2620652"/>
            <a:ext cx="47627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094EF3-A026-DCC6-C3EA-B4BD3631E1D8}"/>
              </a:ext>
            </a:extLst>
          </p:cNvPr>
          <p:cNvCxnSpPr>
            <a:cxnSpLocks/>
          </p:cNvCxnSpPr>
          <p:nvPr/>
        </p:nvCxnSpPr>
        <p:spPr>
          <a:xfrm>
            <a:off x="216179" y="3082564"/>
            <a:ext cx="3914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32D1588-2BC5-7A66-9B48-D042193FAA9E}"/>
              </a:ext>
            </a:extLst>
          </p:cNvPr>
          <p:cNvCxnSpPr>
            <a:cxnSpLocks/>
          </p:cNvCxnSpPr>
          <p:nvPr/>
        </p:nvCxnSpPr>
        <p:spPr>
          <a:xfrm>
            <a:off x="6113356" y="4451021"/>
            <a:ext cx="3914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7E8B29-F65A-8016-A55E-00676D4833F5}"/>
              </a:ext>
            </a:extLst>
          </p:cNvPr>
          <p:cNvCxnSpPr>
            <a:cxnSpLocks/>
          </p:cNvCxnSpPr>
          <p:nvPr/>
        </p:nvCxnSpPr>
        <p:spPr>
          <a:xfrm>
            <a:off x="6265756" y="4603421"/>
            <a:ext cx="3914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669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CC6610-DB27-620B-5279-432E077CBE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6C924A2-8621-7A2A-7218-2D882261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 File has been Renamed</a:t>
            </a:r>
          </a:p>
        </p:txBody>
      </p:sp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A7AA25BB-1E28-70E6-8929-3B6848E62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2622" b="43826"/>
          <a:stretch>
            <a:fillRect/>
          </a:stretch>
        </p:blipFill>
        <p:spPr>
          <a:xfrm>
            <a:off x="395288" y="1883849"/>
            <a:ext cx="11341100" cy="44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89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C9AB-A703-9E2F-F787-CC1A0394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69A52B-51AC-CFB6-0C11-D2DE4A77B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blocks</a:t>
            </a:r>
          </a:p>
        </p:txBody>
      </p:sp>
    </p:spTree>
    <p:extLst>
      <p:ext uri="{BB962C8B-B14F-4D97-AF65-F5344CB8AC3E}">
        <p14:creationId xmlns:p14="http://schemas.microsoft.com/office/powerpoint/2010/main" val="1088086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8678B9-02E4-3024-860C-85FA9DFC7C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1A3B32-66DF-E323-60A9-773FDB86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C70C1-2543-6C35-7A94-35DAD4525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Accessing Library Browser	Open / Find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Blocks 			Add / Edit / Label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Model 			Fit Contents to Window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Lines 			Create / Edit / Format / Label / Data log</a:t>
            </a:r>
          </a:p>
        </p:txBody>
      </p:sp>
    </p:spTree>
    <p:extLst>
      <p:ext uri="{BB962C8B-B14F-4D97-AF65-F5344CB8AC3E}">
        <p14:creationId xmlns:p14="http://schemas.microsoft.com/office/powerpoint/2010/main" val="3313797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53C4A7-45AC-703F-9672-575D3AAE2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Type “step” and press enter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AB57E3E-D271-6D5E-FB8E-6C4B478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on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7FE4CB4-4EEA-2F76-3DD7-121F40D405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EAC9A14-C8AB-D5A5-A255-5483B087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Annotation</a:t>
            </a:r>
          </a:p>
        </p:txBody>
      </p:sp>
      <p:pic>
        <p:nvPicPr>
          <p:cNvPr id="48" name="Content Placeholder 21">
            <a:extLst>
              <a:ext uri="{FF2B5EF4-FFF2-40B4-BE49-F238E27FC236}">
                <a16:creationId xmlns:a16="http://schemas.microsoft.com/office/drawing/2014/main" id="{6E13DA2D-3D71-5CC1-5ADF-ADA3D0AFE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6971" b="38890"/>
          <a:stretch>
            <a:fillRect/>
          </a:stretch>
        </p:blipFill>
        <p:spPr>
          <a:xfrm>
            <a:off x="1011814" y="2043113"/>
            <a:ext cx="4391460" cy="4367212"/>
          </a:xfrm>
          <a:prstGeom prst="rect">
            <a:avLst/>
          </a:prstGeom>
        </p:spPr>
      </p:pic>
      <p:pic>
        <p:nvPicPr>
          <p:cNvPr id="51" name="Content Placeholder 35">
            <a:extLst>
              <a:ext uri="{FF2B5EF4-FFF2-40B4-BE49-F238E27FC236}">
                <a16:creationId xmlns:a16="http://schemas.microsoft.com/office/drawing/2014/main" id="{AA94C04C-D771-E5D1-A39E-5A4298140D75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64399" b="45824"/>
          <a:stretch>
            <a:fillRect/>
          </a:stretch>
        </p:blipFill>
        <p:spPr>
          <a:xfrm>
            <a:off x="6255295" y="2043113"/>
            <a:ext cx="5339260" cy="436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06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909611E-6A5C-369C-C6CB-27B4CEE742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Clock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F4F125-59B1-21AC-8208-B14EFA639C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F811A-28C9-9622-3FF1-4F022E2D6E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D166167-634F-B75D-F4EB-269F9B7B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F00D08D-3437-A339-73E2-D928E187B3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Clock</a:t>
            </a:r>
          </a:p>
        </p:txBody>
      </p:sp>
      <p:pic>
        <p:nvPicPr>
          <p:cNvPr id="28" name="Content Placeholder 16">
            <a:extLst>
              <a:ext uri="{FF2B5EF4-FFF2-40B4-BE49-F238E27FC236}">
                <a16:creationId xmlns:a16="http://schemas.microsoft.com/office/drawing/2014/main" id="{1BB7C19B-7652-D7B0-E394-FA5CF142C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968" t="58122" r="74969" b="4203"/>
          <a:stretch>
            <a:fillRect/>
          </a:stretch>
        </p:blipFill>
        <p:spPr>
          <a:xfrm>
            <a:off x="631707" y="2374772"/>
            <a:ext cx="3303823" cy="3703894"/>
          </a:xfrm>
          <a:prstGeom prst="rect">
            <a:avLst/>
          </a:prstGeom>
        </p:spPr>
      </p:pic>
      <p:pic>
        <p:nvPicPr>
          <p:cNvPr id="35" name="Content Placeholder 28">
            <a:extLst>
              <a:ext uri="{FF2B5EF4-FFF2-40B4-BE49-F238E27FC236}">
                <a16:creationId xmlns:a16="http://schemas.microsoft.com/office/drawing/2014/main" id="{1E5BDBF7-748E-E093-A564-61DFE1CE32D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689" t="47598" r="85180" b="34384"/>
          <a:stretch>
            <a:fillRect/>
          </a:stretch>
        </p:blipFill>
        <p:spPr>
          <a:xfrm>
            <a:off x="5190923" y="3341028"/>
            <a:ext cx="1853016" cy="1771381"/>
          </a:xfrm>
          <a:prstGeom prst="rect">
            <a:avLst/>
          </a:prstGeom>
        </p:spPr>
      </p:pic>
      <p:pic>
        <p:nvPicPr>
          <p:cNvPr id="44" name="Content Placeholder 35">
            <a:extLst>
              <a:ext uri="{FF2B5EF4-FFF2-40B4-BE49-F238E27FC236}">
                <a16:creationId xmlns:a16="http://schemas.microsoft.com/office/drawing/2014/main" id="{BDF742BD-0EAB-B12E-7CAB-596382A151ED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5241" t="48199" r="86575" b="33782"/>
          <a:stretch>
            <a:fillRect/>
          </a:stretch>
        </p:blipFill>
        <p:spPr>
          <a:xfrm>
            <a:off x="9202794" y="3340979"/>
            <a:ext cx="1496899" cy="177147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FC588A5-4B1B-BA2F-500A-75C58C73599F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7150CAF-C7AB-7A7E-8D51-D7E139AB86A1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7BF03E3-94CF-D224-AFCB-9A0DCE28C6BC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</a:t>
            </a:r>
            <a:r>
              <a:rPr lang="en-US" dirty="0" err="1">
                <a:solidFill>
                  <a:srgbClr val="FF0000"/>
                </a:solidFill>
              </a:rPr>
              <a:t>clo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1B16B8F-85D8-AA4C-87A3-A039704DAF2F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8E787C0-9CF7-A735-58EB-ECB4A8845539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CCAED23-ABF2-7124-A5D1-542236319505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310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DAA4CD5-339B-4901-1AD7-8FA54B07D3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6A6AB41-B3B5-7260-787A-58F5CED8C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Clock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69D7E28-EA1B-0844-A777-1FC1C2388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17B01E9-EF94-77CF-05FE-2830100A811B}"/>
              </a:ext>
            </a:extLst>
          </p:cNvPr>
          <p:cNvSpPr/>
          <p:nvPr/>
        </p:nvSpPr>
        <p:spPr>
          <a:xfrm>
            <a:off x="2226297" y="4096544"/>
            <a:ext cx="893975" cy="6734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5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B6155-6AEF-78F6-F2DA-08A128388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DDE4827-C83F-E498-C24D-3A7736ABB3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Square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92518D3-B021-3E7F-6E35-80870A325E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C6527A-A0A6-EC03-46E6-D5943F734D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F900FF0-5A0A-ED15-E094-C69808DBB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Square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29B913-0799-6BFD-AD69-956A9CA337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Square</a:t>
            </a:r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B2C31C15-E379-19C1-0951-6D6C27834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161" t="51327" r="62478" b="6262"/>
          <a:stretch>
            <a:fillRect/>
          </a:stretch>
        </p:blipFill>
        <p:spPr>
          <a:xfrm>
            <a:off x="421549" y="2141970"/>
            <a:ext cx="3724139" cy="4169498"/>
          </a:xfrm>
          <a:prstGeom prst="rect">
            <a:avLst/>
          </a:prstGeom>
        </p:spPr>
      </p:pic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A842B4BC-DF27-883E-E4A1-2F389B0B053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16568" t="47041" r="72699" b="29275"/>
          <a:stretch>
            <a:fillRect/>
          </a:stretch>
        </p:blipFill>
        <p:spPr>
          <a:xfrm>
            <a:off x="5135869" y="3062511"/>
            <a:ext cx="1963125" cy="2328415"/>
          </a:xfrm>
          <a:prstGeom prst="rect">
            <a:avLst/>
          </a:prstGeom>
        </p:spPr>
      </p:pic>
      <p:pic>
        <p:nvPicPr>
          <p:cNvPr id="27" name="Content Placeholder 23">
            <a:extLst>
              <a:ext uri="{FF2B5EF4-FFF2-40B4-BE49-F238E27FC236}">
                <a16:creationId xmlns:a16="http://schemas.microsoft.com/office/drawing/2014/main" id="{AFEE66E5-F6D7-AED5-A462-16968683D13B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15896" t="50291" r="70126" b="31691"/>
          <a:stretch>
            <a:fillRect/>
          </a:stretch>
        </p:blipFill>
        <p:spPr>
          <a:xfrm>
            <a:off x="8672917" y="3341028"/>
            <a:ext cx="2556653" cy="177138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494CB75-D14E-1A3A-2081-53B159EADDBA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sq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DC051E9-5694-BD1C-286E-4D97931297C1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D7B4A75-EB44-1C76-3D45-1E16AAD2BDF3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7D3CF7E-BF6F-AD4D-1B7E-0C562C19CAC1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6230A90-BE14-5645-54CD-21081E3C47EE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AAC572-59A9-03F5-EEA6-F4A5AE4EFEEB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533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46B18-BD15-2807-B291-BCD6208C6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B4DB063-EAC2-E448-683A-C7D6F4E7E5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568F342-F866-BFA6-67D7-E777490E4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Square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0B00BF-6E92-1460-7298-D5C933679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032C02-A309-22C3-C808-8C7264FF4EAF}"/>
              </a:ext>
            </a:extLst>
          </p:cNvPr>
          <p:cNvSpPr/>
          <p:nvPr/>
        </p:nvSpPr>
        <p:spPr>
          <a:xfrm>
            <a:off x="3225538" y="4096544"/>
            <a:ext cx="988244" cy="7865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42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8D6D5-6838-E756-7B5D-AA37CC7C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2F4DBE0-A13E-B24C-0302-7852B41E4B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Gain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93C338F-3438-0ED4-BD45-C62CF0C069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7B191-6D80-5058-932A-FE63CDD8F9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A4DB15B-088C-0AE6-C51B-F2B11EA7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1</a:t>
            </a:r>
            <a:r>
              <a:rPr lang="en-US" baseline="30000" dirty="0"/>
              <a:t>st</a:t>
            </a:r>
            <a:r>
              <a:rPr lang="en-US" dirty="0"/>
              <a:t> Gain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B63847-FFD9-DCA3-D8C1-16001471B9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Gain</a:t>
            </a:r>
          </a:p>
        </p:txBody>
      </p:sp>
      <p:pic>
        <p:nvPicPr>
          <p:cNvPr id="19" name="Content Placeholder 3">
            <a:extLst>
              <a:ext uri="{FF2B5EF4-FFF2-40B4-BE49-F238E27FC236}">
                <a16:creationId xmlns:a16="http://schemas.microsoft.com/office/drawing/2014/main" id="{7D5C8484-316F-6384-445E-C8BBB5DEA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221" t="52149" r="50811" b="5592"/>
          <a:stretch>
            <a:fillRect/>
          </a:stretch>
        </p:blipFill>
        <p:spPr>
          <a:xfrm>
            <a:off x="457490" y="2149441"/>
            <a:ext cx="3652258" cy="4154555"/>
          </a:xfrm>
          <a:prstGeom prst="rect">
            <a:avLst/>
          </a:prstGeom>
        </p:spPr>
      </p:pic>
      <p:pic>
        <p:nvPicPr>
          <p:cNvPr id="23" name="Content Placeholder 6">
            <a:extLst>
              <a:ext uri="{FF2B5EF4-FFF2-40B4-BE49-F238E27FC236}">
                <a16:creationId xmlns:a16="http://schemas.microsoft.com/office/drawing/2014/main" id="{EE8742CD-E707-8784-AC7B-17333BBBC99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32043" t="46112" r="58971" b="31133"/>
          <a:stretch>
            <a:fillRect/>
          </a:stretch>
        </p:blipFill>
        <p:spPr>
          <a:xfrm>
            <a:off x="5295637" y="3108177"/>
            <a:ext cx="1643589" cy="2237083"/>
          </a:xfrm>
          <a:prstGeom prst="rect">
            <a:avLst/>
          </a:prstGeom>
        </p:spPr>
      </p:pic>
      <p:pic>
        <p:nvPicPr>
          <p:cNvPr id="26" name="Content Placeholder 15">
            <a:extLst>
              <a:ext uri="{FF2B5EF4-FFF2-40B4-BE49-F238E27FC236}">
                <a16:creationId xmlns:a16="http://schemas.microsoft.com/office/drawing/2014/main" id="{B0C18C85-C8BF-E6D9-1168-E01842701E29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31122" t="49920" r="58894" b="32062"/>
          <a:stretch>
            <a:fillRect/>
          </a:stretch>
        </p:blipFill>
        <p:spPr>
          <a:xfrm>
            <a:off x="9038179" y="3341028"/>
            <a:ext cx="1826129" cy="177138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7D1FBDF-A38C-9562-C003-57F7126E78FC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E26EB1-4D78-D8BC-E5A4-1EEB576D176C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F0BF486-22C6-D3A3-E879-3C45CAD4F29E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gain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FC570F0-7472-EC00-27D0-FBEBF66EB422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7F65D4F-C05A-2645-F894-A89843C83127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CA3964-0ACF-4E11-25B7-DC20451AD89E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424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B5125-86D5-64C7-92A9-ADA21AC7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461205-3645-42A2-84C8-DD256A132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D5B82FF-4D08-ECA8-8F85-CBEBEC14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1</a:t>
            </a:r>
            <a:r>
              <a:rPr lang="en-US" baseline="30000" dirty="0"/>
              <a:t>st</a:t>
            </a:r>
            <a:r>
              <a:rPr lang="en-US" dirty="0"/>
              <a:t> Gain Block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D945FB-9EE9-3F56-69F6-BF28D3D2F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343DDB0-8A38-0E3A-8C00-3E85CBB1F214}"/>
              </a:ext>
            </a:extLst>
          </p:cNvPr>
          <p:cNvSpPr/>
          <p:nvPr/>
        </p:nvSpPr>
        <p:spPr>
          <a:xfrm>
            <a:off x="4479303" y="4162532"/>
            <a:ext cx="884549" cy="6828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55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276A-794D-1072-FFF3-335D3BA5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7BFC26-A8C4-9D38-215D-505074426E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2. Observe Duplication Result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23053D-C9BF-3610-C02C-44B1D60A1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Step 1. Duplicate Gain block by Holding ctrl and Dragging gain block down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43059B1-1F33-2C99-08B3-F50D0132DC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842AFF8-43AB-50BA-A5B3-7268D1A1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2</a:t>
            </a:r>
            <a:r>
              <a:rPr lang="en-US" baseline="30000" dirty="0"/>
              <a:t>nd</a:t>
            </a:r>
            <a:r>
              <a:rPr lang="en-US" dirty="0"/>
              <a:t> Gain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53BE9B1-0BEA-0CC0-2F69-3E9F2AC6C1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Gain</a:t>
            </a:r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376C3414-4208-A25E-7AB8-8D089B6C3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221" t="46577" r="56481" b="16778"/>
          <a:stretch>
            <a:fillRect/>
          </a:stretch>
        </p:blipFill>
        <p:spPr>
          <a:xfrm>
            <a:off x="976027" y="2425402"/>
            <a:ext cx="2615183" cy="360263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041FE7F-7024-7299-4472-2770CF96E2AB}"/>
              </a:ext>
            </a:extLst>
          </p:cNvPr>
          <p:cNvSpPr/>
          <p:nvPr/>
        </p:nvSpPr>
        <p:spPr>
          <a:xfrm>
            <a:off x="1461155" y="3016577"/>
            <a:ext cx="1593130" cy="10558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2B2871-82C2-1EB6-0B55-6291E218B584}"/>
              </a:ext>
            </a:extLst>
          </p:cNvPr>
          <p:cNvSpPr txBox="1"/>
          <p:nvPr/>
        </p:nvSpPr>
        <p:spPr>
          <a:xfrm>
            <a:off x="557768" y="2462579"/>
            <a:ext cx="345169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Hold ctrl and drag gain block down</a:t>
            </a:r>
          </a:p>
        </p:txBody>
      </p:sp>
      <p:pic>
        <p:nvPicPr>
          <p:cNvPr id="27" name="Content Placeholder 21">
            <a:extLst>
              <a:ext uri="{FF2B5EF4-FFF2-40B4-BE49-F238E27FC236}">
                <a16:creationId xmlns:a16="http://schemas.microsoft.com/office/drawing/2014/main" id="{659B470D-D6CF-334E-5193-F5121F80EA85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8" t="48898" r="55476" b="15395"/>
          <a:stretch>
            <a:fillRect/>
          </a:stretch>
        </p:blipFill>
        <p:spPr>
          <a:xfrm>
            <a:off x="4747835" y="2471510"/>
            <a:ext cx="2739193" cy="3510417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AF8372-CFF7-C408-F89D-F756E6753F58}"/>
              </a:ext>
            </a:extLst>
          </p:cNvPr>
          <p:cNvCxnSpPr/>
          <p:nvPr/>
        </p:nvCxnSpPr>
        <p:spPr>
          <a:xfrm>
            <a:off x="2667786" y="4072379"/>
            <a:ext cx="0" cy="386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625DD59-8A8B-95B6-0A41-9A27108D5E90}"/>
              </a:ext>
            </a:extLst>
          </p:cNvPr>
          <p:cNvSpPr/>
          <p:nvPr/>
        </p:nvSpPr>
        <p:spPr>
          <a:xfrm>
            <a:off x="4941215" y="4298623"/>
            <a:ext cx="1921497" cy="1194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F7C6BF-EEEF-6187-E420-D96BAAF0973D}"/>
              </a:ext>
            </a:extLst>
          </p:cNvPr>
          <p:cNvSpPr txBox="1"/>
          <p:nvPr/>
        </p:nvSpPr>
        <p:spPr>
          <a:xfrm>
            <a:off x="4370150" y="5555843"/>
            <a:ext cx="345169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Observe New Gain block that was generated</a:t>
            </a:r>
          </a:p>
        </p:txBody>
      </p:sp>
      <p:pic>
        <p:nvPicPr>
          <p:cNvPr id="39" name="Content Placeholder 35">
            <a:extLst>
              <a:ext uri="{FF2B5EF4-FFF2-40B4-BE49-F238E27FC236}">
                <a16:creationId xmlns:a16="http://schemas.microsoft.com/office/drawing/2014/main" id="{19649FFF-DE41-AD4B-FED1-FFE83BF5AD02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30123" t="48434" r="57896" b="15394"/>
          <a:stretch>
            <a:fillRect/>
          </a:stretch>
        </p:blipFill>
        <p:spPr>
          <a:xfrm>
            <a:off x="8855548" y="2448653"/>
            <a:ext cx="2191391" cy="3556132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5F9D355-3218-4CD4-AFF4-945FC87F7AE8}"/>
              </a:ext>
            </a:extLst>
          </p:cNvPr>
          <p:cNvSpPr/>
          <p:nvPr/>
        </p:nvSpPr>
        <p:spPr>
          <a:xfrm>
            <a:off x="8990042" y="4298623"/>
            <a:ext cx="1921497" cy="1194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0483B7-1282-7CAE-7DBB-CF7ED508146A}"/>
              </a:ext>
            </a:extLst>
          </p:cNvPr>
          <p:cNvSpPr txBox="1"/>
          <p:nvPr/>
        </p:nvSpPr>
        <p:spPr>
          <a:xfrm>
            <a:off x="8339379" y="5555843"/>
            <a:ext cx="345169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Rename Gain Block</a:t>
            </a:r>
          </a:p>
        </p:txBody>
      </p:sp>
    </p:spTree>
    <p:extLst>
      <p:ext uri="{BB962C8B-B14F-4D97-AF65-F5344CB8AC3E}">
        <p14:creationId xmlns:p14="http://schemas.microsoft.com/office/powerpoint/2010/main" val="2376956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0944-CEE5-A63B-92F5-DDC2DE76A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B257100-7B45-2E01-CAB7-1F4FB37DB2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1079C82-4059-70AA-4757-5056A4B5D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2</a:t>
            </a:r>
            <a:r>
              <a:rPr lang="en-US" baseline="30000" dirty="0"/>
              <a:t>nd</a:t>
            </a:r>
            <a:r>
              <a:rPr lang="en-US" dirty="0"/>
              <a:t> Gain Block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51F759-3F58-E0F9-F2E7-AD7EAF2EA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B53AC6E-64AB-4572-EC2A-FF9A034FBFDE}"/>
              </a:ext>
            </a:extLst>
          </p:cNvPr>
          <p:cNvSpPr/>
          <p:nvPr/>
        </p:nvSpPr>
        <p:spPr>
          <a:xfrm>
            <a:off x="4479303" y="4860116"/>
            <a:ext cx="884549" cy="6828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19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33EFC-D4A1-EDAB-C9A9-10072CF4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55E283-90BC-42E6-C721-A49099BE52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Constant Block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C5CDBA-9A90-EBCA-C277-7E9E82614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0A3795-FB00-93AB-AFCF-65977C7A45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58B2217-E786-64E4-A7E3-0EB14500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Constant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41F1F-AEBA-47A5-A054-172408F2A1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Constant Block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CCD1DA4F-CF02-3E24-1C3C-685991D80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1217" t="63759" r="50561"/>
          <a:stretch>
            <a:fillRect/>
          </a:stretch>
        </p:blipFill>
        <p:spPr>
          <a:xfrm>
            <a:off x="617166" y="2445261"/>
            <a:ext cx="3332905" cy="3562915"/>
          </a:xfrm>
          <a:prstGeom prst="rect">
            <a:avLst/>
          </a:prstGeom>
        </p:spPr>
      </p:pic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EFA79947-EB87-1A82-F4AC-1F7BA9C53B9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29547" t="79101" r="61467" b="2881"/>
          <a:stretch>
            <a:fillRect/>
          </a:stretch>
        </p:blipFill>
        <p:spPr>
          <a:xfrm>
            <a:off x="5295637" y="3341028"/>
            <a:ext cx="1643589" cy="1771381"/>
          </a:xfrm>
          <a:prstGeom prst="rect">
            <a:avLst/>
          </a:prstGeom>
        </p:spPr>
      </p:pic>
      <p:pic>
        <p:nvPicPr>
          <p:cNvPr id="27" name="Content Placeholder 21">
            <a:extLst>
              <a:ext uri="{FF2B5EF4-FFF2-40B4-BE49-F238E27FC236}">
                <a16:creationId xmlns:a16="http://schemas.microsoft.com/office/drawing/2014/main" id="{436F22B3-B45D-39ED-B994-07EEA047DE90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31870" t="78619" r="58645" b="3363"/>
          <a:stretch>
            <a:fillRect/>
          </a:stretch>
        </p:blipFill>
        <p:spPr>
          <a:xfrm>
            <a:off x="9083814" y="3341028"/>
            <a:ext cx="1734859" cy="177138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7473693-B217-6122-5EEC-071A9FA79F19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con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332B0F5-639C-AB7C-80FD-FC6D6CB36D9E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6A534A-F19B-C76B-C3B3-0D24E3614631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3F94DBD-9988-7F2E-DAC5-49B282A0B083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C1F93A8-2822-D104-13A3-A46E0C0ECC1C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ACD7A7A-A08F-A89D-8D60-61625191546B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243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30ECA-035C-1CBC-5E7D-B0CA40B9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CBA012D-BD9F-A4D6-D26D-45EF7E782E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DC11EE3-B43D-A06E-0C9E-09773E21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Constant Block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2CCA64-00CF-02A1-416B-1168B506A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364C31A-6312-E8DD-DAAF-61B7C8E75ADB}"/>
              </a:ext>
            </a:extLst>
          </p:cNvPr>
          <p:cNvSpPr/>
          <p:nvPr/>
        </p:nvSpPr>
        <p:spPr>
          <a:xfrm>
            <a:off x="4479303" y="5491419"/>
            <a:ext cx="884549" cy="6828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425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3BA4F-A143-B8C5-FA99-1CF258AF2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F664FF0-1958-3C36-18EC-E5B63493BD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765372"/>
          </a:xfrm>
        </p:spPr>
        <p:txBody>
          <a:bodyPr>
            <a:normAutofit/>
          </a:bodyPr>
          <a:lstStyle/>
          <a:p>
            <a:r>
              <a:rPr lang="en-US" dirty="0"/>
              <a:t>Step 2. Add Sum Block &amp; Edit Block Parameters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C447E42-B395-FDD2-4000-249687A833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C59F120-450E-B98C-A7A9-5160D05089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BD98883-1119-68A6-2E47-4E8E4589B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Sum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00C6E6E-20F0-CEE5-146E-FBE17D8FD5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Step 3. Rename and resize Sum Block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9174C42-5BDC-374D-F137-4451F6BC5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11" t="54207" r="36211" b="10643"/>
          <a:stretch>
            <a:fillRect/>
          </a:stretch>
        </p:blipFill>
        <p:spPr>
          <a:xfrm>
            <a:off x="749224" y="2498890"/>
            <a:ext cx="3068789" cy="3455657"/>
          </a:xfrm>
          <a:prstGeom prst="rect">
            <a:avLst/>
          </a:prstGeom>
        </p:spPr>
      </p:pic>
      <p:pic>
        <p:nvPicPr>
          <p:cNvPr id="30" name="Content Placeholder 25">
            <a:extLst>
              <a:ext uri="{FF2B5EF4-FFF2-40B4-BE49-F238E27FC236}">
                <a16:creationId xmlns:a16="http://schemas.microsoft.com/office/drawing/2014/main" id="{8D0E44D4-571B-09C0-85C7-BA1BF2D612E8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9433" t="48880" r="22928" b="37359"/>
          <a:stretch>
            <a:fillRect/>
          </a:stretch>
        </p:blipFill>
        <p:spPr>
          <a:xfrm>
            <a:off x="4415266" y="2757043"/>
            <a:ext cx="3417483" cy="91453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8F88534-DCFC-2F61-03E7-5D7B5C211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53" t="49442" r="22835" b="18891"/>
          <a:stretch>
            <a:fillRect/>
          </a:stretch>
        </p:blipFill>
        <p:spPr>
          <a:xfrm>
            <a:off x="4415266" y="3952874"/>
            <a:ext cx="3403077" cy="2075147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F12EB01-C49C-399C-A53F-A5FCA9E81986}"/>
              </a:ext>
            </a:extLst>
          </p:cNvPr>
          <p:cNvSpPr/>
          <p:nvPr/>
        </p:nvSpPr>
        <p:spPr>
          <a:xfrm>
            <a:off x="4850778" y="4105275"/>
            <a:ext cx="1178547" cy="590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098F6B-AC4D-AC99-CABF-736AB7240B91}"/>
              </a:ext>
            </a:extLst>
          </p:cNvPr>
          <p:cNvSpPr txBox="1"/>
          <p:nvPr/>
        </p:nvSpPr>
        <p:spPr>
          <a:xfrm>
            <a:off x="4869175" y="2433771"/>
            <a:ext cx="296357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Double Click Sum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FDBF9E-E5C0-A954-5430-E8DA326A613B}"/>
              </a:ext>
            </a:extLst>
          </p:cNvPr>
          <p:cNvSpPr txBox="1"/>
          <p:nvPr/>
        </p:nvSpPr>
        <p:spPr>
          <a:xfrm>
            <a:off x="4956801" y="4722018"/>
            <a:ext cx="2558424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Update Icon Shape “rectangular” &amp; list signs “+++”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A121C7-9469-F05F-36FD-00B568EADDEE}"/>
              </a:ext>
            </a:extLst>
          </p:cNvPr>
          <p:cNvSpPr/>
          <p:nvPr/>
        </p:nvSpPr>
        <p:spPr>
          <a:xfrm>
            <a:off x="7191374" y="5657850"/>
            <a:ext cx="626969" cy="416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936FD7-E5F1-F78A-0AEE-C68AA45BDCC4}"/>
              </a:ext>
            </a:extLst>
          </p:cNvPr>
          <p:cNvCxnSpPr>
            <a:cxnSpLocks/>
          </p:cNvCxnSpPr>
          <p:nvPr/>
        </p:nvCxnSpPr>
        <p:spPr>
          <a:xfrm flipH="1">
            <a:off x="4695825" y="2710770"/>
            <a:ext cx="222056" cy="4286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DF89E99-360A-E2E5-D6AF-3115FE32B9D8}"/>
              </a:ext>
            </a:extLst>
          </p:cNvPr>
          <p:cNvCxnSpPr>
            <a:cxnSpLocks/>
          </p:cNvCxnSpPr>
          <p:nvPr/>
        </p:nvCxnSpPr>
        <p:spPr>
          <a:xfrm flipH="1" flipV="1">
            <a:off x="6029178" y="4400550"/>
            <a:ext cx="206835" cy="25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D6430FE-6409-7413-8F54-010D3449ACEF}"/>
              </a:ext>
            </a:extLst>
          </p:cNvPr>
          <p:cNvCxnSpPr>
            <a:cxnSpLocks/>
            <a:stCxn id="48" idx="3"/>
            <a:endCxn id="41" idx="2"/>
          </p:cNvCxnSpPr>
          <p:nvPr/>
        </p:nvCxnSpPr>
        <p:spPr>
          <a:xfrm flipV="1">
            <a:off x="6962775" y="6074294"/>
            <a:ext cx="542084" cy="2812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750D880-2467-5D7B-DD5D-A454E4E67D4E}"/>
              </a:ext>
            </a:extLst>
          </p:cNvPr>
          <p:cNvSpPr txBox="1"/>
          <p:nvPr/>
        </p:nvSpPr>
        <p:spPr>
          <a:xfrm>
            <a:off x="4917881" y="6217086"/>
            <a:ext cx="20448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3. Click Apply</a:t>
            </a:r>
          </a:p>
        </p:txBody>
      </p:sp>
      <p:pic>
        <p:nvPicPr>
          <p:cNvPr id="63" name="Content Placeholder 56">
            <a:extLst>
              <a:ext uri="{FF2B5EF4-FFF2-40B4-BE49-F238E27FC236}">
                <a16:creationId xmlns:a16="http://schemas.microsoft.com/office/drawing/2014/main" id="{1E1E000B-8E2F-D285-3C0C-64BBB90A636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5"/>
          <a:srcRect l="47541" t="46615" r="45650" b="5843"/>
          <a:stretch>
            <a:fillRect/>
          </a:stretch>
        </p:blipFill>
        <p:spPr>
          <a:xfrm>
            <a:off x="9369406" y="2043113"/>
            <a:ext cx="1163675" cy="4367212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06BA660-50C9-229F-9924-498C1B236C9C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sum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4BAA66F-3281-49B3-EA0D-33503074F7E1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45DABAD-DD42-729E-AF36-E4E8924EB422}"/>
              </a:ext>
            </a:extLst>
          </p:cNvPr>
          <p:cNvSpPr txBox="1"/>
          <p:nvPr/>
        </p:nvSpPr>
        <p:spPr>
          <a:xfrm>
            <a:off x="2732830" y="2823842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A5AE238-8397-2210-6E0F-C23E5641E899}"/>
              </a:ext>
            </a:extLst>
          </p:cNvPr>
          <p:cNvCxnSpPr>
            <a:cxnSpLocks/>
          </p:cNvCxnSpPr>
          <p:nvPr/>
        </p:nvCxnSpPr>
        <p:spPr>
          <a:xfrm flipH="1">
            <a:off x="2256322" y="2962341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6168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96981-3740-BA4B-1BC5-6F24A6EA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C213EC-D3A8-F56D-DA79-A7F702ED4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CE0DFA9-0ECC-DEBC-3A35-4DD7E0B765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51ED3CA-6589-274E-27C2-6E84BC48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Constant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908FD0-1699-A2DB-3213-25D120A5D9EB}"/>
              </a:ext>
            </a:extLst>
          </p:cNvPr>
          <p:cNvSpPr/>
          <p:nvPr/>
        </p:nvSpPr>
        <p:spPr>
          <a:xfrm>
            <a:off x="5800725" y="3900744"/>
            <a:ext cx="737549" cy="2271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882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CADCF-DBB9-B3A1-09F4-217AD548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AF2B5B-659A-2950-1452-3BF8F27DE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Data Type Conversion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FC13BA-B404-C43C-E4A1-2B4A321290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239A67-D0BC-F5E3-8968-F0D381D47E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57302A2-FB73-F8C9-5F0F-8603DD36F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Data Type Conversion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EC6301E-93BE-4E31-3B7E-6A1F53C9DC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Step 3. Rename Data Type Conversion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D4B9CE80-FC8B-F843-3282-A080C1F14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0908" t="64663" r="21116"/>
          <a:stretch>
            <a:fillRect/>
          </a:stretch>
        </p:blipFill>
        <p:spPr>
          <a:xfrm>
            <a:off x="639664" y="2489698"/>
            <a:ext cx="3287910" cy="3474041"/>
          </a:xfrm>
          <a:prstGeom prst="rect">
            <a:avLst/>
          </a:prstGeom>
        </p:spPr>
      </p:pic>
      <p:pic>
        <p:nvPicPr>
          <p:cNvPr id="20" name="Content Placeholder 8">
            <a:extLst>
              <a:ext uri="{FF2B5EF4-FFF2-40B4-BE49-F238E27FC236}">
                <a16:creationId xmlns:a16="http://schemas.microsoft.com/office/drawing/2014/main" id="{65CB63D5-7397-3A13-0284-F6BE02B1514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61791" t="63940" r="24590" b="22480"/>
          <a:stretch>
            <a:fillRect/>
          </a:stretch>
        </p:blipFill>
        <p:spPr>
          <a:xfrm>
            <a:off x="4871936" y="3559182"/>
            <a:ext cx="2490990" cy="1335073"/>
          </a:xfrm>
          <a:prstGeom prst="rect">
            <a:avLst/>
          </a:prstGeom>
        </p:spPr>
      </p:pic>
      <p:pic>
        <p:nvPicPr>
          <p:cNvPr id="32" name="Content Placeholder 23">
            <a:extLst>
              <a:ext uri="{FF2B5EF4-FFF2-40B4-BE49-F238E27FC236}">
                <a16:creationId xmlns:a16="http://schemas.microsoft.com/office/drawing/2014/main" id="{975FFB3A-4581-8CAB-5AEB-F4E4CA31F37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61665" t="62910" r="24968" b="21313"/>
          <a:stretch>
            <a:fillRect/>
          </a:stretch>
        </p:blipFill>
        <p:spPr>
          <a:xfrm>
            <a:off x="8728795" y="3451187"/>
            <a:ext cx="2444898" cy="155106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E3DF3F8-31C4-5553-FB90-4BBB43039FE7}"/>
              </a:ext>
            </a:extLst>
          </p:cNvPr>
          <p:cNvSpPr txBox="1"/>
          <p:nvPr/>
        </p:nvSpPr>
        <p:spPr>
          <a:xfrm>
            <a:off x="3892330" y="5010859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32B18F6-3FDD-B8AB-41FF-663C05D32658}"/>
              </a:ext>
            </a:extLst>
          </p:cNvPr>
          <p:cNvCxnSpPr>
            <a:cxnSpLocks/>
          </p:cNvCxnSpPr>
          <p:nvPr/>
        </p:nvCxnSpPr>
        <p:spPr>
          <a:xfrm flipH="1">
            <a:off x="3415822" y="5149358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39D28DF-2F26-E2C1-8EEE-7D2679466964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</a:t>
            </a:r>
            <a:r>
              <a:rPr lang="en-US" dirty="0" err="1">
                <a:solidFill>
                  <a:srgbClr val="FF0000"/>
                </a:solidFill>
              </a:rPr>
              <a:t>conve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F9D37A1-A0EC-437F-C631-DD30952E9195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27F96AB-58FF-97DE-3C2F-3CC9F93B829D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1D71F5A-3DE9-4440-B3AA-595FFA3B157A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9327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406A8-9B5F-9347-3E82-3B7F3F65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F7AB7E-7CAB-DB30-5876-7D97D8FCCA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6D5AA0A-1F9F-F93D-6623-18A6EB6931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07812EE-800C-1813-AA26-C15131818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Data Type Conversion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988734-FCDA-4FF3-B40B-5FE0C174427D}"/>
              </a:ext>
            </a:extLst>
          </p:cNvPr>
          <p:cNvSpPr/>
          <p:nvPr/>
        </p:nvSpPr>
        <p:spPr>
          <a:xfrm>
            <a:off x="7067550" y="4619625"/>
            <a:ext cx="1104900" cy="819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194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B1560-4567-39EF-C394-3EB2D31C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B5F1A6-7746-1D49-8123-436B8294F4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Outport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80EDE4D-98B0-4034-1256-9141D62F19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B2EFAE-BE40-CC04-B573-66F25F9B01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A5CD9FB-B14F-ABFE-7F9A-C653BC00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Outport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A99ACAF-48A6-1395-214A-B68F614496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3. Rename Outport</a:t>
            </a:r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D7325BFE-74B7-2374-5B3D-BC118C87C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1233" t="64663" r="2288"/>
          <a:stretch>
            <a:fillRect/>
          </a:stretch>
        </p:blipFill>
        <p:spPr>
          <a:xfrm>
            <a:off x="776569" y="2489698"/>
            <a:ext cx="3014100" cy="3474041"/>
          </a:xfrm>
          <a:prstGeom prst="rect">
            <a:avLst/>
          </a:prstGeom>
        </p:spPr>
      </p:pic>
      <p:pic>
        <p:nvPicPr>
          <p:cNvPr id="23" name="Content Placeholder 18">
            <a:extLst>
              <a:ext uri="{FF2B5EF4-FFF2-40B4-BE49-F238E27FC236}">
                <a16:creationId xmlns:a16="http://schemas.microsoft.com/office/drawing/2014/main" id="{C17DF8A9-C6EB-1858-729A-D93438768C3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80454" t="63256" r="11223" b="18726"/>
          <a:stretch>
            <a:fillRect/>
          </a:stretch>
        </p:blipFill>
        <p:spPr>
          <a:xfrm>
            <a:off x="5356270" y="3341028"/>
            <a:ext cx="1522323" cy="1771381"/>
          </a:xfrm>
          <a:prstGeom prst="rect">
            <a:avLst/>
          </a:prstGeom>
        </p:spPr>
      </p:pic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901B303A-40D9-1B8F-C838-1DFF8061D014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79571" t="64194" r="11231" b="21260"/>
          <a:stretch>
            <a:fillRect/>
          </a:stretch>
        </p:blipFill>
        <p:spPr>
          <a:xfrm>
            <a:off x="9110061" y="3511698"/>
            <a:ext cx="1682365" cy="143004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6872EEA-14E3-50FC-E273-4ABD563DD33A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out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6009DFE-2300-2C0D-1A96-B22C0AC4A6B5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663C97B-1430-2641-5EC5-4E91C92ECAAA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CDDBD0-9F30-1166-AFA8-4B91045E7969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C2D0802-7B65-7D3C-FAB8-6A882B3E6B8D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8185362-9121-663D-4526-CAB18A5C8BB3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5894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9812D-7049-49EC-EFE6-C62F5842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EDF343-C012-7012-55D0-DFBAAB5FCD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948BF0C-FFC6-E468-6425-46EB6A0ECD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7E5A7C6-D714-8EDA-91A6-C2C29EA4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Outport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3A9870-57D3-9E9F-9099-E4914619F7DB}"/>
              </a:ext>
            </a:extLst>
          </p:cNvPr>
          <p:cNvSpPr/>
          <p:nvPr/>
        </p:nvSpPr>
        <p:spPr>
          <a:xfrm>
            <a:off x="8610600" y="4829175"/>
            <a:ext cx="723900" cy="447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354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01B87-ED33-D8D8-3E4B-4F11F950F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7F5C40-1671-6B31-FA4B-63FEC6C0B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86FABD-8518-F49A-158D-979F34C351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FFBF57D-7EA5-785B-FCA1-976990CB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Signal Lines</a:t>
            </a:r>
          </a:p>
        </p:txBody>
      </p:sp>
    </p:spTree>
    <p:extLst>
      <p:ext uri="{BB962C8B-B14F-4D97-AF65-F5344CB8AC3E}">
        <p14:creationId xmlns:p14="http://schemas.microsoft.com/office/powerpoint/2010/main" val="14003287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B0CB0-6DD3-D26A-8FFD-65FC6D9B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6523437-E704-4C48-A3F8-16049A49E2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1E84D18-D98E-0C9E-EA35-57C6A53D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Blocks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F8DDD72D-01BB-2773-6D70-62D00E68B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967"/>
          <a:stretch>
            <a:fillRect/>
          </a:stretch>
        </p:blipFill>
        <p:spPr>
          <a:xfrm>
            <a:off x="1864500" y="1838325"/>
            <a:ext cx="6893001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187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C0349-137A-C2C9-ECCD-302C7223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216F6A-29FA-185D-AC17-CE270A9143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Down Arrow and then Click Restore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0863BE3-48C8-3999-FFA2-62165B14E1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Click Property Inspector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80FDCC7-5BCB-92D0-3DCA-68B7C8B38B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D868AF4-39C9-6DE2-7B92-2EE979B8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Show Property Inspector (Method 1)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This is my preferred method</a:t>
            </a:r>
            <a:br>
              <a:rPr lang="en-US" sz="1200" b="0" i="1" dirty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480D98-8E03-AB74-023C-C512C397F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30" b="69098"/>
          <a:stretch>
            <a:fillRect/>
          </a:stretch>
        </p:blipFill>
        <p:spPr>
          <a:xfrm>
            <a:off x="630637" y="2759075"/>
            <a:ext cx="5153813" cy="3038833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B3AFDC3-C64F-6CC4-8022-681923A074E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71" b="57588"/>
          <a:stretch>
            <a:fillRect/>
          </a:stretch>
        </p:blipFill>
        <p:spPr>
          <a:xfrm>
            <a:off x="7312920" y="2759075"/>
            <a:ext cx="3224010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389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79147-4720-91AA-3B67-24D36E8D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67D1470-E2CF-FFDE-BB5C-D358DBD5D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Property Inspector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C959530-9D48-BA8A-C34A-6CFC0A44A6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“MODELING” Tab and expand options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5C29391-D595-529A-BB4A-9BF18BAEE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1740B05-3AF3-10E2-D771-96767F5E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Show Property Inspector (Method 2)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This method will force property Inspector to activate</a:t>
            </a:r>
            <a:endParaRPr lang="en-US" dirty="0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023CEA93-0238-FB6D-1485-6F4BFE7AE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00" y="2759075"/>
            <a:ext cx="4916887" cy="2267867"/>
          </a:xfrm>
          <a:prstGeom prst="rect">
            <a:avLst/>
          </a:prstGeom>
        </p:spPr>
      </p:pic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E44AA834-AD99-AE80-B286-8F04BC691E28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1" r="64820" b="61920"/>
          <a:stretch>
            <a:fillRect/>
          </a:stretch>
        </p:blipFill>
        <p:spPr>
          <a:xfrm>
            <a:off x="6455968" y="2759075"/>
            <a:ext cx="4937915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031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07B6D6-9588-D2D0-D244-F32146A57C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5F8D6B-1DC2-B7E4-88FB-E643B21649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BD03F9-F2D7-C30B-DB88-D3C42A3A83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5B3CD6-1109-C9B1-49B1-F60D65FC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t</a:t>
            </a:r>
          </a:p>
        </p:txBody>
      </p:sp>
      <p:pic>
        <p:nvPicPr>
          <p:cNvPr id="26" name="Content Placeholder 22">
            <a:extLst>
              <a:ext uri="{FF2B5EF4-FFF2-40B4-BE49-F238E27FC236}">
                <a16:creationId xmlns:a16="http://schemas.microsoft.com/office/drawing/2014/main" id="{66866470-B333-8A26-1F88-99CF270B7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1473"/>
          <a:stretch>
            <a:fillRect/>
          </a:stretch>
        </p:blipFill>
        <p:spPr>
          <a:xfrm>
            <a:off x="395818" y="2043113"/>
            <a:ext cx="3130336" cy="4367212"/>
          </a:xfrm>
          <a:prstGeom prst="rect">
            <a:avLst/>
          </a:prstGeom>
        </p:spPr>
      </p:pic>
      <p:pic>
        <p:nvPicPr>
          <p:cNvPr id="27" name="Content Placeholder 22">
            <a:extLst>
              <a:ext uri="{FF2B5EF4-FFF2-40B4-BE49-F238E27FC236}">
                <a16:creationId xmlns:a16="http://schemas.microsoft.com/office/drawing/2014/main" id="{27ECEE7E-0879-6EBC-8C4F-6C252B1A82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936" r="186"/>
          <a:stretch>
            <a:fillRect/>
          </a:stretch>
        </p:blipFill>
        <p:spPr>
          <a:xfrm>
            <a:off x="3514090" y="2042465"/>
            <a:ext cx="1290107" cy="436721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C69E35-757A-D624-85D2-32D3B74C7E51}"/>
              </a:ext>
            </a:extLst>
          </p:cNvPr>
          <p:cNvSpPr txBox="1"/>
          <p:nvPr/>
        </p:nvSpPr>
        <p:spPr>
          <a:xfrm>
            <a:off x="773112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pic>
        <p:nvPicPr>
          <p:cNvPr id="39" name="Content Placeholder 35">
            <a:extLst>
              <a:ext uri="{FF2B5EF4-FFF2-40B4-BE49-F238E27FC236}">
                <a16:creationId xmlns:a16="http://schemas.microsoft.com/office/drawing/2014/main" id="{A30B6004-827E-8E4C-57A8-C672BE8A33F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61695"/>
          <a:stretch>
            <a:fillRect/>
          </a:stretch>
        </p:blipFill>
        <p:spPr>
          <a:xfrm>
            <a:off x="6113356" y="2043113"/>
            <a:ext cx="3112298" cy="4367212"/>
          </a:xfrm>
          <a:prstGeom prst="rect">
            <a:avLst/>
          </a:prstGeom>
        </p:spPr>
      </p:pic>
      <p:pic>
        <p:nvPicPr>
          <p:cNvPr id="40" name="Content Placeholder 35">
            <a:extLst>
              <a:ext uri="{FF2B5EF4-FFF2-40B4-BE49-F238E27FC236}">
                <a16:creationId xmlns:a16="http://schemas.microsoft.com/office/drawing/2014/main" id="{E8218858-1B7A-5CB8-2741-5ED09D0519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15" t="15" r="-186" b="-15"/>
          <a:stretch>
            <a:fillRect/>
          </a:stretch>
        </p:blipFill>
        <p:spPr>
          <a:xfrm>
            <a:off x="9226551" y="2042464"/>
            <a:ext cx="1338316" cy="4367212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F358467F-021E-D794-5BE8-C0F66DD03EA6}"/>
              </a:ext>
            </a:extLst>
          </p:cNvPr>
          <p:cNvSpPr/>
          <p:nvPr/>
        </p:nvSpPr>
        <p:spPr>
          <a:xfrm>
            <a:off x="9248775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B4DA15-F33C-691E-1FC2-A71E487E2BBB}"/>
              </a:ext>
            </a:extLst>
          </p:cNvPr>
          <p:cNvSpPr/>
          <p:nvPr/>
        </p:nvSpPr>
        <p:spPr>
          <a:xfrm>
            <a:off x="3513193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0F260EB-64D5-8607-1E76-11661792434A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1768475" y="5076825"/>
            <a:ext cx="0" cy="266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AD37861-051E-3391-2CB8-F1C3589ACFF3}"/>
              </a:ext>
            </a:extLst>
          </p:cNvPr>
          <p:cNvCxnSpPr>
            <a:cxnSpLocks/>
          </p:cNvCxnSpPr>
          <p:nvPr/>
        </p:nvCxnSpPr>
        <p:spPr>
          <a:xfrm flipV="1">
            <a:off x="7121142" y="4666268"/>
            <a:ext cx="0" cy="6772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73953B9-C600-2368-BD23-B7E071EE25E6}"/>
              </a:ext>
            </a:extLst>
          </p:cNvPr>
          <p:cNvCxnSpPr>
            <a:cxnSpLocks/>
          </p:cNvCxnSpPr>
          <p:nvPr/>
        </p:nvCxnSpPr>
        <p:spPr>
          <a:xfrm>
            <a:off x="4119513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FEEF3FF-98EC-5714-1D32-71994DBE6974}"/>
              </a:ext>
            </a:extLst>
          </p:cNvPr>
          <p:cNvCxnSpPr>
            <a:cxnSpLocks/>
          </p:cNvCxnSpPr>
          <p:nvPr/>
        </p:nvCxnSpPr>
        <p:spPr>
          <a:xfrm>
            <a:off x="9891794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B0FDF80-D4C3-016E-2469-C56688C23E4B}"/>
              </a:ext>
            </a:extLst>
          </p:cNvPr>
          <p:cNvSpPr txBox="1"/>
          <p:nvPr/>
        </p:nvSpPr>
        <p:spPr>
          <a:xfrm>
            <a:off x="6477900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0165A7-145E-AA45-944D-3C0E753D4207}"/>
              </a:ext>
            </a:extLst>
          </p:cNvPr>
          <p:cNvSpPr txBox="1"/>
          <p:nvPr/>
        </p:nvSpPr>
        <p:spPr>
          <a:xfrm>
            <a:off x="9569504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</p:spTree>
    <p:extLst>
      <p:ext uri="{BB962C8B-B14F-4D97-AF65-F5344CB8AC3E}">
        <p14:creationId xmlns:p14="http://schemas.microsoft.com/office/powerpoint/2010/main" val="7665429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0873E-A7A8-9D39-AD08-E1116BACE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7ECAE493-CBFA-59F8-F517-5A26B247964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61269"/>
          <a:stretch>
            <a:fillRect/>
          </a:stretch>
        </p:blipFill>
        <p:spPr>
          <a:xfrm>
            <a:off x="6113356" y="2043113"/>
            <a:ext cx="3146911" cy="4367212"/>
          </a:xfrm>
          <a:prstGeom prst="rect">
            <a:avLst/>
          </a:prstGeom>
        </p:spPr>
      </p:pic>
      <p:pic>
        <p:nvPicPr>
          <p:cNvPr id="22" name="Content Placeholder 17">
            <a:extLst>
              <a:ext uri="{FF2B5EF4-FFF2-40B4-BE49-F238E27FC236}">
                <a16:creationId xmlns:a16="http://schemas.microsoft.com/office/drawing/2014/main" id="{2CB8BBDE-F306-8C1C-A3B4-3F1DDA2E6C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634"/>
          <a:stretch>
            <a:fillRect/>
          </a:stretch>
        </p:blipFill>
        <p:spPr>
          <a:xfrm>
            <a:off x="9232659" y="2041815"/>
            <a:ext cx="1329762" cy="4367212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6EEB031-3252-7BD0-C157-4FC4957F9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44"/>
          <a:stretch>
            <a:fillRect/>
          </a:stretch>
        </p:blipFill>
        <p:spPr>
          <a:xfrm>
            <a:off x="395818" y="2043113"/>
            <a:ext cx="3116478" cy="4367212"/>
          </a:xfrm>
          <a:prstGeom prst="rect">
            <a:avLst/>
          </a:prstGeom>
        </p:spPr>
      </p:pic>
      <p:pic>
        <p:nvPicPr>
          <p:cNvPr id="13" name="Content Placeholder 10">
            <a:extLst>
              <a:ext uri="{FF2B5EF4-FFF2-40B4-BE49-F238E27FC236}">
                <a16:creationId xmlns:a16="http://schemas.microsoft.com/office/drawing/2014/main" id="{91A7D5A3-8825-EFAF-74D7-6B181E3E9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08" r="183"/>
          <a:stretch>
            <a:fillRect/>
          </a:stretch>
        </p:blipFill>
        <p:spPr>
          <a:xfrm>
            <a:off x="3501139" y="2042464"/>
            <a:ext cx="1317068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95C2DFF-860B-33AE-3998-D5558D22F3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A91BBE-8180-27B2-667C-949F53695A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EC1750-C257-0575-2C6B-FA272E4EEB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23795A-02C5-6E66-B986-78B8300EA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t_squared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C674DB-1EFF-B9D5-A849-B447A3F99829}"/>
              </a:ext>
            </a:extLst>
          </p:cNvPr>
          <p:cNvSpPr txBox="1"/>
          <p:nvPr/>
        </p:nvSpPr>
        <p:spPr>
          <a:xfrm>
            <a:off x="773112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FA98256-FBBA-0167-5FF5-3B2DA786FC69}"/>
              </a:ext>
            </a:extLst>
          </p:cNvPr>
          <p:cNvSpPr/>
          <p:nvPr/>
        </p:nvSpPr>
        <p:spPr>
          <a:xfrm>
            <a:off x="9248775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7706AEB-0E49-4CBF-2024-F0355F0D4AC6}"/>
              </a:ext>
            </a:extLst>
          </p:cNvPr>
          <p:cNvSpPr/>
          <p:nvPr/>
        </p:nvSpPr>
        <p:spPr>
          <a:xfrm>
            <a:off x="3513193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337E342-D220-F5C3-FF3F-B697DC064EFA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1768475" y="4505325"/>
            <a:ext cx="869950" cy="838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B8B629-6AB6-423D-285F-2F9EF5B6A69B}"/>
              </a:ext>
            </a:extLst>
          </p:cNvPr>
          <p:cNvCxnSpPr>
            <a:cxnSpLocks/>
          </p:cNvCxnSpPr>
          <p:nvPr/>
        </p:nvCxnSpPr>
        <p:spPr>
          <a:xfrm>
            <a:off x="4119513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3503962-BECB-EABD-B17E-9B34D4A9D5E7}"/>
              </a:ext>
            </a:extLst>
          </p:cNvPr>
          <p:cNvCxnSpPr>
            <a:cxnSpLocks/>
          </p:cNvCxnSpPr>
          <p:nvPr/>
        </p:nvCxnSpPr>
        <p:spPr>
          <a:xfrm>
            <a:off x="9891794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1FF81A1-D402-811B-6654-4B73675E0E38}"/>
              </a:ext>
            </a:extLst>
          </p:cNvPr>
          <p:cNvSpPr txBox="1"/>
          <p:nvPr/>
        </p:nvSpPr>
        <p:spPr>
          <a:xfrm>
            <a:off x="9569504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3115F63-1B52-C79D-C28E-9C025C1B340A}"/>
              </a:ext>
            </a:extLst>
          </p:cNvPr>
          <p:cNvCxnSpPr>
            <a:cxnSpLocks/>
          </p:cNvCxnSpPr>
          <p:nvPr/>
        </p:nvCxnSpPr>
        <p:spPr>
          <a:xfrm flipV="1">
            <a:off x="7121142" y="4609707"/>
            <a:ext cx="1202726" cy="7338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E454DE5-FDC0-F65E-3F69-201CE4216D1D}"/>
              </a:ext>
            </a:extLst>
          </p:cNvPr>
          <p:cNvSpPr txBox="1"/>
          <p:nvPr/>
        </p:nvSpPr>
        <p:spPr>
          <a:xfrm>
            <a:off x="6477900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</p:spTree>
    <p:extLst>
      <p:ext uri="{BB962C8B-B14F-4D97-AF65-F5344CB8AC3E}">
        <p14:creationId xmlns:p14="http://schemas.microsoft.com/office/powerpoint/2010/main" val="28187536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724AE-5EE8-F5FF-5BFC-3D3CE8374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Content Placeholder 35">
            <a:extLst>
              <a:ext uri="{FF2B5EF4-FFF2-40B4-BE49-F238E27FC236}">
                <a16:creationId xmlns:a16="http://schemas.microsoft.com/office/drawing/2014/main" id="{DCB139D5-0253-6550-3605-2C4175A03F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633"/>
          <a:stretch>
            <a:fillRect/>
          </a:stretch>
        </p:blipFill>
        <p:spPr>
          <a:xfrm>
            <a:off x="9636406" y="2050325"/>
            <a:ext cx="1329762" cy="4367212"/>
          </a:xfrm>
          <a:prstGeom prst="rect">
            <a:avLst/>
          </a:prstGeom>
        </p:spPr>
      </p:pic>
      <p:pic>
        <p:nvPicPr>
          <p:cNvPr id="39" name="Content Placeholder 35">
            <a:extLst>
              <a:ext uri="{FF2B5EF4-FFF2-40B4-BE49-F238E27FC236}">
                <a16:creationId xmlns:a16="http://schemas.microsoft.com/office/drawing/2014/main" id="{6F244062-152E-6C0A-E97F-720AE5EC30F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55988"/>
          <a:stretch>
            <a:fillRect/>
          </a:stretch>
        </p:blipFill>
        <p:spPr>
          <a:xfrm>
            <a:off x="6113356" y="2043113"/>
            <a:ext cx="3575995" cy="4367212"/>
          </a:xfrm>
          <a:prstGeom prst="rect">
            <a:avLst/>
          </a:prstGeom>
        </p:spPr>
      </p:pic>
      <p:pic>
        <p:nvPicPr>
          <p:cNvPr id="24" name="Content Placeholder 18">
            <a:extLst>
              <a:ext uri="{FF2B5EF4-FFF2-40B4-BE49-F238E27FC236}">
                <a16:creationId xmlns:a16="http://schemas.microsoft.com/office/drawing/2014/main" id="{80841AE4-CBA8-46EC-7118-7BB8A423C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58113"/>
          <a:stretch>
            <a:fillRect/>
          </a:stretch>
        </p:blipFill>
        <p:spPr>
          <a:xfrm>
            <a:off x="116974" y="2040898"/>
            <a:ext cx="3403337" cy="4367212"/>
          </a:xfrm>
          <a:prstGeom prst="rect">
            <a:avLst/>
          </a:prstGeom>
        </p:spPr>
      </p:pic>
      <p:pic>
        <p:nvPicPr>
          <p:cNvPr id="33" name="Content Placeholder 18">
            <a:extLst>
              <a:ext uri="{FF2B5EF4-FFF2-40B4-BE49-F238E27FC236}">
                <a16:creationId xmlns:a16="http://schemas.microsoft.com/office/drawing/2014/main" id="{826AAA3E-F964-ACFD-E3A9-B801276C87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532" r="53"/>
          <a:stretch>
            <a:fillRect/>
          </a:stretch>
        </p:blipFill>
        <p:spPr>
          <a:xfrm>
            <a:off x="3492797" y="2040898"/>
            <a:ext cx="1333752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128649-00B9-C3FF-33F9-C7111372CF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renamed parameter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982E64-FDC3-B81C-471C-761DD31ABD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Parameter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4142F7-A142-0F93-6A90-11DE299EB3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CEE622-7321-659A-E345-70647850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Parameter: COEFF_A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55B44E-C182-5212-69F3-013D1B3DF092}"/>
              </a:ext>
            </a:extLst>
          </p:cNvPr>
          <p:cNvSpPr txBox="1"/>
          <p:nvPr/>
        </p:nvSpPr>
        <p:spPr>
          <a:xfrm>
            <a:off x="395818" y="5343525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Block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1ECE212-43EA-09D9-8E3D-9A71DD439DBA}"/>
              </a:ext>
            </a:extLst>
          </p:cNvPr>
          <p:cNvSpPr/>
          <p:nvPr/>
        </p:nvSpPr>
        <p:spPr>
          <a:xfrm>
            <a:off x="9644700" y="2971800"/>
            <a:ext cx="1286038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283782-FA49-48D9-2D76-04D8AEAA41C8}"/>
              </a:ext>
            </a:extLst>
          </p:cNvPr>
          <p:cNvSpPr/>
          <p:nvPr/>
        </p:nvSpPr>
        <p:spPr>
          <a:xfrm>
            <a:off x="3513193" y="2971800"/>
            <a:ext cx="1286038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280927-4DC6-20DB-4C94-370D459C6F76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1579828" y="4515439"/>
            <a:ext cx="1351905" cy="828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A0BC074-691A-0601-9AA7-0C5397A2B860}"/>
              </a:ext>
            </a:extLst>
          </p:cNvPr>
          <p:cNvCxnSpPr>
            <a:cxnSpLocks/>
          </p:cNvCxnSpPr>
          <p:nvPr/>
        </p:nvCxnSpPr>
        <p:spPr>
          <a:xfrm>
            <a:off x="10306575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B1AFD5B-10EF-10CD-61B4-46B5AEEB3EF0}"/>
              </a:ext>
            </a:extLst>
          </p:cNvPr>
          <p:cNvSpPr txBox="1"/>
          <p:nvPr/>
        </p:nvSpPr>
        <p:spPr>
          <a:xfrm>
            <a:off x="9984285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C063B56-172E-0726-0A76-ECFD78DFAB0C}"/>
              </a:ext>
            </a:extLst>
          </p:cNvPr>
          <p:cNvCxnSpPr>
            <a:cxnSpLocks/>
          </p:cNvCxnSpPr>
          <p:nvPr/>
        </p:nvCxnSpPr>
        <p:spPr>
          <a:xfrm>
            <a:off x="4119513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D6FF9D9-8F6B-0347-80A2-5289A1A85817}"/>
              </a:ext>
            </a:extLst>
          </p:cNvPr>
          <p:cNvCxnSpPr>
            <a:cxnSpLocks/>
          </p:cNvCxnSpPr>
          <p:nvPr/>
        </p:nvCxnSpPr>
        <p:spPr>
          <a:xfrm flipV="1">
            <a:off x="7121142" y="4515439"/>
            <a:ext cx="1872029" cy="828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F64D432-33AA-A59E-24A3-520F7D62E467}"/>
              </a:ext>
            </a:extLst>
          </p:cNvPr>
          <p:cNvSpPr txBox="1"/>
          <p:nvPr/>
        </p:nvSpPr>
        <p:spPr>
          <a:xfrm>
            <a:off x="6477900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</p:spTree>
    <p:extLst>
      <p:ext uri="{BB962C8B-B14F-4D97-AF65-F5344CB8AC3E}">
        <p14:creationId xmlns:p14="http://schemas.microsoft.com/office/powerpoint/2010/main" val="36074498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A66E3-EA91-7CB7-BED6-5A1D00712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Content Placeholder 21">
            <a:extLst>
              <a:ext uri="{FF2B5EF4-FFF2-40B4-BE49-F238E27FC236}">
                <a16:creationId xmlns:a16="http://schemas.microsoft.com/office/drawing/2014/main" id="{1A183AF8-C344-0338-F147-2CEF17046CE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55995"/>
          <a:stretch>
            <a:fillRect/>
          </a:stretch>
        </p:blipFill>
        <p:spPr>
          <a:xfrm>
            <a:off x="4329718" y="2043113"/>
            <a:ext cx="3575426" cy="4367212"/>
          </a:xfrm>
          <a:prstGeom prst="rect">
            <a:avLst/>
          </a:prstGeom>
        </p:spPr>
      </p:pic>
      <p:pic>
        <p:nvPicPr>
          <p:cNvPr id="46" name="Content Placeholder 9">
            <a:extLst>
              <a:ext uri="{FF2B5EF4-FFF2-40B4-BE49-F238E27FC236}">
                <a16:creationId xmlns:a16="http://schemas.microsoft.com/office/drawing/2014/main" id="{3D44271F-EE91-1000-93BD-F5B9FD761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56052"/>
          <a:stretch>
            <a:fillRect/>
          </a:stretch>
        </p:blipFill>
        <p:spPr>
          <a:xfrm>
            <a:off x="498221" y="2043113"/>
            <a:ext cx="3570795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CBC477-1D86-C7F0-2583-FFD0B34FD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Select Final Block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48EDAD-8AB5-E767-1F71-F21098C134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Select Blocks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8AB16A-DC79-C36F-F387-6F1FA44DD1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CCE39A-C30F-33F1-6034-F7C8B7A4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19825"/>
          </a:xfrm>
        </p:spPr>
        <p:txBody>
          <a:bodyPr/>
          <a:lstStyle/>
          <a:p>
            <a:r>
              <a:rPr lang="en-US" dirty="0"/>
              <a:t>Format Blocks to Same Size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The last block you select is used as the formatting reference. All other selected blocks will be formatted to match it.</a:t>
            </a:r>
            <a:endParaRPr lang="en-US" sz="1200" b="0" i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08898DE-6C6D-FE56-BF35-BE7080AE94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3. Format Blocks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D4E3E0-BB72-8659-CFD4-861CF9F642BA}"/>
              </a:ext>
            </a:extLst>
          </p:cNvPr>
          <p:cNvSpPr/>
          <p:nvPr/>
        </p:nvSpPr>
        <p:spPr>
          <a:xfrm>
            <a:off x="3026004" y="4790982"/>
            <a:ext cx="801278" cy="1279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05C631-E3F1-A4FC-6706-1DE290FA5AB2}"/>
              </a:ext>
            </a:extLst>
          </p:cNvPr>
          <p:cNvSpPr txBox="1"/>
          <p:nvPr/>
        </p:nvSpPr>
        <p:spPr>
          <a:xfrm>
            <a:off x="794694" y="5360906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Blocks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27D69A6-0E49-A9E1-A474-DC99DFFE1BBC}"/>
              </a:ext>
            </a:extLst>
          </p:cNvPr>
          <p:cNvSpPr/>
          <p:nvPr/>
        </p:nvSpPr>
        <p:spPr>
          <a:xfrm>
            <a:off x="6883137" y="4157221"/>
            <a:ext cx="1121903" cy="633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F6F76C-1931-32D6-DC26-0DC84F0A1842}"/>
              </a:ext>
            </a:extLst>
          </p:cNvPr>
          <p:cNvSpPr txBox="1"/>
          <p:nvPr/>
        </p:nvSpPr>
        <p:spPr>
          <a:xfrm>
            <a:off x="5746674" y="3603223"/>
            <a:ext cx="223717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Shift Hold Select Block</a:t>
            </a:r>
          </a:p>
        </p:txBody>
      </p:sp>
      <p:pic>
        <p:nvPicPr>
          <p:cNvPr id="55" name="Content Placeholder 50">
            <a:extLst>
              <a:ext uri="{FF2B5EF4-FFF2-40B4-BE49-F238E27FC236}">
                <a16:creationId xmlns:a16="http://schemas.microsoft.com/office/drawing/2014/main" id="{A8A6E3EA-A6CF-A79F-CFC9-C063A5E65FAA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r="55649"/>
          <a:stretch>
            <a:fillRect/>
          </a:stretch>
        </p:blipFill>
        <p:spPr>
          <a:xfrm>
            <a:off x="8149475" y="2043113"/>
            <a:ext cx="3603538" cy="436721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861AA7CE-B297-0381-D085-6ED18CCE3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58" t="5076" r="46340" b="86187"/>
          <a:stretch>
            <a:fillRect/>
          </a:stretch>
        </p:blipFill>
        <p:spPr>
          <a:xfrm>
            <a:off x="10157774" y="1807521"/>
            <a:ext cx="2034226" cy="876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40EEA088-1DFE-DAA4-E86B-CD833DF95826}"/>
              </a:ext>
            </a:extLst>
          </p:cNvPr>
          <p:cNvSpPr/>
          <p:nvPr/>
        </p:nvSpPr>
        <p:spPr>
          <a:xfrm>
            <a:off x="11603521" y="2268862"/>
            <a:ext cx="470534" cy="433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CD071A-9384-C1A7-D43C-11C5A620C68F}"/>
              </a:ext>
            </a:extLst>
          </p:cNvPr>
          <p:cNvSpPr txBox="1"/>
          <p:nvPr/>
        </p:nvSpPr>
        <p:spPr>
          <a:xfrm>
            <a:off x="9681464" y="2973198"/>
            <a:ext cx="22371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Click Match</a:t>
            </a:r>
          </a:p>
        </p:txBody>
      </p:sp>
      <p:sp>
        <p:nvSpPr>
          <p:cNvPr id="69" name="Left Brace 68">
            <a:extLst>
              <a:ext uri="{FF2B5EF4-FFF2-40B4-BE49-F238E27FC236}">
                <a16:creationId xmlns:a16="http://schemas.microsoft.com/office/drawing/2014/main" id="{DBAB068C-438D-99D0-7595-4ECF08B06004}"/>
              </a:ext>
            </a:extLst>
          </p:cNvPr>
          <p:cNvSpPr/>
          <p:nvPr/>
        </p:nvSpPr>
        <p:spPr>
          <a:xfrm>
            <a:off x="10458563" y="4722829"/>
            <a:ext cx="325701" cy="1263192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827529-BE55-0EC0-2730-BDC501F98D68}"/>
              </a:ext>
            </a:extLst>
          </p:cNvPr>
          <p:cNvSpPr txBox="1"/>
          <p:nvPr/>
        </p:nvSpPr>
        <p:spPr>
          <a:xfrm>
            <a:off x="8611388" y="5156454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188DB43-CE67-0869-9EB4-3C0AC32CD80C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11359299" y="2701884"/>
            <a:ext cx="479489" cy="2713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7295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1DF0E-F69A-6C3D-0010-E6DF8403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5C94FD-4136-AE21-308A-B06C2B8A53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Aligned Blocks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CEB4C0-6D54-5261-ED3C-6D60FAA73E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Blocks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DB73E7-AF6F-2DA4-6247-88E05B7F7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B40461-6998-AC1F-6E47-C9E3A136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37888"/>
          </a:xfrm>
        </p:spPr>
        <p:txBody>
          <a:bodyPr/>
          <a:lstStyle/>
          <a:p>
            <a:r>
              <a:rPr lang="en-US" dirty="0"/>
              <a:t>Format Blocks to Same Size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The last block you select is used as the formatting reference. All other selected blocks will be formatted to match it.</a:t>
            </a:r>
            <a:endParaRPr lang="en-US" sz="1200" dirty="0"/>
          </a:p>
        </p:txBody>
      </p:sp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F1786C8F-86F2-0AB2-B16C-698870F4AA1A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45768"/>
          <a:stretch>
            <a:fillRect/>
          </a:stretch>
        </p:blipFill>
        <p:spPr>
          <a:xfrm>
            <a:off x="6721738" y="2043113"/>
            <a:ext cx="4406374" cy="4367212"/>
          </a:xfrm>
          <a:prstGeom prst="rect">
            <a:avLst/>
          </a:prstGeom>
        </p:spPr>
      </p:pic>
      <p:pic>
        <p:nvPicPr>
          <p:cNvPr id="21" name="Content Placeholder 13">
            <a:extLst>
              <a:ext uri="{FF2B5EF4-FFF2-40B4-BE49-F238E27FC236}">
                <a16:creationId xmlns:a16="http://schemas.microsoft.com/office/drawing/2014/main" id="{C4150920-A959-EB72-CE1C-6601A95368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6063"/>
          <a:stretch>
            <a:fillRect/>
          </a:stretch>
        </p:blipFill>
        <p:spPr>
          <a:xfrm>
            <a:off x="1016341" y="2043113"/>
            <a:ext cx="4382406" cy="436721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746D945-4A6C-A7CE-F84A-9B3DC962518A}"/>
              </a:ext>
            </a:extLst>
          </p:cNvPr>
          <p:cNvSpPr/>
          <p:nvPr/>
        </p:nvSpPr>
        <p:spPr>
          <a:xfrm>
            <a:off x="10313193" y="2466694"/>
            <a:ext cx="139173" cy="155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85930E-1A81-01E4-3215-C47BB2D9A042}"/>
              </a:ext>
            </a:extLst>
          </p:cNvPr>
          <p:cNvCxnSpPr>
            <a:cxnSpLocks/>
          </p:cNvCxnSpPr>
          <p:nvPr/>
        </p:nvCxnSpPr>
        <p:spPr>
          <a:xfrm flipV="1">
            <a:off x="10375106" y="2621756"/>
            <a:ext cx="0" cy="4833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4D59E0F-CD1A-FFBC-CEC6-F038894E36E6}"/>
              </a:ext>
            </a:extLst>
          </p:cNvPr>
          <p:cNvSpPr/>
          <p:nvPr/>
        </p:nvSpPr>
        <p:spPr>
          <a:xfrm>
            <a:off x="3536544" y="4790982"/>
            <a:ext cx="875436" cy="1279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ACEC74-E7DF-4C72-FBB8-B5FE24265D61}"/>
              </a:ext>
            </a:extLst>
          </p:cNvPr>
          <p:cNvSpPr/>
          <p:nvPr/>
        </p:nvSpPr>
        <p:spPr>
          <a:xfrm>
            <a:off x="3536544" y="4157221"/>
            <a:ext cx="1121903" cy="633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B2B2B2-C7C1-4B47-2DC5-E95F46026AA7}"/>
              </a:ext>
            </a:extLst>
          </p:cNvPr>
          <p:cNvSpPr txBox="1"/>
          <p:nvPr/>
        </p:nvSpPr>
        <p:spPr>
          <a:xfrm>
            <a:off x="1353334" y="5462154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Blocks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F5D0D5-8D08-5813-04E4-138A372C185C}"/>
              </a:ext>
            </a:extLst>
          </p:cNvPr>
          <p:cNvSpPr txBox="1"/>
          <p:nvPr/>
        </p:nvSpPr>
        <p:spPr>
          <a:xfrm>
            <a:off x="2190045" y="3765915"/>
            <a:ext cx="339541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Shift Hold Select Block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B63DCC4-81D6-69DC-15E0-4C37E307EAD5}"/>
              </a:ext>
            </a:extLst>
          </p:cNvPr>
          <p:cNvCxnSpPr>
            <a:cxnSpLocks/>
          </p:cNvCxnSpPr>
          <p:nvPr/>
        </p:nvCxnSpPr>
        <p:spPr>
          <a:xfrm flipV="1">
            <a:off x="2453640" y="5247797"/>
            <a:ext cx="1082904" cy="1831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2266AE2-C288-8B0F-A45E-196873DC0A6D}"/>
              </a:ext>
            </a:extLst>
          </p:cNvPr>
          <p:cNvCxnSpPr>
            <a:cxnSpLocks/>
          </p:cNvCxnSpPr>
          <p:nvPr/>
        </p:nvCxnSpPr>
        <p:spPr>
          <a:xfrm>
            <a:off x="2644140" y="4074146"/>
            <a:ext cx="892404" cy="282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3" name="Left Brace 52">
            <a:extLst>
              <a:ext uri="{FF2B5EF4-FFF2-40B4-BE49-F238E27FC236}">
                <a16:creationId xmlns:a16="http://schemas.microsoft.com/office/drawing/2014/main" id="{2152F052-481D-984F-103D-D907AAE79C8E}"/>
              </a:ext>
            </a:extLst>
          </p:cNvPr>
          <p:cNvSpPr/>
          <p:nvPr/>
        </p:nvSpPr>
        <p:spPr>
          <a:xfrm>
            <a:off x="9147923" y="4157221"/>
            <a:ext cx="325701" cy="191364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4B9960-8417-30A2-8ED6-D3A75529D3A7}"/>
              </a:ext>
            </a:extLst>
          </p:cNvPr>
          <p:cNvSpPr txBox="1"/>
          <p:nvPr/>
        </p:nvSpPr>
        <p:spPr>
          <a:xfrm>
            <a:off x="7370340" y="5109297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60F3E2-0B7E-BF05-9532-BC552884F7A9}"/>
              </a:ext>
            </a:extLst>
          </p:cNvPr>
          <p:cNvSpPr txBox="1"/>
          <p:nvPr/>
        </p:nvSpPr>
        <p:spPr>
          <a:xfrm>
            <a:off x="9673696" y="3170433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Click Align</a:t>
            </a:r>
          </a:p>
        </p:txBody>
      </p:sp>
    </p:spTree>
    <p:extLst>
      <p:ext uri="{BB962C8B-B14F-4D97-AF65-F5344CB8AC3E}">
        <p14:creationId xmlns:p14="http://schemas.microsoft.com/office/powerpoint/2010/main" val="24312074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BCD90-EDBA-FF23-8323-CBB94C3B5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Content Placeholder 63">
            <a:extLst>
              <a:ext uri="{FF2B5EF4-FFF2-40B4-BE49-F238E27FC236}">
                <a16:creationId xmlns:a16="http://schemas.microsoft.com/office/drawing/2014/main" id="{43F5996E-17F5-6CA6-5F0C-A3D598DFF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5333"/>
          <a:stretch>
            <a:fillRect/>
          </a:stretch>
        </p:blipFill>
        <p:spPr>
          <a:xfrm>
            <a:off x="446051" y="2043113"/>
            <a:ext cx="3629226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9A8C4C4-EE7B-031E-99AF-D3A803DB6E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624952"/>
            <a:ext cx="5623560" cy="365760"/>
          </a:xfrm>
        </p:spPr>
        <p:txBody>
          <a:bodyPr/>
          <a:lstStyle/>
          <a:p>
            <a:r>
              <a:rPr lang="en-US" dirty="0"/>
              <a:t>Step 2. Update Constant Block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700BB7-F0B2-0248-B7EC-2A4DD22819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Update Gain block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781E4D-BF09-30FF-17ED-2ED433B3A1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7FF7E2F-C17A-83C8-624C-56F8D8A32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37888"/>
          </a:xfrm>
        </p:spPr>
        <p:txBody>
          <a:bodyPr/>
          <a:lstStyle/>
          <a:p>
            <a:r>
              <a:rPr lang="en-US" dirty="0"/>
              <a:t>Update Parameters: COEFF_B &amp; COEFF_C</a:t>
            </a:r>
            <a:endParaRPr lang="en-US" sz="1200" dirty="0"/>
          </a:p>
        </p:txBody>
      </p:sp>
      <p:pic>
        <p:nvPicPr>
          <p:cNvPr id="20" name="Content Placeholder 9">
            <a:extLst>
              <a:ext uri="{FF2B5EF4-FFF2-40B4-BE49-F238E27FC236}">
                <a16:creationId xmlns:a16="http://schemas.microsoft.com/office/drawing/2014/main" id="{D5522F12-777A-EC96-0111-E0DB87DF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528" r="-342"/>
          <a:stretch>
            <a:fillRect/>
          </a:stretch>
        </p:blipFill>
        <p:spPr>
          <a:xfrm>
            <a:off x="4071422" y="2043113"/>
            <a:ext cx="1366125" cy="4367212"/>
          </a:xfrm>
          <a:prstGeom prst="rect">
            <a:avLst/>
          </a:prstGeom>
        </p:spPr>
      </p:pic>
      <p:pic>
        <p:nvPicPr>
          <p:cNvPr id="26" name="Content Placeholder 14">
            <a:extLst>
              <a:ext uri="{FF2B5EF4-FFF2-40B4-BE49-F238E27FC236}">
                <a16:creationId xmlns:a16="http://schemas.microsoft.com/office/drawing/2014/main" id="{61442044-767E-E371-F2EC-E5FBF6189E9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55759"/>
          <a:stretch>
            <a:fillRect/>
          </a:stretch>
        </p:blipFill>
        <p:spPr>
          <a:xfrm>
            <a:off x="6113356" y="2043113"/>
            <a:ext cx="3594601" cy="4367212"/>
          </a:xfrm>
          <a:prstGeom prst="rect">
            <a:avLst/>
          </a:prstGeom>
        </p:spPr>
      </p:pic>
      <p:pic>
        <p:nvPicPr>
          <p:cNvPr id="27" name="Content Placeholder 14">
            <a:extLst>
              <a:ext uri="{FF2B5EF4-FFF2-40B4-BE49-F238E27FC236}">
                <a16:creationId xmlns:a16="http://schemas.microsoft.com/office/drawing/2014/main" id="{FC1CA6D1-C89A-49D6-1ECA-3D220B848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187" r="-1"/>
          <a:stretch>
            <a:fillRect/>
          </a:stretch>
        </p:blipFill>
        <p:spPr>
          <a:xfrm>
            <a:off x="9707957" y="2043113"/>
            <a:ext cx="1366125" cy="436721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12545E0-B4D1-5EDE-71A1-03158269F0BD}"/>
              </a:ext>
            </a:extLst>
          </p:cNvPr>
          <p:cNvSpPr/>
          <p:nvPr/>
        </p:nvSpPr>
        <p:spPr>
          <a:xfrm>
            <a:off x="3026003" y="4790982"/>
            <a:ext cx="945921" cy="619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8ED329D-431A-6032-B792-0C4B6F7CCC01}"/>
              </a:ext>
            </a:extLst>
          </p:cNvPr>
          <p:cNvSpPr/>
          <p:nvPr/>
        </p:nvSpPr>
        <p:spPr>
          <a:xfrm>
            <a:off x="4075277" y="2943132"/>
            <a:ext cx="1381124" cy="32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B32E6D-50CC-5F20-6CD0-EAE5A04A4CF7}"/>
              </a:ext>
            </a:extLst>
          </p:cNvPr>
          <p:cNvSpPr/>
          <p:nvPr/>
        </p:nvSpPr>
        <p:spPr>
          <a:xfrm>
            <a:off x="9707957" y="2943132"/>
            <a:ext cx="1381124" cy="32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B8767D-D891-B0C2-9AFC-357B609D3B66}"/>
              </a:ext>
            </a:extLst>
          </p:cNvPr>
          <p:cNvSpPr/>
          <p:nvPr/>
        </p:nvSpPr>
        <p:spPr>
          <a:xfrm>
            <a:off x="8769535" y="5410200"/>
            <a:ext cx="945921" cy="619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832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D6F0D-5783-3D48-7656-27C17DED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Content Placeholder 33">
            <a:extLst>
              <a:ext uri="{FF2B5EF4-FFF2-40B4-BE49-F238E27FC236}">
                <a16:creationId xmlns:a16="http://schemas.microsoft.com/office/drawing/2014/main" id="{5507B908-8574-19FE-F6C3-B13CB136037F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6726"/>
          <a:stretch>
            <a:fillRect/>
          </a:stretch>
        </p:blipFill>
        <p:spPr>
          <a:xfrm>
            <a:off x="6113356" y="2043113"/>
            <a:ext cx="4328455" cy="4367212"/>
          </a:xfrm>
          <a:prstGeom prst="rect">
            <a:avLst/>
          </a:prstGeom>
        </p:spPr>
      </p:pic>
      <p:pic>
        <p:nvPicPr>
          <p:cNvPr id="35" name="Content Placeholder 33">
            <a:extLst>
              <a:ext uri="{FF2B5EF4-FFF2-40B4-BE49-F238E27FC236}">
                <a16:creationId xmlns:a16="http://schemas.microsoft.com/office/drawing/2014/main" id="{0DAAAE56-6051-F24E-E423-A62E3A2CF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89" r="45"/>
          <a:stretch>
            <a:fillRect/>
          </a:stretch>
        </p:blipFill>
        <p:spPr>
          <a:xfrm>
            <a:off x="10363052" y="2040898"/>
            <a:ext cx="1329762" cy="4367212"/>
          </a:xfrm>
          <a:prstGeom prst="rect">
            <a:avLst/>
          </a:prstGeom>
        </p:spPr>
      </p:pic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FB279468-86BF-E068-F166-D5C855DA49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555" r="30"/>
          <a:stretch>
            <a:fillRect/>
          </a:stretch>
        </p:blipFill>
        <p:spPr>
          <a:xfrm>
            <a:off x="4380272" y="2040898"/>
            <a:ext cx="1333752" cy="4367212"/>
          </a:xfrm>
          <a:prstGeom prst="rect">
            <a:avLst/>
          </a:prstGeom>
        </p:spPr>
      </p:pic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BB2BCB9-CC9F-205A-2B45-0C58FD717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8032"/>
          <a:stretch>
            <a:fillRect/>
          </a:stretch>
        </p:blipFill>
        <p:spPr>
          <a:xfrm>
            <a:off x="186316" y="2040898"/>
            <a:ext cx="4222423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32928F-FA46-2AF5-B9D5-AA2F64057C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1E210B-5DAE-9590-FB0D-8F47B2676A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F7F559-D476-86D7-5178-F3D750A20D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49A6D2-A741-B216-3513-998D4E4C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coeffA_t_squared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9F0E7C-07AC-EE5F-E2BF-AA085D435A5D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AB76ADA-5C88-EB13-5230-AFBB05AC6D1D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902799-7195-7858-7617-8B46238B5AAF}"/>
              </a:ext>
            </a:extLst>
          </p:cNvPr>
          <p:cNvSpPr/>
          <p:nvPr/>
        </p:nvSpPr>
        <p:spPr>
          <a:xfrm>
            <a:off x="4408739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5D0FF8-B410-0CD5-7E8B-7F85392C5761}"/>
              </a:ext>
            </a:extLst>
          </p:cNvPr>
          <p:cNvCxnSpPr>
            <a:cxnSpLocks/>
          </p:cNvCxnSpPr>
          <p:nvPr/>
        </p:nvCxnSpPr>
        <p:spPr>
          <a:xfrm>
            <a:off x="3836706" y="3979407"/>
            <a:ext cx="0" cy="4901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B86B066-4F66-D600-5AC5-362CBC79CB5E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2F97DEC-D68B-F51D-9CA4-278771457DCD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57965DF-BD94-1F7D-C3D2-AB6D461EA199}"/>
              </a:ext>
            </a:extLst>
          </p:cNvPr>
          <p:cNvCxnSpPr>
            <a:cxnSpLocks/>
          </p:cNvCxnSpPr>
          <p:nvPr/>
        </p:nvCxnSpPr>
        <p:spPr>
          <a:xfrm>
            <a:off x="5015059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EFD9342-B0F7-BBCB-54AC-6237E006ADBA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DFE505-8584-FBE1-F9FB-44879395A86F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4901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1875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868C1-25CF-FE87-6A64-CF509648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7C0DE909-EA22-6442-5A87-EB2EBE473FD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437"/>
          <a:stretch>
            <a:fillRect/>
          </a:stretch>
        </p:blipFill>
        <p:spPr>
          <a:xfrm>
            <a:off x="6113356" y="2043113"/>
            <a:ext cx="4433268" cy="4367212"/>
          </a:xfrm>
          <a:prstGeom prst="rect">
            <a:avLst/>
          </a:prstGeom>
        </p:spPr>
      </p:pic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39F1F1D9-A92F-63E1-6280-DCA5AD634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3" r="301"/>
          <a:stretch>
            <a:fillRect/>
          </a:stretch>
        </p:blipFill>
        <p:spPr>
          <a:xfrm>
            <a:off x="10366347" y="2050423"/>
            <a:ext cx="1329762" cy="4367212"/>
          </a:xfrm>
          <a:prstGeom prst="rect">
            <a:avLst/>
          </a:prstGeom>
        </p:spPr>
      </p:pic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EC5A9019-8618-7095-C35A-FEDA8AE5A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6499"/>
          <a:stretch>
            <a:fillRect/>
          </a:stretch>
        </p:blipFill>
        <p:spPr>
          <a:xfrm>
            <a:off x="186316" y="2043113"/>
            <a:ext cx="4346980" cy="4367212"/>
          </a:xfrm>
          <a:prstGeom prst="rect">
            <a:avLst/>
          </a:prstGeom>
        </p:spPr>
      </p:pic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D8CD7667-B4D6-92C9-6E4F-6CDC032135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42" r="-157"/>
          <a:stretch>
            <a:fillRect/>
          </a:stretch>
        </p:blipFill>
        <p:spPr>
          <a:xfrm>
            <a:off x="4533226" y="2052230"/>
            <a:ext cx="1333752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F5AE7B-5935-4164-8922-03A8A8BCA0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E8F6E6-727F-C58C-ABA2-360C9DE7BE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D7802D-6650-6D9B-AAB1-48A7820A8C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4A484C-8C52-94BE-DA92-7CA56782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neg_4t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C22268-11F6-B1AF-4CCB-C084B47F11A6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C82BDD-38C8-A623-6A94-18E5A8087234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9B646D2-148B-7AFD-BE79-61341A220097}"/>
              </a:ext>
            </a:extLst>
          </p:cNvPr>
          <p:cNvSpPr/>
          <p:nvPr/>
        </p:nvSpPr>
        <p:spPr>
          <a:xfrm>
            <a:off x="4539141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633CDB0-1B18-EB27-8263-410352798A64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1034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C47DBC4-097D-EF45-B92C-0D080C0D5766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ABD57E8-B9DD-3033-EF91-FF023F22555B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728689C-FBD1-F954-5431-6C2A11EC43D1}"/>
              </a:ext>
            </a:extLst>
          </p:cNvPr>
          <p:cNvCxnSpPr>
            <a:cxnSpLocks/>
          </p:cNvCxnSpPr>
          <p:nvPr/>
        </p:nvCxnSpPr>
        <p:spPr>
          <a:xfrm>
            <a:off x="5145461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540196-DE9F-B4E2-183F-35998B84C6E5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B3D8A1-960A-6901-7E11-ECD1C9442251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034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1844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0F3F5-D2E6-51C1-F987-6AE902424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Content Placeholder 29">
            <a:extLst>
              <a:ext uri="{FF2B5EF4-FFF2-40B4-BE49-F238E27FC236}">
                <a16:creationId xmlns:a16="http://schemas.microsoft.com/office/drawing/2014/main" id="{447B048C-71DA-5436-5C7C-3FEB87CC755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72"/>
          <a:stretch>
            <a:fillRect/>
          </a:stretch>
        </p:blipFill>
        <p:spPr>
          <a:xfrm>
            <a:off x="6113356" y="2043113"/>
            <a:ext cx="4332924" cy="4367212"/>
          </a:xfrm>
          <a:prstGeom prst="rect">
            <a:avLst/>
          </a:prstGeom>
        </p:spPr>
      </p:pic>
      <p:pic>
        <p:nvPicPr>
          <p:cNvPr id="35" name="Content Placeholder 29">
            <a:extLst>
              <a:ext uri="{FF2B5EF4-FFF2-40B4-BE49-F238E27FC236}">
                <a16:creationId xmlns:a16="http://schemas.microsoft.com/office/drawing/2014/main" id="{64D0F88D-1FB0-F803-19DC-3671F829D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86" r="448"/>
          <a:stretch>
            <a:fillRect/>
          </a:stretch>
        </p:blipFill>
        <p:spPr>
          <a:xfrm>
            <a:off x="10357208" y="2043113"/>
            <a:ext cx="1329763" cy="4367212"/>
          </a:xfrm>
          <a:prstGeom prst="rect">
            <a:avLst/>
          </a:prstGeom>
        </p:spPr>
      </p:pic>
      <p:pic>
        <p:nvPicPr>
          <p:cNvPr id="16" name="Content Placeholder 10">
            <a:extLst>
              <a:ext uri="{FF2B5EF4-FFF2-40B4-BE49-F238E27FC236}">
                <a16:creationId xmlns:a16="http://schemas.microsoft.com/office/drawing/2014/main" id="{3D036F95-F44A-31BE-65A2-DC3490AF8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2"/>
          <a:stretch>
            <a:fillRect/>
          </a:stretch>
        </p:blipFill>
        <p:spPr>
          <a:xfrm>
            <a:off x="395818" y="2043113"/>
            <a:ext cx="4341862" cy="4367212"/>
          </a:xfrm>
          <a:prstGeom prst="rect">
            <a:avLst/>
          </a:prstGeom>
        </p:spPr>
      </p:pic>
      <p:pic>
        <p:nvPicPr>
          <p:cNvPr id="17" name="Content Placeholder 10">
            <a:extLst>
              <a:ext uri="{FF2B5EF4-FFF2-40B4-BE49-F238E27FC236}">
                <a16:creationId xmlns:a16="http://schemas.microsoft.com/office/drawing/2014/main" id="{A71BAA48-DBF4-BF03-6BAC-861012BC8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41" r="584"/>
          <a:stretch>
            <a:fillRect/>
          </a:stretch>
        </p:blipFill>
        <p:spPr>
          <a:xfrm>
            <a:off x="4626056" y="2043113"/>
            <a:ext cx="1257297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8C8CF9-8EA2-17B2-2E8B-899E447F67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CAA1EA-541B-60DB-77A8-0DA1B3EDBE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CFBE855-6788-108E-1B6F-EDA4013F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A05AC0-1F98-646F-6B2F-4232A3DA8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const_21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70B602-C586-A749-2F98-1A484E99D907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E53DFC7-7D57-3EE2-FF30-C2D55E948FAB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CF691D-8235-FB13-78DA-BC365B460E4A}"/>
              </a:ext>
            </a:extLst>
          </p:cNvPr>
          <p:cNvSpPr/>
          <p:nvPr/>
        </p:nvSpPr>
        <p:spPr>
          <a:xfrm>
            <a:off x="4586766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6F137FE-770A-0FBC-9088-36DB9F1096B1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16212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A46BC20-D7E8-07FA-6546-D0A332E5DC17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9170075-92A1-C12B-8407-2EAE29EE2E67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4DE7027-5369-2D87-7360-B9F235545456}"/>
              </a:ext>
            </a:extLst>
          </p:cNvPr>
          <p:cNvCxnSpPr>
            <a:cxnSpLocks/>
          </p:cNvCxnSpPr>
          <p:nvPr/>
        </p:nvCxnSpPr>
        <p:spPr>
          <a:xfrm>
            <a:off x="5193086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10F89CE-8643-5861-B50A-13C29AEE945E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77B4BF-D994-F6DE-7043-C25F3AA31C9F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6212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9696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80750-DC0E-AF87-2956-49CAD4BB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5DAD28C6-0235-DBCA-9FDE-B095005D3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12" r="-193"/>
          <a:stretch>
            <a:fillRect/>
          </a:stretch>
        </p:blipFill>
        <p:spPr>
          <a:xfrm>
            <a:off x="10357208" y="2043113"/>
            <a:ext cx="1371601" cy="4367212"/>
          </a:xfrm>
          <a:prstGeom prst="rect">
            <a:avLst/>
          </a:prstGeom>
        </p:spPr>
      </p:pic>
      <p:pic>
        <p:nvPicPr>
          <p:cNvPr id="21" name="Content Placeholder 25">
            <a:extLst>
              <a:ext uri="{FF2B5EF4-FFF2-40B4-BE49-F238E27FC236}">
                <a16:creationId xmlns:a16="http://schemas.microsoft.com/office/drawing/2014/main" id="{CC0EBDC0-4694-E32B-E7B6-E98D81E013EA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4" r="34894"/>
          <a:stretch>
            <a:fillRect/>
          </a:stretch>
        </p:blipFill>
        <p:spPr>
          <a:xfrm>
            <a:off x="6096000" y="2043113"/>
            <a:ext cx="4296630" cy="4367212"/>
          </a:xfrm>
          <a:prstGeom prst="rect">
            <a:avLst/>
          </a:prstGeom>
        </p:spPr>
      </p:pic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99A85653-822B-6047-D257-5107EE8E2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7" r="36108"/>
          <a:stretch>
            <a:fillRect/>
          </a:stretch>
        </p:blipFill>
        <p:spPr>
          <a:xfrm>
            <a:off x="395817" y="2043113"/>
            <a:ext cx="4210903" cy="4367212"/>
          </a:xfrm>
          <a:prstGeom prst="rect">
            <a:avLst/>
          </a:prstGeom>
        </p:spPr>
      </p:pic>
      <p:pic>
        <p:nvPicPr>
          <p:cNvPr id="14" name="Content Placeholder 10">
            <a:extLst>
              <a:ext uri="{FF2B5EF4-FFF2-40B4-BE49-F238E27FC236}">
                <a16:creationId xmlns:a16="http://schemas.microsoft.com/office/drawing/2014/main" id="{15C10678-8C15-901A-0725-5FE857DF4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2" r="72"/>
          <a:stretch>
            <a:fillRect/>
          </a:stretch>
        </p:blipFill>
        <p:spPr>
          <a:xfrm>
            <a:off x="4575732" y="2043113"/>
            <a:ext cx="1329763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DCAE106-820F-7CA0-66C7-76615535C0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48BE4E-2F53-900C-D930-2F1BFEC29D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17B13A-9A63-4715-51F8-89A755BE91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E9B3398-9698-EE52-F796-383F2E0A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</a:t>
            </a:r>
            <a:r>
              <a:rPr lang="en-US" dirty="0" err="1"/>
              <a:t>y_raw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C745EC-9762-8452-2B7D-4F2A73503490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DFBCCE8-30ED-524F-7AB8-3B1ABF47DC83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98BAB3-32FD-680B-DE59-356982E0885C}"/>
              </a:ext>
            </a:extLst>
          </p:cNvPr>
          <p:cNvSpPr/>
          <p:nvPr/>
        </p:nvSpPr>
        <p:spPr>
          <a:xfrm>
            <a:off x="4586766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A72A4A-8F9E-E16B-90DB-4A8FC43E6800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9640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32739F1-2C68-4F97-F53E-9D8524C7CE2C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D23CB14-62C5-4207-04CB-749747193501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9FB7C23-FE4B-F1EA-DF11-2B1E42CB7397}"/>
              </a:ext>
            </a:extLst>
          </p:cNvPr>
          <p:cNvCxnSpPr>
            <a:cxnSpLocks/>
          </p:cNvCxnSpPr>
          <p:nvPr/>
        </p:nvCxnSpPr>
        <p:spPr>
          <a:xfrm>
            <a:off x="5193086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7F110D8-BA88-6FC1-9269-FF7848659080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693711B-ADDA-0429-6F86-502AF6AB6253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040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1046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D6C7-A479-5C9F-A2B3-DED10837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18CAB177-1644-16C2-F4B7-1BF714846A6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72" r="23072"/>
          <a:stretch>
            <a:fillRect/>
          </a:stretch>
        </p:blipFill>
        <p:spPr>
          <a:xfrm>
            <a:off x="6440640" y="2043113"/>
            <a:ext cx="3920821" cy="4367212"/>
          </a:xfrm>
          <a:prstGeom prst="rect">
            <a:avLst/>
          </a:prstGeom>
        </p:spPr>
      </p:pic>
      <p:pic>
        <p:nvPicPr>
          <p:cNvPr id="30" name="Content Placeholder 24">
            <a:extLst>
              <a:ext uri="{FF2B5EF4-FFF2-40B4-BE49-F238E27FC236}">
                <a16:creationId xmlns:a16="http://schemas.microsoft.com/office/drawing/2014/main" id="{D7205DCA-B298-7793-57EF-587AE4CFD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59" r="21"/>
          <a:stretch>
            <a:fillRect/>
          </a:stretch>
        </p:blipFill>
        <p:spPr>
          <a:xfrm>
            <a:off x="10357208" y="2043113"/>
            <a:ext cx="1326100" cy="4367212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4CDD5D6-344A-CA2A-30BD-F66EB720E0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8" r="23072"/>
          <a:stretch>
            <a:fillRect/>
          </a:stretch>
        </p:blipFill>
        <p:spPr>
          <a:xfrm>
            <a:off x="395817" y="2043113"/>
            <a:ext cx="4183549" cy="4367212"/>
          </a:xfrm>
          <a:prstGeom prst="rect">
            <a:avLst/>
          </a:prstGeom>
        </p:spPr>
      </p:pic>
      <p:pic>
        <p:nvPicPr>
          <p:cNvPr id="14" name="Content Placeholder 10">
            <a:extLst>
              <a:ext uri="{FF2B5EF4-FFF2-40B4-BE49-F238E27FC236}">
                <a16:creationId xmlns:a16="http://schemas.microsoft.com/office/drawing/2014/main" id="{B73BC5DC-09D4-C28A-CA91-A3A6B1DEC2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2" r="72"/>
          <a:stretch>
            <a:fillRect/>
          </a:stretch>
        </p:blipFill>
        <p:spPr>
          <a:xfrm>
            <a:off x="4575732" y="2043113"/>
            <a:ext cx="1329763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DC89D5-D262-73EF-E040-D681630C2A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EF6A2B-7075-F02F-5559-5A760C99D0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C769E4-E5D3-1993-3120-D57017D816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EE2044-486F-A20F-0B06-8C814573E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09400A-2769-0978-09D8-F3ADB0EF4D78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14C647-FC01-FD62-3BAD-003F941A97F4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6245EA-EB23-DF52-3B32-E958D005E709}"/>
              </a:ext>
            </a:extLst>
          </p:cNvPr>
          <p:cNvSpPr/>
          <p:nvPr/>
        </p:nvSpPr>
        <p:spPr>
          <a:xfrm>
            <a:off x="4586766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C2DBEBB-2D15-9128-708E-B6493B26E99B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9640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C107323-3FA3-C69B-52FB-C211C37FD1DA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05AE4A3-D53D-10DE-C7E0-390400B842BE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CAD2AA7-E99D-8B20-CCE9-625431263638}"/>
              </a:ext>
            </a:extLst>
          </p:cNvPr>
          <p:cNvCxnSpPr>
            <a:cxnSpLocks/>
          </p:cNvCxnSpPr>
          <p:nvPr/>
        </p:nvCxnSpPr>
        <p:spPr>
          <a:xfrm>
            <a:off x="5193086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9E6942F-23DE-AB67-F4D1-AA078CC2DC49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72A5BA6-DA62-9309-5B68-23D071CCD0AE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040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165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BB10BEDC-AAEE-B70D-4CC0-5FABBA569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9480" b="88847"/>
          <a:stretch>
            <a:fillRect/>
          </a:stretch>
        </p:blipFill>
        <p:spPr>
          <a:xfrm>
            <a:off x="395816" y="2639364"/>
            <a:ext cx="5623559" cy="320454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3BE471-7646-15C1-3448-728DDE9ECE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622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the Saved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CEB47-9DD0-DF7A-C744-0AC335FE7B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5"/>
            <a:ext cx="5623560" cy="622357"/>
          </a:xfrm>
        </p:spPr>
        <p:txBody>
          <a:bodyPr>
            <a:normAutofit/>
          </a:bodyPr>
          <a:lstStyle/>
          <a:p>
            <a:r>
              <a:rPr lang="en-US" dirty="0"/>
              <a:t>Step 1. Click Save (</a:t>
            </a:r>
            <a:r>
              <a:rPr lang="en-US" b="1" dirty="0"/>
              <a:t>*</a:t>
            </a:r>
            <a:r>
              <a:rPr lang="en-US" dirty="0"/>
              <a:t> indicates the file is unsaved)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ctrl + s will also save the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24C0B9-B0D0-E958-D626-486EB4924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F0A180-3696-BE47-4152-536EF697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Model 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5F4464-07EE-C95C-7502-E60274A6A169}"/>
              </a:ext>
            </a:extLst>
          </p:cNvPr>
          <p:cNvSpPr/>
          <p:nvPr/>
        </p:nvSpPr>
        <p:spPr>
          <a:xfrm>
            <a:off x="1373588" y="4823411"/>
            <a:ext cx="2493560" cy="736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73FE39-5312-6A86-D8E2-DE2619F8A1BF}"/>
              </a:ext>
            </a:extLst>
          </p:cNvPr>
          <p:cNvCxnSpPr>
            <a:cxnSpLocks/>
          </p:cNvCxnSpPr>
          <p:nvPr/>
        </p:nvCxnSpPr>
        <p:spPr>
          <a:xfrm flipV="1">
            <a:off x="2535611" y="5559425"/>
            <a:ext cx="0" cy="561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3B8A1C-1A79-A68A-6411-B9638ECC66A5}"/>
              </a:ext>
            </a:extLst>
          </p:cNvPr>
          <p:cNvCxnSpPr>
            <a:cxnSpLocks/>
          </p:cNvCxnSpPr>
          <p:nvPr/>
        </p:nvCxnSpPr>
        <p:spPr>
          <a:xfrm>
            <a:off x="4045471" y="2139885"/>
            <a:ext cx="0" cy="534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792AD4D-D001-0748-BA38-717D66CC4A98}"/>
              </a:ext>
            </a:extLst>
          </p:cNvPr>
          <p:cNvSpPr/>
          <p:nvPr/>
        </p:nvSpPr>
        <p:spPr>
          <a:xfrm>
            <a:off x="3877947" y="2692986"/>
            <a:ext cx="364111" cy="534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Content Placeholder 24">
            <a:extLst>
              <a:ext uri="{FF2B5EF4-FFF2-40B4-BE49-F238E27FC236}">
                <a16:creationId xmlns:a16="http://schemas.microsoft.com/office/drawing/2014/main" id="{E0E17C70-2FBB-21CF-304B-47DB0C26457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5" r="89525" b="96707"/>
          <a:stretch>
            <a:fillRect/>
          </a:stretch>
        </p:blipFill>
        <p:spPr>
          <a:xfrm>
            <a:off x="6298511" y="2639364"/>
            <a:ext cx="5438405" cy="9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518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CD065-67AD-3876-76CD-E6ED395C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6728D0-4990-6D72-9AAA-A070E3064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Model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9597397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5AFA3-817D-41C6-4786-CEFEE98E2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A4AA3-8B15-9F21-FDF7-783742459A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E21E8C-5B96-8CDF-FD7B-E185DDC21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49DC8-57C5-0E07-A6EE-B41C1FA7D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Accessing Library Browser	Open / Find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Blocks 			Add / Edit / Label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Model 			Fit Contents to Window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Lines 			Create / Edit / Format / Label / Data log</a:t>
            </a:r>
          </a:p>
        </p:txBody>
      </p:sp>
    </p:spTree>
    <p:extLst>
      <p:ext uri="{BB962C8B-B14F-4D97-AF65-F5344CB8AC3E}">
        <p14:creationId xmlns:p14="http://schemas.microsoft.com/office/powerpoint/2010/main" val="41153443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C692F250-25B8-C9EB-3F11-8D599EB563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the opened Model Configuration.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BDBA2CDD-89D7-2E44-F9FD-21790DD22E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Model Settings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2F2FF527-7D67-0020-6750-AD27426A1A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FAC50DE8-3B40-5A9A-0833-59A39980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Model Configurations (Part 1)</a:t>
            </a:r>
          </a:p>
        </p:txBody>
      </p:sp>
      <p:pic>
        <p:nvPicPr>
          <p:cNvPr id="64" name="Content Placeholder 53">
            <a:extLst>
              <a:ext uri="{FF2B5EF4-FFF2-40B4-BE49-F238E27FC236}">
                <a16:creationId xmlns:a16="http://schemas.microsoft.com/office/drawing/2014/main" id="{9A6B6D03-01B6-F361-7354-CDB7F89EDCC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2592" t="23359" r="29977" b="6298"/>
          <a:stretch>
            <a:fillRect/>
          </a:stretch>
        </p:blipFill>
        <p:spPr>
          <a:xfrm>
            <a:off x="6185640" y="2043113"/>
            <a:ext cx="5478570" cy="4367212"/>
          </a:xfrm>
          <a:prstGeom prst="rect">
            <a:avLst/>
          </a:prstGeom>
        </p:spPr>
      </p:pic>
      <p:pic>
        <p:nvPicPr>
          <p:cNvPr id="70" name="Content Placeholder 66">
            <a:extLst>
              <a:ext uri="{FF2B5EF4-FFF2-40B4-BE49-F238E27FC236}">
                <a16:creationId xmlns:a16="http://schemas.microsoft.com/office/drawing/2014/main" id="{6B28507E-70AC-6A98-3D63-DB5BB8933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68480" b="82233"/>
          <a:stretch>
            <a:fillRect/>
          </a:stretch>
        </p:blipFill>
        <p:spPr>
          <a:xfrm>
            <a:off x="395288" y="2043113"/>
            <a:ext cx="5624512" cy="1704084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422E07C9-E2F5-CF5D-929A-DE0BD69285C3}"/>
              </a:ext>
            </a:extLst>
          </p:cNvPr>
          <p:cNvSpPr/>
          <p:nvPr/>
        </p:nvSpPr>
        <p:spPr>
          <a:xfrm>
            <a:off x="4967926" y="2522530"/>
            <a:ext cx="725864" cy="9064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6B93BD-71A0-DC51-EDD1-E320C61D17D3}"/>
              </a:ext>
            </a:extLst>
          </p:cNvPr>
          <p:cNvCxnSpPr>
            <a:cxnSpLocks/>
          </p:cNvCxnSpPr>
          <p:nvPr/>
        </p:nvCxnSpPr>
        <p:spPr>
          <a:xfrm>
            <a:off x="5339660" y="1772239"/>
            <a:ext cx="0" cy="7502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341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6BB7D1-340A-25B1-C7D2-1A659A8F1E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Stop time after clicking apply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0B510-AC28-DB66-DDB9-4A18226CDC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 Update Model Configuration Settings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606EA-2EBC-A6C5-1868-52F123A1A0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2F2971-54BB-0C0D-FE6B-2A72FA9E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Model Configurations (Part 2)</a:t>
            </a:r>
          </a:p>
        </p:txBody>
      </p:sp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A025A954-D700-2C12-A357-484BC33BD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593" y="2043113"/>
            <a:ext cx="5535902" cy="436721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6EC734-2095-1C87-08EF-D481E2D6A931}"/>
              </a:ext>
            </a:extLst>
          </p:cNvPr>
          <p:cNvCxnSpPr>
            <a:cxnSpLocks/>
          </p:cNvCxnSpPr>
          <p:nvPr/>
        </p:nvCxnSpPr>
        <p:spPr>
          <a:xfrm flipH="1">
            <a:off x="4742368" y="2796602"/>
            <a:ext cx="5076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95A9C6-E356-CA6C-1154-E6F2DB685E8E}"/>
              </a:ext>
            </a:extLst>
          </p:cNvPr>
          <p:cNvCxnSpPr>
            <a:cxnSpLocks/>
          </p:cNvCxnSpPr>
          <p:nvPr/>
        </p:nvCxnSpPr>
        <p:spPr>
          <a:xfrm flipH="1">
            <a:off x="4742368" y="3231806"/>
            <a:ext cx="5076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B26BF9-8CB8-0776-BDA7-C6C4D2B47A10}"/>
              </a:ext>
            </a:extLst>
          </p:cNvPr>
          <p:cNvCxnSpPr>
            <a:cxnSpLocks/>
          </p:cNvCxnSpPr>
          <p:nvPr/>
        </p:nvCxnSpPr>
        <p:spPr>
          <a:xfrm flipH="1">
            <a:off x="4742368" y="3732998"/>
            <a:ext cx="5076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DC3559-2FC4-AAAB-CDA5-DCEEB1D57EE3}"/>
              </a:ext>
            </a:extLst>
          </p:cNvPr>
          <p:cNvCxnSpPr>
            <a:cxnSpLocks/>
          </p:cNvCxnSpPr>
          <p:nvPr/>
        </p:nvCxnSpPr>
        <p:spPr>
          <a:xfrm flipV="1">
            <a:off x="1517715" y="3335468"/>
            <a:ext cx="637493" cy="3975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A264423-D565-095F-EF06-868F65592735}"/>
              </a:ext>
            </a:extLst>
          </p:cNvPr>
          <p:cNvSpPr txBox="1"/>
          <p:nvPr/>
        </p:nvSpPr>
        <p:spPr>
          <a:xfrm>
            <a:off x="522582" y="3732998"/>
            <a:ext cx="116892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2. Set Type to Fixed-step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4E5424-91A7-AC90-A3DF-D48AAEA4C763}"/>
              </a:ext>
            </a:extLst>
          </p:cNvPr>
          <p:cNvSpPr txBox="1"/>
          <p:nvPr/>
        </p:nvSpPr>
        <p:spPr>
          <a:xfrm>
            <a:off x="3409359" y="2484649"/>
            <a:ext cx="228636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1. Set Type to 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8C9263-657F-630C-D7CF-A5BB656EEBD4}"/>
              </a:ext>
            </a:extLst>
          </p:cNvPr>
          <p:cNvSpPr txBox="1"/>
          <p:nvPr/>
        </p:nvSpPr>
        <p:spPr>
          <a:xfrm>
            <a:off x="3409359" y="2979250"/>
            <a:ext cx="242131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3. Set Solver to discrete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FE57C3-1C91-686A-F203-7442A09EFBE2}"/>
              </a:ext>
            </a:extLst>
          </p:cNvPr>
          <p:cNvSpPr txBox="1"/>
          <p:nvPr/>
        </p:nvSpPr>
        <p:spPr>
          <a:xfrm>
            <a:off x="3409359" y="3441900"/>
            <a:ext cx="242131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4. Set Fixed-step size to 0.25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B57960D-8493-5B0A-2B7A-6C0FCF611D8B}"/>
              </a:ext>
            </a:extLst>
          </p:cNvPr>
          <p:cNvCxnSpPr>
            <a:cxnSpLocks/>
          </p:cNvCxnSpPr>
          <p:nvPr/>
        </p:nvCxnSpPr>
        <p:spPr>
          <a:xfrm>
            <a:off x="5741609" y="5947132"/>
            <a:ext cx="0" cy="2274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3C6AE9B-ABC0-7682-CEF0-123EA506A5BB}"/>
              </a:ext>
            </a:extLst>
          </p:cNvPr>
          <p:cNvSpPr txBox="1"/>
          <p:nvPr/>
        </p:nvSpPr>
        <p:spPr>
          <a:xfrm>
            <a:off x="4568858" y="5724758"/>
            <a:ext cx="13716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5. Click Apply</a:t>
            </a:r>
          </a:p>
        </p:txBody>
      </p:sp>
      <p:pic>
        <p:nvPicPr>
          <p:cNvPr id="45" name="Content Placeholder 41">
            <a:extLst>
              <a:ext uri="{FF2B5EF4-FFF2-40B4-BE49-F238E27FC236}">
                <a16:creationId xmlns:a16="http://schemas.microsoft.com/office/drawing/2014/main" id="{91643041-145A-3B67-8593-8353EA9ECA1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54902" r="17100" b="82919"/>
          <a:stretch>
            <a:fillRect/>
          </a:stretch>
        </p:blipFill>
        <p:spPr>
          <a:xfrm>
            <a:off x="6364431" y="3387088"/>
            <a:ext cx="5120989" cy="1679262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E3C1D7-5022-AFB3-4B09-53B283C88E6A}"/>
              </a:ext>
            </a:extLst>
          </p:cNvPr>
          <p:cNvCxnSpPr>
            <a:cxnSpLocks/>
          </p:cNvCxnSpPr>
          <p:nvPr/>
        </p:nvCxnSpPr>
        <p:spPr>
          <a:xfrm>
            <a:off x="9513901" y="3361847"/>
            <a:ext cx="0" cy="5219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15CA643-8888-5B6B-696D-4A73BFD90FAC}"/>
              </a:ext>
            </a:extLst>
          </p:cNvPr>
          <p:cNvSpPr txBox="1"/>
          <p:nvPr/>
        </p:nvSpPr>
        <p:spPr>
          <a:xfrm>
            <a:off x="8341149" y="3139473"/>
            <a:ext cx="306528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1. Observe Stop Time was Updated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14FC7E-8921-21A8-76D0-51883F224EC8}"/>
              </a:ext>
            </a:extLst>
          </p:cNvPr>
          <p:cNvCxnSpPr/>
          <p:nvPr/>
        </p:nvCxnSpPr>
        <p:spPr>
          <a:xfrm>
            <a:off x="5373278" y="2796602"/>
            <a:ext cx="3855563" cy="1087241"/>
          </a:xfrm>
          <a:prstGeom prst="straightConnector1">
            <a:avLst/>
          </a:prstGeom>
          <a:ln>
            <a:solidFill>
              <a:srgbClr val="92D050"/>
            </a:solidFill>
            <a:prstDash val="sysDot"/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4622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6C5DE-00DB-23CB-C54E-CE0C79536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4C10BA90-60B7-33BB-C51F-8DD1D8DC7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9480" b="88847"/>
          <a:stretch>
            <a:fillRect/>
          </a:stretch>
        </p:blipFill>
        <p:spPr>
          <a:xfrm>
            <a:off x="395816" y="2639364"/>
            <a:ext cx="5623559" cy="320454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7B829F-BCF0-7A34-5DAF-613A801D94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622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the Saved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D9376-1647-D147-95F3-22E35ACE57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5"/>
            <a:ext cx="5623560" cy="622357"/>
          </a:xfrm>
        </p:spPr>
        <p:txBody>
          <a:bodyPr>
            <a:normAutofit/>
          </a:bodyPr>
          <a:lstStyle/>
          <a:p>
            <a:r>
              <a:rPr lang="en-US" dirty="0"/>
              <a:t>Step 1. Click Save (</a:t>
            </a:r>
            <a:r>
              <a:rPr lang="en-US" b="1" dirty="0"/>
              <a:t>*</a:t>
            </a:r>
            <a:r>
              <a:rPr lang="en-US" dirty="0"/>
              <a:t> indicates the file is unsaved)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ctrl + s will also save the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8555B1-5573-9B79-5DAC-4DF6226FF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8720BF-6165-B77A-402A-2D2A9D23A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Model 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CC9B08-7356-BEAE-A394-59FB14F78F99}"/>
              </a:ext>
            </a:extLst>
          </p:cNvPr>
          <p:cNvSpPr/>
          <p:nvPr/>
        </p:nvSpPr>
        <p:spPr>
          <a:xfrm>
            <a:off x="1373588" y="4823411"/>
            <a:ext cx="2493560" cy="736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0A3C19-E2A8-C485-1CA0-A8170A038B24}"/>
              </a:ext>
            </a:extLst>
          </p:cNvPr>
          <p:cNvCxnSpPr>
            <a:cxnSpLocks/>
          </p:cNvCxnSpPr>
          <p:nvPr/>
        </p:nvCxnSpPr>
        <p:spPr>
          <a:xfrm flipV="1">
            <a:off x="2535611" y="5559425"/>
            <a:ext cx="0" cy="561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11D6AE-ED94-B52D-4EA8-6570DCBEDF48}"/>
              </a:ext>
            </a:extLst>
          </p:cNvPr>
          <p:cNvCxnSpPr>
            <a:cxnSpLocks/>
          </p:cNvCxnSpPr>
          <p:nvPr/>
        </p:nvCxnSpPr>
        <p:spPr>
          <a:xfrm>
            <a:off x="4045471" y="2139885"/>
            <a:ext cx="0" cy="534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4B51B4A-2ADC-D5CD-A864-D13EC2084C41}"/>
              </a:ext>
            </a:extLst>
          </p:cNvPr>
          <p:cNvSpPr/>
          <p:nvPr/>
        </p:nvSpPr>
        <p:spPr>
          <a:xfrm>
            <a:off x="3877947" y="2692986"/>
            <a:ext cx="364111" cy="534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Content Placeholder 24">
            <a:extLst>
              <a:ext uri="{FF2B5EF4-FFF2-40B4-BE49-F238E27FC236}">
                <a16:creationId xmlns:a16="http://schemas.microsoft.com/office/drawing/2014/main" id="{40D658D6-3FF9-7C63-8154-06FB4344284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5" r="89525" b="96707"/>
          <a:stretch>
            <a:fillRect/>
          </a:stretch>
        </p:blipFill>
        <p:spPr>
          <a:xfrm>
            <a:off x="6298511" y="2639364"/>
            <a:ext cx="5438405" cy="9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729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2B210-3699-7A48-73F7-F337EAEFB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6C3D40-CE56-0FF6-13D1-C7987DA8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</p:spTree>
    <p:extLst>
      <p:ext uri="{BB962C8B-B14F-4D97-AF65-F5344CB8AC3E}">
        <p14:creationId xmlns:p14="http://schemas.microsoft.com/office/powerpoint/2010/main" val="18844099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D51C8-D04B-7BF2-C0B4-FD0FBB4A2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45C33B-8C63-0935-9C4E-24835FCBA6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A68FFAC-756E-25EB-3741-A376C0499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polynomial_System.sldd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(Data Dictionary) This is the end result we are going for.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2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Contains Signals &amp; Parameters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6AA75894-9993-951D-2B3C-F74DE8A51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4474" b="64780"/>
          <a:stretch>
            <a:fillRect/>
          </a:stretch>
        </p:blipFill>
        <p:spPr>
          <a:xfrm>
            <a:off x="395288" y="1525140"/>
            <a:ext cx="11341100" cy="2842670"/>
          </a:xfrm>
          <a:prstGeom prst="rect">
            <a:avLst/>
          </a:prstGeom>
        </p:spPr>
      </p:pic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98D0F192-F9AB-7F81-9985-F3D49C75EA1C}"/>
              </a:ext>
            </a:extLst>
          </p:cNvPr>
          <p:cNvGraphicFramePr>
            <a:graphicFrameLocks/>
          </p:cNvGraphicFramePr>
          <p:nvPr/>
        </p:nvGraphicFramePr>
        <p:xfrm>
          <a:off x="395288" y="4455809"/>
          <a:ext cx="11341101" cy="1905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40566">
                  <a:extLst>
                    <a:ext uri="{9D8B030D-6E8A-4147-A177-3AD203B41FA5}">
                      <a16:colId xmlns:a16="http://schemas.microsoft.com/office/drawing/2014/main" val="4229777910"/>
                    </a:ext>
                  </a:extLst>
                </a:gridCol>
                <a:gridCol w="1811074">
                  <a:extLst>
                    <a:ext uri="{9D8B030D-6E8A-4147-A177-3AD203B41FA5}">
                      <a16:colId xmlns:a16="http://schemas.microsoft.com/office/drawing/2014/main" val="4151209554"/>
                    </a:ext>
                  </a:extLst>
                </a:gridCol>
                <a:gridCol w="921666">
                  <a:extLst>
                    <a:ext uri="{9D8B030D-6E8A-4147-A177-3AD203B41FA5}">
                      <a16:colId xmlns:a16="http://schemas.microsoft.com/office/drawing/2014/main" val="1463850620"/>
                    </a:ext>
                  </a:extLst>
                </a:gridCol>
                <a:gridCol w="1124432">
                  <a:extLst>
                    <a:ext uri="{9D8B030D-6E8A-4147-A177-3AD203B41FA5}">
                      <a16:colId xmlns:a16="http://schemas.microsoft.com/office/drawing/2014/main" val="1697874259"/>
                    </a:ext>
                  </a:extLst>
                </a:gridCol>
                <a:gridCol w="442399">
                  <a:extLst>
                    <a:ext uri="{9D8B030D-6E8A-4147-A177-3AD203B41FA5}">
                      <a16:colId xmlns:a16="http://schemas.microsoft.com/office/drawing/2014/main" val="3376427272"/>
                    </a:ext>
                  </a:extLst>
                </a:gridCol>
                <a:gridCol w="479267">
                  <a:extLst>
                    <a:ext uri="{9D8B030D-6E8A-4147-A177-3AD203B41FA5}">
                      <a16:colId xmlns:a16="http://schemas.microsoft.com/office/drawing/2014/main" val="292903287"/>
                    </a:ext>
                  </a:extLst>
                </a:gridCol>
                <a:gridCol w="479267">
                  <a:extLst>
                    <a:ext uri="{9D8B030D-6E8A-4147-A177-3AD203B41FA5}">
                      <a16:colId xmlns:a16="http://schemas.microsoft.com/office/drawing/2014/main" val="230030369"/>
                    </a:ext>
                  </a:extLst>
                </a:gridCol>
                <a:gridCol w="4442430">
                  <a:extLst>
                    <a:ext uri="{9D8B030D-6E8A-4147-A177-3AD203B41FA5}">
                      <a16:colId xmlns:a16="http://schemas.microsoft.com/office/drawing/2014/main" val="24875507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Name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EntryType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DataType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Dimensions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Min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Max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Unit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Description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91874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coeffA_t_squared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Simulink.Signal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225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s^2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Coefficient A multiplied by the squared time term.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88650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neg_4t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Simulink.Signal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-60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-4 multiplied by time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61616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Simulink.Signal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double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63780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t_squared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Simulink.Signal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225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Square of time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4361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Simulink.Signal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186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Polynomial output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35826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y_raw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Simulink.Signal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186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Intermediate polynomial result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82425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COEFF_A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Simulink.Parameter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[1 1]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Coefficient applied to the squared time term.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9461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COEFF_B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Simulink.Parameter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double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[1 1]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Coefficient applied to the time term.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5406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COEFF_C</a:t>
                      </a: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Simulink.Parameter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double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[1 1]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Constant offset applied to the polynomial equation.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1374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2433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83411-7D46-E6DA-3EE2-CC6ADE9B2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DE9EE-2708-DCC2-921D-49F84701C2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15A4A6-FF83-CD51-D3D0-0CC913D5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4A697-C136-48DF-BFCF-12AE5B9F8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Model Explorer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Data Dictionary (</a:t>
            </a:r>
            <a:r>
              <a:rPr lang="en-US" sz="1800" i="1" dirty="0" err="1"/>
              <a:t>sldd</a:t>
            </a:r>
            <a:r>
              <a:rPr lang="en-US" sz="1800" i="1" dirty="0"/>
              <a:t>)	Create / Edit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Signal Attributes 		View / Edit / Property Inspector</a:t>
            </a:r>
          </a:p>
        </p:txBody>
      </p:sp>
    </p:spTree>
    <p:extLst>
      <p:ext uri="{BB962C8B-B14F-4D97-AF65-F5344CB8AC3E}">
        <p14:creationId xmlns:p14="http://schemas.microsoft.com/office/powerpoint/2010/main" val="38651395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E0D61F4-83A6-87DD-F4CC-1B0FFD6EFF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Model Explorer Window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A5AAB5-9C59-CB32-8394-48F4C2C0B6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Click “MODELING” Tab and Click “Model Explorer”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AA4820-D472-79CC-7585-DE0AEE4496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0EFA85-C487-33F7-D82E-267779C8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Model Explorer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B1BC440-8EFC-10B7-71D6-146CE5CCB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9588" b="78044"/>
          <a:stretch>
            <a:fillRect/>
          </a:stretch>
        </p:blipFill>
        <p:spPr>
          <a:xfrm>
            <a:off x="1340810" y="2794345"/>
            <a:ext cx="3733468" cy="215865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47047D-E895-FEBE-6072-5397F79AE354}"/>
              </a:ext>
            </a:extLst>
          </p:cNvPr>
          <p:cNvCxnSpPr>
            <a:cxnSpLocks/>
          </p:cNvCxnSpPr>
          <p:nvPr/>
        </p:nvCxnSpPr>
        <p:spPr>
          <a:xfrm flipV="1">
            <a:off x="4496387" y="3902697"/>
            <a:ext cx="0" cy="12537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ED6623-F460-98B5-A62D-0D87ECD255F2}"/>
              </a:ext>
            </a:extLst>
          </p:cNvPr>
          <p:cNvCxnSpPr>
            <a:cxnSpLocks/>
          </p:cNvCxnSpPr>
          <p:nvPr/>
        </p:nvCxnSpPr>
        <p:spPr>
          <a:xfrm flipV="1">
            <a:off x="3828655" y="3297447"/>
            <a:ext cx="0" cy="18590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644A58C-CD40-98A2-EAD3-F40728DACB7A}"/>
              </a:ext>
            </a:extLst>
          </p:cNvPr>
          <p:cNvSpPr txBox="1"/>
          <p:nvPr/>
        </p:nvSpPr>
        <p:spPr>
          <a:xfrm>
            <a:off x="2144642" y="5156462"/>
            <a:ext cx="336802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“MODELING” Tab</a:t>
            </a:r>
          </a:p>
          <a:p>
            <a:r>
              <a:rPr lang="en-US" sz="1600" dirty="0">
                <a:solidFill>
                  <a:srgbClr val="FF0000"/>
                </a:solidFill>
              </a:rPr>
              <a:t>Step 2. Click “Model Explorer”</a:t>
            </a:r>
          </a:p>
        </p:txBody>
      </p:sp>
      <p:pic>
        <p:nvPicPr>
          <p:cNvPr id="32" name="Content Placeholder 28">
            <a:extLst>
              <a:ext uri="{FF2B5EF4-FFF2-40B4-BE49-F238E27FC236}">
                <a16:creationId xmlns:a16="http://schemas.microsoft.com/office/drawing/2014/main" id="{7FA3BCB9-4A53-A675-5755-37235C90814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57336" b="69135"/>
          <a:stretch>
            <a:fillRect/>
          </a:stretch>
        </p:blipFill>
        <p:spPr>
          <a:xfrm>
            <a:off x="6113463" y="2794345"/>
            <a:ext cx="5622925" cy="218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3234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AFB61AA-618D-8E62-AE46-ED8BE54C6C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Drill Down to “External Data” and then Click “New”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A85813-BB2A-1807-DD64-113483C0F0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65A10B2-9764-1090-723D-8A0D2FAB6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96252"/>
          </a:xfrm>
        </p:spPr>
        <p:txBody>
          <a:bodyPr/>
          <a:lstStyle/>
          <a:p>
            <a:r>
              <a:rPr lang="en-US" dirty="0"/>
              <a:t>Create Data Dictionary File (.</a:t>
            </a:r>
            <a:r>
              <a:rPr lang="en-US" dirty="0" err="1"/>
              <a:t>sldd</a:t>
            </a:r>
            <a:r>
              <a:rPr lang="en-US" dirty="0"/>
              <a:t>)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9F476DD-C88A-B019-109D-0E0F36B8E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50" b="68377"/>
          <a:stretch>
            <a:fillRect/>
          </a:stretch>
        </p:blipFill>
        <p:spPr>
          <a:xfrm>
            <a:off x="395288" y="2759075"/>
            <a:ext cx="11339512" cy="259935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6F97AF-4974-2C6B-3D9C-C116EDEB5004}"/>
              </a:ext>
            </a:extLst>
          </p:cNvPr>
          <p:cNvCxnSpPr>
            <a:cxnSpLocks/>
          </p:cNvCxnSpPr>
          <p:nvPr/>
        </p:nvCxnSpPr>
        <p:spPr>
          <a:xfrm flipV="1">
            <a:off x="8776156" y="4104660"/>
            <a:ext cx="0" cy="15231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2DB09D-BEFE-E785-39AB-506A220A3D0F}"/>
              </a:ext>
            </a:extLst>
          </p:cNvPr>
          <p:cNvCxnSpPr>
            <a:cxnSpLocks/>
          </p:cNvCxnSpPr>
          <p:nvPr/>
        </p:nvCxnSpPr>
        <p:spPr>
          <a:xfrm flipV="1">
            <a:off x="1387112" y="4737827"/>
            <a:ext cx="0" cy="889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E500AB5-0D67-7FB5-38A8-7CBB583B1EAC}"/>
              </a:ext>
            </a:extLst>
          </p:cNvPr>
          <p:cNvSpPr txBox="1"/>
          <p:nvPr/>
        </p:nvSpPr>
        <p:spPr>
          <a:xfrm>
            <a:off x="395288" y="5712643"/>
            <a:ext cx="336802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Drill Down to “External Data”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E99728-2D8C-86ED-F63A-9A8FCCB994E4}"/>
              </a:ext>
            </a:extLst>
          </p:cNvPr>
          <p:cNvSpPr txBox="1"/>
          <p:nvPr/>
        </p:nvSpPr>
        <p:spPr>
          <a:xfrm>
            <a:off x="7664924" y="5709731"/>
            <a:ext cx="452707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New to create a new data dictionary</a:t>
            </a:r>
          </a:p>
        </p:txBody>
      </p:sp>
    </p:spTree>
    <p:extLst>
      <p:ext uri="{BB962C8B-B14F-4D97-AF65-F5344CB8AC3E}">
        <p14:creationId xmlns:p14="http://schemas.microsoft.com/office/powerpoint/2010/main" val="10726103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DEA34-1529-D8B2-7A32-C836E6DB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Content Placeholder 30">
            <a:extLst>
              <a:ext uri="{FF2B5EF4-FFF2-40B4-BE49-F238E27FC236}">
                <a16:creationId xmlns:a16="http://schemas.microsoft.com/office/drawing/2014/main" id="{18D653EA-6301-AB05-8F77-E2E00AF18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00" t="86241" r="-159" b="2289"/>
          <a:stretch>
            <a:fillRect/>
          </a:stretch>
        </p:blipFill>
        <p:spPr>
          <a:xfrm>
            <a:off x="9219968" y="5373457"/>
            <a:ext cx="2516420" cy="11357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Content Placeholder 30">
            <a:extLst>
              <a:ext uri="{FF2B5EF4-FFF2-40B4-BE49-F238E27FC236}">
                <a16:creationId xmlns:a16="http://schemas.microsoft.com/office/drawing/2014/main" id="{2E0A88C3-D431-446A-60EF-699B15C4FB9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6" t="6067" r="27010" b="58263"/>
          <a:stretch>
            <a:fillRect/>
          </a:stretch>
        </p:blipFill>
        <p:spPr>
          <a:xfrm>
            <a:off x="6113463" y="2108976"/>
            <a:ext cx="5622925" cy="32644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FD06E56-E64F-2EE3-CAA7-B92724D08C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2) Apply Changes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67F8A8-D5E3-F1C2-5714-11558CBC5C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Save file as “</a:t>
            </a:r>
            <a:r>
              <a:rPr lang="en-US" dirty="0" err="1">
                <a:solidFill>
                  <a:schemeClr val="tx1"/>
                </a:solidFill>
              </a:rPr>
              <a:t>polynomial_System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E75D9FF-D8FF-358E-6955-2BE3FF83F7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A85F825-140B-B1A1-A7C1-5A3C1933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Data Dictionary File (.</a:t>
            </a:r>
            <a:r>
              <a:rPr lang="en-US" dirty="0" err="1"/>
              <a:t>sldd</a:t>
            </a:r>
            <a:r>
              <a:rPr lang="en-US" dirty="0"/>
              <a:t>)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B6372CC-6A5F-00CB-68BC-16EEFB8F0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20" y="2302859"/>
            <a:ext cx="5624512" cy="316899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802CC76-2C52-ABDB-7D18-4B5E7BC7D897}"/>
              </a:ext>
            </a:extLst>
          </p:cNvPr>
          <p:cNvCxnSpPr>
            <a:cxnSpLocks/>
          </p:cNvCxnSpPr>
          <p:nvPr/>
        </p:nvCxnSpPr>
        <p:spPr>
          <a:xfrm>
            <a:off x="1706252" y="3978112"/>
            <a:ext cx="0" cy="5844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09FD84-E6B8-2E48-D51E-379A0E0C2716}"/>
              </a:ext>
            </a:extLst>
          </p:cNvPr>
          <p:cNvSpPr txBox="1"/>
          <p:nvPr/>
        </p:nvSpPr>
        <p:spPr>
          <a:xfrm>
            <a:off x="1541667" y="3731891"/>
            <a:ext cx="402619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Create File </a:t>
            </a:r>
            <a:r>
              <a:rPr lang="en-US" sz="1600" dirty="0" err="1">
                <a:solidFill>
                  <a:srgbClr val="FF0000"/>
                </a:solidFill>
              </a:rPr>
              <a:t>polynomial_System.sldd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BCD288-3CC6-3330-09C5-F7AAC609E73E}"/>
              </a:ext>
            </a:extLst>
          </p:cNvPr>
          <p:cNvSpPr txBox="1"/>
          <p:nvPr/>
        </p:nvSpPr>
        <p:spPr>
          <a:xfrm>
            <a:off x="3874415" y="5722791"/>
            <a:ext cx="16934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Save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317109-28CA-1577-3DC1-88225C2FE7DA}"/>
              </a:ext>
            </a:extLst>
          </p:cNvPr>
          <p:cNvCxnSpPr>
            <a:cxnSpLocks/>
          </p:cNvCxnSpPr>
          <p:nvPr/>
        </p:nvCxnSpPr>
        <p:spPr>
          <a:xfrm flipV="1">
            <a:off x="5081047" y="5364071"/>
            <a:ext cx="0" cy="358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2393854-D0D8-EAC7-9C82-E9A157DD1538}"/>
              </a:ext>
            </a:extLst>
          </p:cNvPr>
          <p:cNvCxnSpPr>
            <a:cxnSpLocks/>
          </p:cNvCxnSpPr>
          <p:nvPr/>
        </p:nvCxnSpPr>
        <p:spPr>
          <a:xfrm flipV="1">
            <a:off x="7975076" y="3289955"/>
            <a:ext cx="0" cy="8766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0F52FA0-3D56-4D64-1739-FC53DF9E7C46}"/>
              </a:ext>
            </a:extLst>
          </p:cNvPr>
          <p:cNvSpPr txBox="1"/>
          <p:nvPr/>
        </p:nvSpPr>
        <p:spPr>
          <a:xfrm>
            <a:off x="6231217" y="4204354"/>
            <a:ext cx="551866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our created file </a:t>
            </a:r>
            <a:r>
              <a:rPr lang="en-US" sz="1600" dirty="0" err="1">
                <a:solidFill>
                  <a:srgbClr val="FF0000"/>
                </a:solidFill>
              </a:rPr>
              <a:t>polynomial_System.sldd</a:t>
            </a:r>
            <a:endParaRPr lang="en-US" sz="1600" dirty="0">
              <a:solidFill>
                <a:srgbClr val="FF0000"/>
              </a:solidFill>
            </a:endParaRP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This will hold our signal definitions and more .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48F0EC5-515F-01A7-6114-67DDE933DDBF}"/>
              </a:ext>
            </a:extLst>
          </p:cNvPr>
          <p:cNvCxnSpPr>
            <a:cxnSpLocks/>
          </p:cNvCxnSpPr>
          <p:nvPr/>
        </p:nvCxnSpPr>
        <p:spPr>
          <a:xfrm>
            <a:off x="11219469" y="5845901"/>
            <a:ext cx="0" cy="3032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6CF8168-0E37-C793-16FB-B3C7B8385675}"/>
              </a:ext>
            </a:extLst>
          </p:cNvPr>
          <p:cNvSpPr txBox="1"/>
          <p:nvPr/>
        </p:nvSpPr>
        <p:spPr>
          <a:xfrm>
            <a:off x="9873244" y="5586621"/>
            <a:ext cx="16934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Apply</a:t>
            </a:r>
          </a:p>
        </p:txBody>
      </p:sp>
    </p:spTree>
    <p:extLst>
      <p:ext uri="{BB962C8B-B14F-4D97-AF65-F5344CB8AC3E}">
        <p14:creationId xmlns:p14="http://schemas.microsoft.com/office/powerpoint/2010/main" val="38447001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3651F84-34C0-60AF-3BBE-7875FC0219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/>
          <a:lstStyle/>
          <a:p>
            <a:r>
              <a:rPr lang="en-US" dirty="0"/>
              <a:t>Step 2. Drill down to Design Data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451B5-59ED-C507-94FE-B602E2056C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</a:t>
            </a:r>
            <a:r>
              <a:rPr lang="en-US" dirty="0" err="1">
                <a:solidFill>
                  <a:schemeClr val="tx1"/>
                </a:solidFill>
              </a:rPr>
              <a:t>polynomial_System</a:t>
            </a:r>
            <a:r>
              <a:rPr lang="en-US" dirty="0"/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3307F5C-C328-4FDE-C5EC-9D2BDB1773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597909E-CD13-75DB-9574-1F6CA501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Design Data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28CC08A-73A2-A990-0A93-319F930759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Design Data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1E67F74-7FAE-7712-75AC-B5DC173AA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916" b="68233"/>
          <a:stretch>
            <a:fillRect/>
          </a:stretch>
        </p:blipFill>
        <p:spPr>
          <a:xfrm>
            <a:off x="934882" y="2050798"/>
            <a:ext cx="2027393" cy="3123068"/>
          </a:xfrm>
          <a:prstGeom prst="rect">
            <a:avLst/>
          </a:prstGeom>
        </p:spPr>
      </p:pic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86AF99E6-FD39-5BA0-7436-47C290D2858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2" r="87397" b="64205"/>
          <a:stretch>
            <a:fillRect/>
          </a:stretch>
        </p:blipFill>
        <p:spPr>
          <a:xfrm>
            <a:off x="4525317" y="2050798"/>
            <a:ext cx="2353080" cy="3519068"/>
          </a:xfrm>
          <a:prstGeom prst="rect">
            <a:avLst/>
          </a:prstGeom>
        </p:spPr>
      </p:pic>
      <p:pic>
        <p:nvPicPr>
          <p:cNvPr id="36" name="Content Placeholder 35">
            <a:extLst>
              <a:ext uri="{FF2B5EF4-FFF2-40B4-BE49-F238E27FC236}">
                <a16:creationId xmlns:a16="http://schemas.microsoft.com/office/drawing/2014/main" id="{872CA315-4B3A-EDFF-2594-AC4ADA4927E5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392" b="63054"/>
          <a:stretch>
            <a:fillRect/>
          </a:stretch>
        </p:blipFill>
        <p:spPr>
          <a:xfrm>
            <a:off x="8904719" y="2050798"/>
            <a:ext cx="2488978" cy="3632225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14E65D3-DF2B-759B-2E87-BEB3CEB5C827}"/>
              </a:ext>
            </a:extLst>
          </p:cNvPr>
          <p:cNvCxnSpPr>
            <a:cxnSpLocks/>
          </p:cNvCxnSpPr>
          <p:nvPr/>
        </p:nvCxnSpPr>
        <p:spPr>
          <a:xfrm flipH="1">
            <a:off x="2564092" y="4326902"/>
            <a:ext cx="5844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34D5051-CD18-58CD-9A97-3DBD103CC3F5}"/>
              </a:ext>
            </a:extLst>
          </p:cNvPr>
          <p:cNvSpPr txBox="1"/>
          <p:nvPr/>
        </p:nvSpPr>
        <p:spPr>
          <a:xfrm>
            <a:off x="3189322" y="4188402"/>
            <a:ext cx="129522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Click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BC19EF5-7AEF-C7E4-00E6-679BE519943C}"/>
              </a:ext>
            </a:extLst>
          </p:cNvPr>
          <p:cNvCxnSpPr>
            <a:cxnSpLocks/>
          </p:cNvCxnSpPr>
          <p:nvPr/>
        </p:nvCxnSpPr>
        <p:spPr>
          <a:xfrm flipH="1">
            <a:off x="6520983" y="4790696"/>
            <a:ext cx="5844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3865463-C3AA-B597-6FB6-7171001300DE}"/>
              </a:ext>
            </a:extLst>
          </p:cNvPr>
          <p:cNvSpPr txBox="1"/>
          <p:nvPr/>
        </p:nvSpPr>
        <p:spPr>
          <a:xfrm>
            <a:off x="7146213" y="4652196"/>
            <a:ext cx="157735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Expand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E163050-50E1-0F3B-DF4A-5512CF6D98A6}"/>
              </a:ext>
            </a:extLst>
          </p:cNvPr>
          <p:cNvCxnSpPr>
            <a:cxnSpLocks/>
          </p:cNvCxnSpPr>
          <p:nvPr/>
        </p:nvCxnSpPr>
        <p:spPr>
          <a:xfrm flipH="1">
            <a:off x="6520983" y="5067695"/>
            <a:ext cx="5844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559EFAE-918C-75F0-132C-91C420FC136B}"/>
              </a:ext>
            </a:extLst>
          </p:cNvPr>
          <p:cNvSpPr txBox="1"/>
          <p:nvPr/>
        </p:nvSpPr>
        <p:spPr>
          <a:xfrm>
            <a:off x="7146213" y="4929195"/>
            <a:ext cx="129522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Click</a:t>
            </a:r>
          </a:p>
        </p:txBody>
      </p:sp>
    </p:spTree>
    <p:extLst>
      <p:ext uri="{BB962C8B-B14F-4D97-AF65-F5344CB8AC3E}">
        <p14:creationId xmlns:p14="http://schemas.microsoft.com/office/powerpoint/2010/main" val="1767271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A7077EE-55DB-A77C-1D79-7D840E86EE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“Simulink Signal” x6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This will add a new signal to your data inspector.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D28EAC-92AA-5D75-4ADD-3E59EDFD0A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DD8F10B-A291-1F5A-FC2D-03FDBC7D0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11628"/>
          </a:xfrm>
        </p:spPr>
        <p:txBody>
          <a:bodyPr/>
          <a:lstStyle/>
          <a:p>
            <a:r>
              <a:rPr lang="en-US" dirty="0"/>
              <a:t>Add Simulink Signal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Just Create the blank signal for now</a:t>
            </a:r>
          </a:p>
        </p:txBody>
      </p:sp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96C1C0E9-35CC-A027-0FF8-61C087B06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8501" b="64290"/>
          <a:stretch>
            <a:fillRect/>
          </a:stretch>
        </p:blipFill>
        <p:spPr>
          <a:xfrm>
            <a:off x="395288" y="2763583"/>
            <a:ext cx="11339512" cy="30441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BFEAA8-BADC-0CFF-651C-940C550270D7}"/>
              </a:ext>
            </a:extLst>
          </p:cNvPr>
          <p:cNvSpPr txBox="1"/>
          <p:nvPr/>
        </p:nvSpPr>
        <p:spPr>
          <a:xfrm>
            <a:off x="1951348" y="3696028"/>
            <a:ext cx="169344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“Simulink Signal”</a:t>
            </a: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Repeat Action x6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9A96B2-A68B-B377-C9AC-E41348FE8594}"/>
              </a:ext>
            </a:extLst>
          </p:cNvPr>
          <p:cNvCxnSpPr>
            <a:cxnSpLocks/>
          </p:cNvCxnSpPr>
          <p:nvPr/>
        </p:nvCxnSpPr>
        <p:spPr>
          <a:xfrm flipV="1">
            <a:off x="2554664" y="3337308"/>
            <a:ext cx="0" cy="358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1B4A49E-FB27-1F44-F37C-2743A6F5ED58}"/>
              </a:ext>
            </a:extLst>
          </p:cNvPr>
          <p:cNvSpPr/>
          <p:nvPr/>
        </p:nvSpPr>
        <p:spPr>
          <a:xfrm>
            <a:off x="3644792" y="3949831"/>
            <a:ext cx="8151919" cy="11594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278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3806-0A08-E9CB-36E2-5B49FBF6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9FFF884-C6ED-60FF-E623-6EC8129EC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57" b="64925"/>
          <a:stretch>
            <a:fillRect/>
          </a:stretch>
        </p:blipFill>
        <p:spPr>
          <a:xfrm>
            <a:off x="395288" y="2763583"/>
            <a:ext cx="11339512" cy="29923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B90882-3C49-3B07-BA6E-CB3599BD53EB}"/>
              </a:ext>
            </a:extLst>
          </p:cNvPr>
          <p:cNvSpPr txBox="1"/>
          <p:nvPr/>
        </p:nvSpPr>
        <p:spPr>
          <a:xfrm>
            <a:off x="1818643" y="3687322"/>
            <a:ext cx="1989779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“Simulink Parameter”</a:t>
            </a: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Repeat Action x3 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A273AD23-4DAA-8B14-A4BE-FB7FF6911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“Simulink Parameter” x3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This will add a new signal to your data inspector.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AD2310-4B7E-B6AE-FAB4-B2BF00097D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D76583B-9628-AC88-6967-C66FCD374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Add Simulink Parameter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Just Create the blank parameter for now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49D3AF-D658-0709-7AA9-7EC5E6D1DF8A}"/>
              </a:ext>
            </a:extLst>
          </p:cNvPr>
          <p:cNvCxnSpPr>
            <a:cxnSpLocks/>
          </p:cNvCxnSpPr>
          <p:nvPr/>
        </p:nvCxnSpPr>
        <p:spPr>
          <a:xfrm flipV="1">
            <a:off x="1979628" y="3328602"/>
            <a:ext cx="0" cy="358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51BC3CB-55E9-B961-46AF-DA18111E01E5}"/>
              </a:ext>
            </a:extLst>
          </p:cNvPr>
          <p:cNvSpPr/>
          <p:nvPr/>
        </p:nvSpPr>
        <p:spPr>
          <a:xfrm>
            <a:off x="3644792" y="5022221"/>
            <a:ext cx="8151919" cy="5372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355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0A029-D7E3-C468-3541-135D81D77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27A9C15-365D-4EBF-A16E-F1A408772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15" b="65495"/>
          <a:stretch>
            <a:fillRect/>
          </a:stretch>
        </p:blipFill>
        <p:spPr>
          <a:xfrm>
            <a:off x="395288" y="2763583"/>
            <a:ext cx="11339512" cy="29215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7363FD1-1C31-733B-6F3B-2BC838A019EE}"/>
              </a:ext>
            </a:extLst>
          </p:cNvPr>
          <p:cNvSpPr txBox="1"/>
          <p:nvPr/>
        </p:nvSpPr>
        <p:spPr>
          <a:xfrm>
            <a:off x="1601827" y="3678776"/>
            <a:ext cx="215946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Update Names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5BD9504E-879A-8CE0-9C9E-5351700DC2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each row and update the Name of each signal and parameter</a:t>
            </a:r>
            <a:br>
              <a:rPr lang="en-US" dirty="0"/>
            </a:br>
            <a:r>
              <a:rPr lang="en-US" sz="1200" i="1" dirty="0">
                <a:solidFill>
                  <a:srgbClr val="FF0000"/>
                </a:solidFill>
              </a:rPr>
              <a:t>Note: This will add a new signal to your data inspector.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1AACD1-9508-2A78-9FE2-95AC0ED527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B004E71-19C9-41D9-87C1-8F4EE1BD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Rename Signals and Parameters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E518CD-D318-386A-33C2-801AF3659DE9}"/>
              </a:ext>
            </a:extLst>
          </p:cNvPr>
          <p:cNvCxnSpPr>
            <a:cxnSpLocks/>
          </p:cNvCxnSpPr>
          <p:nvPr/>
        </p:nvCxnSpPr>
        <p:spPr>
          <a:xfrm>
            <a:off x="3271101" y="3924997"/>
            <a:ext cx="386499" cy="326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059F802-1513-1F03-39CE-E6A73FB7AF40}"/>
              </a:ext>
            </a:extLst>
          </p:cNvPr>
          <p:cNvSpPr/>
          <p:nvPr/>
        </p:nvSpPr>
        <p:spPr>
          <a:xfrm>
            <a:off x="3761293" y="3924997"/>
            <a:ext cx="1093511" cy="1634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833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39536-25D7-22F5-399E-25C6F8DC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Content Placeholder 43">
            <a:extLst>
              <a:ext uri="{FF2B5EF4-FFF2-40B4-BE49-F238E27FC236}">
                <a16:creationId xmlns:a16="http://schemas.microsoft.com/office/drawing/2014/main" id="{95A62CCF-6A0F-FC9B-9ACA-15F1C9C57B6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1060" t="13353" r="71109" b="66603"/>
          <a:stretch>
            <a:fillRect/>
          </a:stretch>
        </p:blipFill>
        <p:spPr>
          <a:xfrm>
            <a:off x="4228569" y="2103145"/>
            <a:ext cx="1432333" cy="1970560"/>
          </a:xfrm>
          <a:prstGeom prst="rect">
            <a:avLst/>
          </a:prstGeom>
        </p:spPr>
      </p:pic>
      <p:pic>
        <p:nvPicPr>
          <p:cNvPr id="64" name="Content Placeholder 43">
            <a:extLst>
              <a:ext uri="{FF2B5EF4-FFF2-40B4-BE49-F238E27FC236}">
                <a16:creationId xmlns:a16="http://schemas.microsoft.com/office/drawing/2014/main" id="{F761FFD4-FC2C-5F9A-AB8D-8AD70D2BD7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15" t="13353" r="59126" b="49244"/>
          <a:stretch>
            <a:fillRect/>
          </a:stretch>
        </p:blipFill>
        <p:spPr>
          <a:xfrm>
            <a:off x="5654405" y="2103144"/>
            <a:ext cx="1473941" cy="3677153"/>
          </a:xfrm>
          <a:prstGeom prst="rect">
            <a:avLst/>
          </a:prstGeom>
        </p:spPr>
      </p:pic>
      <p:pic>
        <p:nvPicPr>
          <p:cNvPr id="55" name="Content Placeholder 25">
            <a:extLst>
              <a:ext uri="{FF2B5EF4-FFF2-40B4-BE49-F238E27FC236}">
                <a16:creationId xmlns:a16="http://schemas.microsoft.com/office/drawing/2014/main" id="{EA53685F-896B-7E41-7E96-7486A953D8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782" t="13828" r="64187" b="63469"/>
          <a:stretch>
            <a:fillRect/>
          </a:stretch>
        </p:blipFill>
        <p:spPr>
          <a:xfrm>
            <a:off x="1803014" y="2103144"/>
            <a:ext cx="554421" cy="2231971"/>
          </a:xfrm>
          <a:prstGeom prst="rect">
            <a:avLst/>
          </a:prstGeom>
        </p:spPr>
      </p:pic>
      <p:pic>
        <p:nvPicPr>
          <p:cNvPr id="52" name="Content Placeholder 25">
            <a:extLst>
              <a:ext uri="{FF2B5EF4-FFF2-40B4-BE49-F238E27FC236}">
                <a16:creationId xmlns:a16="http://schemas.microsoft.com/office/drawing/2014/main" id="{D66FCA3E-30A3-5C15-23BC-858A0FA57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1130" t="13828" r="71180" b="63469"/>
          <a:stretch>
            <a:fillRect/>
          </a:stretch>
        </p:blipFill>
        <p:spPr>
          <a:xfrm>
            <a:off x="395818" y="2103144"/>
            <a:ext cx="1406507" cy="2231971"/>
          </a:xfrm>
          <a:prstGeom prst="rect">
            <a:avLst/>
          </a:prstGeom>
        </p:spPr>
      </p:pic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2B193591-1D28-4389-87FA-A76B22D8FB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>
            <a:normAutofit/>
          </a:bodyPr>
          <a:lstStyle/>
          <a:p>
            <a:r>
              <a:rPr lang="en-US" dirty="0"/>
              <a:t>Step 2. Click &amp; Update Field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2CAF4A3E-71BC-114E-0E2B-D9BA61A0D5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Shift + Hold + select rows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28800B8-FE82-86E3-029C-21C3C603C6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956CFD53-B342-E56B-B49D-751A1F43B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887"/>
          </a:xfrm>
        </p:spPr>
        <p:txBody>
          <a:bodyPr/>
          <a:lstStyle/>
          <a:p>
            <a:r>
              <a:rPr lang="en-US" dirty="0"/>
              <a:t>Mass Update Data Type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Mandatory</a:t>
            </a:r>
            <a:endParaRPr lang="en-US" b="0" i="1" dirty="0">
              <a:solidFill>
                <a:srgbClr val="FF0000"/>
              </a:solidFill>
            </a:endParaRP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3D4FE82-451A-218B-FABA-EFF8B62A8D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updated column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9B35EE-0FA5-F0C3-F62F-3ED32B0A8A0F}"/>
              </a:ext>
            </a:extLst>
          </p:cNvPr>
          <p:cNvSpPr/>
          <p:nvPr/>
        </p:nvSpPr>
        <p:spPr>
          <a:xfrm>
            <a:off x="6231118" y="2074864"/>
            <a:ext cx="946431" cy="1705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8C560A-890A-141E-5DEA-69BA9F039AF9}"/>
              </a:ext>
            </a:extLst>
          </p:cNvPr>
          <p:cNvSpPr txBox="1"/>
          <p:nvPr/>
        </p:nvSpPr>
        <p:spPr>
          <a:xfrm>
            <a:off x="16968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Data Type Before Update is “auto”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C6F6A5-950E-0C59-4551-C727379C92E8}"/>
              </a:ext>
            </a:extLst>
          </p:cNvPr>
          <p:cNvSpPr txBox="1"/>
          <p:nvPr/>
        </p:nvSpPr>
        <p:spPr>
          <a:xfrm>
            <a:off x="806255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Data Type After Update is “double”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037F7F-5D6F-8035-A517-15C32F8BC4BF}"/>
              </a:ext>
            </a:extLst>
          </p:cNvPr>
          <p:cNvSpPr txBox="1"/>
          <p:nvPr/>
        </p:nvSpPr>
        <p:spPr>
          <a:xfrm>
            <a:off x="4380322" y="4389417"/>
            <a:ext cx="198683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1. Click field</a:t>
            </a:r>
          </a:p>
          <a:p>
            <a:r>
              <a:rPr lang="en-US" sz="1600" dirty="0">
                <a:solidFill>
                  <a:srgbClr val="FF0000"/>
                </a:solidFill>
              </a:rPr>
              <a:t>2. Select 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3A31B84-F04D-5A73-C1AD-C953B316D18A}"/>
              </a:ext>
            </a:extLst>
          </p:cNvPr>
          <p:cNvCxnSpPr>
            <a:cxnSpLocks/>
            <a:endCxn id="64" idx="1"/>
          </p:cNvCxnSpPr>
          <p:nvPr/>
        </p:nvCxnSpPr>
        <p:spPr>
          <a:xfrm flipV="1">
            <a:off x="5222449" y="3941721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512B33-DD09-942D-3CE0-59E829A3282A}"/>
              </a:ext>
            </a:extLst>
          </p:cNvPr>
          <p:cNvCxnSpPr>
            <a:cxnSpLocks/>
          </p:cNvCxnSpPr>
          <p:nvPr/>
        </p:nvCxnSpPr>
        <p:spPr>
          <a:xfrm flipV="1">
            <a:off x="1998482" y="3965042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DDAEED6-894B-FFA5-DB73-E7568AC41518}"/>
              </a:ext>
            </a:extLst>
          </p:cNvPr>
          <p:cNvCxnSpPr>
            <a:cxnSpLocks/>
          </p:cNvCxnSpPr>
          <p:nvPr/>
        </p:nvCxnSpPr>
        <p:spPr>
          <a:xfrm flipV="1">
            <a:off x="5363936" y="4332765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82" name="Content Placeholder 50">
            <a:extLst>
              <a:ext uri="{FF2B5EF4-FFF2-40B4-BE49-F238E27FC236}">
                <a16:creationId xmlns:a16="http://schemas.microsoft.com/office/drawing/2014/main" id="{21E83550-A448-F106-F58A-572041E28C06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21343" t="13458" r="71198" b="66498"/>
          <a:stretch>
            <a:fillRect/>
          </a:stretch>
        </p:blipFill>
        <p:spPr>
          <a:xfrm>
            <a:off x="8062556" y="2103144"/>
            <a:ext cx="1364246" cy="1970560"/>
          </a:xfrm>
          <a:prstGeom prst="rect">
            <a:avLst/>
          </a:prstGeom>
        </p:spPr>
      </p:pic>
      <p:pic>
        <p:nvPicPr>
          <p:cNvPr id="83" name="Content Placeholder 50">
            <a:extLst>
              <a:ext uri="{FF2B5EF4-FFF2-40B4-BE49-F238E27FC236}">
                <a16:creationId xmlns:a16="http://schemas.microsoft.com/office/drawing/2014/main" id="{EB320961-8DC5-CD5C-C528-2067DBF20A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808" t="13458" r="63943" b="66498"/>
          <a:stretch>
            <a:fillRect/>
          </a:stretch>
        </p:blipFill>
        <p:spPr>
          <a:xfrm>
            <a:off x="9425688" y="2103144"/>
            <a:ext cx="594309" cy="1970560"/>
          </a:xfrm>
          <a:prstGeom prst="rect">
            <a:avLst/>
          </a:prstGeom>
        </p:spPr>
      </p:pic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A70CA08-A686-1A78-9953-02FA148162AD}"/>
              </a:ext>
            </a:extLst>
          </p:cNvPr>
          <p:cNvCxnSpPr>
            <a:cxnSpLocks/>
          </p:cNvCxnSpPr>
          <p:nvPr/>
        </p:nvCxnSpPr>
        <p:spPr>
          <a:xfrm flipV="1">
            <a:off x="9645192" y="3941721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8240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341D-9490-280C-0BC2-ECE96C99E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6">
            <a:extLst>
              <a:ext uri="{FF2B5EF4-FFF2-40B4-BE49-F238E27FC236}">
                <a16:creationId xmlns:a16="http://schemas.microsoft.com/office/drawing/2014/main" id="{7141F012-EFAF-1487-5C27-EB24639EFF6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0811" t="13270" r="71171" b="65583"/>
          <a:stretch>
            <a:fillRect/>
          </a:stretch>
        </p:blipFill>
        <p:spPr>
          <a:xfrm>
            <a:off x="4248228" y="2103144"/>
            <a:ext cx="1466585" cy="2079037"/>
          </a:xfrm>
          <a:prstGeom prst="rect">
            <a:avLst/>
          </a:prstGeom>
        </p:spPr>
      </p:pic>
      <p:pic>
        <p:nvPicPr>
          <p:cNvPr id="31" name="Content Placeholder 6">
            <a:extLst>
              <a:ext uri="{FF2B5EF4-FFF2-40B4-BE49-F238E27FC236}">
                <a16:creationId xmlns:a16="http://schemas.microsoft.com/office/drawing/2014/main" id="{028B1786-1818-5E63-EDB1-D393670D30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29" t="13270" r="59497" b="62247"/>
          <a:stretch>
            <a:fillRect/>
          </a:stretch>
        </p:blipFill>
        <p:spPr>
          <a:xfrm>
            <a:off x="5714610" y="2103144"/>
            <a:ext cx="854943" cy="2406919"/>
          </a:xfrm>
          <a:prstGeom prst="rect">
            <a:avLst/>
          </a:prstGeom>
        </p:spPr>
      </p:pic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032EE6F9-5E09-E182-E315-94731773A2EE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5" t="13541" r="71353" b="66108"/>
          <a:stretch>
            <a:fillRect/>
          </a:stretch>
        </p:blipFill>
        <p:spPr>
          <a:xfrm>
            <a:off x="8062555" y="2103144"/>
            <a:ext cx="1364894" cy="2000763"/>
          </a:xfrm>
          <a:prstGeom prst="rect">
            <a:avLst/>
          </a:prstGeom>
        </p:spPr>
      </p:pic>
      <p:pic>
        <p:nvPicPr>
          <p:cNvPr id="4" name="Content Placeholder 50">
            <a:extLst>
              <a:ext uri="{FF2B5EF4-FFF2-40B4-BE49-F238E27FC236}">
                <a16:creationId xmlns:a16="http://schemas.microsoft.com/office/drawing/2014/main" id="{5C879EC9-8AB9-4B15-FD56-1337EBCCD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21026" t="13820" r="71195" b="65033"/>
          <a:stretch>
            <a:fillRect/>
          </a:stretch>
        </p:blipFill>
        <p:spPr>
          <a:xfrm>
            <a:off x="395818" y="2103144"/>
            <a:ext cx="1422823" cy="2079037"/>
          </a:xfrm>
          <a:prstGeom prst="rect">
            <a:avLst/>
          </a:prstGeom>
        </p:spPr>
      </p:pic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DD05D41-6A8A-93E5-AEDF-38967FA8DF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2. Click &amp; Update Field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D1360D36-E5C6-93FE-7A79-A062B43C3D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Shift + Hold + select rows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49177FCE-1E2A-B00B-5D15-C91A0066A7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1B28A070-E67E-BBBA-5E9D-5D6E1F34E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92442"/>
          </a:xfrm>
        </p:spPr>
        <p:txBody>
          <a:bodyPr/>
          <a:lstStyle/>
          <a:p>
            <a:r>
              <a:rPr lang="en-US" dirty="0"/>
              <a:t>Mass Update Dimensions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Optional</a:t>
            </a:r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1741C5F-DEF0-B0DE-13F5-F565D0CDC0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updated column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E920BA8-D56E-2AF9-1A11-5F6F87E3241F}"/>
              </a:ext>
            </a:extLst>
          </p:cNvPr>
          <p:cNvSpPr/>
          <p:nvPr/>
        </p:nvSpPr>
        <p:spPr>
          <a:xfrm>
            <a:off x="6367160" y="2103145"/>
            <a:ext cx="337429" cy="1976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D090375-79DD-6937-A213-5D9E62D18D2E}"/>
              </a:ext>
            </a:extLst>
          </p:cNvPr>
          <p:cNvSpPr txBox="1"/>
          <p:nvPr/>
        </p:nvSpPr>
        <p:spPr>
          <a:xfrm>
            <a:off x="16968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Dimensions Before Update is -1 or [0 0]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A014D85-D6B0-E845-DD52-B660D418EFD8}"/>
              </a:ext>
            </a:extLst>
          </p:cNvPr>
          <p:cNvSpPr txBox="1"/>
          <p:nvPr/>
        </p:nvSpPr>
        <p:spPr>
          <a:xfrm>
            <a:off x="8062556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Dimensions After Update is 1 or [1 1]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FCE7BF-C7D9-40EB-2D05-59B2B865AE2F}"/>
              </a:ext>
            </a:extLst>
          </p:cNvPr>
          <p:cNvSpPr txBox="1"/>
          <p:nvPr/>
        </p:nvSpPr>
        <p:spPr>
          <a:xfrm>
            <a:off x="4807670" y="4389417"/>
            <a:ext cx="238299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field</a:t>
            </a:r>
          </a:p>
          <a:p>
            <a:r>
              <a:rPr lang="en-US" sz="1600" dirty="0">
                <a:solidFill>
                  <a:srgbClr val="FF0000"/>
                </a:solidFill>
              </a:rPr>
              <a:t>Step 2. Type 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26E7AFD-B0A6-FE8B-145C-8650547B3BE5}"/>
              </a:ext>
            </a:extLst>
          </p:cNvPr>
          <p:cNvCxnSpPr>
            <a:cxnSpLocks/>
          </p:cNvCxnSpPr>
          <p:nvPr/>
        </p:nvCxnSpPr>
        <p:spPr>
          <a:xfrm flipV="1">
            <a:off x="5774817" y="3996283"/>
            <a:ext cx="0" cy="3931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4" name="Content Placeholder 50">
            <a:extLst>
              <a:ext uri="{FF2B5EF4-FFF2-40B4-BE49-F238E27FC236}">
                <a16:creationId xmlns:a16="http://schemas.microsoft.com/office/drawing/2014/main" id="{4C63DAEE-A50B-94F7-F4DA-BE22338A6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723" t="13820" r="60750" b="65033"/>
          <a:stretch>
            <a:fillRect/>
          </a:stretch>
        </p:blipFill>
        <p:spPr>
          <a:xfrm>
            <a:off x="1802325" y="2103144"/>
            <a:ext cx="645107" cy="2079037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F6A0B0-B849-95AE-AB4A-5D7D85CF5FE6}"/>
              </a:ext>
            </a:extLst>
          </p:cNvPr>
          <p:cNvCxnSpPr>
            <a:cxnSpLocks/>
          </p:cNvCxnSpPr>
          <p:nvPr/>
        </p:nvCxnSpPr>
        <p:spPr>
          <a:xfrm flipV="1">
            <a:off x="1998482" y="3965042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9" name="Content Placeholder 22">
            <a:extLst>
              <a:ext uri="{FF2B5EF4-FFF2-40B4-BE49-F238E27FC236}">
                <a16:creationId xmlns:a16="http://schemas.microsoft.com/office/drawing/2014/main" id="{03D2B809-CF97-5B1E-EB1A-9D6CDC99C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66" t="13541" r="60681" b="66108"/>
          <a:stretch>
            <a:fillRect/>
          </a:stretch>
        </p:blipFill>
        <p:spPr>
          <a:xfrm>
            <a:off x="9426802" y="2103144"/>
            <a:ext cx="649853" cy="200076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F7CA9C9-62BC-D1A7-6FDA-30BFC364E1D1}"/>
              </a:ext>
            </a:extLst>
          </p:cNvPr>
          <p:cNvCxnSpPr>
            <a:cxnSpLocks/>
          </p:cNvCxnSpPr>
          <p:nvPr/>
        </p:nvCxnSpPr>
        <p:spPr>
          <a:xfrm flipV="1">
            <a:off x="9579203" y="4079985"/>
            <a:ext cx="0" cy="3094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25248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10376-CF57-8172-2B35-B1FFD83DB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Content Placeholder 31">
            <a:extLst>
              <a:ext uri="{FF2B5EF4-FFF2-40B4-BE49-F238E27FC236}">
                <a16:creationId xmlns:a16="http://schemas.microsoft.com/office/drawing/2014/main" id="{DC14F9D7-3604-BB69-8EAD-6EA00EDE34ED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1" t="13318" r="71573" b="66938"/>
          <a:stretch>
            <a:fillRect/>
          </a:stretch>
        </p:blipFill>
        <p:spPr>
          <a:xfrm>
            <a:off x="8062555" y="2103144"/>
            <a:ext cx="1279607" cy="1941067"/>
          </a:xfrm>
          <a:prstGeom prst="rect">
            <a:avLst/>
          </a:prstGeom>
        </p:spPr>
      </p:pic>
      <p:pic>
        <p:nvPicPr>
          <p:cNvPr id="33" name="Content Placeholder 31">
            <a:extLst>
              <a:ext uri="{FF2B5EF4-FFF2-40B4-BE49-F238E27FC236}">
                <a16:creationId xmlns:a16="http://schemas.microsoft.com/office/drawing/2014/main" id="{438147D6-0CF6-6E01-5FF5-825366FBA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48" t="13318" r="44691" b="66938"/>
          <a:stretch>
            <a:fillRect/>
          </a:stretch>
        </p:blipFill>
        <p:spPr>
          <a:xfrm>
            <a:off x="9310677" y="2103144"/>
            <a:ext cx="852486" cy="1941067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5CBBFE37-8937-20B8-1AA8-AB9D6D30793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0" t="13318" r="71169" b="66331"/>
          <a:stretch>
            <a:fillRect/>
          </a:stretch>
        </p:blipFill>
        <p:spPr>
          <a:xfrm>
            <a:off x="4228569" y="2103144"/>
            <a:ext cx="1353684" cy="2000763"/>
          </a:xfrm>
          <a:prstGeom prst="rect">
            <a:avLst/>
          </a:prstGeom>
        </p:spPr>
      </p:pic>
      <p:pic>
        <p:nvPicPr>
          <p:cNvPr id="18" name="Content Placeholder 16">
            <a:extLst>
              <a:ext uri="{FF2B5EF4-FFF2-40B4-BE49-F238E27FC236}">
                <a16:creationId xmlns:a16="http://schemas.microsoft.com/office/drawing/2014/main" id="{FC9134CD-4B22-12AA-FFE6-6C3C6E8A8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87" t="13318" r="40824" b="52036"/>
          <a:stretch>
            <a:fillRect/>
          </a:stretch>
        </p:blipFill>
        <p:spPr>
          <a:xfrm>
            <a:off x="5576579" y="2103144"/>
            <a:ext cx="1570980" cy="3406116"/>
          </a:xfrm>
          <a:prstGeom prst="rect">
            <a:avLst/>
          </a:prstGeom>
        </p:spPr>
      </p:pic>
      <p:pic>
        <p:nvPicPr>
          <p:cNvPr id="7" name="Content Placeholder 9">
            <a:extLst>
              <a:ext uri="{FF2B5EF4-FFF2-40B4-BE49-F238E27FC236}">
                <a16:creationId xmlns:a16="http://schemas.microsoft.com/office/drawing/2014/main" id="{C28B1318-DEA7-EAF4-88F2-E0ED271DD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1" t="13318" r="71250" b="66108"/>
          <a:stretch>
            <a:fillRect/>
          </a:stretch>
        </p:blipFill>
        <p:spPr>
          <a:xfrm>
            <a:off x="395818" y="2103144"/>
            <a:ext cx="1422822" cy="2022665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A419157-EA52-37CF-4735-1634CCB7E8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77" t="13318" r="44872" b="66108"/>
          <a:stretch>
            <a:fillRect/>
          </a:stretch>
        </p:blipFill>
        <p:spPr>
          <a:xfrm>
            <a:off x="1818683" y="2103144"/>
            <a:ext cx="814031" cy="2022665"/>
          </a:xfrm>
          <a:prstGeom prst="rect">
            <a:avLst/>
          </a:prstGeom>
        </p:spPr>
      </p:pic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DEBD3C71-B1B6-2250-1DD8-B83DFFC7A2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>
            <a:normAutofit/>
          </a:bodyPr>
          <a:lstStyle/>
          <a:p>
            <a:r>
              <a:rPr lang="en-US" dirty="0"/>
              <a:t>Step 2. Click &amp; Update Field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D87735F-ABE7-CC73-6538-60158370C3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Shift + Hold + select rows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7FE72C2-3935-50A0-FE25-D06F593FF8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5A98AA66-FC46-255B-D932-1A5D36008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Update Storage Class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Optional</a:t>
            </a:r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60BED3CF-2E2D-9D8E-DEF4-97CDDE4272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updated column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39DAEDC-8472-38BC-5525-2B19B095DA7F}"/>
              </a:ext>
            </a:extLst>
          </p:cNvPr>
          <p:cNvSpPr/>
          <p:nvPr/>
        </p:nvSpPr>
        <p:spPr>
          <a:xfrm>
            <a:off x="6417184" y="2103145"/>
            <a:ext cx="773478" cy="1893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F3E88C-500E-E514-B19A-80AE599E79B8}"/>
              </a:ext>
            </a:extLst>
          </p:cNvPr>
          <p:cNvSpPr txBox="1"/>
          <p:nvPr/>
        </p:nvSpPr>
        <p:spPr>
          <a:xfrm>
            <a:off x="16968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Storage Class Before Update is auto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85A95E-84E3-4DD7-0100-0CDC4C927DF0}"/>
              </a:ext>
            </a:extLst>
          </p:cNvPr>
          <p:cNvSpPr txBox="1"/>
          <p:nvPr/>
        </p:nvSpPr>
        <p:spPr>
          <a:xfrm>
            <a:off x="8062556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Storage Class After Update is </a:t>
            </a:r>
            <a:r>
              <a:rPr lang="en-US" sz="1600" dirty="0" err="1">
                <a:solidFill>
                  <a:srgbClr val="FF0000"/>
                </a:solidFill>
              </a:rPr>
              <a:t>ExportedGlobal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4F500D-6D82-ADBF-9ECD-B2890F79A8B5}"/>
              </a:ext>
            </a:extLst>
          </p:cNvPr>
          <p:cNvSpPr txBox="1"/>
          <p:nvPr/>
        </p:nvSpPr>
        <p:spPr>
          <a:xfrm>
            <a:off x="4228569" y="4389417"/>
            <a:ext cx="238299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1. Click field</a:t>
            </a:r>
          </a:p>
          <a:p>
            <a:r>
              <a:rPr lang="en-US" sz="1600" dirty="0">
                <a:solidFill>
                  <a:srgbClr val="FF0000"/>
                </a:solidFill>
              </a:rPr>
              <a:t>2. Select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1FDF2A-614E-9442-1FA7-07353600F21C}"/>
              </a:ext>
            </a:extLst>
          </p:cNvPr>
          <p:cNvCxnSpPr>
            <a:cxnSpLocks/>
          </p:cNvCxnSpPr>
          <p:nvPr/>
        </p:nvCxnSpPr>
        <p:spPr>
          <a:xfrm flipV="1">
            <a:off x="1998482" y="3965042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6AFD0D2-76C6-2B47-359C-5EC8022B11C5}"/>
              </a:ext>
            </a:extLst>
          </p:cNvPr>
          <p:cNvCxnSpPr>
            <a:cxnSpLocks/>
          </p:cNvCxnSpPr>
          <p:nvPr/>
        </p:nvCxnSpPr>
        <p:spPr>
          <a:xfrm flipV="1">
            <a:off x="9579203" y="4079985"/>
            <a:ext cx="0" cy="3094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DD56B0-70CA-817E-6DD1-57D00677C34C}"/>
              </a:ext>
            </a:extLst>
          </p:cNvPr>
          <p:cNvCxnSpPr>
            <a:cxnSpLocks/>
          </p:cNvCxnSpPr>
          <p:nvPr/>
        </p:nvCxnSpPr>
        <p:spPr>
          <a:xfrm flipV="1">
            <a:off x="5222449" y="3941721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8F43D3-57D0-74D2-0D77-BEDB4EA15E7A}"/>
              </a:ext>
            </a:extLst>
          </p:cNvPr>
          <p:cNvCxnSpPr>
            <a:cxnSpLocks/>
          </p:cNvCxnSpPr>
          <p:nvPr/>
        </p:nvCxnSpPr>
        <p:spPr>
          <a:xfrm flipV="1">
            <a:off x="5188676" y="4332765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860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E062B-8284-CB26-57F8-48EEE7527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D6A0D7-9AF1-D4B3-C54B-D2A8E69A6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34" b="66363"/>
          <a:stretch>
            <a:fillRect/>
          </a:stretch>
        </p:blipFill>
        <p:spPr>
          <a:xfrm>
            <a:off x="395288" y="2763583"/>
            <a:ext cx="11339512" cy="2872755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1747D60B-1456-8336-B4AC-A2E0B0AE5A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Observe Updated Columns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9F5B44-7F0F-F589-8451-FBB89E5F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D4D1428-A9A4-7219-BF70-6EDD4EC5E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Observe Data Dictionary After Mass Update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FA1441E-B999-8FD4-69ED-BBD8EB4539E0}"/>
              </a:ext>
            </a:extLst>
          </p:cNvPr>
          <p:cNvCxnSpPr>
            <a:cxnSpLocks/>
          </p:cNvCxnSpPr>
          <p:nvPr/>
        </p:nvCxnSpPr>
        <p:spPr>
          <a:xfrm flipV="1">
            <a:off x="5816338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4ED0F14-80BD-4EBE-E2D1-1F1D4631C54D}"/>
              </a:ext>
            </a:extLst>
          </p:cNvPr>
          <p:cNvCxnSpPr>
            <a:cxnSpLocks/>
          </p:cNvCxnSpPr>
          <p:nvPr/>
        </p:nvCxnSpPr>
        <p:spPr>
          <a:xfrm flipV="1">
            <a:off x="6201266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630F49-7E97-44ED-A953-B8692CCDB9DA}"/>
              </a:ext>
            </a:extLst>
          </p:cNvPr>
          <p:cNvCxnSpPr>
            <a:cxnSpLocks/>
          </p:cNvCxnSpPr>
          <p:nvPr/>
        </p:nvCxnSpPr>
        <p:spPr>
          <a:xfrm flipV="1">
            <a:off x="8804635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26448A2-36D3-C546-11A7-D747A9F273A9}"/>
              </a:ext>
            </a:extLst>
          </p:cNvPr>
          <p:cNvSpPr txBox="1"/>
          <p:nvPr/>
        </p:nvSpPr>
        <p:spPr>
          <a:xfrm>
            <a:off x="5684362" y="6213316"/>
            <a:ext cx="358218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Updated Columns</a:t>
            </a:r>
          </a:p>
        </p:txBody>
      </p:sp>
    </p:spTree>
    <p:extLst>
      <p:ext uri="{BB962C8B-B14F-4D97-AF65-F5344CB8AC3E}">
        <p14:creationId xmlns:p14="http://schemas.microsoft.com/office/powerpoint/2010/main" val="50173527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97B9-13B9-16C0-86B9-DE65224B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C98DD01F-E80D-58C5-ED04-235128F67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0954" b="64134"/>
          <a:stretch>
            <a:fillRect/>
          </a:stretch>
        </p:blipFill>
        <p:spPr>
          <a:xfrm>
            <a:off x="395288" y="2763583"/>
            <a:ext cx="11339512" cy="2765513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9A23C167-537C-851C-E562-AAA523E970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4F5BF51-FFE3-1001-848F-FB8686DCC6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09B9A7B-9F0A-D23D-F041-4FFD5E476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</a:t>
            </a:r>
            <a:r>
              <a:rPr lang="en-US" dirty="0" err="1"/>
              <a:t>y_raw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1D0B05-724D-372E-DE4E-896DD90FEC33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E64BC2E-BAC1-DC22-598B-A1A82D87A43F}"/>
              </a:ext>
            </a:extLst>
          </p:cNvPr>
          <p:cNvSpPr/>
          <p:nvPr/>
        </p:nvSpPr>
        <p:spPr>
          <a:xfrm>
            <a:off x="7786538" y="4471752"/>
            <a:ext cx="3799004" cy="241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16625F-6B13-7D2E-D344-BA4E294A17D3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DD2924-6E0B-A824-A6B9-E182C3703EB9}"/>
              </a:ext>
            </a:extLst>
          </p:cNvPr>
          <p:cNvCxnSpPr>
            <a:cxnSpLocks/>
          </p:cNvCxnSpPr>
          <p:nvPr/>
        </p:nvCxnSpPr>
        <p:spPr>
          <a:xfrm flipV="1">
            <a:off x="9475509" y="4713402"/>
            <a:ext cx="0" cy="1245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0BC6380-6106-E155-D05E-06F8801F9CC1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Min, Max, &amp;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EEDCA9-8ECC-B460-AB6E-2FFBCA83A6B7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20C5FD-4617-1E78-5A22-6FCB449F6BDD}"/>
              </a:ext>
            </a:extLst>
          </p:cNvPr>
          <p:cNvCxnSpPr>
            <a:cxnSpLocks/>
          </p:cNvCxnSpPr>
          <p:nvPr/>
        </p:nvCxnSpPr>
        <p:spPr>
          <a:xfrm flipV="1">
            <a:off x="887690" y="4146339"/>
            <a:ext cx="0" cy="18077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04812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5AAA-021D-779C-128F-548C6CBC0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015A8A2D-BEC2-6D21-2481-7D4758835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0" b="64534"/>
          <a:stretch>
            <a:fillRect/>
          </a:stretch>
        </p:blipFill>
        <p:spPr>
          <a:xfrm>
            <a:off x="395288" y="2763583"/>
            <a:ext cx="11339512" cy="2748090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91122EA8-51EA-B45A-F146-54E9ACCF97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17C73A4-85D1-C333-8A65-77CFD9F8B2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DFFCA54-4FA2-CFF5-D95F-EDAFD84CB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D9F42C-6B13-0503-A824-3E4085FBC6D3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B8E3777-7B74-F88B-3CC0-C5D82AC3914F}"/>
              </a:ext>
            </a:extLst>
          </p:cNvPr>
          <p:cNvSpPr/>
          <p:nvPr/>
        </p:nvSpPr>
        <p:spPr>
          <a:xfrm>
            <a:off x="7786538" y="4471752"/>
            <a:ext cx="3799004" cy="241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EFBD4E-1EBF-318A-E242-54E9CB842C5F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48AAED-4B8C-A0BE-5832-EBB9F77E740E}"/>
              </a:ext>
            </a:extLst>
          </p:cNvPr>
          <p:cNvCxnSpPr>
            <a:cxnSpLocks/>
          </p:cNvCxnSpPr>
          <p:nvPr/>
        </p:nvCxnSpPr>
        <p:spPr>
          <a:xfrm flipV="1">
            <a:off x="9475509" y="4713402"/>
            <a:ext cx="0" cy="1245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D62F6B0-F769-37A1-6328-D319B3599786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Min, Max, &amp;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4F2F45-75F2-FA05-E45D-9BD20EA25A0D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E5E648-322C-3742-E9C3-C8AE9E7CABF7}"/>
              </a:ext>
            </a:extLst>
          </p:cNvPr>
          <p:cNvCxnSpPr>
            <a:cxnSpLocks/>
          </p:cNvCxnSpPr>
          <p:nvPr/>
        </p:nvCxnSpPr>
        <p:spPr>
          <a:xfrm flipV="1">
            <a:off x="887690" y="4298623"/>
            <a:ext cx="0" cy="16554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0489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BBB11-2140-4236-6043-502BDFD2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8200C0-6F8C-E12B-8AC6-48A5C0F0F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340" b="63911"/>
          <a:stretch>
            <a:fillRect/>
          </a:stretch>
        </p:blipFill>
        <p:spPr>
          <a:xfrm>
            <a:off x="395288" y="2763583"/>
            <a:ext cx="11339512" cy="2796364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6EF27A45-BFA3-89CF-BB72-F6E0C32392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9D1B7B6-2D0E-98AD-21FA-2D77888E6D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0B71A4E-B2B2-268F-AF66-4B0BCF552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t_squared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45BDAD-3114-9D71-9D53-6807EFF14CB5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C48610C-2D98-F8EB-59C2-83F2B13F0357}"/>
              </a:ext>
            </a:extLst>
          </p:cNvPr>
          <p:cNvSpPr/>
          <p:nvPr/>
        </p:nvSpPr>
        <p:spPr>
          <a:xfrm>
            <a:off x="7786538" y="4471752"/>
            <a:ext cx="3799004" cy="241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20FF69-E108-8E09-2E8F-12E3A5632233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6F9C79-4489-1ED6-6BFC-2BB05120DDCA}"/>
              </a:ext>
            </a:extLst>
          </p:cNvPr>
          <p:cNvCxnSpPr>
            <a:cxnSpLocks/>
          </p:cNvCxnSpPr>
          <p:nvPr/>
        </p:nvCxnSpPr>
        <p:spPr>
          <a:xfrm flipV="1">
            <a:off x="9475509" y="4713402"/>
            <a:ext cx="0" cy="1245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3D37553-BDCF-41FF-0EA5-494813B7C656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Min, Max, &amp;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213F17-2699-3C54-0AC9-C196A765C41A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7AE268-1F16-8A83-CD34-07A0E05B450F}"/>
              </a:ext>
            </a:extLst>
          </p:cNvPr>
          <p:cNvCxnSpPr>
            <a:cxnSpLocks/>
          </p:cNvCxnSpPr>
          <p:nvPr/>
        </p:nvCxnSpPr>
        <p:spPr>
          <a:xfrm flipV="1">
            <a:off x="887690" y="4471752"/>
            <a:ext cx="0" cy="14823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1039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74D5F-9141-1017-B4EC-1C08A0E5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9E44B3-FABD-76BF-A0E1-B411E7FB6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2" b="66168"/>
          <a:stretch>
            <a:fillRect/>
          </a:stretch>
        </p:blipFill>
        <p:spPr>
          <a:xfrm>
            <a:off x="395288" y="2763583"/>
            <a:ext cx="11339512" cy="2629234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48C43E1C-DD45-0FCE-996C-1972FA3C6C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0207CC6-B563-9632-2643-D0CA36E8C3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F4620BD-4806-282E-C8C4-B12DAC31A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B38AA6-6E1D-B919-9C29-CEE8F5358936}"/>
              </a:ext>
            </a:extLst>
          </p:cNvPr>
          <p:cNvSpPr/>
          <p:nvPr/>
        </p:nvSpPr>
        <p:spPr>
          <a:xfrm>
            <a:off x="3431355" y="4462325"/>
            <a:ext cx="763572" cy="147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974CBC-D81D-7911-B5B7-BBEAACF852D7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EF2C70-4D69-7AAD-087C-50194A271055}"/>
              </a:ext>
            </a:extLst>
          </p:cNvPr>
          <p:cNvCxnSpPr>
            <a:cxnSpLocks/>
          </p:cNvCxnSpPr>
          <p:nvPr/>
        </p:nvCxnSpPr>
        <p:spPr>
          <a:xfrm flipV="1">
            <a:off x="887690" y="4609707"/>
            <a:ext cx="0" cy="1344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AC8F78-7936-B7B3-57BB-558996743A82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&amp; Update fields Min, Max, &amp; Unit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9650A7-EC80-85DB-2B51-88E4219F5387}"/>
              </a:ext>
            </a:extLst>
          </p:cNvPr>
          <p:cNvCxnSpPr>
            <a:cxnSpLocks/>
          </p:cNvCxnSpPr>
          <p:nvPr/>
        </p:nvCxnSpPr>
        <p:spPr>
          <a:xfrm flipV="1">
            <a:off x="3651315" y="4609707"/>
            <a:ext cx="0" cy="1344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3828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D845A-3564-7321-F724-994F68052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11B06F4-8108-9BF9-3D61-6FA50C15A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2" b="65212"/>
          <a:stretch>
            <a:fillRect/>
          </a:stretch>
        </p:blipFill>
        <p:spPr>
          <a:xfrm>
            <a:off x="395288" y="2763583"/>
            <a:ext cx="11339512" cy="2703529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CDBC6E96-A207-3A6F-B637-4DCE7067F5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3BFAB8-C701-3C6F-FEFA-39A071CAA1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476083E-91D3-7094-1A0F-2D9629B6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neg_4t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794D14-474E-9985-45B7-0EF6DBB01F25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863FEF8-2D9F-BD2A-CDB7-1296737475F5}"/>
              </a:ext>
            </a:extLst>
          </p:cNvPr>
          <p:cNvSpPr/>
          <p:nvPr/>
        </p:nvSpPr>
        <p:spPr>
          <a:xfrm>
            <a:off x="3431355" y="4613155"/>
            <a:ext cx="457200" cy="147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0D6291-F449-D4B7-6B56-44B8F48070C4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542740-13CD-1138-AE3E-7533044F6819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814C2D-F84C-1661-0943-2223E7083A39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4A9F52-E483-2370-2CD5-C0A0061F477A}"/>
              </a:ext>
            </a:extLst>
          </p:cNvPr>
          <p:cNvCxnSpPr>
            <a:cxnSpLocks/>
          </p:cNvCxnSpPr>
          <p:nvPr/>
        </p:nvCxnSpPr>
        <p:spPr>
          <a:xfrm flipV="1">
            <a:off x="887690" y="4741682"/>
            <a:ext cx="0" cy="1212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77D274-81EF-B832-A38D-C11E284285A9}"/>
              </a:ext>
            </a:extLst>
          </p:cNvPr>
          <p:cNvCxnSpPr>
            <a:cxnSpLocks/>
          </p:cNvCxnSpPr>
          <p:nvPr/>
        </p:nvCxnSpPr>
        <p:spPr>
          <a:xfrm flipV="1">
            <a:off x="3651315" y="4741682"/>
            <a:ext cx="0" cy="1212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9E2D280-B00E-314B-CC5A-63557F26788F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&amp; Update fields Min &amp; Max</a:t>
            </a:r>
          </a:p>
        </p:txBody>
      </p:sp>
    </p:spTree>
    <p:extLst>
      <p:ext uri="{BB962C8B-B14F-4D97-AF65-F5344CB8AC3E}">
        <p14:creationId xmlns:p14="http://schemas.microsoft.com/office/powerpoint/2010/main" val="267413780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D207-C0B4-1667-F3BE-6C486BE8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03A181-83F0-17C9-CCA5-FC7821E93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2" b="63911"/>
          <a:stretch>
            <a:fillRect/>
          </a:stretch>
        </p:blipFill>
        <p:spPr>
          <a:xfrm>
            <a:off x="395288" y="2763583"/>
            <a:ext cx="11339512" cy="2804636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DA9147B2-0AC5-2E11-F7ED-49C2510A88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F2815B2-DE40-D65A-3C49-350AF295EF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6259CA1-F1E6-AFA9-F7E1-581CFF453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coeffA_t_squared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449395-482F-4E8E-8300-9ADADF464824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CDA7C52-D690-C394-351E-E464472D74B9}"/>
              </a:ext>
            </a:extLst>
          </p:cNvPr>
          <p:cNvSpPr/>
          <p:nvPr/>
        </p:nvSpPr>
        <p:spPr>
          <a:xfrm>
            <a:off x="3431355" y="4754560"/>
            <a:ext cx="731520" cy="147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3C244D-5575-8B46-B83B-01724A225CEA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D5A3CB-851E-0670-8CCA-96D37B450B4E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67F618-2F54-B7FB-19F6-67E1E8482C42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080208-54B4-11CA-2BCE-4E8D20E12909}"/>
              </a:ext>
            </a:extLst>
          </p:cNvPr>
          <p:cNvCxnSpPr>
            <a:cxnSpLocks/>
          </p:cNvCxnSpPr>
          <p:nvPr/>
        </p:nvCxnSpPr>
        <p:spPr>
          <a:xfrm flipV="1">
            <a:off x="887690" y="4883087"/>
            <a:ext cx="0" cy="10709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48C6CC-0363-E437-6B5A-9B2DBE69DFE3}"/>
              </a:ext>
            </a:extLst>
          </p:cNvPr>
          <p:cNvCxnSpPr>
            <a:cxnSpLocks/>
          </p:cNvCxnSpPr>
          <p:nvPr/>
        </p:nvCxnSpPr>
        <p:spPr>
          <a:xfrm flipV="1">
            <a:off x="3651315" y="4883087"/>
            <a:ext cx="0" cy="10709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AF6720-589F-4FAB-12F1-1214B39B70B8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&amp; Update fields Min, Max, &amp; Unit</a:t>
            </a:r>
          </a:p>
        </p:txBody>
      </p:sp>
    </p:spTree>
    <p:extLst>
      <p:ext uri="{BB962C8B-B14F-4D97-AF65-F5344CB8AC3E}">
        <p14:creationId xmlns:p14="http://schemas.microsoft.com/office/powerpoint/2010/main" val="168530696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790E2-E65B-B80C-A147-63BA111C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F20114-5DCC-1475-4122-08AE2ACB6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7" b="63911"/>
          <a:stretch>
            <a:fillRect/>
          </a:stretch>
        </p:blipFill>
        <p:spPr>
          <a:xfrm>
            <a:off x="395288" y="2763583"/>
            <a:ext cx="11339512" cy="2799104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3AB71915-A146-C526-66DC-6FB8B15AE1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C93CD8E-C362-2757-F2EE-007394D43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66741A6-ACA0-D8F1-362D-9DAAB527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Parameter: COEFF_C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40C4C4-5F1E-33EF-FDE4-2619408410A9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D400FB8-E1FD-1F18-F760-E0F42D22440B}"/>
              </a:ext>
            </a:extLst>
          </p:cNvPr>
          <p:cNvSpPr/>
          <p:nvPr/>
        </p:nvSpPr>
        <p:spPr>
          <a:xfrm>
            <a:off x="1728877" y="4889024"/>
            <a:ext cx="269602" cy="182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B8D03F-77EF-E2EC-5F7F-9D376B1BC7ED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67AAC5-39E5-8E7A-FA54-1F9EFA2911BE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7C78AD-7483-CAEF-4D79-E579CF49D2D0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Param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48E08E9-AA0C-9548-E5F5-A6E3AF8AE149}"/>
              </a:ext>
            </a:extLst>
          </p:cNvPr>
          <p:cNvCxnSpPr>
            <a:cxnSpLocks/>
          </p:cNvCxnSpPr>
          <p:nvPr/>
        </p:nvCxnSpPr>
        <p:spPr>
          <a:xfrm flipV="1">
            <a:off x="887690" y="5081047"/>
            <a:ext cx="0" cy="873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27F04A-359A-E2E8-F408-E971BDBBA5AC}"/>
              </a:ext>
            </a:extLst>
          </p:cNvPr>
          <p:cNvCxnSpPr>
            <a:cxnSpLocks/>
          </p:cNvCxnSpPr>
          <p:nvPr/>
        </p:nvCxnSpPr>
        <p:spPr>
          <a:xfrm flipH="1" flipV="1">
            <a:off x="1998479" y="5081047"/>
            <a:ext cx="1210411" cy="873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07B97BF-028E-0890-0058-8813E4F83744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Value</a:t>
            </a:r>
          </a:p>
        </p:txBody>
      </p:sp>
    </p:spTree>
    <p:extLst>
      <p:ext uri="{BB962C8B-B14F-4D97-AF65-F5344CB8AC3E}">
        <p14:creationId xmlns:p14="http://schemas.microsoft.com/office/powerpoint/2010/main" val="37770155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80D6-1783-3ED6-E82E-2B0456AB7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A40390A-1795-0D92-664F-2D5D608FFA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0" b="65068"/>
          <a:stretch>
            <a:fillRect/>
          </a:stretch>
        </p:blipFill>
        <p:spPr>
          <a:xfrm>
            <a:off x="395288" y="2763583"/>
            <a:ext cx="11339512" cy="2706713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10FD9EC6-CE0E-2177-5745-6452BC2613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C141BA6-76B6-48D0-D41E-E6A49D0884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DE6ADA6-E828-9CDF-CD91-C6484DB8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Parameter: COEFF_B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DEB42-FAF3-69E1-7F86-E712F1DB4770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FB3914F-5E41-E149-5FA7-4FEB2536F426}"/>
              </a:ext>
            </a:extLst>
          </p:cNvPr>
          <p:cNvSpPr/>
          <p:nvPr/>
        </p:nvSpPr>
        <p:spPr>
          <a:xfrm>
            <a:off x="1728877" y="5039856"/>
            <a:ext cx="269602" cy="182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B3436E-0191-05F3-B621-E78CA0DE8451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A3245F-0C94-6F62-31BC-A933F2D51D49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17689D-A739-3C04-9841-8DE2D802D698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Param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A9DBDD-9257-6D5D-D541-7FA954B78A39}"/>
              </a:ext>
            </a:extLst>
          </p:cNvPr>
          <p:cNvCxnSpPr>
            <a:cxnSpLocks/>
          </p:cNvCxnSpPr>
          <p:nvPr/>
        </p:nvCxnSpPr>
        <p:spPr>
          <a:xfrm flipV="1">
            <a:off x="887690" y="5222452"/>
            <a:ext cx="0" cy="7316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BCF120-C409-9CB4-7665-D76644B09254}"/>
              </a:ext>
            </a:extLst>
          </p:cNvPr>
          <p:cNvCxnSpPr>
            <a:cxnSpLocks/>
          </p:cNvCxnSpPr>
          <p:nvPr/>
        </p:nvCxnSpPr>
        <p:spPr>
          <a:xfrm flipH="1" flipV="1">
            <a:off x="1998479" y="5222452"/>
            <a:ext cx="1210411" cy="7316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A8CCCD6-EAFF-6C2A-B788-2E08295F7E62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Value</a:t>
            </a:r>
          </a:p>
        </p:txBody>
      </p:sp>
    </p:spTree>
    <p:extLst>
      <p:ext uri="{BB962C8B-B14F-4D97-AF65-F5344CB8AC3E}">
        <p14:creationId xmlns:p14="http://schemas.microsoft.com/office/powerpoint/2010/main" val="25114108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F741B-47CD-F1AF-1DE9-FED66D489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8B52207-1101-5714-956F-95A4420F0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417" b="64925"/>
          <a:stretch>
            <a:fillRect/>
          </a:stretch>
        </p:blipFill>
        <p:spPr>
          <a:xfrm>
            <a:off x="395288" y="2763583"/>
            <a:ext cx="11339512" cy="2720457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8E8A8584-25D2-AA2A-41FD-00F6DDFB34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E1291BB-B162-3901-2872-CE721BE4F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F444719-FB01-34EB-9359-A293D3C9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Parameter: COEFF_A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D10063-E618-CED8-0C10-1AAB98DC6F14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69E84A4-7C8D-72AA-C97C-21C4FAF2E411}"/>
              </a:ext>
            </a:extLst>
          </p:cNvPr>
          <p:cNvSpPr/>
          <p:nvPr/>
        </p:nvSpPr>
        <p:spPr>
          <a:xfrm>
            <a:off x="1728877" y="5181260"/>
            <a:ext cx="269602" cy="182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D85290-4301-D700-CC39-7224F6414321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98BB86-8FC1-1E3C-D07B-0493F3AD2C22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31F459-EF4C-CF50-718C-CFEB23B3CEEE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Param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1F9CF4-4157-3670-341D-98B7D2383DBB}"/>
              </a:ext>
            </a:extLst>
          </p:cNvPr>
          <p:cNvCxnSpPr>
            <a:cxnSpLocks/>
          </p:cNvCxnSpPr>
          <p:nvPr/>
        </p:nvCxnSpPr>
        <p:spPr>
          <a:xfrm flipV="1">
            <a:off x="887690" y="5363856"/>
            <a:ext cx="0" cy="5902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132E06-F006-E5E5-F18E-38B5C26C769D}"/>
              </a:ext>
            </a:extLst>
          </p:cNvPr>
          <p:cNvCxnSpPr>
            <a:cxnSpLocks/>
          </p:cNvCxnSpPr>
          <p:nvPr/>
        </p:nvCxnSpPr>
        <p:spPr>
          <a:xfrm flipH="1" flipV="1">
            <a:off x="1998479" y="5363856"/>
            <a:ext cx="1210411" cy="5902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D17DC02-0D7B-20CC-73A9-F377E0ABC06B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Value</a:t>
            </a:r>
          </a:p>
        </p:txBody>
      </p:sp>
    </p:spTree>
    <p:extLst>
      <p:ext uri="{BB962C8B-B14F-4D97-AF65-F5344CB8AC3E}">
        <p14:creationId xmlns:p14="http://schemas.microsoft.com/office/powerpoint/2010/main" val="1491493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Content Placeholder 39">
            <a:extLst>
              <a:ext uri="{FF2B5EF4-FFF2-40B4-BE49-F238E27FC236}">
                <a16:creationId xmlns:a16="http://schemas.microsoft.com/office/drawing/2014/main" id="{70633D7F-3D78-AF7E-1369-A39267105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49" b="65788"/>
          <a:stretch>
            <a:fillRect/>
          </a:stretch>
        </p:blipFill>
        <p:spPr>
          <a:xfrm>
            <a:off x="395818" y="2222225"/>
            <a:ext cx="1829274" cy="2838448"/>
          </a:xfrm>
          <a:prstGeom prst="rect">
            <a:avLst/>
          </a:prstGeom>
        </p:spPr>
      </p:pic>
      <p:pic>
        <p:nvPicPr>
          <p:cNvPr id="52" name="Content Placeholder 51">
            <a:extLst>
              <a:ext uri="{FF2B5EF4-FFF2-40B4-BE49-F238E27FC236}">
                <a16:creationId xmlns:a16="http://schemas.microsoft.com/office/drawing/2014/main" id="{867BF82A-0AEC-FC46-55C8-6862CD5CEA8D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905" b="65212"/>
          <a:stretch>
            <a:fillRect/>
          </a:stretch>
        </p:blipFill>
        <p:spPr>
          <a:xfrm>
            <a:off x="9520960" y="2222225"/>
            <a:ext cx="1860672" cy="2876550"/>
          </a:xfrm>
          <a:prstGeom prst="rect">
            <a:avLst/>
          </a:prstGeom>
        </p:spPr>
      </p:pic>
      <p:pic>
        <p:nvPicPr>
          <p:cNvPr id="46" name="Content Placeholder 45">
            <a:extLst>
              <a:ext uri="{FF2B5EF4-FFF2-40B4-BE49-F238E27FC236}">
                <a16:creationId xmlns:a16="http://schemas.microsoft.com/office/drawing/2014/main" id="{80F4257A-BF6C-DCFC-470E-286164FC0106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820" b="47231"/>
          <a:stretch>
            <a:fillRect/>
          </a:stretch>
        </p:blipFill>
        <p:spPr>
          <a:xfrm>
            <a:off x="4228569" y="2222225"/>
            <a:ext cx="3415140" cy="4367212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9AB96A-1EB6-E7A9-B289-92E11BA9A8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921268"/>
            <a:ext cx="3776472" cy="365760"/>
          </a:xfrm>
        </p:spPr>
        <p:txBody>
          <a:bodyPr>
            <a:normAutofit/>
          </a:bodyPr>
          <a:lstStyle/>
          <a:p>
            <a:r>
              <a:rPr lang="en-US" dirty="0"/>
              <a:t>Step 2. Right Click &amp; Save Changes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9F55E2-A749-39D7-6BBC-88324B1F2F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921268"/>
            <a:ext cx="3776472" cy="365760"/>
          </a:xfrm>
        </p:spPr>
        <p:txBody>
          <a:bodyPr/>
          <a:lstStyle/>
          <a:p>
            <a:r>
              <a:rPr lang="en-US" dirty="0"/>
              <a:t>Step 1. Click </a:t>
            </a:r>
            <a:r>
              <a:rPr lang="en-US" dirty="0" err="1"/>
              <a:t>polynomial_System</a:t>
            </a:r>
            <a:r>
              <a:rPr lang="en-US" dirty="0"/>
              <a:t>*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949DF5-A370-7AE4-EC24-ED8D3E5390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DF06266-B6CA-E30E-001F-F9FDC850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698773" cy="884420"/>
          </a:xfrm>
        </p:spPr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en-US" dirty="0"/>
              <a:t>Save Changes made to Data Dictionary (.</a:t>
            </a:r>
            <a:r>
              <a:rPr lang="en-US" dirty="0" err="1"/>
              <a:t>sldd</a:t>
            </a:r>
            <a:r>
              <a:rPr lang="en-US" dirty="0"/>
              <a:t>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Changes made to the data dictionary must be saved from Model Explorer. Otherwise, the changes will not be applied and may be lost.</a:t>
            </a:r>
            <a:br>
              <a:rPr lang="en-US" sz="1200" b="0" dirty="0">
                <a:solidFill>
                  <a:srgbClr val="FF0000"/>
                </a:solidFill>
              </a:rPr>
            </a:br>
            <a:r>
              <a:rPr lang="en-US" sz="1200" b="0" i="1" dirty="0">
                <a:solidFill>
                  <a:srgbClr val="FF0000"/>
                </a:solidFill>
              </a:rPr>
              <a:t>Note: Pressing </a:t>
            </a:r>
            <a:r>
              <a:rPr lang="en-US" sz="1200" i="1" dirty="0" err="1">
                <a:solidFill>
                  <a:srgbClr val="FF0000"/>
                </a:solidFill>
              </a:rPr>
              <a:t>Ctrl+S</a:t>
            </a:r>
            <a:r>
              <a:rPr lang="en-US" sz="1200" b="0" i="1" dirty="0">
                <a:solidFill>
                  <a:srgbClr val="FF0000"/>
                </a:solidFill>
              </a:rPr>
              <a:t> in Model Explorer does </a:t>
            </a:r>
            <a:r>
              <a:rPr lang="en-US" sz="1200" i="1" dirty="0">
                <a:solidFill>
                  <a:srgbClr val="FF0000"/>
                </a:solidFill>
              </a:rPr>
              <a:t>not</a:t>
            </a:r>
            <a:r>
              <a:rPr lang="en-US" sz="1200" b="0" i="1" dirty="0">
                <a:solidFill>
                  <a:srgbClr val="FF0000"/>
                </a:solidFill>
              </a:rPr>
              <a:t> save data dictionary changes. Instead, it may create a new signal or have a different action than expected. To save dictionary changes, right-click the data dictionary and select </a:t>
            </a:r>
            <a:r>
              <a:rPr lang="en-US" sz="1200" i="1" dirty="0">
                <a:solidFill>
                  <a:srgbClr val="FF0000"/>
                </a:solidFill>
              </a:rPr>
              <a:t>Save Changes</a:t>
            </a:r>
            <a:r>
              <a:rPr lang="en-US" sz="1200" b="0" i="1" dirty="0">
                <a:solidFill>
                  <a:srgbClr val="FF0000"/>
                </a:solidFill>
              </a:rPr>
              <a:t>. Yes, this behavior surprises everyone at least once.</a:t>
            </a:r>
            <a:br>
              <a:rPr lang="en-US" sz="1200" b="0" dirty="0">
                <a:solidFill>
                  <a:srgbClr val="FF0000"/>
                </a:solidFill>
              </a:rPr>
            </a:br>
            <a:endParaRPr lang="en-US" sz="1200" b="0" i="1" dirty="0">
              <a:solidFill>
                <a:srgbClr val="FF0000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3F57FF2-97AF-77A2-1B55-D74BEE48D1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921268"/>
            <a:ext cx="3776472" cy="365760"/>
          </a:xfrm>
        </p:spPr>
        <p:txBody>
          <a:bodyPr/>
          <a:lstStyle/>
          <a:p>
            <a:pPr algn="r"/>
            <a:r>
              <a:rPr lang="en-US" dirty="0"/>
              <a:t>Step 3. Observe Saved File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9E8407-BBF8-2717-67EC-792305C074A1}"/>
              </a:ext>
            </a:extLst>
          </p:cNvPr>
          <p:cNvSpPr txBox="1"/>
          <p:nvPr/>
        </p:nvSpPr>
        <p:spPr>
          <a:xfrm>
            <a:off x="2569110" y="4352435"/>
            <a:ext cx="1004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Click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0E1B59-5DF5-AFEF-1697-A2F74BEC191B}"/>
              </a:ext>
            </a:extLst>
          </p:cNvPr>
          <p:cNvCxnSpPr>
            <a:cxnSpLocks/>
          </p:cNvCxnSpPr>
          <p:nvPr/>
        </p:nvCxnSpPr>
        <p:spPr>
          <a:xfrm flipH="1">
            <a:off x="5927197" y="4544070"/>
            <a:ext cx="176489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C45498-EA4B-9C87-0F76-FB6247014CBF}"/>
              </a:ext>
            </a:extLst>
          </p:cNvPr>
          <p:cNvCxnSpPr>
            <a:cxnSpLocks/>
          </p:cNvCxnSpPr>
          <p:nvPr/>
        </p:nvCxnSpPr>
        <p:spPr>
          <a:xfrm flipH="1">
            <a:off x="6809642" y="5150635"/>
            <a:ext cx="8824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456E1DD-81B4-3F2C-6EBD-79DE5C786FC0}"/>
              </a:ext>
            </a:extLst>
          </p:cNvPr>
          <p:cNvSpPr txBox="1"/>
          <p:nvPr/>
        </p:nvSpPr>
        <p:spPr>
          <a:xfrm>
            <a:off x="7692088" y="4359404"/>
            <a:ext cx="1602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Right Click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EC681-BC7F-0C8F-9FEE-7508C6FEF80D}"/>
              </a:ext>
            </a:extLst>
          </p:cNvPr>
          <p:cNvSpPr txBox="1"/>
          <p:nvPr/>
        </p:nvSpPr>
        <p:spPr>
          <a:xfrm>
            <a:off x="7692088" y="4965969"/>
            <a:ext cx="1602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2. Click Save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DBBAC8-5239-E102-8F2C-612F21375684}"/>
              </a:ext>
            </a:extLst>
          </p:cNvPr>
          <p:cNvCxnSpPr>
            <a:cxnSpLocks/>
          </p:cNvCxnSpPr>
          <p:nvPr/>
        </p:nvCxnSpPr>
        <p:spPr>
          <a:xfrm flipH="1">
            <a:off x="11313384" y="4504057"/>
            <a:ext cx="5484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6955DC-3FFF-237B-17F6-499A26CC3CF8}"/>
              </a:ext>
            </a:extLst>
          </p:cNvPr>
          <p:cNvCxnSpPr>
            <a:cxnSpLocks/>
          </p:cNvCxnSpPr>
          <p:nvPr/>
        </p:nvCxnSpPr>
        <p:spPr>
          <a:xfrm flipH="1">
            <a:off x="2141842" y="4537101"/>
            <a:ext cx="4582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65638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B95F5-7676-FA21-7871-7359A9741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7499F052-7A00-F457-A1E1-1A3F77EB5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9480" b="88847"/>
          <a:stretch>
            <a:fillRect/>
          </a:stretch>
        </p:blipFill>
        <p:spPr>
          <a:xfrm>
            <a:off x="395816" y="2639364"/>
            <a:ext cx="5623559" cy="320454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C37B28-B275-3859-A599-22EF5EB7F9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622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the Saved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FAB7E-BCF6-A3F2-7A8B-F12AFA4E3A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5"/>
            <a:ext cx="5623560" cy="622357"/>
          </a:xfrm>
        </p:spPr>
        <p:txBody>
          <a:bodyPr>
            <a:normAutofit/>
          </a:bodyPr>
          <a:lstStyle/>
          <a:p>
            <a:r>
              <a:rPr lang="en-US" dirty="0"/>
              <a:t>Step 1. Click Save (</a:t>
            </a:r>
            <a:r>
              <a:rPr lang="en-US" b="1" dirty="0"/>
              <a:t>*</a:t>
            </a:r>
            <a:r>
              <a:rPr lang="en-US" dirty="0"/>
              <a:t> indicates the file is unsaved)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ctrl + s will also save the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82792-361B-0D18-9759-A41C44134E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CE6114-E0E3-27C7-9C29-311E3692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Model 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A30A1F-56BD-7FD3-5AE8-F40BF5311838}"/>
              </a:ext>
            </a:extLst>
          </p:cNvPr>
          <p:cNvSpPr/>
          <p:nvPr/>
        </p:nvSpPr>
        <p:spPr>
          <a:xfrm>
            <a:off x="1373588" y="4823411"/>
            <a:ext cx="2493560" cy="736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7D9048-787C-D81D-8DCD-9981E6DAE5A5}"/>
              </a:ext>
            </a:extLst>
          </p:cNvPr>
          <p:cNvCxnSpPr>
            <a:cxnSpLocks/>
          </p:cNvCxnSpPr>
          <p:nvPr/>
        </p:nvCxnSpPr>
        <p:spPr>
          <a:xfrm flipV="1">
            <a:off x="2535611" y="5559425"/>
            <a:ext cx="0" cy="561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351D588-A7BE-BE17-1684-370E462A34FA}"/>
              </a:ext>
            </a:extLst>
          </p:cNvPr>
          <p:cNvCxnSpPr>
            <a:cxnSpLocks/>
          </p:cNvCxnSpPr>
          <p:nvPr/>
        </p:nvCxnSpPr>
        <p:spPr>
          <a:xfrm>
            <a:off x="4045471" y="2139885"/>
            <a:ext cx="0" cy="534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5645620-4FD8-BAD2-694A-CC884FAF4AB2}"/>
              </a:ext>
            </a:extLst>
          </p:cNvPr>
          <p:cNvSpPr/>
          <p:nvPr/>
        </p:nvSpPr>
        <p:spPr>
          <a:xfrm>
            <a:off x="3877947" y="2692986"/>
            <a:ext cx="364111" cy="534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Content Placeholder 24">
            <a:extLst>
              <a:ext uri="{FF2B5EF4-FFF2-40B4-BE49-F238E27FC236}">
                <a16:creationId xmlns:a16="http://schemas.microsoft.com/office/drawing/2014/main" id="{8D7D1E24-5768-F8B8-8329-C0842927C92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5" r="89525" b="96707"/>
          <a:stretch>
            <a:fillRect/>
          </a:stretch>
        </p:blipFill>
        <p:spPr>
          <a:xfrm>
            <a:off x="6298511" y="2639364"/>
            <a:ext cx="5438405" cy="9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7093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37386-0D8C-4646-E970-73A935B7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43CAA9-0F9B-F905-B9DA-D24FF4124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</p:spTree>
    <p:extLst>
      <p:ext uri="{BB962C8B-B14F-4D97-AF65-F5344CB8AC3E}">
        <p14:creationId xmlns:p14="http://schemas.microsoft.com/office/powerpoint/2010/main" val="194279175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3389C-A617-C504-AE55-1468D7D73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22A067-03DF-2C1B-8C59-87F9DE5F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03E58-98B9-3985-D9CB-87E98C961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Run a simulation 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Run		Shortcut (CTRL+T)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Stop Time		Default Value is 10 sec</a:t>
            </a:r>
          </a:p>
        </p:txBody>
      </p:sp>
    </p:spTree>
    <p:extLst>
      <p:ext uri="{BB962C8B-B14F-4D97-AF65-F5344CB8AC3E}">
        <p14:creationId xmlns:p14="http://schemas.microsoft.com/office/powerpoint/2010/main" val="198604631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4BC4-A1DB-1B38-CAB4-BADC98C3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24514A-9B22-3091-29BC-822E2BF80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80208"/>
          <a:stretch>
            <a:fillRect/>
          </a:stretch>
        </p:blipFill>
        <p:spPr>
          <a:xfrm>
            <a:off x="1434022" y="2852309"/>
            <a:ext cx="9145277" cy="194578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0FE5B-6AB6-B891-1592-0E25D74303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Run or press CTRL+T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EFD8D9D-1BEE-B792-F7DE-C63E0140A1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7D32130-00E7-DC09-E4C0-A73EE327D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Simulation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02822A-F304-8B01-4947-FB746146F6D7}"/>
              </a:ext>
            </a:extLst>
          </p:cNvPr>
          <p:cNvSpPr/>
          <p:nvPr/>
        </p:nvSpPr>
        <p:spPr>
          <a:xfrm>
            <a:off x="7984502" y="3266639"/>
            <a:ext cx="499619" cy="871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5E592F-832E-94D7-00DC-9FC1467555A3}"/>
              </a:ext>
            </a:extLst>
          </p:cNvPr>
          <p:cNvCxnSpPr>
            <a:cxnSpLocks/>
          </p:cNvCxnSpPr>
          <p:nvPr/>
        </p:nvCxnSpPr>
        <p:spPr>
          <a:xfrm flipV="1">
            <a:off x="8238827" y="4138366"/>
            <a:ext cx="0" cy="867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1177E5B-6CDC-D0A8-41EB-D4F31B5849ED}"/>
              </a:ext>
            </a:extLst>
          </p:cNvPr>
          <p:cNvSpPr txBox="1"/>
          <p:nvPr/>
        </p:nvSpPr>
        <p:spPr>
          <a:xfrm>
            <a:off x="7432982" y="5005633"/>
            <a:ext cx="3426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2. Click Run or press CTRL+T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635C5E-80DC-C347-5731-89ED045577A3}"/>
              </a:ext>
            </a:extLst>
          </p:cNvPr>
          <p:cNvSpPr txBox="1"/>
          <p:nvPr/>
        </p:nvSpPr>
        <p:spPr>
          <a:xfrm>
            <a:off x="1434022" y="5005633"/>
            <a:ext cx="4449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Click Tab “SIMULATION”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FB9BA6-7410-C27E-D7FD-80A42610E7F6}"/>
              </a:ext>
            </a:extLst>
          </p:cNvPr>
          <p:cNvCxnSpPr>
            <a:cxnSpLocks/>
          </p:cNvCxnSpPr>
          <p:nvPr/>
        </p:nvCxnSpPr>
        <p:spPr>
          <a:xfrm flipV="1">
            <a:off x="2178963" y="3338659"/>
            <a:ext cx="0" cy="1745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62303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61615-0473-6AF2-6A66-0254DA519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7A326D-AF3E-2ABD-F88A-B055C80E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</p:spTree>
    <p:extLst>
      <p:ext uri="{BB962C8B-B14F-4D97-AF65-F5344CB8AC3E}">
        <p14:creationId xmlns:p14="http://schemas.microsoft.com/office/powerpoint/2010/main" val="30608125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ACF9B-7E7E-7CCE-4617-016B4525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0EB84-73BF-1E5D-89F5-1BE34CBB1E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66F613-CCB4-ABE2-D716-C7974F21A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A06BDD-F972-1020-18E1-375EC0A79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Data inspector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Graph 		Graph Data / Edit Grid / Use Cursors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Stop Time		Value is 15 sec</a:t>
            </a:r>
          </a:p>
        </p:txBody>
      </p:sp>
    </p:spTree>
    <p:extLst>
      <p:ext uri="{BB962C8B-B14F-4D97-AF65-F5344CB8AC3E}">
        <p14:creationId xmlns:p14="http://schemas.microsoft.com/office/powerpoint/2010/main" val="48241497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E810F-E35A-39FE-4074-C4CC52C1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017A1F-87D4-89CA-7FC8-5FCCBC3A6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80208"/>
          <a:stretch>
            <a:fillRect/>
          </a:stretch>
        </p:blipFill>
        <p:spPr>
          <a:xfrm>
            <a:off x="1434022" y="2852309"/>
            <a:ext cx="9145277" cy="194578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307700-CDCE-E85D-192E-5E8C6FA94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Data Inspector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673E1E-E566-D635-06E9-BDD8F7C66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BD56D86-68FA-DF61-75A3-4EF54C96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13332"/>
          </a:xfrm>
        </p:spPr>
        <p:txBody>
          <a:bodyPr/>
          <a:lstStyle/>
          <a:p>
            <a:r>
              <a:rPr lang="en-US" dirty="0"/>
              <a:t>Open Data Inspector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Simulation must be run prior to opening Data inspector to observe raw values.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9D1CD6-33BB-C72B-0C7A-49330314B7B0}"/>
              </a:ext>
            </a:extLst>
          </p:cNvPr>
          <p:cNvSpPr/>
          <p:nvPr/>
        </p:nvSpPr>
        <p:spPr>
          <a:xfrm>
            <a:off x="9643619" y="3266639"/>
            <a:ext cx="848413" cy="871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459727-E430-F99D-A90C-75937C39129C}"/>
              </a:ext>
            </a:extLst>
          </p:cNvPr>
          <p:cNvCxnSpPr>
            <a:cxnSpLocks/>
          </p:cNvCxnSpPr>
          <p:nvPr/>
        </p:nvCxnSpPr>
        <p:spPr>
          <a:xfrm flipV="1">
            <a:off x="10105333" y="4138366"/>
            <a:ext cx="0" cy="867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7F560EE-5B75-8140-AEAA-1B249351F639}"/>
              </a:ext>
            </a:extLst>
          </p:cNvPr>
          <p:cNvSpPr txBox="1"/>
          <p:nvPr/>
        </p:nvSpPr>
        <p:spPr>
          <a:xfrm>
            <a:off x="7432982" y="5005633"/>
            <a:ext cx="3426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2. Click Data Inspector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A66D39-FA0D-75D8-737A-7BFDB8F8C867}"/>
              </a:ext>
            </a:extLst>
          </p:cNvPr>
          <p:cNvSpPr txBox="1"/>
          <p:nvPr/>
        </p:nvSpPr>
        <p:spPr>
          <a:xfrm>
            <a:off x="1434022" y="5005633"/>
            <a:ext cx="4449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Click Tab “SIMULATION”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9EFA9C-CEF4-91C8-3688-6081ECD647BE}"/>
              </a:ext>
            </a:extLst>
          </p:cNvPr>
          <p:cNvCxnSpPr>
            <a:cxnSpLocks/>
          </p:cNvCxnSpPr>
          <p:nvPr/>
        </p:nvCxnSpPr>
        <p:spPr>
          <a:xfrm flipV="1">
            <a:off x="2178963" y="3338659"/>
            <a:ext cx="0" cy="1745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3089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211D-CFD6-75DF-F2C5-D9A7E2333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8A921C4-F40A-66DA-0EB5-035A470C4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AFA06D-91EF-F3A3-CBDD-0A1B7E0E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9787406-0385-3789-946E-22C82F936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Data Inspector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8878222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733B-6490-CC0E-F3B4-E1C8223E1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BD9AED-A0B9-412E-8941-7854AAD240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A05A9CF-EDDC-7AB2-0676-089111F65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Cursor</a:t>
            </a:r>
            <a:endParaRPr lang="en-US" sz="1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881158-47E0-B1EB-7C65-14A739B2B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37766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323FA09-5A4D-F5DB-DDA8-DF0724F2AD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Click Save / Save As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C94AA0-A811-7D26-A7B7-EE86C208C6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Click Save Icon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C959635-F12C-0753-7118-71D8222792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372B97B-3D8C-C99E-479F-17C20DB1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Data Inspector File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06DF845-60F0-440A-AF10-80C117A679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Save File</a:t>
            </a:r>
          </a:p>
        </p:txBody>
      </p:sp>
      <p:pic>
        <p:nvPicPr>
          <p:cNvPr id="28" name="Content Placeholder 16">
            <a:extLst>
              <a:ext uri="{FF2B5EF4-FFF2-40B4-BE49-F238E27FC236}">
                <a16:creationId xmlns:a16="http://schemas.microsoft.com/office/drawing/2014/main" id="{DD893973-2549-BBFF-8EF0-7D4CACFAEF9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81720" b="72255"/>
          <a:stretch>
            <a:fillRect/>
          </a:stretch>
        </p:blipFill>
        <p:spPr>
          <a:xfrm>
            <a:off x="4445675" y="2416603"/>
            <a:ext cx="3343513" cy="2727659"/>
          </a:xfrm>
          <a:prstGeom prst="rect">
            <a:avLst/>
          </a:prstGeom>
        </p:spPr>
      </p:pic>
      <p:pic>
        <p:nvPicPr>
          <p:cNvPr id="32" name="Content Placeholder 28">
            <a:extLst>
              <a:ext uri="{FF2B5EF4-FFF2-40B4-BE49-F238E27FC236}">
                <a16:creationId xmlns:a16="http://schemas.microsoft.com/office/drawing/2014/main" id="{51E0382E-4B32-08F2-C76C-FC34F47E9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89999" b="63176"/>
          <a:stretch>
            <a:fillRect/>
          </a:stretch>
        </p:blipFill>
        <p:spPr>
          <a:xfrm>
            <a:off x="1369000" y="2416603"/>
            <a:ext cx="1829238" cy="3620231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F7D6D3B-1311-BDAD-A20D-8889C4B2C4F7}"/>
              </a:ext>
            </a:extLst>
          </p:cNvPr>
          <p:cNvCxnSpPr>
            <a:cxnSpLocks/>
          </p:cNvCxnSpPr>
          <p:nvPr/>
        </p:nvCxnSpPr>
        <p:spPr>
          <a:xfrm>
            <a:off x="590595" y="4524866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3CC5FEE-E47A-16CC-ACE8-D247B5FC37B4}"/>
              </a:ext>
            </a:extLst>
          </p:cNvPr>
          <p:cNvCxnSpPr>
            <a:cxnSpLocks/>
          </p:cNvCxnSpPr>
          <p:nvPr/>
        </p:nvCxnSpPr>
        <p:spPr>
          <a:xfrm>
            <a:off x="3667270" y="4524866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0" name="Content Placeholder 36">
            <a:extLst>
              <a:ext uri="{FF2B5EF4-FFF2-40B4-BE49-F238E27FC236}">
                <a16:creationId xmlns:a16="http://schemas.microsoft.com/office/drawing/2014/main" id="{C1E61F67-C2C1-453B-4368-A61C3A7804B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r="67630"/>
          <a:stretch>
            <a:fillRect/>
          </a:stretch>
        </p:blipFill>
        <p:spPr>
          <a:xfrm>
            <a:off x="8696714" y="2043113"/>
            <a:ext cx="2509059" cy="4367212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9030FCC-14CA-80A5-2C92-B96C6A90BB18}"/>
              </a:ext>
            </a:extLst>
          </p:cNvPr>
          <p:cNvCxnSpPr>
            <a:cxnSpLocks/>
          </p:cNvCxnSpPr>
          <p:nvPr/>
        </p:nvCxnSpPr>
        <p:spPr>
          <a:xfrm>
            <a:off x="8419951" y="5299435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3" name="Content Placeholder 36">
            <a:extLst>
              <a:ext uri="{FF2B5EF4-FFF2-40B4-BE49-F238E27FC236}">
                <a16:creationId xmlns:a16="http://schemas.microsoft.com/office/drawing/2014/main" id="{BFE0DABE-B113-6326-B179-383888EF2C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167" r="11651"/>
          <a:stretch>
            <a:fillRect/>
          </a:stretch>
        </p:blipFill>
        <p:spPr>
          <a:xfrm>
            <a:off x="11163299" y="2043113"/>
            <a:ext cx="866775" cy="4367212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5D148F4-998C-0941-E82F-2F30A1D25761}"/>
              </a:ext>
            </a:extLst>
          </p:cNvPr>
          <p:cNvCxnSpPr>
            <a:cxnSpLocks/>
          </p:cNvCxnSpPr>
          <p:nvPr/>
        </p:nvCxnSpPr>
        <p:spPr>
          <a:xfrm>
            <a:off x="10384894" y="6175735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61043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5036-8039-0E98-32EC-937893C8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48D9542-37E8-803E-1BD9-2D546D9B869C}"/>
              </a:ext>
            </a:extLst>
          </p:cNvPr>
          <p:cNvSpPr/>
          <p:nvPr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</a:t>
            </a:r>
            <a:r>
              <a:rPr lang="es-AR" sz="24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</a:t>
            </a:r>
            <a:r>
              <a:rPr lang="es-AR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Quiz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89401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008710-C0EB-4FD2-A9EA-A8F1281D62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4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8" name="Add-in_Icon" descr="Icon for Microsoft Power BI.">
            <a:extLst>
              <a:ext uri="{FF2B5EF4-FFF2-40B4-BE49-F238E27FC236}">
                <a16:creationId xmlns:a16="http://schemas.microsoft.com/office/drawing/2014/main" id="{5D58D801-6773-16C9-A8D2-FFC7EBB3E7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448806" y="471750"/>
            <a:ext cx="291465" cy="291465"/>
          </a:xfrm>
          <a:prstGeom prst="rect">
            <a:avLst/>
          </a:prstGeom>
          <a:noFill/>
        </p:spPr>
      </p:pic>
      <p:sp>
        <p:nvSpPr>
          <p:cNvPr id="9" name="InstallationHelpContent">
            <a:extLst>
              <a:ext uri="{FF2B5EF4-FFF2-40B4-BE49-F238E27FC236}">
                <a16:creationId xmlns:a16="http://schemas.microsoft.com/office/drawing/2014/main" id="{7546BC82-82B0-1DA5-83A8-832E247AECA0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InstallationHelpHeader">
            <a:extLst>
              <a:ext uri="{FF2B5EF4-FFF2-40B4-BE49-F238E27FC236}">
                <a16:creationId xmlns:a16="http://schemas.microsoft.com/office/drawing/2014/main" id="{16E6AD5B-209B-8FCB-3F9E-7AB7B48E2B16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1" name="LaunchHelpImage" descr="Office ribbon open on the Home tab.">
            <a:extLst>
              <a:ext uri="{FF2B5EF4-FFF2-40B4-BE49-F238E27FC236}">
                <a16:creationId xmlns:a16="http://schemas.microsoft.com/office/drawing/2014/main" id="{6E6B97A0-7151-814C-B11C-2F769C4B650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12" name="MyAdd-ins">
            <a:extLst>
              <a:ext uri="{FF2B5EF4-FFF2-40B4-BE49-F238E27FC236}">
                <a16:creationId xmlns:a16="http://schemas.microsoft.com/office/drawing/2014/main" id="{E02A9CC5-71EF-ECF3-5B79-196434B384F0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abName">
            <a:extLst>
              <a:ext uri="{FF2B5EF4-FFF2-40B4-BE49-F238E27FC236}">
                <a16:creationId xmlns:a16="http://schemas.microsoft.com/office/drawing/2014/main" id="{20F738CC-6671-7BF5-89CF-590043DB1285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LaunchHelpContent2">
            <a:extLst>
              <a:ext uri="{FF2B5EF4-FFF2-40B4-BE49-F238E27FC236}">
                <a16:creationId xmlns:a16="http://schemas.microsoft.com/office/drawing/2014/main" id="{3D8CBDB8-9B83-3EA9-3404-247171A3877A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LaunchHelpContent1">
            <a:extLst>
              <a:ext uri="{FF2B5EF4-FFF2-40B4-BE49-F238E27FC236}">
                <a16:creationId xmlns:a16="http://schemas.microsoft.com/office/drawing/2014/main" id="{40F34F9B-9A7C-0B18-CF10-40A6EA5E951F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LaunchHelpHeader">
            <a:extLst>
              <a:ext uri="{FF2B5EF4-FFF2-40B4-BE49-F238E27FC236}">
                <a16:creationId xmlns:a16="http://schemas.microsoft.com/office/drawing/2014/main" id="{3B2EDEE1-3260-050C-41BB-338682ADDF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</p:spTree>
    <p:extLst>
      <p:ext uri="{BB962C8B-B14F-4D97-AF65-F5344CB8AC3E}">
        <p14:creationId xmlns:p14="http://schemas.microsoft.com/office/powerpoint/2010/main" val="124243603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127B0-FC76-9619-3B40-9CDC0B72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Only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9C65C-2639-7A58-9087-D07C49590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Quiz – Summary Page</a:t>
            </a:r>
            <a:r>
              <a:rPr lang="en-US" dirty="0"/>
              <a:t> (METRICS for Mike and Brandon)</a:t>
            </a:r>
          </a:p>
          <a:p>
            <a:r>
              <a:rPr lang="en-US" dirty="0">
                <a:hlinkClick r:id="rId3"/>
              </a:rPr>
              <a:t>Quiz – Responses Overview</a:t>
            </a:r>
            <a:endParaRPr lang="en-US" dirty="0"/>
          </a:p>
          <a:p>
            <a:r>
              <a:rPr lang="en-US" dirty="0">
                <a:hlinkClick r:id="rId4"/>
              </a:rPr>
              <a:t>Quiz – Excel Log</a:t>
            </a:r>
            <a:r>
              <a:rPr lang="en-US" dirty="0"/>
              <a:t> </a:t>
            </a:r>
          </a:p>
          <a:p>
            <a:endParaRPr lang="en-US" dirty="0">
              <a:hlinkClick r:id="rId5"/>
            </a:endParaRPr>
          </a:p>
          <a:p>
            <a:r>
              <a:rPr lang="en-US" dirty="0">
                <a:hlinkClick r:id="rId5"/>
              </a:rPr>
              <a:t>My files – OneDrive</a:t>
            </a:r>
            <a:r>
              <a:rPr lang="en-US" dirty="0"/>
              <a:t> (Where Excel Log is stored)</a:t>
            </a:r>
          </a:p>
          <a:p>
            <a:endParaRPr lang="en-US" dirty="0">
              <a:hlinkClick r:id="rId6"/>
            </a:endParaRPr>
          </a:p>
          <a:p>
            <a:r>
              <a:rPr lang="en-US" dirty="0">
                <a:hlinkClick r:id="rId6"/>
              </a:rPr>
              <a:t>Power BI – Workspace</a:t>
            </a:r>
            <a:endParaRPr lang="en-US" dirty="0"/>
          </a:p>
          <a:p>
            <a:r>
              <a:rPr lang="en-US" dirty="0">
                <a:hlinkClick r:id="rId7"/>
              </a:rPr>
              <a:t>Power BI – Results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8CC46-32C2-B2A7-07C7-0E38FAB7F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Only the Admin uses these links</a:t>
            </a:r>
          </a:p>
        </p:txBody>
      </p:sp>
    </p:spTree>
    <p:extLst>
      <p:ext uri="{BB962C8B-B14F-4D97-AF65-F5344CB8AC3E}">
        <p14:creationId xmlns:p14="http://schemas.microsoft.com/office/powerpoint/2010/main" val="396209242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149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ExdrrT4J0C1fnz5aAV6X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uB4lW1kl025PsSgEWBrJ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3kfiwG_mkuGI2Bt.8obm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2_Office Theme">
  <a:themeElements>
    <a:clrScheme name="Custom 9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32741"/>
      </a:accent1>
      <a:accent2>
        <a:srgbClr val="003B5D"/>
      </a:accent2>
      <a:accent3>
        <a:srgbClr val="7487A7"/>
      </a:accent3>
      <a:accent4>
        <a:srgbClr val="0254A1"/>
      </a:accent4>
      <a:accent5>
        <a:srgbClr val="007FC1"/>
      </a:accent5>
      <a:accent6>
        <a:srgbClr val="F36C38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0BF5D2CCC9BE4EBBD35A8004C48EA3" ma:contentTypeVersion="9" ma:contentTypeDescription="Create a new document." ma:contentTypeScope="" ma:versionID="9eada2b7c4bdaa665e90d0121b8e42d2">
  <xsd:schema xmlns:xsd="http://www.w3.org/2001/XMLSchema" xmlns:xs="http://www.w3.org/2001/XMLSchema" xmlns:p="http://schemas.microsoft.com/office/2006/metadata/properties" xmlns:ns2="2d6c60d3-f5d7-4053-bda5-60231931954e" xmlns:ns3="0873cd69-40f1-433c-bf93-e1d73619fdb5" targetNamespace="http://schemas.microsoft.com/office/2006/metadata/properties" ma:root="true" ma:fieldsID="993ddfcb2f17b45b1238621a2ab33d08" ns2:_="" ns3:_="">
    <xsd:import namespace="2d6c60d3-f5d7-4053-bda5-60231931954e"/>
    <xsd:import namespace="0873cd69-40f1-433c-bf93-e1d73619fd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c60d3-f5d7-4053-bda5-6023193195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73cd69-40f1-433c-bf93-e1d73619fdb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titus xmlns="http://schemas.titus.com/TitusProperties/">
  <TitusGUID xmlns="">ca970234-e768-44e0-9a43-073095044c65</TitusGUID>
  <TitusMetadata xmlns="">eyJucyI6Imh0dHA6XC9cL3d3dy50aXR1cy5jb21cL25zXC9OQVJBQ1VJIiwicHJvcHMiOlt7Im4iOiJEZXNpZ25hdGlvbiIsInZhbHMiOlt7InZhbHVlIjoiTlRETkNVSSJ9XX1dfQ==</TitusMetadata>
</titus>
</file>

<file path=customXml/itemProps1.xml><?xml version="1.0" encoding="utf-8"?>
<ds:datastoreItem xmlns:ds="http://schemas.openxmlformats.org/officeDocument/2006/customXml" ds:itemID="{4B2EC94B-890F-4F06-B798-4B4DED8D1AEE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0873cd69-40f1-433c-bf93-e1d73619fdb5"/>
    <ds:schemaRef ds:uri="2d6c60d3-f5d7-4053-bda5-60231931954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EE2F036-3CB6-498C-987A-D68D448BB1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FACC39-F032-45A3-9C45-73967BBFF6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6c60d3-f5d7-4053-bda5-60231931954e"/>
    <ds:schemaRef ds:uri="0873cd69-40f1-433c-bf93-e1d73619fd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51506775-A450-4DA8-B0A8-D0F0CE449F59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132362</TotalTime>
  <Words>3885</Words>
  <Application>Microsoft Office PowerPoint</Application>
  <PresentationFormat>Widescreen</PresentationFormat>
  <Paragraphs>656</Paragraphs>
  <Slides>102</Slides>
  <Notes>3</Notes>
  <HiddenSlides>3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16" baseType="lpstr">
      <vt:lpstr>.AppleSystemUIFont</vt:lpstr>
      <vt:lpstr>Aptos</vt:lpstr>
      <vt:lpstr>Arial</vt:lpstr>
      <vt:lpstr>Arial Black</vt:lpstr>
      <vt:lpstr>Barlow ExtraBold</vt:lpstr>
      <vt:lpstr>Calibri</vt:lpstr>
      <vt:lpstr>Microsoft Sans Serif</vt:lpstr>
      <vt:lpstr>Segoe UI</vt:lpstr>
      <vt:lpstr>Segoe UI Light</vt:lpstr>
      <vt:lpstr>Segoe UI Semibold</vt:lpstr>
      <vt:lpstr>Times New Roman</vt:lpstr>
      <vt:lpstr>Wingdings</vt:lpstr>
      <vt:lpstr>2_Office Theme</vt:lpstr>
      <vt:lpstr>think-cell Slide</vt:lpstr>
      <vt:lpstr>Chapter 1 The Basics</vt:lpstr>
      <vt:lpstr>What is MATLAB and Simulink? MATLAB and Simulink provide a unified environment for model-based development, simulation, and verification of complex engineering systems.</vt:lpstr>
      <vt:lpstr>What are some useful commands for MATLAB and Simulink?</vt:lpstr>
      <vt:lpstr>Success looks like knowing how to …</vt:lpstr>
      <vt:lpstr>polynomial_System.slx (Model Settings) Note: How you Models Settings should be setup.</vt:lpstr>
      <vt:lpstr>polynomial_System.slx (Model File) Note: How your Model Should look when Finished</vt:lpstr>
      <vt:lpstr>polynomial_System.sldd (Data Dictionary)  Note: Contains Signals &amp; Parameters</vt:lpstr>
      <vt:lpstr>How to Download the Git Repo</vt:lpstr>
      <vt:lpstr>Git Hub Training Repo</vt:lpstr>
      <vt:lpstr>How to Open MATLAB &amp; SIMULINK</vt:lpstr>
      <vt:lpstr>Open MATLAB</vt:lpstr>
      <vt:lpstr>Review the MATLAB Window Layout</vt:lpstr>
      <vt:lpstr>Navigate to training folder (Summary)</vt:lpstr>
      <vt:lpstr>How to Add To Project</vt:lpstr>
      <vt:lpstr>Add “ch02” Folder and Sub Folders to Project</vt:lpstr>
      <vt:lpstr>Create New Folder “01_polynomial_System”</vt:lpstr>
      <vt:lpstr>Add “01_polynomial_System” Folder and Sub Folders to Project</vt:lpstr>
      <vt:lpstr>Navigate to training folder “01_polynomial_System”</vt:lpstr>
      <vt:lpstr>How to Create a new Simulink Model</vt:lpstr>
      <vt:lpstr>Detailed Success in this section looks like knowing how to …</vt:lpstr>
      <vt:lpstr>Navigate to training folder &amp; create Simulink Model</vt:lpstr>
      <vt:lpstr>Navigate to training folder &amp; create Simulink Model</vt:lpstr>
      <vt:lpstr>Rename Simulink File</vt:lpstr>
      <vt:lpstr>Observe File has been Renamed</vt:lpstr>
      <vt:lpstr>How to Use blocks</vt:lpstr>
      <vt:lpstr>Detailed Success in this section looks like knowing how to …</vt:lpstr>
      <vt:lpstr>Add Annotation</vt:lpstr>
      <vt:lpstr>Add Clock</vt:lpstr>
      <vt:lpstr>Added Clock</vt:lpstr>
      <vt:lpstr>Add Square</vt:lpstr>
      <vt:lpstr>Added Square</vt:lpstr>
      <vt:lpstr>Add 1st Gain Block</vt:lpstr>
      <vt:lpstr>Added 1st Gain Block</vt:lpstr>
      <vt:lpstr>Add 2nd Gain Block</vt:lpstr>
      <vt:lpstr>Added 2nd Gain Block</vt:lpstr>
      <vt:lpstr>Add Constant Block</vt:lpstr>
      <vt:lpstr>Added Constant Block</vt:lpstr>
      <vt:lpstr>Add Sum Block</vt:lpstr>
      <vt:lpstr>Added Constant Block</vt:lpstr>
      <vt:lpstr>Add Data Type Conversion Block</vt:lpstr>
      <vt:lpstr>Added Data Type Conversion Block</vt:lpstr>
      <vt:lpstr>Add Outport Block</vt:lpstr>
      <vt:lpstr>Added Outport Block</vt:lpstr>
      <vt:lpstr>Add Signal Lines</vt:lpstr>
      <vt:lpstr>Align Blocks</vt:lpstr>
      <vt:lpstr>Show Property Inspector (Method 1) Note: This is my preferred method </vt:lpstr>
      <vt:lpstr>Show Property Inspector (Method 2) Note: This method will force property Inspector to activate</vt:lpstr>
      <vt:lpstr>Update Signal: t</vt:lpstr>
      <vt:lpstr>Update Signal: t_squared</vt:lpstr>
      <vt:lpstr>Update Parameter: COEFF_A</vt:lpstr>
      <vt:lpstr>Format Blocks to Same Size Note: The last block you select is used as the formatting reference. All other selected blocks will be formatted to match it.</vt:lpstr>
      <vt:lpstr>Format Blocks to Same Size Note: The last block you select is used as the formatting reference. All other selected blocks will be formatted to match it.</vt:lpstr>
      <vt:lpstr>Update Parameters: COEFF_B &amp; COEFF_C</vt:lpstr>
      <vt:lpstr>Update Signal: coeffA_t_squared</vt:lpstr>
      <vt:lpstr>Update Signal: neg_4t</vt:lpstr>
      <vt:lpstr>Update Signal: const_21</vt:lpstr>
      <vt:lpstr>Update Signal: y_raw</vt:lpstr>
      <vt:lpstr>Update Signal: y</vt:lpstr>
      <vt:lpstr>Save Model File</vt:lpstr>
      <vt:lpstr>How to Use Model Configuration</vt:lpstr>
      <vt:lpstr>Detailed Success in this section looks like knowing how to …</vt:lpstr>
      <vt:lpstr>Update Model Configurations (Part 1)</vt:lpstr>
      <vt:lpstr>Update Model Configurations (Part 2)</vt:lpstr>
      <vt:lpstr>Save Model File</vt:lpstr>
      <vt:lpstr>How to Use Model Explorer</vt:lpstr>
      <vt:lpstr>polynomial_System.sldd (Data Dictionary) This is the end result we are going for. Note: Contains Signals &amp; Parameters</vt:lpstr>
      <vt:lpstr>Detailed Success in this section looks like knowing how to …</vt:lpstr>
      <vt:lpstr>Open Model Explorer</vt:lpstr>
      <vt:lpstr>Create Data Dictionary File (.sldd)</vt:lpstr>
      <vt:lpstr>Create Data Dictionary File (.sldd)</vt:lpstr>
      <vt:lpstr>Open Design Data</vt:lpstr>
      <vt:lpstr>Add Simulink Signal Note: Just Create the blank signal for now</vt:lpstr>
      <vt:lpstr>Add Simulink Parameter Note: Just Create the blank parameter for now</vt:lpstr>
      <vt:lpstr>Rename Signals and Parameters</vt:lpstr>
      <vt:lpstr>Mass Update Data Type Note: Mandatory</vt:lpstr>
      <vt:lpstr>Mass Update Dimensions Note: Optional</vt:lpstr>
      <vt:lpstr>Mass Update Storage Class Note: Optional</vt:lpstr>
      <vt:lpstr>Observe Data Dictionary After Mass Update</vt:lpstr>
      <vt:lpstr>Update Signal: y_raw</vt:lpstr>
      <vt:lpstr>Update Signal: y</vt:lpstr>
      <vt:lpstr>Update Signal: t_squared</vt:lpstr>
      <vt:lpstr>Update Signal: t</vt:lpstr>
      <vt:lpstr>Update Signal: neg_4t</vt:lpstr>
      <vt:lpstr>Update Signal: coeffA_t_squared</vt:lpstr>
      <vt:lpstr>Update Parameter: COEFF_C</vt:lpstr>
      <vt:lpstr>Update Parameter: COEFF_B</vt:lpstr>
      <vt:lpstr>Update Parameter: COEFF_A</vt:lpstr>
      <vt:lpstr>Save Changes made to Data Dictionary (.sldd) Note: Changes made to the data dictionary must be saved from Model Explorer. Otherwise, the changes will not be applied and may be lost. Note: Pressing Ctrl+S in Model Explorer does not save data dictionary changes. Instead, it may create a new signal or have a different action than expected. To save dictionary changes, right-click the data dictionary and select Save Changes. Yes, this behavior surprises everyone at least once. </vt:lpstr>
      <vt:lpstr>Save Model File</vt:lpstr>
      <vt:lpstr>How to Run a simulation</vt:lpstr>
      <vt:lpstr>Detailed Success in this section looks like knowing how to …</vt:lpstr>
      <vt:lpstr>Run Simulation</vt:lpstr>
      <vt:lpstr>How to Use Data inspector</vt:lpstr>
      <vt:lpstr>Detailed Success in this section looks like knowing how to …</vt:lpstr>
      <vt:lpstr>Open Data Inspector Note: Simulation must be run prior to opening Data inspector to observe raw values.</vt:lpstr>
      <vt:lpstr>Setup Data Inspector</vt:lpstr>
      <vt:lpstr>Add Cursor</vt:lpstr>
      <vt:lpstr>Save Data Inspector File</vt:lpstr>
      <vt:lpstr>PowerPoint Presentation</vt:lpstr>
      <vt:lpstr>Relaunch the add-in</vt:lpstr>
      <vt:lpstr>Admin Only Links</vt:lpstr>
      <vt:lpstr>PowerPoint Presentation</vt:lpstr>
    </vt:vector>
  </TitlesOfParts>
  <Company>Belcan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Aircraft Capabilities for Spirit Aerosystems Defense Group 1-15-21</dc:title>
  <dc:creator>Juraco, Devra D.</dc:creator>
  <cp:keywords/>
  <dc:description>Structural Analysis Capabilities</dc:description>
  <cp:lastModifiedBy>Tyler, Nathaniel</cp:lastModifiedBy>
  <cp:revision>2415</cp:revision>
  <cp:lastPrinted>2026-03-04T20:38:48Z</cp:lastPrinted>
  <dcterms:created xsi:type="dcterms:W3CDTF">2017-05-22T13:23:52Z</dcterms:created>
  <dcterms:modified xsi:type="dcterms:W3CDTF">2026-09-15T19:01:12Z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0x010100280BF5D2CCC9BE4EBBD35A8004C48EA3</vt:lpwstr>
  </property>
  <property fmtid="{D5CDD505-2E9C-101B-9397-08002B2CF9AE}" pid="3" name="docIndexRef">
    <vt:lpwstr>35f620e0-3dd2-4867-83d5-d9af9c72e9e3</vt:lpwstr>
  </property>
  <property fmtid="{D5CDD505-2E9C-101B-9397-08002B2CF9AE}" pid="4" name="bjDocumentSecurityLabel">
    <vt:lpwstr>No Marking</vt:lpwstr>
  </property>
  <property fmtid="{D5CDD505-2E9C-101B-9397-08002B2CF9AE}" pid="5" name="bjSaver">
    <vt:lpwstr>iVCgZez7e+NedMZW8m0dhRZDBR035PuE</vt:lpwstr>
  </property>
  <property fmtid="{D5CDD505-2E9C-101B-9397-08002B2CF9AE}" pid="6" name="Presentation">
    <vt:lpwstr>Aircraft Capabilities for Spirit Aerosystems Defense Group 1-15-21</vt:lpwstr>
  </property>
  <property fmtid="{D5CDD505-2E9C-101B-9397-08002B2CF9AE}" pid="7" name="SlideDescription">
    <vt:lpwstr>Structural Analysis Capabilities</vt:lpwstr>
  </property>
  <property fmtid="{D5CDD505-2E9C-101B-9397-08002B2CF9AE}" pid="8" name="bjClsUserRVM">
    <vt:lpwstr>[]</vt:lpwstr>
  </property>
  <property fmtid="{D5CDD505-2E9C-101B-9397-08002B2CF9AE}" pid="9" name="bjLabelHistoryID">
    <vt:lpwstr>{46014CD1-4077-46EA-8F24-7482198939F9}</vt:lpwstr>
  </property>
  <property fmtid="{D5CDD505-2E9C-101B-9397-08002B2CF9AE}" pid="10" name="TitusGUID">
    <vt:lpwstr>ca970234-e768-44e0-9a43-073095044c65</vt:lpwstr>
  </property>
  <property fmtid="{D5CDD505-2E9C-101B-9397-08002B2CF9AE}" pid="11" name="TitusDesignation">
    <vt:lpwstr>NTDNCUI</vt:lpwstr>
  </property>
</Properties>
</file>