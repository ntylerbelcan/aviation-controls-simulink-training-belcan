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07"/>
  </p:notesMasterIdLst>
  <p:handoutMasterIdLst>
    <p:handoutMasterId r:id="rId108"/>
  </p:handoutMasterIdLst>
  <p:sldIdLst>
    <p:sldId id="256" r:id="rId6"/>
    <p:sldId id="3715" r:id="rId7"/>
    <p:sldId id="3895" r:id="rId8"/>
    <p:sldId id="3815" r:id="rId9"/>
    <p:sldId id="3897" r:id="rId10"/>
    <p:sldId id="3717" r:id="rId11"/>
    <p:sldId id="3898" r:id="rId12"/>
    <p:sldId id="3811" r:id="rId13"/>
    <p:sldId id="3810" r:id="rId14"/>
    <p:sldId id="3633" r:id="rId15"/>
    <p:sldId id="3718" r:id="rId16"/>
    <p:sldId id="3719" r:id="rId17"/>
    <p:sldId id="3822" r:id="rId18"/>
    <p:sldId id="3823" r:id="rId19"/>
    <p:sldId id="3820" r:id="rId20"/>
    <p:sldId id="3816" r:id="rId21"/>
    <p:sldId id="3819" r:id="rId22"/>
    <p:sldId id="3821" r:id="rId23"/>
    <p:sldId id="3634" r:id="rId24"/>
    <p:sldId id="3721" r:id="rId25"/>
    <p:sldId id="3722" r:id="rId26"/>
    <p:sldId id="3813" r:id="rId27"/>
    <p:sldId id="3812" r:id="rId28"/>
    <p:sldId id="3724" r:id="rId29"/>
    <p:sldId id="3635" r:id="rId30"/>
    <p:sldId id="3725" r:id="rId31"/>
    <p:sldId id="3730" r:id="rId32"/>
    <p:sldId id="3824" r:id="rId33"/>
    <p:sldId id="3827" r:id="rId34"/>
    <p:sldId id="3825" r:id="rId35"/>
    <p:sldId id="3828" r:id="rId36"/>
    <p:sldId id="3826" r:id="rId37"/>
    <p:sldId id="3829" r:id="rId38"/>
    <p:sldId id="3831" r:id="rId39"/>
    <p:sldId id="3830" r:id="rId40"/>
    <p:sldId id="3832" r:id="rId41"/>
    <p:sldId id="3833" r:id="rId42"/>
    <p:sldId id="3834" r:id="rId43"/>
    <p:sldId id="3835" r:id="rId44"/>
    <p:sldId id="3838" r:id="rId45"/>
    <p:sldId id="3837" r:id="rId46"/>
    <p:sldId id="3839" r:id="rId47"/>
    <p:sldId id="3840" r:id="rId48"/>
    <p:sldId id="3841" r:id="rId49"/>
    <p:sldId id="3842" r:id="rId50"/>
    <p:sldId id="3862" r:id="rId51"/>
    <p:sldId id="3861" r:id="rId52"/>
    <p:sldId id="3843" r:id="rId53"/>
    <p:sldId id="3844" r:id="rId54"/>
    <p:sldId id="3845" r:id="rId55"/>
    <p:sldId id="3846" r:id="rId56"/>
    <p:sldId id="3847" r:id="rId57"/>
    <p:sldId id="3848" r:id="rId58"/>
    <p:sldId id="3849" r:id="rId59"/>
    <p:sldId id="3850" r:id="rId60"/>
    <p:sldId id="3851" r:id="rId61"/>
    <p:sldId id="3853" r:id="rId62"/>
    <p:sldId id="3854" r:id="rId63"/>
    <p:sldId id="3855" r:id="rId64"/>
    <p:sldId id="3859" r:id="rId65"/>
    <p:sldId id="3860" r:id="rId66"/>
    <p:sldId id="3856" r:id="rId67"/>
    <p:sldId id="3857" r:id="rId68"/>
    <p:sldId id="3858" r:id="rId69"/>
    <p:sldId id="3638" r:id="rId70"/>
    <p:sldId id="3761" r:id="rId71"/>
    <p:sldId id="3762" r:id="rId72"/>
    <p:sldId id="3765" r:id="rId73"/>
    <p:sldId id="3766" r:id="rId74"/>
    <p:sldId id="3769" r:id="rId75"/>
    <p:sldId id="3770" r:id="rId76"/>
    <p:sldId id="3863" r:id="rId77"/>
    <p:sldId id="3864" r:id="rId78"/>
    <p:sldId id="3866" r:id="rId79"/>
    <p:sldId id="3869" r:id="rId80"/>
    <p:sldId id="3870" r:id="rId81"/>
    <p:sldId id="3871" r:id="rId82"/>
    <p:sldId id="3874" r:id="rId83"/>
    <p:sldId id="3875" r:id="rId84"/>
    <p:sldId id="3878" r:id="rId85"/>
    <p:sldId id="3879" r:id="rId86"/>
    <p:sldId id="3880" r:id="rId87"/>
    <p:sldId id="3881" r:id="rId88"/>
    <p:sldId id="3884" r:id="rId89"/>
    <p:sldId id="3885" r:id="rId90"/>
    <p:sldId id="3886" r:id="rId91"/>
    <p:sldId id="3776" r:id="rId92"/>
    <p:sldId id="3887" r:id="rId93"/>
    <p:sldId id="3636" r:id="rId94"/>
    <p:sldId id="3747" r:id="rId95"/>
    <p:sldId id="3889" r:id="rId96"/>
    <p:sldId id="3637" r:id="rId97"/>
    <p:sldId id="3749" r:id="rId98"/>
    <p:sldId id="3890" r:id="rId99"/>
    <p:sldId id="3891" r:id="rId100"/>
    <p:sldId id="3892" r:id="rId101"/>
    <p:sldId id="3893" r:id="rId102"/>
    <p:sldId id="3782" r:id="rId103"/>
    <p:sldId id="3784" r:id="rId104"/>
    <p:sldId id="3783" r:id="rId105"/>
    <p:sldId id="3786" r:id="rId10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895"/>
            <p14:sldId id="3815"/>
            <p14:sldId id="3897"/>
            <p14:sldId id="3717"/>
            <p14:sldId id="3898"/>
            <p14:sldId id="3811"/>
            <p14:sldId id="3810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tableStyles" Target="tableStyles.xml"/><Relationship Id="rId16" Type="http://schemas.openxmlformats.org/officeDocument/2006/relationships/slide" Target="slides/slide11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presProps" Target="presProps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viewProps" Target="viewProps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14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2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4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8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2.png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4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my" TargetMode="External"/><Relationship Id="rId4" Type="http://schemas.openxmlformats.org/officeDocument/2006/relationships/hyperlink" Target="https://belcan-my.sharepoint.com/:x:/p/ntyler/IQBg4lD_UyvoTpW5xKfSe80FAR8pyhHU71zzSYuVRr4jL5I?e=p9fSjy" TargetMode="Externa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/>
              <a:t>Converting an Equation into a Simulink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15479" y="1025157"/>
                <a:ext cx="6992331" cy="5535899"/>
              </a:xfrm>
            </p:spPr>
            <p:txBody>
              <a:bodyPr/>
              <a:lstStyle/>
              <a:p>
                <a:pPr>
                  <a:buNone/>
                </a:pPr>
                <a:r>
                  <a:rPr lang="en-US" sz="1600" b="0" u="sng" dirty="0">
                    <a:latin typeface="+mj-lt"/>
                  </a:rPr>
                  <a:t>Original Equation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y = t^2 - 4t + 21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+mj-lt"/>
                      </a:rPr>
                      <m:t>𝑦</m:t>
                    </m:r>
                    <m:r>
                      <a:rPr lang="en-US" sz="1600" b="0" i="1" dirty="0" smtClean="0">
                        <a:latin typeface="+mj-lt"/>
                      </a:rPr>
                      <m:t> = 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>
                            <a:latin typeface="+mj-lt"/>
                          </a:rPr>
                          <m:t>_</m:t>
                        </m:r>
                        <m:r>
                          <a:rPr lang="en-US" sz="1600" b="0" i="1" dirty="0">
                            <a:latin typeface="+mj-lt"/>
                          </a:rPr>
                          <m:t>𝐴</m:t>
                        </m:r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 smtClean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 </m:t>
                    </m:r>
                    <m:r>
                      <a:rPr lang="en-US" sz="16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>
                            <a:latin typeface="+mj-lt"/>
                          </a:rPr>
                          <m:t>_</m:t>
                        </m:r>
                        <m:r>
                          <a:rPr lang="en-US" sz="1600" b="0" i="1" dirty="0">
                            <a:latin typeface="+mj-lt"/>
                          </a:rPr>
                          <m:t>𝐵</m:t>
                        </m:r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 smtClean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600" b="0" i="1" dirty="0" smtClean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6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600" b="0" i="1" dirty="0" smtClean="0">
                            <a:latin typeface="+mj-lt"/>
                          </a:rPr>
                          <m:t>𝐶𝑂𝐸𝐹𝐹</m:t>
                        </m:r>
                        <m:r>
                          <a:rPr lang="en-US" sz="1600" b="0" i="1" dirty="0" smtClean="0">
                            <a:latin typeface="+mj-lt"/>
                          </a:rPr>
                          <m:t>_</m:t>
                        </m:r>
                        <m:r>
                          <a:rPr lang="en-US" sz="1600" b="0" i="1" dirty="0" smtClean="0">
                            <a:latin typeface="+mj-lt"/>
                          </a:rPr>
                          <m:t>𝐶</m:t>
                        </m:r>
                      </m:e>
                    </m:d>
                    <m:r>
                      <a:rPr lang="en-US" sz="1600" b="0" i="1" dirty="0">
                        <a:latin typeface="+mj-lt"/>
                      </a:rPr>
                      <m:t> ∗</m:t>
                    </m:r>
                    <m:d>
                      <m:dPr>
                        <m:ctrlPr>
                          <a:rPr lang="en-US" sz="16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6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6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600" b="0" i="1" dirty="0">
                        <a:latin typeface="+mj-lt"/>
                      </a:rPr>
                      <m:t> </m:t>
                    </m:r>
                  </m:oMath>
                </a14:m>
                <a:r>
                  <a:rPr lang="en-US" sz="1600" b="0" dirty="0">
                    <a:latin typeface="+mj-lt"/>
                  </a:rPr>
                  <a:t> 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COEFF_A = 1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COEFF_B = -4</a:t>
                </a: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COEFF_C = 21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u="sng" dirty="0">
                    <a:latin typeface="+mj-lt"/>
                  </a:rPr>
                  <a:t>Model Construction Logic: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1: Calculate t²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2: Calculate -4t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3: Apply Constant Term (21)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4: Sum All Terms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r>
                  <a:rPr lang="en-US" sz="1600" b="0" dirty="0">
                    <a:latin typeface="+mj-lt"/>
                  </a:rPr>
                  <a:t>Step 5: Output y</a:t>
                </a:r>
                <a:br>
                  <a:rPr lang="en-US" sz="1600" b="0" dirty="0">
                    <a:latin typeface="+mj-lt"/>
                  </a:rPr>
                </a:br>
                <a:br>
                  <a:rPr lang="en-US" sz="1600" b="0" dirty="0">
                    <a:latin typeface="+mj-lt"/>
                  </a:rPr>
                </a:br>
                <a:endParaRPr lang="en-US" sz="16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5479" y="1025157"/>
                <a:ext cx="6992331" cy="5535899"/>
              </a:xfrm>
              <a:blipFill>
                <a:blip r:embed="rId3"/>
                <a:stretch>
                  <a:fillRect l="-1831" t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95185-60E3-60E5-534D-B4A8C998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5EB541-9D77-7D61-2920-21EA69EED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</p:spTree>
    <p:extLst>
      <p:ext uri="{BB962C8B-B14F-4D97-AF65-F5344CB8AC3E}">
        <p14:creationId xmlns:p14="http://schemas.microsoft.com/office/powerpoint/2010/main" val="3762716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“01_polynomial_System”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6" name="Content Placeholder 16">
            <a:extLst>
              <a:ext uri="{FF2B5EF4-FFF2-40B4-BE49-F238E27FC236}">
                <a16:creationId xmlns:a16="http://schemas.microsoft.com/office/drawing/2014/main" id="{EC370DD4-0BB2-5E68-0C67-A2AFD8F3EDE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6387" b="58535"/>
          <a:stretch>
            <a:fillRect/>
          </a:stretch>
        </p:blipFill>
        <p:spPr>
          <a:xfrm>
            <a:off x="7682865" y="2759075"/>
            <a:ext cx="223007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“01_polynomial_System”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C1B4144-CCE2-3321-FB9B-58A60B75D9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396" b="74706"/>
          <a:stretch>
            <a:fillRect/>
          </a:stretch>
        </p:blipFill>
        <p:spPr>
          <a:xfrm>
            <a:off x="9100685" y="2723774"/>
            <a:ext cx="1693011" cy="1826306"/>
          </a:xfrm>
          <a:prstGeom prst="rect">
            <a:avLst/>
          </a:prstGeom>
        </p:spPr>
      </p:pic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01_polynomial_System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“01_polynomial_System”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431E3DC2-4123-8628-16B5-8B6D34339713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r="81057" b="60762"/>
          <a:stretch>
            <a:fillRect/>
          </a:stretch>
        </p:blipFill>
        <p:spPr>
          <a:xfrm>
            <a:off x="8218854" y="2256798"/>
            <a:ext cx="3464779" cy="3857555"/>
          </a:xfrm>
          <a:prstGeom prst="rect">
            <a:avLst/>
          </a:prstGeom>
        </p:spPr>
      </p:pic>
      <p:pic>
        <p:nvPicPr>
          <p:cNvPr id="43" name="Content Placeholder 18">
            <a:extLst>
              <a:ext uri="{FF2B5EF4-FFF2-40B4-BE49-F238E27FC236}">
                <a16:creationId xmlns:a16="http://schemas.microsoft.com/office/drawing/2014/main" id="{5ECB70FC-2C59-D8A0-F0E5-4ED42FAB510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8706" b="40583"/>
          <a:stretch>
            <a:fillRect/>
          </a:stretch>
        </p:blipFill>
        <p:spPr>
          <a:xfrm>
            <a:off x="4229100" y="2256798"/>
            <a:ext cx="3776663" cy="3854217"/>
          </a:xfrm>
          <a:prstGeom prst="rect">
            <a:avLst/>
          </a:prstGeom>
        </p:spPr>
      </p:pic>
      <p:pic>
        <p:nvPicPr>
          <p:cNvPr id="46" name="Content Placeholder 8">
            <a:extLst>
              <a:ext uri="{FF2B5EF4-FFF2-40B4-BE49-F238E27FC236}">
                <a16:creationId xmlns:a16="http://schemas.microsoft.com/office/drawing/2014/main" id="{CF1840E2-CE98-1A4A-3242-71FD7E245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r="84507" b="59925"/>
          <a:stretch>
            <a:fillRect/>
          </a:stretch>
        </p:blipFill>
        <p:spPr>
          <a:xfrm>
            <a:off x="866741" y="2256798"/>
            <a:ext cx="2833755" cy="3939842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“01_polynomial_System”</a:t>
            </a:r>
          </a:p>
        </p:txBody>
      </p:sp>
      <p:pic>
        <p:nvPicPr>
          <p:cNvPr id="20" name="Content Placeholder 16">
            <a:extLst>
              <a:ext uri="{FF2B5EF4-FFF2-40B4-BE49-F238E27FC236}">
                <a16:creationId xmlns:a16="http://schemas.microsoft.com/office/drawing/2014/main" id="{92FC4D27-9B13-39DB-EE1F-8533732FB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3396" b="58535"/>
          <a:stretch>
            <a:fillRect/>
          </a:stretch>
        </p:blipFill>
        <p:spPr>
          <a:xfrm>
            <a:off x="1689062" y="2188471"/>
            <a:ext cx="3036963" cy="4076495"/>
          </a:xfrm>
          <a:prstGeom prst="rect">
            <a:avLst/>
          </a:prstGeom>
        </p:spPr>
      </p:pic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26" name="Content Placeholder 20">
            <a:extLst>
              <a:ext uri="{FF2B5EF4-FFF2-40B4-BE49-F238E27FC236}">
                <a16:creationId xmlns:a16="http://schemas.microsoft.com/office/drawing/2014/main" id="{598E5FB1-2960-7575-EAA9-C6E050FEC05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4743" b="70721"/>
          <a:stretch>
            <a:fillRect/>
          </a:stretch>
        </p:blipFill>
        <p:spPr>
          <a:xfrm>
            <a:off x="6113463" y="2188471"/>
            <a:ext cx="5622925" cy="195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E96B71-1D66-6274-2675-875E1DAF3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1567" y="2186515"/>
            <a:ext cx="10688542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(Where Excel Log is stored)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7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ca970234-e768-44e0-9a43-073095044c65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132495</TotalTime>
  <Words>3720</Words>
  <Application>Microsoft Office PowerPoint</Application>
  <PresentationFormat>Widescreen</PresentationFormat>
  <Paragraphs>578</Paragraphs>
  <Slides>101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101</vt:i4>
      </vt:variant>
    </vt:vector>
  </HeadingPairs>
  <TitlesOfParts>
    <vt:vector size="115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1 The Basics</vt:lpstr>
      <vt:lpstr>Success looks like knowing how to …</vt:lpstr>
      <vt:lpstr>Original Equation  y = t^2 - 4t + 21  y = (COEFF_A)∗(t^2 )  + (COEFF_B)∗(t^1 )  + (COEFF_C)  ∗(t^0 )     COEFF_A = 1 COEFF_B = -4 COEFF_C = 21  Model Construction Logic:  Step 1: Calculate t²  Step 2: Calculate -4t  Step 3: Apply Constant Term (21)  Step 4: Sum All Terms  Step 5: Output y 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to Download the Git Repo</vt:lpstr>
      <vt:lpstr>Git Hub Training Repo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“01_polynomial_System”</vt:lpstr>
      <vt:lpstr>Add “01_polynomial_System” Folder and Sub Folders to Project</vt:lpstr>
      <vt:lpstr>Navigate to training folder “01_polynomial_System”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2454</cp:revision>
  <cp:lastPrinted>2026-03-04T20:38:48Z</cp:lastPrinted>
  <dcterms:created xsi:type="dcterms:W3CDTF">2017-05-22T13:23:52Z</dcterms:created>
  <dcterms:modified xsi:type="dcterms:W3CDTF">2026-09-15T21:14:15Z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ca970234-e768-44e0-9a43-073095044c65</vt:lpwstr>
  </property>
  <property fmtid="{D5CDD505-2E9C-101B-9397-08002B2CF9AE}" pid="11" name="TitusDesignation">
    <vt:lpwstr>NTDNCUI</vt:lpwstr>
  </property>
</Properties>
</file>